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aleway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AB0375-D308-443F-AEE1-C2128948A840}">
  <a:tblStyle styleId="{F4AB0375-D308-443F-AEE1-C2128948A8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regular.fntdata"/><Relationship Id="rId20" Type="http://schemas.openxmlformats.org/officeDocument/2006/relationships/slide" Target="slides/slide14.xml"/><Relationship Id="rId42" Type="http://schemas.openxmlformats.org/officeDocument/2006/relationships/font" Target="fonts/Raleway-italic.fntdata"/><Relationship Id="rId41" Type="http://schemas.openxmlformats.org/officeDocument/2006/relationships/font" Target="fonts/Raleway-bold.fntdata"/><Relationship Id="rId22" Type="http://schemas.openxmlformats.org/officeDocument/2006/relationships/slide" Target="slides/slide16.xml"/><Relationship Id="rId44" Type="http://schemas.openxmlformats.org/officeDocument/2006/relationships/font" Target="fonts/Lato-regular.fntdata"/><Relationship Id="rId21" Type="http://schemas.openxmlformats.org/officeDocument/2006/relationships/slide" Target="slides/slide15.xml"/><Relationship Id="rId43" Type="http://schemas.openxmlformats.org/officeDocument/2006/relationships/font" Target="fonts/Raleway-boldItalic.fntdata"/><Relationship Id="rId24" Type="http://schemas.openxmlformats.org/officeDocument/2006/relationships/slide" Target="slides/slide18.xml"/><Relationship Id="rId46" Type="http://schemas.openxmlformats.org/officeDocument/2006/relationships/font" Target="fonts/Lato-italic.fntdata"/><Relationship Id="rId23" Type="http://schemas.openxmlformats.org/officeDocument/2006/relationships/slide" Target="slides/slide17.xml"/><Relationship Id="rId45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La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63d8b5df1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63d8b5df1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63d8b5df1b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63d8b5df1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68b34d091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68b34d091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68b34d091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68b34d091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63d8b5df1b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63d8b5df1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위의  예시는 발견하기 쉽고 또 이해하기도 쉬운 반면, 마지막 예시는 모델이 자동으로 찾아주지 않으면 포착하기 어려운 interaction 일 수 있다. 따라서 CTR 예측모델을 고려할 때는, 명시적인 interaction과 숨겨진 interaction을 둘 다 잡아낼 수 있는 모델을 고려하는 것이 중요하다. (DeepFM이 두 파트로 구성된 이유)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63d8b5df1b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63d8b5df1b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63d8b5df1b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63d8b5df1b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68b34d091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68b34d091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68b34d091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68b34d091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68b34d091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68b34d091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63d8b5df1b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63d8b5df1b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63d8b5df1b_2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63d8b5df1b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63d8b5df1b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63d8b5df1b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63d8b5df1b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63d8b5df1b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는  </a:t>
            </a: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m</a:t>
            </a: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개의 필드로 이뤄져 있으며 각 필드는 다양한 정보를 담고있다. 예를들어 user 필드에는 user의 id, 성별, 나이 등의 정보가, item 필드에는 특정 item의 구매 정보 등이 포함된다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필드에는 카테고리 피처일 경우 one-hot 벡터로, 연속적인 피처일 경우 해당 값을 그대로 사용할 수 있다. 일반적으로 </a:t>
            </a: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x</a:t>
            </a:r>
            <a:r>
              <a:rPr lang="ko" sz="11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굉장히 sparse 하며 고차원이다.</a:t>
            </a:r>
            <a:endParaRPr sz="1150">
              <a:solidFill>
                <a:srgbClr val="494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494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63d8b5df1b_2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63d8b5df1b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는 user의 특정 item에 대한 클릭여부를 나타낸다. 만약 user가 특정 item을 클릭 했을 경우  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y=1</a:t>
            </a: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, 클릭하지 않았을 경우  </a:t>
            </a: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y=0</a:t>
            </a: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이 된다.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63d8b5df1b_2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63d8b5df1b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68b34d091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68b34d091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68b34d091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68b34d091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63d8b5df1b_2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63d8b5df1b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63d8b5df1b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63d8b5df1b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low-order feature interaction을 포착하는 FM 모델을 살펴보겠다.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FM 모델은 order-1 interaction을 포착하는 텀과, order-2 interaction을 포착하는 텀으로 나눠진다.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이 모델은 polynomial regression 모델과 동일하게 이해하면 된다. 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다만 차이점은 order-2 interaction 텀의 가중치를 위에서 설명한 embedding 벡터들의 내적으로 사용한다는 것이다. 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예를들어 10대와 20대 피처의 interaction 가중치는 10대, 20대에 해당하는 embedding 벡터들의 내적이 되는 것이다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68b34d091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68b34d091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63d8b5df1b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63d8b5df1b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high-order feature interaction을 포착하는 DNN 모델이다.FM 모델에서는 embedding 벡터가 interaction 텀의 가중치의 역할을 했다면, DNN 모델에서는 input으로 사용된다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ei(=v),i = 1,..,m가 field i의 노란색 부분에 해당하는 임베딩 벡터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이러한 벡터들을 모두 합친 a^(0)가 모델의 input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나머지는 익히 아시는 DNN의 구조와 동일, H개의 층을 모두 통과해서 나온 a^H에 output의 차원을 맞춘 후 시그모이드 함수를 통과한 값이 최종 결과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68b34d091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68b34d091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63d8b5df1b_2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63d8b5df1b_2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6a0c0819b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6a0c0819b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68b34d091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68b34d091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6a0c0819b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6a0c0819b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6a0c0819b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6a0c0819b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68b34d091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68b34d091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63d8b5df1b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63d8b5df1b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63d8b5df1b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63d8b5df1b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68996a884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68996a884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83304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DeepFM: A Factorization-Machine based Neural Network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for CTR Prediction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843152" y="393947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/>
              <a:t>펀더멘탈팀:이세현(발표자),이근배,이재윤</a:t>
            </a:r>
            <a:endParaRPr sz="2100"/>
          </a:p>
        </p:txBody>
      </p:sp>
      <p:sp>
        <p:nvSpPr>
          <p:cNvPr id="88" name="Google Shape;88;p13"/>
          <p:cNvSpPr txBox="1"/>
          <p:nvPr/>
        </p:nvSpPr>
        <p:spPr>
          <a:xfrm>
            <a:off x="5416050" y="3271975"/>
            <a:ext cx="30000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6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학회:IJCAI</a:t>
            </a:r>
            <a:endParaRPr sz="196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6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발표년도:2017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1853850"/>
            <a:ext cx="7688700" cy="30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Abstract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Introduction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What is feature interaction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Goal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Previous studies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Contribution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Approach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Input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Output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FM Component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Deep Component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730000" y="3839150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https://rockcontent.com/blog/ctr-guide/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27350" y="1106100"/>
            <a:ext cx="3374400" cy="29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DeepFM은 click through rat을 예측하는 모델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Factorization-Machine(FM) + Deep Learning(DL)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같은 input공유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별도의 feature engineering 필요없다.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ko"/>
              <a:t>feature interaction 모델링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기존 모델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ko"/>
              <a:t>only low-order feature interaction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ko"/>
              <a:t>only high-order feature interaction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ko"/>
              <a:t>두 interaction 모두 표현 가능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50" y="1153250"/>
            <a:ext cx="3374400" cy="255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03375" y="164125"/>
            <a:ext cx="766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800">
                <a:latin typeface="Lato"/>
                <a:ea typeface="Lato"/>
                <a:cs typeface="Lato"/>
                <a:sym typeface="Lato"/>
              </a:rPr>
              <a:t>Abstract</a:t>
            </a:r>
            <a:endParaRPr b="1" sz="2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참고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클릭률(CTR)은 광고를 본 사용자가 해당 광고를 클릭하는 빈도의 비율입니다.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클릭률(CTR)을 사용하면 키워드와 광고, 무료 제품 목록의 실적을 파악할 수 있습니다.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(클릭수 ÷ 노출수 = CTR) -</a:t>
            </a:r>
            <a:r>
              <a:rPr i="1"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Google Ads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Introduction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CTR Prediction은 User가 추천 아이템을 클릭할 확률을 추정하는 것으로 유저에게 추천될 아이템의 순위를 매길 수 있다. 또한 온라인 광고 같은 시나리오에서도 수입을 증가시킬 수 있다.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65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CTR을 정확하게 추정하는 것이 핵심이다.</a:t>
            </a:r>
            <a:endParaRPr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Feature interaction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1960975"/>
            <a:ext cx="82932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ko"/>
              <a:t>CTR을 정확하게 예측하기 위해선, user의 클릭 log를 바탕으로 feature interaction을 파악하는 것이 중요합니다.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여기서, feature interaction이란?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lphaUcPeriod"/>
            </a:pPr>
            <a:r>
              <a:rPr lang="ko"/>
              <a:t>사람들은 식사시간에 배달 앱을 다운로드하는 경향이 있다.(high_order_interaction)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ko"/>
              <a:t>app category &amp; time간의 interaction 존재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lphaUcPeriod"/>
            </a:pPr>
            <a:r>
              <a:rPr lang="ko"/>
              <a:t>사람들은 맥주와 기저귀를 함께 구매하는 경향이 있다.(low_order_interaction)</a:t>
            </a:r>
            <a:endParaRPr/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ko"/>
              <a:t>bear 와 diaper간의 숨겨진 interaction 존재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846675" y="12645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Goal(CTR Prediction)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>
            <p:ph idx="2" type="body"/>
          </p:nvPr>
        </p:nvSpPr>
        <p:spPr>
          <a:xfrm>
            <a:off x="5220479" y="2218450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CTR예측이란, user에게 추천 아이템들이 주어졌을 때, user가 해당 아이템을 클릭할 확률을 추정하는 것이다.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추청된 확률을 바탕으로, user의  선호 아이템 순위를 매길 수 있다.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88" y="1939300"/>
            <a:ext cx="5207976" cy="25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2690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Previous Studies</a:t>
            </a:r>
            <a:endParaRPr/>
          </a:p>
        </p:txBody>
      </p:sp>
      <p:graphicFrame>
        <p:nvGraphicFramePr>
          <p:cNvPr id="135" name="Google Shape;135;p20"/>
          <p:cNvGraphicFramePr/>
          <p:nvPr/>
        </p:nvGraphicFramePr>
        <p:xfrm>
          <a:off x="693400" y="54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{F4AB0375-D308-443F-AEE1-C2128948A840}</a:tableStyleId>
              </a:tblPr>
              <a:tblGrid>
                <a:gridCol w="3619500"/>
                <a:gridCol w="3619500"/>
              </a:tblGrid>
              <a:tr h="67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과거 논문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내용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b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Factorization Machine </a:t>
                      </a:r>
                      <a:r>
                        <a:rPr b="1" i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(FM) [Rendle, 2010]</a:t>
                      </a: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pairwise feature interactions을 feature 간의 inner product를 통해 모델링 하였다.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140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High-order feature interaction을 모델링 할 수 있지만 High Complexity로 인해 order-2 feature interaction만 고려한다.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Generalized Linear Model </a:t>
                      </a:r>
                      <a:r>
                        <a:rPr b="1" i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FTRL [McMahan et al. 2013]</a:t>
                      </a: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선형 모델은 feature interaction을 학습하기에 부족하며 pairwise feature interactions을 직접 feature vector로 넣어준다.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이러한 방법은 High-order feature interactions 학습하기 어렵고 cold start 문제가 존재함.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21"/>
          <p:cNvGraphicFramePr/>
          <p:nvPr/>
        </p:nvGraphicFramePr>
        <p:xfrm>
          <a:off x="669275" y="48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{F4AB0375-D308-443F-AEE1-C2128948A840}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과거 논문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설명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Factorization-machine supported Neural Network</a:t>
                      </a:r>
                      <a:r>
                        <a:rPr b="1" i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(FNN) [Zhang et al., 2016]</a:t>
                      </a: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Deep Neural Network에 적용하기 전에 FM으로 pre-trains 하여 feature embeddings의 가중치를 초기화 하여 학습을 한다.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DNN에 적용하기 전에 FM을 pre-train 하기 때문에 FM에 의해 성능이 제한된다.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Product-based Neural Network </a:t>
                      </a:r>
                      <a:r>
                        <a:rPr b="1" i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(PNN) [Qu et al., 2016]</a:t>
                      </a: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Feature interactions에 대해 Embedding layer와 fully-connected 사이에 product layer를 도입하였다.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FNN과 PNN은 다른 DNN 처럼 CTR Prediction에 필수적인 low-order feature interactions를 거의 포착하지 못한다.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p22"/>
          <p:cNvGraphicFramePr/>
          <p:nvPr/>
        </p:nvGraphicFramePr>
        <p:xfrm>
          <a:off x="699050" y="60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{F4AB0375-D308-443F-AEE1-C2128948A840}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과거 논문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설명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Wide &amp; Deep learning for Recommender Systems </a:t>
                      </a:r>
                      <a:r>
                        <a:rPr b="1" i="1"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(Wide &amp; Deep) [Cheng et al., 2016]</a:t>
                      </a: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</a:t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low order &amp; high-order interactions를 모델링하기 위해 linear("wide") model과 DNN ("deep") 을 결합한 Wide &amp; Deep 모델을 제시하였다.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Wide &amp; Deep은 두 개의 다른 input(wide part, deep part)을 필요로 하는데 wide part input은 feature engineering이 필요함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50">
                          <a:solidFill>
                            <a:schemeClr val="dk2"/>
                          </a:solidFill>
                          <a:highlight>
                            <a:schemeClr val="lt1"/>
                          </a:highlight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wide part input은 designed pairwise feature interaction이기 때문에 입력 vector가 굉장히 커져 Complexity를 증가시킨다.</a:t>
                      </a:r>
                      <a:endParaRPr sz="1350"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rtl="0" algn="l"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ko" sz="2238"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Problem</a:t>
            </a:r>
            <a:endParaRPr sz="3488">
              <a:highlight>
                <a:schemeClr val="lt1"/>
              </a:highlight>
            </a:endParaRPr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325" lvl="0" marL="45720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Malgun Gothic"/>
              <a:buChar char="●"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low-order or high-order feature interaction, feature engineering을 모델링 하는데 치우쳐 저 있다.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Malgun Gothic"/>
              <a:buChar char="●"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feature engineering 없이 low order, high-order feature interactions를 End-to-End 방식의 모델을 제안함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Contribution</a:t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b="-4552" l="0" r="0" t="10682"/>
          <a:stretch/>
        </p:blipFill>
        <p:spPr>
          <a:xfrm>
            <a:off x="72000" y="2160000"/>
            <a:ext cx="8985601" cy="23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0000"/>
              <a:t>Q &amp; A</a:t>
            </a:r>
            <a:endParaRPr b="1" sz="10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Our Approach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Approach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Deep FM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Input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ko"/>
              <a:t>Output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FM Component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ko"/>
              <a:t>Deep Component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Approach</a:t>
            </a:r>
            <a:endParaRPr/>
          </a:p>
        </p:txBody>
      </p:sp>
      <p:sp>
        <p:nvSpPr>
          <p:cNvPr id="176" name="Google Shape;176;p27"/>
          <p:cNvSpPr txBox="1"/>
          <p:nvPr/>
        </p:nvSpPr>
        <p:spPr>
          <a:xfrm>
            <a:off x="656500" y="2157050"/>
            <a:ext cx="73386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DeepFM의 데이터 구조다. 총  </a:t>
            </a: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n </a:t>
            </a: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개의 데이터가 있다고 할 때, 각 row는 user와 item 정보를 담고 있는 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x </a:t>
            </a: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와 특정 아이템 클릭여부를 나타내는  </a:t>
            </a:r>
            <a:r>
              <a:rPr lang="ko" sz="1350">
                <a:solidFill>
                  <a:srgbClr val="494E52"/>
                </a:solidFill>
                <a:latin typeface="Malgun Gothic"/>
                <a:ea typeface="Malgun Gothic"/>
                <a:cs typeface="Malgun Gothic"/>
                <a:sym typeface="Malgun Gothic"/>
              </a:rPr>
              <a:t>y</a:t>
            </a: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로 이루어져 있습니다.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25" y="2788550"/>
            <a:ext cx="7209700" cy="22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목표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CTR Prediction 모델의 목적은 context가 주어졌을 때 특정 앱을 클릭할 확률을 추정하는 모델을 만드는 것이다.</a:t>
            </a:r>
            <a:endParaRPr sz="1900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000" y="2761750"/>
            <a:ext cx="649605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DeepFM</a:t>
            </a:r>
            <a:endParaRPr/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800" y="1977450"/>
            <a:ext cx="4571733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5263975" y="2028375"/>
            <a:ext cx="3000000" cy="27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DeepFM은 같은 input을 통해 FM Component(low-order feature interaction)와 Deep Component(high-order feature interaction)을 학습하는 것을 목표로 한다.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FM Component와 Deep Componet가 같은 Embedding 벡터를 공유한다. 이러한 구조는 두 가지 장점을 가진다</a:t>
            </a:r>
            <a:endParaRPr sz="1350">
              <a:solidFill>
                <a:srgbClr val="ECECEC"/>
              </a:solidFill>
              <a:highlight>
                <a:srgbClr val="12121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575" y="754075"/>
            <a:ext cx="8246625" cy="283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1566575" y="3441600"/>
            <a:ext cx="54405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ko" sz="165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Fieldvector</a:t>
            </a: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의 크기가 다를 수 있지만 </a:t>
            </a:r>
            <a:r>
              <a:rPr i="1" lang="ko" sz="165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EmbeddingLayer</a:t>
            </a: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로 인해 같은 크기</a:t>
            </a:r>
            <a:endParaRPr b="1" i="1"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(FNN) [Zhang et al., 2016]</a:t>
            </a: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 에서는 </a:t>
            </a:r>
            <a:r>
              <a:rPr i="1" lang="ko" sz="1650">
                <a:solidFill>
                  <a:schemeClr val="dk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 가 FM에 의해 pre-trained 한 feature embeddings의 가중치를 초기화하여 학습하지만 DeepFM은 pre-trained할 필요가 없고</a:t>
            </a: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End-to-End로 학습을 할 수 있게 된다.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1350">
              <a:solidFill>
                <a:srgbClr val="ECECEC"/>
              </a:solidFill>
              <a:highlight>
                <a:srgbClr val="12121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Result</a:t>
            </a:r>
            <a:endParaRPr/>
          </a:p>
        </p:txBody>
      </p:sp>
      <p:pic>
        <p:nvPicPr>
          <p:cNvPr id="203" name="Google Shape;20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200" y="2343450"/>
            <a:ext cx="7688400" cy="1566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0000"/>
              <a:t>Q &amp; A</a:t>
            </a:r>
            <a:endParaRPr b="1" sz="10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727650" y="5683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FM Component</a:t>
            </a:r>
            <a:endParaRPr/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3" y="1446300"/>
            <a:ext cx="5743575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/>
          <p:nvPr/>
        </p:nvSpPr>
        <p:spPr>
          <a:xfrm>
            <a:off x="5471475" y="2027600"/>
            <a:ext cx="3000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FM은 각각 feature latent vector의 inner product (order-2)로 feature interaction을 모델링한다.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584400"/>
            <a:ext cx="6932400" cy="250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4"/>
          <p:cNvSpPr txBox="1"/>
          <p:nvPr/>
        </p:nvSpPr>
        <p:spPr>
          <a:xfrm>
            <a:off x="832800" y="3307450"/>
            <a:ext cx="6725700" cy="8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FM의 Output은 Addition Unit과 Inner Product Unit의 합으로 다음과 같이 표현된다.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304825" y="5215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Deep Component</a:t>
            </a:r>
            <a:endParaRPr/>
          </a:p>
        </p:txBody>
      </p:sp>
      <p:pic>
        <p:nvPicPr>
          <p:cNvPr id="228" name="Google Shape;2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63" y="1087925"/>
            <a:ext cx="5800725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5"/>
          <p:cNvSpPr txBox="1"/>
          <p:nvPr/>
        </p:nvSpPr>
        <p:spPr>
          <a:xfrm>
            <a:off x="5672750" y="1848675"/>
            <a:ext cx="3000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ko" sz="1350">
                <a:solidFill>
                  <a:schemeClr val="dk2"/>
                </a:solidFill>
                <a:highlight>
                  <a:schemeClr val="lt1"/>
                </a:highlight>
                <a:latin typeface="Malgun Gothic"/>
                <a:ea typeface="Malgun Gothic"/>
                <a:cs typeface="Malgun Gothic"/>
                <a:sym typeface="Malgun Gothic"/>
              </a:rPr>
              <a:t>Deep Component는 high-order feature interaction을 학습하기 위한 Feed-Forward Neural Network이다.</a:t>
            </a:r>
            <a:endParaRPr sz="1350">
              <a:solidFill>
                <a:schemeClr val="dk2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318650"/>
            <a:ext cx="7190550" cy="37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0000"/>
              <a:t>Q &amp; A</a:t>
            </a:r>
            <a:endParaRPr b="1" sz="10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Experiments(Datasets)</a:t>
            </a:r>
            <a:endParaRPr/>
          </a:p>
        </p:txBody>
      </p:sp>
      <p:graphicFrame>
        <p:nvGraphicFramePr>
          <p:cNvPr id="248" name="Google Shape;248;p38"/>
          <p:cNvGraphicFramePr/>
          <p:nvPr/>
        </p:nvGraphicFramePr>
        <p:xfrm>
          <a:off x="729450" y="199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{F4AB0375-D308-443F-AEE1-C2128948A840}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Criteo DataSet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4,500만 명의 유저 클릭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13개의 continuous feature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26개의 categorical feature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Company Dataset(10억개의 기록)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회사의 Appp store에서 연속된 7일의 유저 클릭 기록을 사용하여 다음 하루치 evaluate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app과 관련된 feature(identification, category and etc)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user feature(유저가 다운로드한 앱)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context feature(operation time and etc)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Evaluation Metrics</a:t>
            </a:r>
            <a:endParaRPr/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70757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050">
              <a:solidFill>
                <a:srgbClr val="70757A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D515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D515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050">
                <a:solidFill>
                  <a:srgbClr val="4D515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모델의 출력값과 정답의 오차를 정의하는 함수이다. 신경망을 학습할 때, 학습이 잘 되고 있는지 평가하는 하나의 지표로 사용</a:t>
            </a:r>
            <a:endParaRPr/>
          </a:p>
        </p:txBody>
      </p:sp>
      <p:sp>
        <p:nvSpPr>
          <p:cNvPr id="255" name="Google Shape;255;p39"/>
          <p:cNvSpPr txBox="1"/>
          <p:nvPr>
            <p:ph idx="2" type="body"/>
          </p:nvPr>
        </p:nvSpPr>
        <p:spPr>
          <a:xfrm>
            <a:off x="4643600" y="2078875"/>
            <a:ext cx="3774300" cy="23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AUC는 ROC curve의 곡선 아래 영역을 나타내며 classification 성능평가지표로 많이 사용된다.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1에 가까울수록 성능이 우수하다고 판단하며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22222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0.5인 경우에 최악의 성능이다. (이는 model이 classification 능력이 없음을 의미한다.)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9"/>
          <p:cNvSpPr txBox="1"/>
          <p:nvPr/>
        </p:nvSpPr>
        <p:spPr>
          <a:xfrm>
            <a:off x="878400" y="2304000"/>
            <a:ext cx="339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LogLoss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39"/>
          <p:cNvSpPr txBox="1"/>
          <p:nvPr/>
        </p:nvSpPr>
        <p:spPr>
          <a:xfrm>
            <a:off x="4680000" y="2318400"/>
            <a:ext cx="32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Lato"/>
                <a:ea typeface="Lato"/>
                <a:cs typeface="Lato"/>
                <a:sym typeface="Lato"/>
              </a:rPr>
              <a:t>AUC Score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Performance Evaluation(Effciency Comparison)</a:t>
            </a:r>
            <a:endParaRPr/>
          </a:p>
        </p:txBody>
      </p:sp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28" y="2078878"/>
            <a:ext cx="8150950" cy="282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Performance Evaluation(Effectiveness Comparison)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53" y="1997850"/>
            <a:ext cx="8308675" cy="27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Experiment Result</a:t>
            </a:r>
            <a:endParaRPr/>
          </a:p>
        </p:txBody>
      </p:sp>
      <p:sp>
        <p:nvSpPr>
          <p:cNvPr id="277" name="Google Shape;277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Wide &amp; Deep보다 AUC와  LogLoss측면에서 각각 0.37% point, 0.42% point 성능이 좋아짐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Wide &amp; Deep에 의하면, Offline에서 0.275% point차이가 Online CTR에서는 3.9% point 차이로 이어졌다.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[Wide &amp; Deep [Cheng et al., 2016]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Conclusion</a:t>
            </a:r>
            <a:endParaRPr/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DeepFM은 FM과 DNN을 함께 훈련시키는 모델이다.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 pre training이 필요없고 두 모델이 embedding 벡터를 서로 공유하기 때문에 별도의 feature engineering 이 필요없다는 것이 장점이었다. 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또한 low, high order feature interaction을 모두 표현해낼 수 있었다. 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50">
                <a:solidFill>
                  <a:srgbClr val="494E52"/>
                </a:solidFill>
                <a:highlight>
                  <a:srgbClr val="FFFFFF"/>
                </a:highlight>
                <a:latin typeface="Malgun Gothic"/>
                <a:ea typeface="Malgun Gothic"/>
                <a:cs typeface="Malgun Gothic"/>
                <a:sym typeface="Malgun Gothic"/>
              </a:rPr>
              <a:t>두 개의 real-word datasets상에서 effctiveness측면이나 efficiency측면을 다룬 SOTA모델과 비교했을 때 성능이 좋다는 것을 알 수 있다.</a:t>
            </a:r>
            <a:endParaRPr sz="1150">
              <a:solidFill>
                <a:srgbClr val="494E52"/>
              </a:solidFill>
              <a:highlight>
                <a:srgbClr val="FFFFFF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0000"/>
              <a:t>Q &amp; A</a:t>
            </a:r>
            <a:endParaRPr b="1" sz="10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5000">
                <a:solidFill>
                  <a:schemeClr val="dk2"/>
                </a:solidFill>
              </a:rPr>
              <a:t>감사합니다</a:t>
            </a:r>
            <a:endParaRPr sz="5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