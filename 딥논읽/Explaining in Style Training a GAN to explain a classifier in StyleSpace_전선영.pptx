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9" r:id="rId4"/>
    <p:sldId id="261" r:id="rId5"/>
    <p:sldId id="262" r:id="rId6"/>
    <p:sldId id="263" r:id="rId7"/>
    <p:sldId id="265" r:id="rId8"/>
    <p:sldId id="266" r:id="rId9"/>
    <p:sldId id="269" r:id="rId10"/>
    <p:sldId id="270" r:id="rId11"/>
    <p:sldId id="264" r:id="rId12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242"/>
    <a:srgbClr val="3B4968"/>
    <a:srgbClr val="C8D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CC632-BCAF-4CED-917B-16E5A90171D2}" v="219" dt="2021-10-31T11:46:22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6"/>
    <p:restoredTop sz="94668"/>
  </p:normalViewPr>
  <p:slideViewPr>
    <p:cSldViewPr>
      <p:cViewPr varScale="1">
        <p:scale>
          <a:sx n="71" d="100"/>
          <a:sy n="71" d="100"/>
        </p:scale>
        <p:origin x="6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10/31/2021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00372" y="832795"/>
            <a:ext cx="16556522" cy="8620124"/>
            <a:chOff x="900372" y="832795"/>
            <a:chExt cx="16556522" cy="862012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107CDB-52A8-BF41-B243-DE00339B7520}"/>
              </a:ext>
            </a:extLst>
          </p:cNvPr>
          <p:cNvSpPr txBox="1"/>
          <p:nvPr/>
        </p:nvSpPr>
        <p:spPr>
          <a:xfrm>
            <a:off x="900372" y="2769979"/>
            <a:ext cx="165565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7200" b="1" dirty="0">
                <a:solidFill>
                  <a:srgbClr val="424242"/>
                </a:solidFill>
              </a:rPr>
              <a:t>Explaining in Style: </a:t>
            </a:r>
          </a:p>
          <a:p>
            <a:r>
              <a:rPr kumimoji="1" lang="en-US" altLang="ko-KR" sz="6000" b="1" dirty="0">
                <a:solidFill>
                  <a:srgbClr val="424242"/>
                </a:solidFill>
              </a:rPr>
              <a:t> Training a GAN to explain a classifier in </a:t>
            </a:r>
            <a:r>
              <a:rPr kumimoji="1" lang="en-US" altLang="ko-KR" sz="6000" b="1" dirty="0" err="1">
                <a:solidFill>
                  <a:srgbClr val="424242"/>
                </a:solidFill>
              </a:rPr>
              <a:t>StyleSpace</a:t>
            </a:r>
            <a:endParaRPr kumimoji="1" lang="ko-KR" altLang="en-US" sz="6000" b="1" dirty="0">
              <a:solidFill>
                <a:srgbClr val="42424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206D33-2195-43CC-A66C-D2B4D48E739B}"/>
              </a:ext>
            </a:extLst>
          </p:cNvPr>
          <p:cNvSpPr/>
          <p:nvPr/>
        </p:nvSpPr>
        <p:spPr>
          <a:xfrm>
            <a:off x="913932" y="6012003"/>
            <a:ext cx="16520663" cy="19198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7340E-A258-9A45-A8FB-769BEF65F0DA}"/>
              </a:ext>
            </a:extLst>
          </p:cNvPr>
          <p:cNvSpPr txBox="1"/>
          <p:nvPr/>
        </p:nvSpPr>
        <p:spPr>
          <a:xfrm>
            <a:off x="1066800" y="6104034"/>
            <a:ext cx="165565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딥러닝 논문 읽기 모임</a:t>
            </a:r>
            <a:endParaRPr kumimoji="1" lang="en-US" altLang="ko-KR" sz="3500" dirty="0">
              <a:solidFill>
                <a:srgbClr val="3B4968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kumimoji="1" lang="ko-KR" altLang="en-US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이미지처리팀 </a:t>
            </a:r>
            <a:r>
              <a:rPr kumimoji="1" lang="en-US" altLang="ko-KR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</a:t>
            </a:r>
            <a:r>
              <a:rPr kumimoji="1" lang="ko-KR" altLang="en-US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김상현</a:t>
            </a:r>
            <a:r>
              <a:rPr kumimoji="1" lang="en-US" altLang="ko-KR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sz="3500" dirty="0" err="1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고형권</a:t>
            </a:r>
            <a:r>
              <a:rPr kumimoji="1" lang="en-US" altLang="ko-KR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sz="3500" dirty="0" err="1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허다운</a:t>
            </a:r>
            <a:r>
              <a:rPr kumimoji="1" lang="en-US" altLang="ko-KR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조경진</a:t>
            </a:r>
            <a:r>
              <a:rPr kumimoji="1" lang="en-US" altLang="ko-KR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김준철</a:t>
            </a:r>
            <a:r>
              <a:rPr kumimoji="1" lang="en-US" altLang="ko-KR" sz="35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ko-KR" altLang="en-US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전선영</a:t>
            </a:r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kumimoji="1" lang="ko-KR" altLang="en-US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발표자</a:t>
            </a:r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endParaRPr kumimoji="1" lang="ko-KR" altLang="en-US" sz="3500" b="1" dirty="0">
              <a:solidFill>
                <a:srgbClr val="3B4968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A528A-F26F-6342-8F34-C2A85DBEAF14}"/>
              </a:ext>
            </a:extLst>
          </p:cNvPr>
          <p:cNvSpPr txBox="1"/>
          <p:nvPr/>
        </p:nvSpPr>
        <p:spPr>
          <a:xfrm>
            <a:off x="896003" y="7342325"/>
            <a:ext cx="165565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0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2021.10.31</a:t>
            </a:r>
            <a:endParaRPr kumimoji="1" lang="ko-KR" altLang="en-US" sz="3000" dirty="0">
              <a:solidFill>
                <a:srgbClr val="3B4968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CB7C92-6E9B-EB43-AA13-FAFC5CEAE9E9}"/>
              </a:ext>
            </a:extLst>
          </p:cNvPr>
          <p:cNvSpPr txBox="1"/>
          <p:nvPr/>
        </p:nvSpPr>
        <p:spPr>
          <a:xfrm>
            <a:off x="928945" y="950133"/>
            <a:ext cx="16559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0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[</a:t>
            </a:r>
            <a:r>
              <a:rPr kumimoji="1" lang="ko-KR" altLang="en-US" sz="20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이미지처리팀</a:t>
            </a:r>
            <a:r>
              <a:rPr kumimoji="1" lang="en-US" altLang="ko-KR" sz="2000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] </a:t>
            </a:r>
            <a:endParaRPr lang="ko-KR" alt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E7BCD3-F31F-442E-B7A7-598982CAF125}"/>
              </a:ext>
            </a:extLst>
          </p:cNvPr>
          <p:cNvSpPr txBox="1"/>
          <p:nvPr/>
        </p:nvSpPr>
        <p:spPr>
          <a:xfrm>
            <a:off x="983586" y="4801290"/>
            <a:ext cx="165565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dirty="0">
                <a:solidFill>
                  <a:srgbClr val="4242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Oran Lang, Yossi </a:t>
            </a:r>
            <a:r>
              <a:rPr lang="en-US" altLang="ko-KR" sz="3000" dirty="0" err="1">
                <a:solidFill>
                  <a:srgbClr val="4242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Gandelsman</a:t>
            </a:r>
            <a:r>
              <a:rPr lang="en-US" altLang="ko-KR" sz="3000" dirty="0">
                <a:solidFill>
                  <a:srgbClr val="4242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Michal </a:t>
            </a:r>
            <a:r>
              <a:rPr lang="en-US" altLang="ko-KR" sz="3000" dirty="0" err="1">
                <a:solidFill>
                  <a:srgbClr val="4242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Yarom</a:t>
            </a:r>
            <a:r>
              <a:rPr lang="en-US" altLang="ko-KR" sz="3000" dirty="0">
                <a:solidFill>
                  <a:srgbClr val="4242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ctr"/>
            <a:r>
              <a:rPr lang="en-US" altLang="ko-KR" sz="3000" dirty="0">
                <a:solidFill>
                  <a:srgbClr val="4242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Google Research</a:t>
            </a:r>
            <a:endParaRPr kumimoji="1" lang="ko-KR" altLang="en-US" sz="3000" b="1" dirty="0">
              <a:solidFill>
                <a:srgbClr val="4242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00372" y="832795"/>
            <a:ext cx="16556522" cy="8620124"/>
            <a:chOff x="900372" y="832795"/>
            <a:chExt cx="16556522" cy="862012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pic>
        <p:nvPicPr>
          <p:cNvPr id="11" name="Object 8">
            <a:extLst>
              <a:ext uri="{FF2B5EF4-FFF2-40B4-BE49-F238E27FC236}">
                <a16:creationId xmlns:a16="http://schemas.microsoft.com/office/drawing/2014/main" id="{0E5AA61B-F5BC-40A4-8525-0B5CE31828B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6400" y="2736897"/>
            <a:ext cx="6137345" cy="44773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C7AA6C-7B10-49D2-8D3A-FBCA1B14DFF5}"/>
              </a:ext>
            </a:extLst>
          </p:cNvPr>
          <p:cNvSpPr txBox="1"/>
          <p:nvPr/>
        </p:nvSpPr>
        <p:spPr>
          <a:xfrm>
            <a:off x="899027" y="1021515"/>
            <a:ext cx="1655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solidFill>
                  <a:srgbClr val="4242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3600" b="1" dirty="0">
              <a:solidFill>
                <a:srgbClr val="4242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003">
            <a:extLst>
              <a:ext uri="{FF2B5EF4-FFF2-40B4-BE49-F238E27FC236}">
                <a16:creationId xmlns:a16="http://schemas.microsoft.com/office/drawing/2014/main" id="{2DE98735-6529-45EB-A96F-5A5A3E326AE5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7" name="Object 9">
              <a:extLst>
                <a:ext uri="{FF2B5EF4-FFF2-40B4-BE49-F238E27FC236}">
                  <a16:creationId xmlns:a16="http://schemas.microsoft.com/office/drawing/2014/main" id="{BE38ED2F-9C81-40D9-8AEE-DD3D3FBC2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594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76544" y="-3477268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C9BEEC7-9DDF-C74B-9E72-43AAC0D6F97E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Abstract</a:t>
            </a:r>
            <a:endParaRPr lang="ko-KR" altLang="en-US" sz="3500" b="1" dirty="0"/>
          </a:p>
        </p:txBody>
      </p:sp>
      <p:grpSp>
        <p:nvGrpSpPr>
          <p:cNvPr id="18" name="그룹 1003">
            <a:extLst>
              <a:ext uri="{FF2B5EF4-FFF2-40B4-BE49-F238E27FC236}">
                <a16:creationId xmlns:a16="http://schemas.microsoft.com/office/drawing/2014/main" id="{433A7E40-6D6A-C441-8311-A48D55A055AD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9" name="Object 9">
              <a:extLst>
                <a:ext uri="{FF2B5EF4-FFF2-40B4-BE49-F238E27FC236}">
                  <a16:creationId xmlns:a16="http://schemas.microsoft.com/office/drawing/2014/main" id="{233DF877-1874-1E4A-9429-55CACEE9A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8879087-961C-2947-89FA-29EB2AE9CABD}"/>
              </a:ext>
            </a:extLst>
          </p:cNvPr>
          <p:cNvSpPr txBox="1"/>
          <p:nvPr/>
        </p:nvSpPr>
        <p:spPr>
          <a:xfrm>
            <a:off x="868176" y="1823599"/>
            <a:ext cx="16556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5000" b="1" dirty="0" err="1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StylEx</a:t>
            </a:r>
            <a:endParaRPr kumimoji="1" lang="ko-KR" altLang="en-US" sz="50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1" name="그림 20" descr="텍스트, 고양이, 다른, 보는이(가) 표시된 사진&#10;&#10;자동 생성된 설명">
            <a:extLst>
              <a:ext uri="{FF2B5EF4-FFF2-40B4-BE49-F238E27FC236}">
                <a16:creationId xmlns:a16="http://schemas.microsoft.com/office/drawing/2014/main" id="{EF6CAB6C-9DD6-704D-9B7D-C5191D4C51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681059"/>
            <a:ext cx="14020882" cy="45943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1312A52-B3C1-A145-A304-550CB14312E2}"/>
              </a:ext>
            </a:extLst>
          </p:cNvPr>
          <p:cNvSpPr txBox="1"/>
          <p:nvPr/>
        </p:nvSpPr>
        <p:spPr>
          <a:xfrm>
            <a:off x="901716" y="7644467"/>
            <a:ext cx="165565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Tx/>
              <a:buChar char="-"/>
            </a:pPr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Visualize the effect of changing multiple attributes per image.</a:t>
            </a:r>
          </a:p>
          <a:p>
            <a:pPr marL="457200" indent="-457200" algn="ctr">
              <a:buFontTx/>
              <a:buChar char="-"/>
            </a:pPr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Provide </a:t>
            </a:r>
            <a:r>
              <a:rPr kumimoji="1" lang="en-US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image-specific explanations</a:t>
            </a:r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kumimoji="1" lang="ko-KR" altLang="en-US" sz="3500" b="1" dirty="0">
              <a:solidFill>
                <a:srgbClr val="3B4968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755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77888" y="-3477267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26CDB92-7395-9D41-8737-ABF79C6CD027}"/>
              </a:ext>
            </a:extLst>
          </p:cNvPr>
          <p:cNvSpPr txBox="1"/>
          <p:nvPr/>
        </p:nvSpPr>
        <p:spPr>
          <a:xfrm>
            <a:off x="868176" y="1823599"/>
            <a:ext cx="16556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50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Explaining a classifier</a:t>
            </a:r>
            <a:endParaRPr kumimoji="1" lang="ko-KR" altLang="en-US" sz="50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8ABC4-B71E-D441-B34D-4CCCAA615A67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Abstract</a:t>
            </a:r>
            <a:endParaRPr lang="ko-KR" altLang="en-US" sz="3500" b="1" dirty="0"/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74F45E68-3044-FA4E-BD43-0C2232E38762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F617E0D2-B359-5D48-B003-7B3DF003B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grpSp>
        <p:nvGrpSpPr>
          <p:cNvPr id="13" name="그룹 1004">
            <a:extLst>
              <a:ext uri="{FF2B5EF4-FFF2-40B4-BE49-F238E27FC236}">
                <a16:creationId xmlns:a16="http://schemas.microsoft.com/office/drawing/2014/main" id="{0F687FEB-BCA4-464B-BF7E-8501BD1BFCEC}"/>
              </a:ext>
            </a:extLst>
          </p:cNvPr>
          <p:cNvGrpSpPr/>
          <p:nvPr/>
        </p:nvGrpSpPr>
        <p:grpSpPr>
          <a:xfrm>
            <a:off x="7146228" y="3542094"/>
            <a:ext cx="3995544" cy="3642996"/>
            <a:chOff x="7129847" y="4160925"/>
            <a:chExt cx="3995544" cy="3642996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8C162357-12C7-D24C-A3AF-1CA4EED43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9847" y="4160925"/>
              <a:ext cx="3995544" cy="3642996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7E16AEA-CA0C-6840-A96D-6714373C887E}"/>
              </a:ext>
            </a:extLst>
          </p:cNvPr>
          <p:cNvSpPr txBox="1"/>
          <p:nvPr/>
        </p:nvSpPr>
        <p:spPr>
          <a:xfrm>
            <a:off x="897682" y="2827602"/>
            <a:ext cx="1655652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Dog vs Cat classifier</a:t>
            </a:r>
            <a:endParaRPr kumimoji="1" lang="ko-KR" altLang="en-US" sz="3500" b="1" dirty="0">
              <a:solidFill>
                <a:srgbClr val="3B4968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E9ABAF-AA09-3648-BE67-E328E5F3AF79}"/>
              </a:ext>
            </a:extLst>
          </p:cNvPr>
          <p:cNvSpPr txBox="1"/>
          <p:nvPr/>
        </p:nvSpPr>
        <p:spPr>
          <a:xfrm>
            <a:off x="901716" y="7644467"/>
            <a:ext cx="165565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Tx/>
              <a:buChar char="-"/>
            </a:pPr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We want to </a:t>
            </a:r>
            <a:r>
              <a:rPr kumimoji="1" lang="en-US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explain a dog vs cat classifier</a:t>
            </a:r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</a:p>
          <a:p>
            <a:pPr marL="457200" indent="-457200" algn="ctr">
              <a:buFontTx/>
              <a:buChar char="-"/>
            </a:pPr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We want to understand </a:t>
            </a:r>
            <a:r>
              <a:rPr kumimoji="1" lang="en-US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why this specific image was classified as a cat</a:t>
            </a:r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2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77888" y="-3477267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ACA044-4D17-4C4E-932C-B2AD3BFBE9A5}"/>
              </a:ext>
            </a:extLst>
          </p:cNvPr>
          <p:cNvSpPr txBox="1"/>
          <p:nvPr/>
        </p:nvSpPr>
        <p:spPr>
          <a:xfrm>
            <a:off x="831106" y="5046043"/>
            <a:ext cx="165565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Heat-map </a:t>
            </a:r>
          </a:p>
          <a:p>
            <a:pPr algn="ctr"/>
            <a:r>
              <a:rPr lang="en-US" altLang="ko-KR" sz="3200" b="1" dirty="0">
                <a:solidFill>
                  <a:srgbClr val="3B4968"/>
                </a:solidFill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Limitation</a:t>
            </a:r>
            <a:r>
              <a:rPr lang="en-US" altLang="ko-KR" sz="3200" b="1" dirty="0">
                <a:solidFill>
                  <a:srgbClr val="3B4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3200" b="1" dirty="0">
                <a:solidFill>
                  <a:srgbClr val="3B49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cannot visualize/explain </a:t>
            </a:r>
            <a:r>
              <a:rPr lang="en-US" altLang="ko-KR" sz="3200" b="1" dirty="0">
                <a:solidFill>
                  <a:srgbClr val="3B4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well attributes that are not spatially</a:t>
            </a:r>
          </a:p>
          <a:p>
            <a:pPr algn="ctr"/>
            <a:r>
              <a:rPr lang="en-US" altLang="ko-KR" sz="3200" b="1" dirty="0">
                <a:solidFill>
                  <a:srgbClr val="3B4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localized, like size, color, etc.</a:t>
            </a:r>
            <a:r>
              <a:rPr kumimoji="1" lang="en-US" altLang="ko-KR" sz="32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	</a:t>
            </a:r>
            <a:endParaRPr kumimoji="1" lang="ko-KR" altLang="en-US" sz="3200" b="1" dirty="0">
              <a:solidFill>
                <a:srgbClr val="3B4968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4" name="그림 3" descr="텍스트, 포유류, 사자, 스크린샷이(가) 표시된 사진&#10;&#10;자동 생성된 설명">
            <a:extLst>
              <a:ext uri="{FF2B5EF4-FFF2-40B4-BE49-F238E27FC236}">
                <a16:creationId xmlns:a16="http://schemas.microsoft.com/office/drawing/2014/main" id="{8AB3F9A7-8BE5-DC4A-ABEE-5AD32A118A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r="49397" b="28547"/>
          <a:stretch/>
        </p:blipFill>
        <p:spPr>
          <a:xfrm>
            <a:off x="4625250" y="1588084"/>
            <a:ext cx="8968234" cy="3321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F00935-987B-4F4B-B1D7-00A283FEC0A2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Related Work</a:t>
            </a:r>
            <a:endParaRPr lang="ko-KR" altLang="en-US" sz="3500" b="1" dirty="0"/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31288248-5C05-F74B-B5ED-7CC89592A467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B7713FD-AEFB-A546-9A78-1F8C55EC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9E828A6-0D93-F448-A749-0071668A565F}"/>
              </a:ext>
            </a:extLst>
          </p:cNvPr>
          <p:cNvSpPr txBox="1"/>
          <p:nvPr/>
        </p:nvSpPr>
        <p:spPr>
          <a:xfrm>
            <a:off x="888840" y="7253496"/>
            <a:ext cx="1655652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ko-KR" sz="4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Counter factual explanation</a:t>
            </a:r>
          </a:p>
          <a:p>
            <a:pPr algn="ctr"/>
            <a:r>
              <a:rPr lang="en" altLang="ko-KR" sz="2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“ </a:t>
            </a:r>
            <a:r>
              <a:rPr lang="en-US" altLang="ko-KR" sz="2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If</a:t>
            </a:r>
            <a:r>
              <a:rPr lang="en" altLang="ko-KR" sz="2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input </a:t>
            </a:r>
            <a:r>
              <a:rPr lang="en-US" altLang="ko-KR" sz="2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X</a:t>
            </a:r>
            <a:r>
              <a:rPr lang="en" altLang="ko-KR" sz="2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been X’ </a:t>
            </a:r>
            <a:r>
              <a:rPr lang="ko-KR" altLang="en-US" sz="3200" dirty="0"/>
              <a:t>➞</a:t>
            </a:r>
            <a:r>
              <a:rPr lang="en" altLang="ko-KR" sz="28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classifier output Y would change to Y’ ”</a:t>
            </a:r>
          </a:p>
          <a:p>
            <a:pPr algn="ctr"/>
            <a:r>
              <a:rPr lang="en-US" altLang="ko-KR" sz="3200" b="1" dirty="0">
                <a:solidFill>
                  <a:srgbClr val="3B4968"/>
                </a:solidFill>
                <a:highlight>
                  <a:srgbClr val="C0C0C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Limitation</a:t>
            </a:r>
            <a:r>
              <a:rPr lang="en-US" altLang="ko-KR" sz="3200" b="1" dirty="0">
                <a:solidFill>
                  <a:srgbClr val="3B4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</a:t>
            </a:r>
            <a:r>
              <a:rPr kumimoji="1" lang="en-US" altLang="ko-KR" sz="3200" b="1" dirty="0">
                <a:solidFill>
                  <a:srgbClr val="3B4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200" b="1" dirty="0">
                <a:solidFill>
                  <a:srgbClr val="3B4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their visualization </a:t>
            </a:r>
            <a:r>
              <a:rPr lang="en-US" altLang="ko-KR" sz="3200" b="1" dirty="0">
                <a:solidFill>
                  <a:srgbClr val="3B49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changes all relevant attributes at once</a:t>
            </a:r>
            <a:endParaRPr kumimoji="1" lang="en-US" altLang="ko-KR" sz="3200" b="1" dirty="0">
              <a:solidFill>
                <a:srgbClr val="3B496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50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77888" y="-3477267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ACA044-4D17-4C4E-932C-B2AD3BFBE9A5}"/>
              </a:ext>
            </a:extLst>
          </p:cNvPr>
          <p:cNvSpPr txBox="1"/>
          <p:nvPr/>
        </p:nvSpPr>
        <p:spPr>
          <a:xfrm>
            <a:off x="868176" y="1823599"/>
            <a:ext cx="16556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50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Our Approach</a:t>
            </a:r>
            <a:endParaRPr kumimoji="1" lang="ko-KR" altLang="en-US" sz="50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31288248-5C05-F74B-B5ED-7CC89592A467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B7713FD-AEFB-A546-9A78-1F8C55EC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1538EE0-6673-E945-93C4-3F045F422822}"/>
              </a:ext>
            </a:extLst>
          </p:cNvPr>
          <p:cNvSpPr txBox="1"/>
          <p:nvPr/>
        </p:nvSpPr>
        <p:spPr>
          <a:xfrm>
            <a:off x="901716" y="7644467"/>
            <a:ext cx="1655652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Automatically </a:t>
            </a:r>
            <a:r>
              <a:rPr kumimoji="1" lang="en-US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discover</a:t>
            </a:r>
            <a:r>
              <a:rPr kumimoji="1"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disentangled attributes </a:t>
            </a:r>
          </a:p>
          <a:p>
            <a:pPr algn="ctr"/>
            <a:r>
              <a:rPr lang="ko-KR" altLang="en-US" sz="4000" dirty="0">
                <a:solidFill>
                  <a:srgbClr val="3B49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➞</a:t>
            </a:r>
            <a:r>
              <a:rPr lang="en-US" altLang="ko-KR" sz="4000" dirty="0"/>
              <a:t> </a:t>
            </a:r>
            <a:r>
              <a:rPr kumimoji="1" lang="en-US" altLang="ko-KR" sz="3600" b="1" dirty="0">
                <a:solidFill>
                  <a:srgbClr val="3B496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gun Gothic" panose="020B0503020000020004" pitchFamily="34" charset="-127"/>
                <a:ea typeface="Malgun Gothic" panose="020B0503020000020004" pitchFamily="34" charset="-127"/>
              </a:rPr>
              <a:t>generate counterfactual examples</a:t>
            </a:r>
            <a:endParaRPr kumimoji="1" lang="en-US" altLang="ko-KR" sz="3500" b="1" dirty="0">
              <a:solidFill>
                <a:srgbClr val="3B496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5" name="ux_mockup.mp4" descr="ux_mockup.mp4">
            <a:hlinkClick r:id="" action="ppaction://media"/>
            <a:extLst>
              <a:ext uri="{FF2B5EF4-FFF2-40B4-BE49-F238E27FC236}">
                <a16:creationId xmlns:a16="http://schemas.microsoft.com/office/drawing/2014/main" id="{5C311B28-A92A-5548-9015-1BA4329CC9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343400" y="2827602"/>
            <a:ext cx="10326258" cy="43478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E39F9B-A2DD-6E4C-900F-CA38D5508A34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Method</a:t>
            </a:r>
            <a:endParaRPr lang="ko-KR" altLang="en-US" sz="3500" b="1" dirty="0"/>
          </a:p>
        </p:txBody>
      </p:sp>
    </p:spTree>
    <p:extLst>
      <p:ext uri="{BB962C8B-B14F-4D97-AF65-F5344CB8AC3E}">
        <p14:creationId xmlns:p14="http://schemas.microsoft.com/office/powerpoint/2010/main" val="328659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2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51056" y="-3477268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ACA044-4D17-4C4E-932C-B2AD3BFBE9A5}"/>
              </a:ext>
            </a:extLst>
          </p:cNvPr>
          <p:cNvSpPr txBox="1"/>
          <p:nvPr/>
        </p:nvSpPr>
        <p:spPr>
          <a:xfrm>
            <a:off x="868176" y="1823599"/>
            <a:ext cx="16556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5000" b="1" dirty="0" err="1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StylEx</a:t>
            </a:r>
            <a:r>
              <a:rPr kumimoji="1" lang="en-US" altLang="ko-KR" sz="50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architecture</a:t>
            </a:r>
            <a:endParaRPr kumimoji="1" lang="ko-KR" altLang="en-US" sz="50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31288248-5C05-F74B-B5ED-7CC89592A467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B7713FD-AEFB-A546-9A78-1F8C55EC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FFE8EFF9-D565-144F-9881-4F176D6D8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979" y="2805755"/>
            <a:ext cx="7690735" cy="46467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56EDF9-4FAB-5447-AADE-2F4806C4D1BA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Method</a:t>
            </a:r>
            <a:endParaRPr lang="ko-KR" altLang="en-US" sz="3500" b="1" dirty="0"/>
          </a:p>
        </p:txBody>
      </p:sp>
      <p:pic>
        <p:nvPicPr>
          <p:cNvPr id="14" name="Object 18">
            <a:extLst>
              <a:ext uri="{FF2B5EF4-FFF2-40B4-BE49-F238E27FC236}">
                <a16:creationId xmlns:a16="http://schemas.microsoft.com/office/drawing/2014/main" id="{1EC2994A-4C53-ED48-B445-B0ABBEBA844F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343400" y="3619500"/>
            <a:ext cx="1821017" cy="509373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CD2E4F73-E72E-EF42-9072-521C95BE7507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86017" y="6757834"/>
            <a:ext cx="2626657" cy="55082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2BBB625-1015-DF4D-9496-801C9891824D}"/>
              </a:ext>
            </a:extLst>
          </p:cNvPr>
          <p:cNvSpPr txBox="1"/>
          <p:nvPr/>
        </p:nvSpPr>
        <p:spPr>
          <a:xfrm>
            <a:off x="868176" y="7463892"/>
            <a:ext cx="165565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>
              <a:buAutoNum type="arabicPeriod"/>
            </a:pPr>
            <a:r>
              <a:rPr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</a:t>
            </a:r>
            <a:r>
              <a:rPr lang="en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 explain the classifier output on any given input image.</a:t>
            </a:r>
          </a:p>
          <a:p>
            <a:pPr marL="514350" indent="-514350" algn="ctr">
              <a:buAutoNum type="arabicPeriod"/>
            </a:pPr>
            <a:r>
              <a:rPr lang="en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To ensure that the generative model captures </a:t>
            </a:r>
            <a:r>
              <a:rPr lang="en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classifier-related attributes </a:t>
            </a:r>
            <a:r>
              <a:rPr lang="en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by using the </a:t>
            </a:r>
            <a:r>
              <a:rPr lang="en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Classifier-Loss.</a:t>
            </a:r>
            <a:endParaRPr kumimoji="1" lang="en-US" altLang="ko-KR" sz="3500" b="1" dirty="0">
              <a:solidFill>
                <a:schemeClr val="accent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1F8B6B1C-1C9B-4EE3-87E8-543960A0E65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311" y="2707990"/>
            <a:ext cx="3828449" cy="477982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591F8A6-EF16-437D-97D7-B9C1557B3AAF}"/>
              </a:ext>
            </a:extLst>
          </p:cNvPr>
          <p:cNvSpPr/>
          <p:nvPr/>
        </p:nvSpPr>
        <p:spPr>
          <a:xfrm>
            <a:off x="7498977" y="3619500"/>
            <a:ext cx="536109" cy="5584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FF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640E46-0721-4572-B793-F2DCA384EB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2093" y="5852743"/>
            <a:ext cx="1246398" cy="12781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4083B60-874E-4CBF-86AD-64E3F44B22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2645" y="5852743"/>
            <a:ext cx="1186819" cy="120129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AAAD865-A352-4A5E-8E65-2F043D0F50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9435" y="5128271"/>
            <a:ext cx="1255257" cy="1255257"/>
          </a:xfrm>
          <a:prstGeom prst="rect">
            <a:avLst/>
          </a:prstGeom>
        </p:spPr>
      </p:pic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7C75D78-8928-4BDA-8A5E-2CA47318D574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061918" y="3765737"/>
            <a:ext cx="2365146" cy="136253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33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51056" y="-3477268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ACA044-4D17-4C4E-932C-B2AD3BFBE9A5}"/>
              </a:ext>
            </a:extLst>
          </p:cNvPr>
          <p:cNvSpPr txBox="1"/>
          <p:nvPr/>
        </p:nvSpPr>
        <p:spPr>
          <a:xfrm>
            <a:off x="868176" y="1823599"/>
            <a:ext cx="16556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5000" b="1" dirty="0" err="1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StylEx</a:t>
            </a:r>
            <a:r>
              <a:rPr kumimoji="1" lang="en-US" altLang="ko-KR" sz="50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architecture</a:t>
            </a:r>
            <a:endParaRPr kumimoji="1" lang="ko-KR" altLang="en-US" sz="50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31288248-5C05-F74B-B5ED-7CC89592A467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B7713FD-AEFB-A546-9A78-1F8C55EC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956EDF9-4FAB-5447-AADE-2F4806C4D1BA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Method</a:t>
            </a:r>
            <a:endParaRPr lang="ko-KR" altLang="en-US" sz="35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A76646-67EB-46AA-9855-984E54DFD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6244" y="1743696"/>
            <a:ext cx="12411075" cy="717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8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51056" y="-3477268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ACA044-4D17-4C4E-932C-B2AD3BFBE9A5}"/>
              </a:ext>
            </a:extLst>
          </p:cNvPr>
          <p:cNvSpPr txBox="1"/>
          <p:nvPr/>
        </p:nvSpPr>
        <p:spPr>
          <a:xfrm>
            <a:off x="868176" y="1823599"/>
            <a:ext cx="16556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5000" b="1" dirty="0" err="1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StylEx</a:t>
            </a:r>
            <a:r>
              <a:rPr kumimoji="1" lang="en-US" altLang="ko-KR" sz="50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architecture</a:t>
            </a:r>
            <a:endParaRPr kumimoji="1" lang="ko-KR" altLang="en-US" sz="50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31288248-5C05-F74B-B5ED-7CC89592A467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B7713FD-AEFB-A546-9A78-1F8C55EC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956EDF9-4FAB-5447-AADE-2F4806C4D1BA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Method</a:t>
            </a:r>
            <a:endParaRPr lang="ko-KR" altLang="en-US" sz="35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BBB625-1015-DF4D-9496-801C9891824D}"/>
              </a:ext>
            </a:extLst>
          </p:cNvPr>
          <p:cNvSpPr txBox="1"/>
          <p:nvPr/>
        </p:nvSpPr>
        <p:spPr>
          <a:xfrm>
            <a:off x="927204" y="3527277"/>
            <a:ext cx="1655652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</a:t>
            </a:r>
            <a:r>
              <a:rPr lang="en" altLang="ko-KR" sz="3500" b="1" dirty="0" err="1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ased</a:t>
            </a:r>
            <a:r>
              <a:rPr lang="en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on the </a:t>
            </a:r>
            <a:r>
              <a:rPr lang="en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standard GAN training </a:t>
            </a:r>
            <a:r>
              <a:rPr lang="en" altLang="ko-KR" sz="35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procedure, but adds to it several modifications</a:t>
            </a:r>
          </a:p>
          <a:p>
            <a:pPr algn="ctr"/>
            <a:endParaRPr kumimoji="1" lang="en" altLang="ko-KR" sz="35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742950" indent="-742950" algn="ctr">
              <a:buAutoNum type="arabicPeriod"/>
            </a:pPr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to train the generator G and an adversarial discriminator D simultaneously.</a:t>
            </a:r>
          </a:p>
          <a:p>
            <a:pPr marL="514350" indent="-514350" algn="ctr">
              <a:buAutoNum type="arabicPeriod"/>
            </a:pPr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train an </a:t>
            </a:r>
            <a:r>
              <a:rPr lang="en" altLang="ko-KR" sz="32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encoder E</a:t>
            </a:r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with the generator G, using </a:t>
            </a:r>
            <a:r>
              <a:rPr lang="en" altLang="ko-KR" sz="3200" b="1" u="sng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 reconstruction loss</a:t>
            </a:r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</a:p>
          <a:p>
            <a:pPr marL="514350" indent="-514350" algn="ctr">
              <a:buAutoNum type="arabicPeriod"/>
            </a:pPr>
            <a:r>
              <a:rPr lang="en" altLang="ko-KR" sz="32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Incorporate the classifier </a:t>
            </a:r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into the </a:t>
            </a:r>
            <a:r>
              <a:rPr lang="en" altLang="ko-KR" sz="3200" b="1" dirty="0" err="1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StyleGAN</a:t>
            </a:r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training procedure</a:t>
            </a:r>
          </a:p>
          <a:p>
            <a:pPr algn="ctr"/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</a:p>
          <a:p>
            <a:pPr algn="ctr"/>
            <a:r>
              <a:rPr lang="ko-KR" altLang="en-US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➞ </a:t>
            </a:r>
            <a:r>
              <a:rPr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to obtain a classifier-specific </a:t>
            </a:r>
            <a:r>
              <a:rPr lang="en" altLang="ko-KR" sz="3500" b="1" dirty="0" err="1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StyleSpace</a:t>
            </a:r>
            <a:r>
              <a:rPr lang="en" altLang="ko-KR" sz="3200" b="1" dirty="0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kumimoji="1" lang="en-US" altLang="ko-KR" sz="32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3633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51056" y="-3477268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31288248-5C05-F74B-B5ED-7CC89592A467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B7713FD-AEFB-A546-9A78-1F8C55EC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956EDF9-4FAB-5447-AADE-2F4806C4D1BA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500" b="1" dirty="0">
                <a:solidFill>
                  <a:srgbClr val="3B4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Results</a:t>
            </a:r>
            <a:endParaRPr lang="ko-KR" altLang="en-US" sz="3500" b="1" dirty="0">
              <a:solidFill>
                <a:srgbClr val="3B496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DC5095-8848-4D19-A934-184875F8F4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2765" y="1691309"/>
            <a:ext cx="12725400" cy="72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9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59006" y="-218634"/>
            <a:ext cx="18728944" cy="5361491"/>
            <a:chOff x="-159006" y="-218634"/>
            <a:chExt cx="18728944" cy="53614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59006" y="-218634"/>
              <a:ext cx="18728944" cy="53614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7315200" y="-3477268"/>
            <a:ext cx="33113043" cy="17240249"/>
            <a:chOff x="-7377888" y="-3477267"/>
            <a:chExt cx="33113043" cy="1724024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7377888" y="-3477267"/>
              <a:ext cx="33113043" cy="17240249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372" y="832795"/>
              <a:ext cx="16556522" cy="862012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ACA044-4D17-4C4E-932C-B2AD3BFBE9A5}"/>
              </a:ext>
            </a:extLst>
          </p:cNvPr>
          <p:cNvSpPr txBox="1"/>
          <p:nvPr/>
        </p:nvSpPr>
        <p:spPr>
          <a:xfrm>
            <a:off x="868176" y="1823599"/>
            <a:ext cx="16556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5000" b="1" dirty="0" err="1">
                <a:solidFill>
                  <a:srgbClr val="42424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StylEx</a:t>
            </a:r>
            <a:endParaRPr kumimoji="1" lang="ko-KR" altLang="en-US" sz="50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pSp>
        <p:nvGrpSpPr>
          <p:cNvPr id="11" name="그룹 1003">
            <a:extLst>
              <a:ext uri="{FF2B5EF4-FFF2-40B4-BE49-F238E27FC236}">
                <a16:creationId xmlns:a16="http://schemas.microsoft.com/office/drawing/2014/main" id="{31288248-5C05-F74B-B5ED-7CC89592A467}"/>
              </a:ext>
            </a:extLst>
          </p:cNvPr>
          <p:cNvGrpSpPr/>
          <p:nvPr/>
        </p:nvGrpSpPr>
        <p:grpSpPr>
          <a:xfrm>
            <a:off x="897682" y="1623544"/>
            <a:ext cx="1997918" cy="57826"/>
            <a:chOff x="900372" y="1787398"/>
            <a:chExt cx="1530222" cy="17210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B7713FD-AEFB-A546-9A78-1F8C55EC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0372" y="1787398"/>
              <a:ext cx="1530222" cy="1721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0F9E712-55C2-5346-9149-8794DDD0CE40}"/>
              </a:ext>
            </a:extLst>
          </p:cNvPr>
          <p:cNvSpPr txBox="1"/>
          <p:nvPr/>
        </p:nvSpPr>
        <p:spPr>
          <a:xfrm>
            <a:off x="897682" y="3567294"/>
            <a:ext cx="1655652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We propose the </a:t>
            </a:r>
            <a:r>
              <a:rPr lang="en" altLang="ko-KR" sz="35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StylEx</a:t>
            </a:r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model for classifier-based training of </a:t>
            </a:r>
            <a:r>
              <a:rPr lang="en" altLang="ko-KR" sz="3500" b="1" u="sng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 StyleGAN2</a:t>
            </a:r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thus driving its </a:t>
            </a:r>
            <a:r>
              <a:rPr lang="en" altLang="ko-KR" sz="3500" b="1" u="sng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StyleSpace</a:t>
            </a:r>
            <a:r>
              <a:rPr lang="en" altLang="ko-KR" sz="3600" dirty="0"/>
              <a:t> </a:t>
            </a:r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To capture classifier-specific attributes. </a:t>
            </a:r>
          </a:p>
          <a:p>
            <a:pPr algn="ctr"/>
            <a:b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• To discover </a:t>
            </a:r>
            <a:r>
              <a:rPr lang="en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classifier-related attributes</a:t>
            </a:r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in </a:t>
            </a:r>
            <a:r>
              <a:rPr lang="en" altLang="ko-KR" sz="35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StyleSpace</a:t>
            </a:r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coordinates, and </a:t>
            </a:r>
          </a:p>
          <a:p>
            <a:pPr algn="ctr"/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use these for </a:t>
            </a:r>
            <a:r>
              <a:rPr lang="en" altLang="ko-KR" sz="3500" b="1" dirty="0">
                <a:solidFill>
                  <a:schemeClr val="accent2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counterfactual explanations. </a:t>
            </a:r>
          </a:p>
          <a:p>
            <a:pPr algn="ctr"/>
            <a:endParaRPr lang="en" altLang="ko-KR" sz="35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/>
            <a:r>
              <a:rPr lang="en" altLang="ko-KR" sz="35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• To explain a large variety of classifiers and real-world complex domains. </a:t>
            </a:r>
            <a:endParaRPr kumimoji="1" lang="en-US" altLang="ko-KR" sz="3500" b="1" dirty="0">
              <a:solidFill>
                <a:srgbClr val="424242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935B99-E7B3-1E4F-A5A0-7A9B1690193F}"/>
              </a:ext>
            </a:extLst>
          </p:cNvPr>
          <p:cNvSpPr txBox="1"/>
          <p:nvPr/>
        </p:nvSpPr>
        <p:spPr>
          <a:xfrm>
            <a:off x="900372" y="1019796"/>
            <a:ext cx="165592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3500" b="1" dirty="0">
                <a:solidFill>
                  <a:srgbClr val="3B496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Conclusion</a:t>
            </a:r>
            <a:endParaRPr lang="ko-KR" altLang="en-US" sz="3500" b="1" dirty="0"/>
          </a:p>
        </p:txBody>
      </p:sp>
    </p:spTree>
    <p:extLst>
      <p:ext uri="{BB962C8B-B14F-4D97-AF65-F5344CB8AC3E}">
        <p14:creationId xmlns:p14="http://schemas.microsoft.com/office/powerpoint/2010/main" val="378931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3496</TotalTime>
  <Words>310</Words>
  <Application>Microsoft Office PowerPoint</Application>
  <PresentationFormat>사용자 지정</PresentationFormat>
  <Paragraphs>52</Paragraphs>
  <Slides>11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전선영(휴먼기계바이오공학부)</cp:lastModifiedBy>
  <cp:revision>4</cp:revision>
  <dcterms:created xsi:type="dcterms:W3CDTF">2021-10-29T10:31:57Z</dcterms:created>
  <dcterms:modified xsi:type="dcterms:W3CDTF">2021-10-31T11:49:37Z</dcterms:modified>
</cp:coreProperties>
</file>