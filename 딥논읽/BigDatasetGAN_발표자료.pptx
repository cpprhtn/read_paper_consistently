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80" r:id="rId5"/>
    <p:sldId id="281" r:id="rId6"/>
    <p:sldId id="266" r:id="rId7"/>
    <p:sldId id="258" r:id="rId8"/>
    <p:sldId id="259" r:id="rId9"/>
    <p:sldId id="260" r:id="rId10"/>
    <p:sldId id="261" r:id="rId11"/>
    <p:sldId id="262" r:id="rId12"/>
    <p:sldId id="267" r:id="rId13"/>
    <p:sldId id="263" r:id="rId14"/>
    <p:sldId id="264" r:id="rId15"/>
    <p:sldId id="265" r:id="rId16"/>
    <p:sldId id="268" r:id="rId17"/>
    <p:sldId id="269" r:id="rId18"/>
    <p:sldId id="270" r:id="rId19"/>
    <p:sldId id="271" r:id="rId20"/>
    <p:sldId id="272" r:id="rId21"/>
    <p:sldId id="274" r:id="rId22"/>
    <p:sldId id="273" r:id="rId23"/>
    <p:sldId id="275" r:id="rId24"/>
    <p:sldId id="276" r:id="rId25"/>
    <p:sldId id="277" r:id="rId26"/>
    <p:sldId id="282" r:id="rId27"/>
    <p:sldId id="27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7C95"/>
    <a:srgbClr val="F7D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68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08" y="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B749C-905C-1264-73B2-8765E971B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8F8137-E22E-829D-FB9B-D9D3491B8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2E91AE-6CAF-53B9-F8DF-B05C10A2E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82F0F-E6F1-8DB0-1907-106ACB06D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605E45-00C2-EE9C-5E9F-37E71E67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352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3435B-7928-4646-9758-4E99547F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DFA393-C38C-6686-8C75-DA14E1A1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36ECD-5903-1114-B46E-095C2A23B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4E45E7-ED8C-FDEE-3E72-0AE95860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DE03CF-1A67-DAFE-F407-C5F784C0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79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0B453-13EC-1600-6687-E250F51D7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E15083-D8BD-A290-6548-0C6A1DD99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FCD67F-BBFF-CAB8-9B15-81BB378D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576A6-A52B-2003-CA96-FF87DA2F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7F6180-C8DB-ACCC-C559-7EA604DB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36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A6A5E-AD2A-2B87-6779-C3DF503A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9A3193-7779-09CE-FD29-9AD1E63D3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370711-C53E-B73B-943E-9A3C4C28E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165D6E-EC1D-C56C-EBEE-22392DBE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712276-C4EA-C87C-BAB9-20149887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E8E964-F231-3F47-46C6-9E5B247F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51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ED3F8-21E9-9CEC-E419-A1ACBF40A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0BB644-D618-2669-0447-677D88DF8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563535-36F7-3730-C30B-375361F35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908D71-D88A-6878-AB68-F508B65A9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B9783E-7C28-E861-7727-7364D5C71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E8FD52-E3CC-4056-3FDB-E8B17F57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90A099-AF6E-8658-22ED-257975EC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05FA3B-3867-7437-2B3C-56B60D27A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33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2909D-17E6-0BCF-1077-B3A28B37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40B978-64E9-0B43-CC51-A2AA9931E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96CA24-A1B2-5B6B-1999-0FAB8EBA5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4F5E0A-A2FF-36D9-17C8-DA980729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84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C2322D-F5B9-CFDB-9C7D-2A36CB674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5DF006-3B98-2195-F89A-9D2A413B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A7316D-67ED-27FF-34B2-A45A393D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99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56524-6901-9117-057E-192A89468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40DEE5-4FA2-53C9-20EA-B49195001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F4003-24AE-97C1-EEF8-76053B401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5D314A-4C09-76FD-1C10-E8CABFB6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CE0F56-8273-E6C8-F10E-99946B4A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BCC3FE-236B-1CFA-EC8C-0FDEF787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62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83ACB-9B4F-0195-BB8B-EB4C44B5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A93FB0-77E9-731F-1DB4-DB8FC9BCA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1D309-3D98-9D6C-50C8-BA9584793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5D6EB-35A5-5C32-7BDB-568E8563C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EA705B-B4C9-94E2-CFE0-C8EE96C8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F2BE19-90AC-E47C-E921-3E0CE6DE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93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8B65F-461B-D6DB-6336-197D37C2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8A7CA4-2A58-3ED6-BEAB-0344A2909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AD0DCF-933B-820B-50B7-BC430739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9B58C4-E95C-C5A2-67A5-0E313BA2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EF9BC3-ED02-DA4D-3F40-A398D5E6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350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7DB50E-587D-3073-70D8-CA77C5201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28CEE3-1A37-6047-D5B9-79F200CB6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DD727-1ED9-6C1F-83A9-0D32986A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8B910-ABEB-DE88-10FD-8D2C51B1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F84905-8D83-F643-580D-084B919A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50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54B446-E705-3427-16BD-88E485C9E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D6788-AF79-0A48-AB37-F8D502B0E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72261D-6FDA-3B54-29A0-8F32D871A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B0539-E3D3-4559-86C3-42BA70564346}" type="datetimeFigureOut">
              <a:rPr lang="ko-KR" altLang="en-US" smtClean="0"/>
              <a:t>2022-10-09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8D2690-2180-ED7C-5DAA-92F6CC0D2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CBA9D-A6EA-3E4C-48CD-3769F657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7ED63-44DD-4FC5-A630-6A692C6CB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858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artner.com/en/information-technology/insights/top-technology-trend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 descr="텍스트, 다른, 다양한, 물품이(가) 표시된 사진&#10;&#10;자동 생성된 설명">
            <a:extLst>
              <a:ext uri="{FF2B5EF4-FFF2-40B4-BE49-F238E27FC236}">
                <a16:creationId xmlns:a16="http://schemas.microsoft.com/office/drawing/2014/main" id="{E3495CCC-0CC3-7F24-FB83-F0892818AC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4000"/>
          </a:blip>
          <a:srcRect l="23518" r="3648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FFAACB5-88D2-EF01-92D9-4BE5456B6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altLang="ko-KR" sz="5100" dirty="0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BigDatasetGAN</a:t>
            </a:r>
            <a:br>
              <a:rPr lang="en-US" altLang="ko-KR" sz="5100" dirty="0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en-US" altLang="ko-KR" sz="5100" dirty="0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Synthesizing ImageNet with Pixel-wise Annotations</a:t>
            </a:r>
            <a:endParaRPr lang="ko-KR" altLang="en-US" sz="5100" dirty="0">
              <a:solidFill>
                <a:srgbClr val="FFFF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A08370-C557-9338-403D-74E34817F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0386"/>
            <a:ext cx="9144000" cy="1098395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 처리 팀 </a:t>
            </a:r>
            <a:r>
              <a:rPr lang="en-US" altLang="ko-KR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김병현</a:t>
            </a:r>
            <a:r>
              <a:rPr lang="en-US" altLang="ko-KR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김준철</a:t>
            </a:r>
            <a:r>
              <a:rPr lang="en-US" altLang="ko-KR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이희재</a:t>
            </a:r>
            <a:r>
              <a:rPr lang="en-US" altLang="ko-KR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발표자</a:t>
            </a:r>
            <a:r>
              <a:rPr lang="en-US" altLang="ko-KR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),</a:t>
            </a:r>
            <a:r>
              <a:rPr lang="ko-KR" altLang="en-US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조경진</a:t>
            </a:r>
            <a:r>
              <a:rPr lang="en-US" altLang="ko-KR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4648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AD283-095E-5153-1393-965F5ADB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4D34E1-8E86-7A3D-31CA-0C95C719B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Synthetic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n-US" altLang="ko-KR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BigDatasetGAN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GANs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Key Intuition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Details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Experiments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ABA108-AC79-6A75-923A-665A8C2769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43" t="2985" b="1"/>
          <a:stretch/>
        </p:blipFill>
        <p:spPr>
          <a:xfrm rot="458983">
            <a:off x="6758921" y="2168032"/>
            <a:ext cx="4149223" cy="332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3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AD283-095E-5153-1393-965F5ADB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5477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Synthetic Data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C9FD83-1605-5C26-0AC7-89DBAC626D07}"/>
              </a:ext>
            </a:extLst>
          </p:cNvPr>
          <p:cNvSpPr/>
          <p:nvPr/>
        </p:nvSpPr>
        <p:spPr>
          <a:xfrm>
            <a:off x="914400" y="3545376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41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Synthetic Data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6E4E3-9AF5-27AA-BE5F-3E7C4BD2BD73}"/>
              </a:ext>
            </a:extLst>
          </p:cNvPr>
          <p:cNvSpPr txBox="1"/>
          <p:nvPr/>
        </p:nvSpPr>
        <p:spPr>
          <a:xfrm>
            <a:off x="5371574" y="5562062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Hot 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 분야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BC7A450-9A98-46A3-295D-94BFE32C1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026" y="2624995"/>
            <a:ext cx="6276566" cy="1256989"/>
          </a:xfrm>
          <a:prstGeom prst="rect">
            <a:avLst/>
          </a:prstGeom>
        </p:spPr>
      </p:pic>
      <p:pic>
        <p:nvPicPr>
          <p:cNvPr id="2054" name="Picture 6" descr="Top Strategic Technology Trends for 2022: data fabric, cybersecurity mesh, privacy-enhancing computation, cloud-native platforms, composable applications, decision intelligence, hyperautomation, AI engineering, distributed enterprise, total experience, autonomic systems, and generative AI">
            <a:extLst>
              <a:ext uri="{FF2B5EF4-FFF2-40B4-BE49-F238E27FC236}">
                <a16:creationId xmlns:a16="http://schemas.microsoft.com/office/drawing/2014/main" id="{BDB822E0-AA32-B0E7-68B2-21E9F8CBA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" y="1612916"/>
            <a:ext cx="3896170" cy="30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C00FAB-205A-5895-C966-15C1693A787E}"/>
              </a:ext>
            </a:extLst>
          </p:cNvPr>
          <p:cNvSpPr txBox="1"/>
          <p:nvPr/>
        </p:nvSpPr>
        <p:spPr>
          <a:xfrm>
            <a:off x="0" y="6550834"/>
            <a:ext cx="6173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4"/>
              </a:rPr>
              <a:t>Top Strategic Technology Trends for 2022 | Gartner</a:t>
            </a:r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F5C574-3DDF-BF1B-9699-A1F88795477E}"/>
              </a:ext>
            </a:extLst>
          </p:cNvPr>
          <p:cNvSpPr/>
          <p:nvPr/>
        </p:nvSpPr>
        <p:spPr>
          <a:xfrm>
            <a:off x="3242696" y="3726079"/>
            <a:ext cx="1160120" cy="5115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104239-45DE-6516-30EE-376967553C14}"/>
              </a:ext>
            </a:extLst>
          </p:cNvPr>
          <p:cNvSpPr/>
          <p:nvPr/>
        </p:nvSpPr>
        <p:spPr>
          <a:xfrm>
            <a:off x="5719363" y="3117151"/>
            <a:ext cx="3033901" cy="210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24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Synthetic Data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NVIDIA Omniverse Replicator Generates Synthetic Training Data for Robots |  NVIDIA Technical Blog">
            <a:extLst>
              <a:ext uri="{FF2B5EF4-FFF2-40B4-BE49-F238E27FC236}">
                <a16:creationId xmlns:a16="http://schemas.microsoft.com/office/drawing/2014/main" id="{17B60045-A727-9CF8-E71F-A4D14D015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26" y="1889223"/>
            <a:ext cx="5474763" cy="307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E578635-E7C3-3D81-8A82-E9F561BFD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443" y="1019051"/>
            <a:ext cx="3530781" cy="481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0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AD283-095E-5153-1393-965F5ADB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5477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BigDatasetGAN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C9FD83-1605-5C26-0AC7-89DBAC626D07}"/>
              </a:ext>
            </a:extLst>
          </p:cNvPr>
          <p:cNvSpPr/>
          <p:nvPr/>
        </p:nvSpPr>
        <p:spPr>
          <a:xfrm>
            <a:off x="914400" y="3545376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525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BigDatasetGAN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17FFDE-87C4-E7EE-6E65-3E1E59451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2260"/>
            <a:ext cx="12192000" cy="369348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3A59E984-4FED-93A9-A63A-33700BA65FDC}"/>
              </a:ext>
            </a:extLst>
          </p:cNvPr>
          <p:cNvSpPr txBox="1">
            <a:spLocks/>
          </p:cNvSpPr>
          <p:nvPr/>
        </p:nvSpPr>
        <p:spPr>
          <a:xfrm>
            <a:off x="838200" y="5412900"/>
            <a:ext cx="10515600" cy="1208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DatasetGAN</a:t>
            </a:r>
          </a:p>
          <a:p>
            <a:pPr algn="ctr"/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BigDatasetGAN : DatasetGAN scaled up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7559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BigDatasetGAN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587D42C-A94F-385C-192A-F398200626C9}"/>
              </a:ext>
            </a:extLst>
          </p:cNvPr>
          <p:cNvGrpSpPr/>
          <p:nvPr/>
        </p:nvGrpSpPr>
        <p:grpSpPr>
          <a:xfrm>
            <a:off x="5048858" y="2235454"/>
            <a:ext cx="1929348" cy="2224564"/>
            <a:chOff x="2964022" y="2444948"/>
            <a:chExt cx="1929348" cy="2224564"/>
          </a:xfrm>
        </p:grpSpPr>
        <p:sp>
          <p:nvSpPr>
            <p:cNvPr id="3" name="사다리꼴 2">
              <a:extLst>
                <a:ext uri="{FF2B5EF4-FFF2-40B4-BE49-F238E27FC236}">
                  <a16:creationId xmlns:a16="http://schemas.microsoft.com/office/drawing/2014/main" id="{D5CCE528-CEBA-ADB1-AF2D-C9154F1FAB9B}"/>
                </a:ext>
              </a:extLst>
            </p:cNvPr>
            <p:cNvSpPr/>
            <p:nvPr/>
          </p:nvSpPr>
          <p:spPr>
            <a:xfrm rot="16200000">
              <a:off x="2816414" y="2592556"/>
              <a:ext cx="2224564" cy="1929348"/>
            </a:xfrm>
            <a:prstGeom prst="trapezoid">
              <a:avLst>
                <a:gd name="adj" fmla="val 21248"/>
              </a:avLst>
            </a:prstGeom>
            <a:solidFill>
              <a:srgbClr val="F7DBDF"/>
            </a:solidFill>
            <a:ln w="38100">
              <a:solidFill>
                <a:srgbClr val="A77C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endParaRPr lang="ko-KR" altLang="en-US" sz="24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E30685-1D59-36E6-84D9-2FBA23F62A97}"/>
                </a:ext>
              </a:extLst>
            </p:cNvPr>
            <p:cNvSpPr txBox="1"/>
            <p:nvPr/>
          </p:nvSpPr>
          <p:spPr>
            <a:xfrm>
              <a:off x="3106996" y="3135568"/>
              <a:ext cx="164339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Gan</a:t>
              </a:r>
            </a:p>
            <a:p>
              <a:pPr algn="ctr"/>
              <a:r>
                <a:rPr lang="en-US" altLang="ko-KR" sz="24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Generator</a:t>
              </a:r>
              <a:endPara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3BFD49-02D4-FB93-3124-58FD88FEEF1C}"/>
              </a:ext>
            </a:extLst>
          </p:cNvPr>
          <p:cNvSpPr txBox="1"/>
          <p:nvPr/>
        </p:nvSpPr>
        <p:spPr>
          <a:xfrm>
            <a:off x="1771661" y="2741407"/>
            <a:ext cx="20860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Random</a:t>
            </a:r>
          </a:p>
          <a:p>
            <a:pPr algn="ctr"/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Latent Vector</a:t>
            </a:r>
          </a:p>
          <a:p>
            <a:pPr algn="ctr"/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z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43052D1-74CF-D72D-DA1B-5E3CD9133456}"/>
              </a:ext>
            </a:extLst>
          </p:cNvPr>
          <p:cNvSpPr/>
          <p:nvPr/>
        </p:nvSpPr>
        <p:spPr>
          <a:xfrm>
            <a:off x="4148502" y="3057216"/>
            <a:ext cx="609600" cy="56871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5606BBD-2D84-F64F-7EBA-40411D29AEFB}"/>
              </a:ext>
            </a:extLst>
          </p:cNvPr>
          <p:cNvSpPr/>
          <p:nvPr/>
        </p:nvSpPr>
        <p:spPr>
          <a:xfrm>
            <a:off x="7268962" y="3057216"/>
            <a:ext cx="609600" cy="56871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0D60848-B571-0BEA-ECAD-7E07C0481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318" y="2141420"/>
            <a:ext cx="2400486" cy="24090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C6E4E3-9AF5-27AA-BE5F-3E7C4BD2BD73}"/>
              </a:ext>
            </a:extLst>
          </p:cNvPr>
          <p:cNvSpPr txBox="1"/>
          <p:nvPr/>
        </p:nvSpPr>
        <p:spPr>
          <a:xfrm>
            <a:off x="3887703" y="5544570"/>
            <a:ext cx="4416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이미지를 생성하는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GAN 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아무거나</a:t>
            </a:r>
          </a:p>
        </p:txBody>
      </p:sp>
    </p:spTree>
    <p:extLst>
      <p:ext uri="{BB962C8B-B14F-4D97-AF65-F5344CB8AC3E}">
        <p14:creationId xmlns:p14="http://schemas.microsoft.com/office/powerpoint/2010/main" val="194731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BigDatasetGAN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0D60848-B571-0BEA-ECAD-7E07C04813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12"/>
          <a:stretch/>
        </p:blipFill>
        <p:spPr>
          <a:xfrm>
            <a:off x="2774158" y="2224470"/>
            <a:ext cx="2366592" cy="24090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C6E4E3-9AF5-27AA-BE5F-3E7C4BD2BD73}"/>
              </a:ext>
            </a:extLst>
          </p:cNvPr>
          <p:cNvSpPr txBox="1"/>
          <p:nvPr/>
        </p:nvSpPr>
        <p:spPr>
          <a:xfrm>
            <a:off x="3438864" y="5497436"/>
            <a:ext cx="53142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GAN 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 생성한 이미지를 사람이 직접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Labeling</a:t>
            </a:r>
            <a:endParaRPr lang="ko-KR" altLang="en-US" sz="2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E1FC69D-0626-0F28-7168-FEBBB3ED3E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9"/>
          <a:stretch/>
        </p:blipFill>
        <p:spPr>
          <a:xfrm>
            <a:off x="7428321" y="2186090"/>
            <a:ext cx="2424205" cy="248582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A0585E-AFE3-53A3-CE51-98BCA9EDDA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104" b="96175" l="63319" r="96070">
                        <a14:foregroundMark x1="73799" y1="7104" x2="63319" y2="10383"/>
                        <a14:foregroundMark x1="93450" y1="19126" x2="96070" y2="27322"/>
                        <a14:foregroundMark x1="74236" y1="96175" x2="75983" y2="90710"/>
                        <a14:foregroundMark x1="85153" y1="93443" x2="84716" y2="90164"/>
                        <a14:foregroundMark x1="86026" y1="89617" x2="85153" y2="92350"/>
                        <a14:foregroundMark x1="63755" y1="12022" x2="64192" y2="11475"/>
                        <a14:foregroundMark x1="67249" y1="53005" x2="65939" y2="61202"/>
                        <a14:foregroundMark x1="64192" y1="62295" x2="65502" y2="57377"/>
                        <a14:foregroundMark x1="65066" y1="62842" x2="80786" y2="59016"/>
                      </a14:backgroundRemoval>
                    </a14:imgEffect>
                  </a14:imgLayer>
                </a14:imgProps>
              </a:ext>
            </a:extLst>
          </a:blip>
          <a:srcRect l="60379" t="2985" b="1"/>
          <a:stretch/>
        </p:blipFill>
        <p:spPr>
          <a:xfrm rot="458983">
            <a:off x="5807923" y="2496378"/>
            <a:ext cx="953225" cy="186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25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BigDatasetGAN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587D42C-A94F-385C-192A-F398200626C9}"/>
              </a:ext>
            </a:extLst>
          </p:cNvPr>
          <p:cNvGrpSpPr/>
          <p:nvPr/>
        </p:nvGrpSpPr>
        <p:grpSpPr>
          <a:xfrm>
            <a:off x="5131326" y="913320"/>
            <a:ext cx="1929348" cy="2224564"/>
            <a:chOff x="2964022" y="2444948"/>
            <a:chExt cx="1929348" cy="2224564"/>
          </a:xfrm>
        </p:grpSpPr>
        <p:sp>
          <p:nvSpPr>
            <p:cNvPr id="3" name="사다리꼴 2">
              <a:extLst>
                <a:ext uri="{FF2B5EF4-FFF2-40B4-BE49-F238E27FC236}">
                  <a16:creationId xmlns:a16="http://schemas.microsoft.com/office/drawing/2014/main" id="{D5CCE528-CEBA-ADB1-AF2D-C9154F1FAB9B}"/>
                </a:ext>
              </a:extLst>
            </p:cNvPr>
            <p:cNvSpPr/>
            <p:nvPr/>
          </p:nvSpPr>
          <p:spPr>
            <a:xfrm rot="16200000">
              <a:off x="2816414" y="2592556"/>
              <a:ext cx="2224564" cy="1929348"/>
            </a:xfrm>
            <a:prstGeom prst="trapezoid">
              <a:avLst>
                <a:gd name="adj" fmla="val 21248"/>
              </a:avLst>
            </a:prstGeom>
            <a:solidFill>
              <a:srgbClr val="F7DBDF"/>
            </a:solidFill>
            <a:ln w="38100">
              <a:solidFill>
                <a:srgbClr val="A77C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endParaRPr lang="ko-KR" altLang="en-US" sz="24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E30685-1D59-36E6-84D9-2FBA23F62A97}"/>
                </a:ext>
              </a:extLst>
            </p:cNvPr>
            <p:cNvSpPr txBox="1"/>
            <p:nvPr/>
          </p:nvSpPr>
          <p:spPr>
            <a:xfrm>
              <a:off x="3106996" y="3135568"/>
              <a:ext cx="164339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Gan</a:t>
              </a:r>
            </a:p>
            <a:p>
              <a:pPr algn="ctr"/>
              <a:r>
                <a:rPr lang="en-US" altLang="ko-KR" sz="24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Generator</a:t>
              </a:r>
              <a:endPara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3BFD49-02D4-FB93-3124-58FD88FEEF1C}"/>
              </a:ext>
            </a:extLst>
          </p:cNvPr>
          <p:cNvSpPr txBox="1"/>
          <p:nvPr/>
        </p:nvSpPr>
        <p:spPr>
          <a:xfrm>
            <a:off x="1854129" y="1419273"/>
            <a:ext cx="20860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Random</a:t>
            </a:r>
          </a:p>
          <a:p>
            <a:pPr algn="ctr"/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Latent Vector</a:t>
            </a:r>
          </a:p>
          <a:p>
            <a:pPr algn="ctr"/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z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43052D1-74CF-D72D-DA1B-5E3CD9133456}"/>
              </a:ext>
            </a:extLst>
          </p:cNvPr>
          <p:cNvSpPr/>
          <p:nvPr/>
        </p:nvSpPr>
        <p:spPr>
          <a:xfrm>
            <a:off x="4230970" y="1735082"/>
            <a:ext cx="609600" cy="56871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5606BBD-2D84-F64F-7EBA-40411D29AEFB}"/>
              </a:ext>
            </a:extLst>
          </p:cNvPr>
          <p:cNvSpPr/>
          <p:nvPr/>
        </p:nvSpPr>
        <p:spPr>
          <a:xfrm>
            <a:off x="7351430" y="1735082"/>
            <a:ext cx="609600" cy="56871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0D60848-B571-0BEA-ECAD-7E07C04813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55"/>
          <a:stretch/>
        </p:blipFill>
        <p:spPr>
          <a:xfrm>
            <a:off x="8251786" y="819286"/>
            <a:ext cx="2343942" cy="24090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C6E4E3-9AF5-27AA-BE5F-3E7C4BD2BD73}"/>
              </a:ext>
            </a:extLst>
          </p:cNvPr>
          <p:cNvSpPr txBox="1"/>
          <p:nvPr/>
        </p:nvSpPr>
        <p:spPr>
          <a:xfrm>
            <a:off x="2044561" y="3986513"/>
            <a:ext cx="3836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사람의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Annotation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target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으로</a:t>
            </a:r>
            <a:endParaRPr lang="en-US" altLang="ko-KR" sz="2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Label Branch 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학습</a:t>
            </a: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4C66FE3-2C24-1981-68F5-5C7192547180}"/>
              </a:ext>
            </a:extLst>
          </p:cNvPr>
          <p:cNvSpPr/>
          <p:nvPr/>
        </p:nvSpPr>
        <p:spPr>
          <a:xfrm rot="2534021">
            <a:off x="7351430" y="3525132"/>
            <a:ext cx="609600" cy="56871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58526B-0DD6-B24B-49E7-043B5FC976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9"/>
          <a:stretch/>
        </p:blipFill>
        <p:spPr>
          <a:xfrm>
            <a:off x="8251786" y="3478920"/>
            <a:ext cx="2404642" cy="2465761"/>
          </a:xfrm>
          <a:prstGeom prst="rect">
            <a:avLst/>
          </a:prstGeom>
        </p:spPr>
      </p:pic>
      <p:sp>
        <p:nvSpPr>
          <p:cNvPr id="7" name="사다리꼴 6">
            <a:extLst>
              <a:ext uri="{FF2B5EF4-FFF2-40B4-BE49-F238E27FC236}">
                <a16:creationId xmlns:a16="http://schemas.microsoft.com/office/drawing/2014/main" id="{AF5695A3-F0D0-B26F-98C6-38961325DF68}"/>
              </a:ext>
            </a:extLst>
          </p:cNvPr>
          <p:cNvSpPr/>
          <p:nvPr/>
        </p:nvSpPr>
        <p:spPr>
          <a:xfrm rot="18746928" flipV="1">
            <a:off x="6524832" y="4060469"/>
            <a:ext cx="1047517" cy="833619"/>
          </a:xfrm>
          <a:prstGeom prst="trapezoid">
            <a:avLst>
              <a:gd name="adj" fmla="val 21248"/>
            </a:avLst>
          </a:prstGeom>
          <a:solidFill>
            <a:srgbClr val="F7DBDF"/>
          </a:solidFill>
          <a:ln w="38100">
            <a:solidFill>
              <a:srgbClr val="A77C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ko-KR" altLang="en-US" sz="24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EA083-357F-D1E5-AAE0-583F62AE479C}"/>
              </a:ext>
            </a:extLst>
          </p:cNvPr>
          <p:cNvSpPr txBox="1"/>
          <p:nvPr/>
        </p:nvSpPr>
        <p:spPr>
          <a:xfrm rot="2549155">
            <a:off x="6626037" y="4184891"/>
            <a:ext cx="8451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Label</a:t>
            </a:r>
          </a:p>
          <a:p>
            <a:pPr algn="ctr"/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Branch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252DA5-8965-030E-1104-6B51FEC240B2}"/>
              </a:ext>
            </a:extLst>
          </p:cNvPr>
          <p:cNvSpPr txBox="1"/>
          <p:nvPr/>
        </p:nvSpPr>
        <p:spPr>
          <a:xfrm>
            <a:off x="4197603" y="5145068"/>
            <a:ext cx="28055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Label Branch 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입력은</a:t>
            </a:r>
            <a:endParaRPr lang="en-US" altLang="ko-KR" sz="2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Gan Generator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</a:t>
            </a:r>
            <a:endParaRPr lang="en-US" altLang="ko-KR" sz="2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Intermediate features</a:t>
            </a:r>
            <a:endParaRPr lang="ko-KR" altLang="en-US" sz="2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8590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BigDatasetGAN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32A7020-F215-2C4A-33F0-CA66B634FA8F}"/>
              </a:ext>
            </a:extLst>
          </p:cNvPr>
          <p:cNvGrpSpPr/>
          <p:nvPr/>
        </p:nvGrpSpPr>
        <p:grpSpPr>
          <a:xfrm>
            <a:off x="3266645" y="1037477"/>
            <a:ext cx="5460797" cy="3179867"/>
            <a:chOff x="451072" y="1218349"/>
            <a:chExt cx="8801859" cy="5125395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587D42C-A94F-385C-192A-F398200626C9}"/>
                </a:ext>
              </a:extLst>
            </p:cNvPr>
            <p:cNvGrpSpPr/>
            <p:nvPr/>
          </p:nvGrpSpPr>
          <p:grpSpPr>
            <a:xfrm>
              <a:off x="3727829" y="1312383"/>
              <a:ext cx="1929348" cy="2224564"/>
              <a:chOff x="2964022" y="2444948"/>
              <a:chExt cx="1929348" cy="2224564"/>
            </a:xfrm>
          </p:grpSpPr>
          <p:sp>
            <p:nvSpPr>
              <p:cNvPr id="3" name="사다리꼴 2">
                <a:extLst>
                  <a:ext uri="{FF2B5EF4-FFF2-40B4-BE49-F238E27FC236}">
                    <a16:creationId xmlns:a16="http://schemas.microsoft.com/office/drawing/2014/main" id="{D5CCE528-CEBA-ADB1-AF2D-C9154F1FAB9B}"/>
                  </a:ext>
                </a:extLst>
              </p:cNvPr>
              <p:cNvSpPr/>
              <p:nvPr/>
            </p:nvSpPr>
            <p:spPr>
              <a:xfrm rot="16200000">
                <a:off x="2816414" y="2592556"/>
                <a:ext cx="2224564" cy="1929348"/>
              </a:xfrm>
              <a:prstGeom prst="trapezoid">
                <a:avLst>
                  <a:gd name="adj" fmla="val 21248"/>
                </a:avLst>
              </a:prstGeom>
              <a:solidFill>
                <a:srgbClr val="F7DBDF"/>
              </a:solidFill>
              <a:ln w="38100">
                <a:solidFill>
                  <a:srgbClr val="A77C9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endParaRPr lang="ko-KR" altLang="en-US" sz="2400" b="1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E30685-1D59-36E6-84D9-2FBA23F62A97}"/>
                  </a:ext>
                </a:extLst>
              </p:cNvPr>
              <p:cNvSpPr txBox="1"/>
              <p:nvPr/>
            </p:nvSpPr>
            <p:spPr>
              <a:xfrm>
                <a:off x="3093882" y="3135567"/>
                <a:ext cx="1669626" cy="843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Gan</a:t>
                </a:r>
              </a:p>
              <a:p>
                <a:pPr algn="ctr"/>
                <a:r>
                  <a:rPr lang="en-US" altLang="ko-KR" sz="1400" dirty="0"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Generator</a:t>
                </a:r>
                <a:endParaRPr lang="ko-KR" altLang="en-US" sz="14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73BFD49-02D4-FB93-3124-58FD88FEEF1C}"/>
                </a:ext>
              </a:extLst>
            </p:cNvPr>
            <p:cNvSpPr txBox="1"/>
            <p:nvPr/>
          </p:nvSpPr>
          <p:spPr>
            <a:xfrm>
              <a:off x="451072" y="1818335"/>
              <a:ext cx="2085199" cy="1190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Random</a:t>
              </a:r>
            </a:p>
            <a:p>
              <a:pPr algn="ctr"/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Latent Vector</a:t>
              </a:r>
            </a:p>
            <a:p>
              <a:pPr algn="ctr"/>
              <a:r>
                <a:rPr lang="en-US" altLang="ko-KR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z</a:t>
              </a:r>
              <a:endPara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B43052D1-74CF-D72D-DA1B-5E3CD9133456}"/>
                </a:ext>
              </a:extLst>
            </p:cNvPr>
            <p:cNvSpPr/>
            <p:nvPr/>
          </p:nvSpPr>
          <p:spPr>
            <a:xfrm>
              <a:off x="2827473" y="2134145"/>
              <a:ext cx="609600" cy="568712"/>
            </a:xfrm>
            <a:prstGeom prst="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65606BBD-2D84-F64F-7EBA-40411D29AEFB}"/>
                </a:ext>
              </a:extLst>
            </p:cNvPr>
            <p:cNvSpPr/>
            <p:nvPr/>
          </p:nvSpPr>
          <p:spPr>
            <a:xfrm>
              <a:off x="5947933" y="2134145"/>
              <a:ext cx="609600" cy="568712"/>
            </a:xfrm>
            <a:prstGeom prst="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0D60848-B571-0BEA-ECAD-7E07C04813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355"/>
            <a:stretch/>
          </p:blipFill>
          <p:spPr>
            <a:xfrm>
              <a:off x="6848289" y="1218349"/>
              <a:ext cx="2343942" cy="2409060"/>
            </a:xfrm>
            <a:prstGeom prst="rect">
              <a:avLst/>
            </a:prstGeom>
          </p:spPr>
        </p:pic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C4C66FE3-2C24-1981-68F5-5C7192547180}"/>
                </a:ext>
              </a:extLst>
            </p:cNvPr>
            <p:cNvSpPr/>
            <p:nvPr/>
          </p:nvSpPr>
          <p:spPr>
            <a:xfrm rot="2534021">
              <a:off x="5947933" y="3924195"/>
              <a:ext cx="609600" cy="568712"/>
            </a:xfrm>
            <a:prstGeom prst="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058526B-0DD6-B24B-49E7-043B5FC976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379"/>
            <a:stretch/>
          </p:blipFill>
          <p:spPr>
            <a:xfrm>
              <a:off x="6848289" y="3877983"/>
              <a:ext cx="2404642" cy="2465761"/>
            </a:xfrm>
            <a:prstGeom prst="rect">
              <a:avLst/>
            </a:prstGeom>
          </p:spPr>
        </p:pic>
        <p:sp>
          <p:nvSpPr>
            <p:cNvPr id="7" name="사다리꼴 6">
              <a:extLst>
                <a:ext uri="{FF2B5EF4-FFF2-40B4-BE49-F238E27FC236}">
                  <a16:creationId xmlns:a16="http://schemas.microsoft.com/office/drawing/2014/main" id="{AF5695A3-F0D0-B26F-98C6-38961325DF68}"/>
                </a:ext>
              </a:extLst>
            </p:cNvPr>
            <p:cNvSpPr/>
            <p:nvPr/>
          </p:nvSpPr>
          <p:spPr>
            <a:xfrm rot="18746928" flipV="1">
              <a:off x="5121335" y="4459532"/>
              <a:ext cx="1047517" cy="833619"/>
            </a:xfrm>
            <a:prstGeom prst="trapezoid">
              <a:avLst>
                <a:gd name="adj" fmla="val 21248"/>
              </a:avLst>
            </a:prstGeom>
            <a:solidFill>
              <a:srgbClr val="F7DBDF"/>
            </a:solidFill>
            <a:ln w="38100">
              <a:solidFill>
                <a:srgbClr val="A77C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endParaRPr lang="ko-KR" altLang="en-US" sz="24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CEA083-357F-D1E5-AAE0-583F62AE479C}"/>
                </a:ext>
              </a:extLst>
            </p:cNvPr>
            <p:cNvSpPr txBox="1"/>
            <p:nvPr/>
          </p:nvSpPr>
          <p:spPr>
            <a:xfrm rot="2549155">
              <a:off x="5131956" y="4529085"/>
              <a:ext cx="1026271" cy="6945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Label</a:t>
              </a:r>
            </a:p>
            <a:p>
              <a:pPr algn="ctr"/>
              <a:r>
                <a:rPr lang="en-US" altLang="ko-KR" sz="105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Branch</a:t>
              </a:r>
              <a:endParaRPr lang="ko-KR" altLang="en-US" sz="105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19DB838A-14D9-24A3-A991-56D0B0DCD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940" y="5200620"/>
            <a:ext cx="10174120" cy="1305107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69449B05-B9D9-4E27-A4CC-AF601B129047}"/>
              </a:ext>
            </a:extLst>
          </p:cNvPr>
          <p:cNvSpPr/>
          <p:nvPr/>
        </p:nvSpPr>
        <p:spPr>
          <a:xfrm rot="5400000">
            <a:off x="5756843" y="4389917"/>
            <a:ext cx="666252" cy="79330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BF8680F-648B-5CC2-CA35-D808205B6EBB}"/>
              </a:ext>
            </a:extLst>
          </p:cNvPr>
          <p:cNvSpPr/>
          <p:nvPr/>
        </p:nvSpPr>
        <p:spPr>
          <a:xfrm>
            <a:off x="2860439" y="882305"/>
            <a:ext cx="6273210" cy="3490213"/>
          </a:xfrm>
          <a:prstGeom prst="roundRect">
            <a:avLst>
              <a:gd name="adj" fmla="val 722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68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AD283-095E-5153-1393-965F5ADB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5477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GANs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C9FD83-1605-5C26-0AC7-89DBAC626D07}"/>
              </a:ext>
            </a:extLst>
          </p:cNvPr>
          <p:cNvSpPr/>
          <p:nvPr/>
        </p:nvSpPr>
        <p:spPr>
          <a:xfrm>
            <a:off x="914400" y="3545376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289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GANs - </a:t>
            </a:r>
            <a:r>
              <a:rPr lang="en-US" altLang="ko-KR" sz="36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StyleGAN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A Gentle Introduction to StyleGAN the Style Generative Adversarial Network">
            <a:extLst>
              <a:ext uri="{FF2B5EF4-FFF2-40B4-BE49-F238E27FC236}">
                <a16:creationId xmlns:a16="http://schemas.microsoft.com/office/drawing/2014/main" id="{C2D08DA6-A7BC-1E50-86BC-BAF5AC012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80" y="1218349"/>
            <a:ext cx="4365800" cy="499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6D00F3D-BFFF-4901-D2B1-B87A54D6B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120" y="1218350"/>
            <a:ext cx="5257800" cy="1928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</a:t>
            </a:r>
            <a:endParaRPr lang="en-US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GAN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Generator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입력이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하나의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Gaussian distribution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sampling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된 하나의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vector -&gt;  Entangled Feature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FE765BB0-F19F-B509-ABF0-6689F2A46E62}"/>
              </a:ext>
            </a:extLst>
          </p:cNvPr>
          <p:cNvSpPr txBox="1">
            <a:spLocks/>
          </p:cNvSpPr>
          <p:nvPr/>
        </p:nvSpPr>
        <p:spPr>
          <a:xfrm>
            <a:off x="6095120" y="3429000"/>
            <a:ext cx="5257800" cy="1928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4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StyleGAN</a:t>
            </a:r>
            <a:endParaRPr lang="en-US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입력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Vector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non-linear mapping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여러 개의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vector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입력으로 주어 명시적으로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Disentangled Feature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를 사용하도록 함</a:t>
            </a:r>
            <a:endParaRPr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442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GANs - </a:t>
            </a:r>
            <a:r>
              <a:rPr lang="en-US" altLang="ko-KR" sz="36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BigGAN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6D00F3D-BFFF-4901-D2B1-B87A54D6B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120" y="1218350"/>
            <a:ext cx="5257800" cy="1928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</a:t>
            </a:r>
          </a:p>
          <a:p>
            <a:pPr lvl="1">
              <a:lnSpc>
                <a:spcPct val="100000"/>
              </a:lnSpc>
            </a:pP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낮은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Scalability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Stability</a:t>
            </a:r>
          </a:p>
          <a:p>
            <a:pPr lvl="1">
              <a:lnSpc>
                <a:spcPct val="100000"/>
              </a:lnSpc>
            </a:pP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이상한 결과물이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나올 때도 있음</a:t>
            </a:r>
            <a:endParaRPr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FE765BB0-F19F-B509-ABF0-6689F2A46E62}"/>
              </a:ext>
            </a:extLst>
          </p:cNvPr>
          <p:cNvSpPr txBox="1">
            <a:spLocks/>
          </p:cNvSpPr>
          <p:nvPr/>
        </p:nvSpPr>
        <p:spPr>
          <a:xfrm>
            <a:off x="6095120" y="2414655"/>
            <a:ext cx="5257800" cy="1928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4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BigGAN</a:t>
            </a:r>
            <a:endParaRPr lang="en-US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Scalability, Stability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개선</a:t>
            </a:r>
            <a:endParaRPr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Truncation trick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사용한 이상한 이미지 방지</a:t>
            </a:r>
            <a:endParaRPr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A7A87F-57A5-01AA-AD77-3D7B802BA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885" y="1218349"/>
            <a:ext cx="3314189" cy="50866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903CF0-7CD2-100A-AF0F-7090D7BAA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566" y="5119851"/>
            <a:ext cx="6651449" cy="1542077"/>
          </a:xfrm>
          <a:prstGeom prst="rect">
            <a:avLst/>
          </a:prstGeom>
        </p:spPr>
      </p:pic>
      <p:pic>
        <p:nvPicPr>
          <p:cNvPr id="1026" name="Picture 2" descr="A Gentle Introduction to Calculating Normal Summary Statistics">
            <a:extLst>
              <a:ext uri="{FF2B5EF4-FFF2-40B4-BE49-F238E27FC236}">
                <a16:creationId xmlns:a16="http://schemas.microsoft.com/office/drawing/2014/main" id="{D7EB212F-4164-D5BE-911E-EEAF40C5A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7468" y="3615058"/>
            <a:ext cx="1942626" cy="145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198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GANs - VQGAN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6D00F3D-BFFF-4901-D2B1-B87A54D6B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309" y="4799775"/>
            <a:ext cx="5257800" cy="1928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</a:t>
            </a:r>
          </a:p>
          <a:p>
            <a:pPr lvl="1">
              <a:lnSpc>
                <a:spcPct val="100000"/>
              </a:lnSpc>
            </a:pP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Transformer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를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GAN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사용하고 싶지만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computational cost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너무 큼</a:t>
            </a:r>
            <a:endParaRPr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이미지도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discrete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하게 표현 가능하지만 지금까지는 연속적인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latent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사용해 왔음</a:t>
            </a:r>
            <a:endParaRPr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FE765BB0-F19F-B509-ABF0-6689F2A46E62}"/>
              </a:ext>
            </a:extLst>
          </p:cNvPr>
          <p:cNvSpPr txBox="1">
            <a:spLocks/>
          </p:cNvSpPr>
          <p:nvPr/>
        </p:nvSpPr>
        <p:spPr>
          <a:xfrm>
            <a:off x="6096000" y="4799775"/>
            <a:ext cx="5257800" cy="1928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VQGAN</a:t>
            </a:r>
          </a:p>
          <a:p>
            <a:pPr lvl="1">
              <a:lnSpc>
                <a:spcPct val="100000"/>
              </a:lnSpc>
            </a:pP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Conv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transformer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를 결합하여 사용</a:t>
            </a:r>
            <a:endParaRPr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Latent Vector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로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discrete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codebook 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업데이트 시켜서 그 값을 사용</a:t>
            </a:r>
            <a:endParaRPr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00ED90D-E68A-187F-3D74-B68519D81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900668"/>
            <a:ext cx="9372600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702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AD283-095E-5153-1393-965F5ADB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5477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Key Intuition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C9FD83-1605-5C26-0AC7-89DBAC626D07}"/>
              </a:ext>
            </a:extLst>
          </p:cNvPr>
          <p:cNvSpPr/>
          <p:nvPr/>
        </p:nvSpPr>
        <p:spPr>
          <a:xfrm>
            <a:off x="914400" y="3545376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241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Key Intuition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6D00F3D-BFFF-4901-D2B1-B87A54D6B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91" y="964636"/>
            <a:ext cx="9568815" cy="140909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GAN Generator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좋은 품질의 데이터를 만들 수 있는 이유는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Generator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의 </a:t>
            </a: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Intermediate Feature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들이 풍부한 </a:t>
            </a: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sematic knowledge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가지고 있기 때문이다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CB9BFBF-A1E7-5109-807C-ED6BAB57612F}"/>
              </a:ext>
            </a:extLst>
          </p:cNvPr>
          <p:cNvSpPr/>
          <p:nvPr/>
        </p:nvSpPr>
        <p:spPr>
          <a:xfrm rot="5400000">
            <a:off x="5762872" y="2485306"/>
            <a:ext cx="666252" cy="79330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755C583-37AD-21CA-EBBD-E210BA05D251}"/>
              </a:ext>
            </a:extLst>
          </p:cNvPr>
          <p:cNvSpPr txBox="1">
            <a:spLocks/>
          </p:cNvSpPr>
          <p:nvPr/>
        </p:nvSpPr>
        <p:spPr>
          <a:xfrm>
            <a:off x="1311591" y="3390182"/>
            <a:ext cx="9568815" cy="841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 좋은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feature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학습 되어 있기 때문에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Label branch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를 학습하는 데에는 많은 데이터가 필요하지 않다</a:t>
            </a: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EDA4AE4-CD05-B719-D7A9-75CE006D1C23}"/>
              </a:ext>
            </a:extLst>
          </p:cNvPr>
          <p:cNvSpPr/>
          <p:nvPr/>
        </p:nvSpPr>
        <p:spPr>
          <a:xfrm rot="5400000">
            <a:off x="5762872" y="4343104"/>
            <a:ext cx="666252" cy="79330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D1CB935-902E-477F-89E0-99ED214CFA57}"/>
              </a:ext>
            </a:extLst>
          </p:cNvPr>
          <p:cNvSpPr txBox="1">
            <a:spLocks/>
          </p:cNvSpPr>
          <p:nvPr/>
        </p:nvSpPr>
        <p:spPr>
          <a:xfrm>
            <a:off x="1311591" y="5247980"/>
            <a:ext cx="9568815" cy="841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 잘 학습된 </a:t>
            </a: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GAN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아주 약간의 </a:t>
            </a: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Annotation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 있다면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무한한 이미지</a:t>
            </a: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-Label </a:t>
            </a:r>
            <a:r>
              <a:rPr lang="ko-KR" altLang="en-US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쌍을 만들 수 있다</a:t>
            </a:r>
            <a:r>
              <a:rPr lang="en-US" altLang="ko-KR" sz="2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9540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AD283-095E-5153-1393-965F5ADB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5477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Details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C9FD83-1605-5C26-0AC7-89DBAC626D07}"/>
              </a:ext>
            </a:extLst>
          </p:cNvPr>
          <p:cNvSpPr/>
          <p:nvPr/>
        </p:nvSpPr>
        <p:spPr>
          <a:xfrm>
            <a:off x="914400" y="3545376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38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Details - Labeling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6D00F3D-BFFF-4901-D2B1-B87A54D6B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91" y="964635"/>
            <a:ext cx="9568815" cy="520525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ImageNet(real)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BigGAN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 생성한 이미지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(synthetic)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카테고리별로 각각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장을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random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하게 선택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명의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annotator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real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synthetic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이미지를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segmentation level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annotation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DC95382-E62F-FAD8-DB79-CF6FC7764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79" y="3832301"/>
            <a:ext cx="11193437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63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Details - Filtering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6D00F3D-BFFF-4901-D2B1-B87A54D6B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141" y="2580366"/>
            <a:ext cx="6941713" cy="308818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BigGAN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Truncation Trick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Pretrained image classifier’s confidence score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Ensemble 16 Segmentation Heads + Uncertainty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 VQGAN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Nucleus sampling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38557-97E9-AE3F-141A-D7B91EFA41DD}"/>
              </a:ext>
            </a:extLst>
          </p:cNvPr>
          <p:cNvSpPr txBox="1">
            <a:spLocks/>
          </p:cNvSpPr>
          <p:nvPr/>
        </p:nvSpPr>
        <p:spPr>
          <a:xfrm>
            <a:off x="1311591" y="964635"/>
            <a:ext cx="9568815" cy="5205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아무래도 이상한 이미지가 나올 수 있으니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방지하는 장치들이 필요하다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922B0A-F9DE-1262-A2FA-7757855A00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782" b="12795"/>
          <a:stretch/>
        </p:blipFill>
        <p:spPr>
          <a:xfrm>
            <a:off x="8693239" y="561013"/>
            <a:ext cx="2410124" cy="241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70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Details – Feature Interpreter (Label branch)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9BA2B2-18F9-1A03-B5B6-6D49E075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954544"/>
            <a:ext cx="1063138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30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Details – On/Offline Sampling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38557-97E9-AE3F-141A-D7B91EFA41DD}"/>
              </a:ext>
            </a:extLst>
          </p:cNvPr>
          <p:cNvSpPr txBox="1">
            <a:spLocks/>
          </p:cNvSpPr>
          <p:nvPr/>
        </p:nvSpPr>
        <p:spPr>
          <a:xfrm>
            <a:off x="1311591" y="1539026"/>
            <a:ext cx="9568815" cy="4630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한 번 만 생성해 놓아도 되지만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(Offline)</a:t>
            </a: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Training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중에 계속 생성할 수도 있다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(Online)</a:t>
            </a: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Online Sampling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을 하게 되면 모델이 같은 데이터를 두 번 이상 보지 않고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훨씬 더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various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많은 데이터를 보게 할 수 있다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C4B7966-E645-A369-4E33-0406C4DEA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51" y="4436922"/>
            <a:ext cx="10561098" cy="88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08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AD283-095E-5153-1393-965F5ADB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5477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Experiments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C9FD83-1605-5C26-0AC7-89DBAC626D07}"/>
              </a:ext>
            </a:extLst>
          </p:cNvPr>
          <p:cNvSpPr/>
          <p:nvPr/>
        </p:nvSpPr>
        <p:spPr>
          <a:xfrm>
            <a:off x="914400" y="3545376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035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Experiments – Evaluation Setting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38557-97E9-AE3F-141A-D7B91EFA41DD}"/>
              </a:ext>
            </a:extLst>
          </p:cNvPr>
          <p:cNvSpPr txBox="1">
            <a:spLocks/>
          </p:cNvSpPr>
          <p:nvPr/>
        </p:nvSpPr>
        <p:spPr>
          <a:xfrm>
            <a:off x="1311591" y="1539026"/>
            <a:ext cx="9568815" cy="46308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Training Dataset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Synthetic-annotated dataset (5k)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Evaluation Dataset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Real-annotated dataset (8k)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Segmentation method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DeepLabv3 with Resnet-50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Metric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mIoU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1406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Experiments – Comparison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38557-97E9-AE3F-141A-D7B91EFA41DD}"/>
              </a:ext>
            </a:extLst>
          </p:cNvPr>
          <p:cNvSpPr txBox="1">
            <a:spLocks/>
          </p:cNvSpPr>
          <p:nvPr/>
        </p:nvSpPr>
        <p:spPr>
          <a:xfrm>
            <a:off x="406566" y="1550601"/>
            <a:ext cx="9568815" cy="4630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BigGAN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-sim, VQGAN-sim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100k labeled images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518CED-B390-D7F4-D40F-4B5E7EA7F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80" y="1030146"/>
            <a:ext cx="6902354" cy="52728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F45FE2-130A-7527-D44F-0EADC420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39" y="3429000"/>
            <a:ext cx="2921150" cy="19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37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27D7-CCC9-BACE-ED04-DE564C7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712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Experiments – Comparison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F52CA-36F6-0AF2-CA94-463A9D7CA5E3}"/>
              </a:ext>
            </a:extLst>
          </p:cNvPr>
          <p:cNvSpPr/>
          <p:nvPr/>
        </p:nvSpPr>
        <p:spPr>
          <a:xfrm>
            <a:off x="0" y="568712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030E58-9BC8-54CF-2EE3-1EBD541B9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367"/>
            <a:ext cx="12192000" cy="43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68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AD283-095E-5153-1393-965F5ADB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5477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The End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C9FD83-1605-5C26-0AC7-89DBAC626D07}"/>
              </a:ext>
            </a:extLst>
          </p:cNvPr>
          <p:cNvSpPr/>
          <p:nvPr/>
        </p:nvSpPr>
        <p:spPr>
          <a:xfrm>
            <a:off x="914400" y="3545376"/>
            <a:ext cx="3021980" cy="80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085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469</Words>
  <Application>Microsoft Office PowerPoint</Application>
  <PresentationFormat>와이드스크린</PresentationFormat>
  <Paragraphs>119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나눔고딕</vt:lpstr>
      <vt:lpstr>나눔고딕 ExtraBold</vt:lpstr>
      <vt:lpstr>맑은 고딕</vt:lpstr>
      <vt:lpstr>Arial</vt:lpstr>
      <vt:lpstr>Wingdings</vt:lpstr>
      <vt:lpstr>Office 테마</vt:lpstr>
      <vt:lpstr>BigDatasetGAN : Synthesizing ImageNet with Pixel-wise Annotations</vt:lpstr>
      <vt:lpstr>목차</vt:lpstr>
      <vt:lpstr>Synthetic Data</vt:lpstr>
      <vt:lpstr>Synthetic Data</vt:lpstr>
      <vt:lpstr>Synthetic Data</vt:lpstr>
      <vt:lpstr>BigDatasetGAN</vt:lpstr>
      <vt:lpstr>BigDatasetGAN</vt:lpstr>
      <vt:lpstr>BigDatasetGAN</vt:lpstr>
      <vt:lpstr>BigDatasetGAN</vt:lpstr>
      <vt:lpstr>BigDatasetGAN</vt:lpstr>
      <vt:lpstr>BigDatasetGAN</vt:lpstr>
      <vt:lpstr>GANs</vt:lpstr>
      <vt:lpstr>GANs - StyleGAN</vt:lpstr>
      <vt:lpstr>GANs - BigGAN</vt:lpstr>
      <vt:lpstr>GANs - VQGAN</vt:lpstr>
      <vt:lpstr>Key Intuition</vt:lpstr>
      <vt:lpstr>Key Intuition</vt:lpstr>
      <vt:lpstr>Details</vt:lpstr>
      <vt:lpstr>Details - Labeling</vt:lpstr>
      <vt:lpstr>Details - Filtering</vt:lpstr>
      <vt:lpstr>Details – Feature Interpreter (Label branch)</vt:lpstr>
      <vt:lpstr>Details – On/Offline Sampling</vt:lpstr>
      <vt:lpstr>Experiments</vt:lpstr>
      <vt:lpstr>Experiments – Evaluation Setting</vt:lpstr>
      <vt:lpstr>Experiments – Comparison</vt:lpstr>
      <vt:lpstr>Experiments – Comparison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이희재</dc:creator>
  <cp:lastModifiedBy>이희재</cp:lastModifiedBy>
  <cp:revision>7</cp:revision>
  <dcterms:created xsi:type="dcterms:W3CDTF">2022-10-06T03:21:14Z</dcterms:created>
  <dcterms:modified xsi:type="dcterms:W3CDTF">2022-10-09T10:16:20Z</dcterms:modified>
</cp:coreProperties>
</file>