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1" r:id="rId4"/>
    <p:sldId id="299" r:id="rId5"/>
    <p:sldId id="279" r:id="rId6"/>
    <p:sldId id="300" r:id="rId7"/>
    <p:sldId id="301" r:id="rId8"/>
    <p:sldId id="304" r:id="rId9"/>
    <p:sldId id="302" r:id="rId10"/>
    <p:sldId id="303" r:id="rId11"/>
    <p:sldId id="258" r:id="rId12"/>
    <p:sldId id="308" r:id="rId13"/>
    <p:sldId id="260" r:id="rId14"/>
    <p:sldId id="305" r:id="rId15"/>
    <p:sldId id="306" r:id="rId16"/>
    <p:sldId id="307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3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917" autoAdjust="0"/>
    <p:restoredTop sz="94660"/>
  </p:normalViewPr>
  <p:slideViewPr>
    <p:cSldViewPr snapToGrid="0">
      <p:cViewPr varScale="1">
        <p:scale>
          <a:sx n="80" d="100"/>
          <a:sy n="80" d="100"/>
        </p:scale>
        <p:origin x="5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16E7D3-9D63-408B-867B-9D95278E9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05A7C02-159E-41C2-B850-BCDD8B6B4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16DB69-A68F-4506-9EF5-7C1752963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86C19-A0CC-4DF0-8678-0BBE7EFB4182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8DC3F4-123D-4FFB-9F31-997C1988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8BD538-8478-447F-AFBE-42F6AB8E6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645A-B858-4261-AFD3-BAC7BE0EB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790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93A18-859F-4974-BA95-8FADEDA6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4D384-8C0C-4A96-A7D1-377EE5892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ADB123-524E-4FF7-B203-DFBEF85B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86C19-A0CC-4DF0-8678-0BBE7EFB4182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6C5628-A3BC-4D76-B3B3-D49F9319C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7E119-2942-48CB-ACB5-2BE8E384B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645A-B858-4261-AFD3-BAC7BE0EB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6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1BEF8F-89E8-41F9-9D45-99C051BC9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F0A9EC-F3C9-4F9C-B0E0-CA71C1DBF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BB1901-1D06-4B7E-9E68-335A5B501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86C19-A0CC-4DF0-8678-0BBE7EFB4182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0CC9E7-851B-4814-BCA2-7FF0E9A8A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3C6193-3A0B-42FD-83F2-A317DC84B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645A-B858-4261-AFD3-BAC7BE0EB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402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530F2-550D-436F-8A45-1E320541F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9C1F41-E022-4AC7-802F-87FB08522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9A9CA7-D6F2-4563-A744-2AF802BBF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B4B575-FC23-44B9-98E0-973FB7C91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86C19-A0CC-4DF0-8678-0BBE7EFB4182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CB588F-3B58-4B8F-8F6C-40B8B8E32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B38876-8174-4ADB-9440-A79911EAF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645A-B858-4261-AFD3-BAC7BE0EB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543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3CE712-2C4D-4DDC-BA62-AC9EBD2C3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5F90A5-A8FC-4CF8-8031-4A90AB9B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E42F58-5DF9-4E11-8861-C19D78A47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9868909-BAEF-4BB4-B23C-5F59B34EF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5ADE31-747E-4C00-B23F-897F49150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A7BAAA-CED1-4BDE-B1B4-1EE8057D8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86C19-A0CC-4DF0-8678-0BBE7EFB4182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DD7846-909A-4BE4-99AE-386C2B5B5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408166-BB36-4407-A021-BD380ECD8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645A-B858-4261-AFD3-BAC7BE0EB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167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042A6-63C3-4DDD-BE80-8B344126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57B518-03FE-464A-871D-096C8C277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86C19-A0CC-4DF0-8678-0BBE7EFB4182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BE2A24-2CE6-471E-9CDD-02C367EFB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CF95ED-E63C-4890-AD4F-8AEF4E49C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645A-B858-4261-AFD3-BAC7BE0EB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505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FAAD78-06B6-4AB2-A56C-61BB4CB3A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86C19-A0CC-4DF0-8678-0BBE7EFB4182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5EB8E62-7F0C-46C8-A923-7BE134BBD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822AA6-A60B-45EC-AF19-53211DCA3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645A-B858-4261-AFD3-BAC7BE0EB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74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BAACE-02E9-470D-90A4-C63A7B24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7256C9-7043-47EA-AA29-40A2C8885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FDF179-EA48-4A87-A5CC-4D2E519A7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E38028-C799-4F13-9810-3C088AB4C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86C19-A0CC-4DF0-8678-0BBE7EFB4182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F76468-D8B6-4DD4-AE93-57298382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C8A678-6AF7-4AEC-9500-D6E13F474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645A-B858-4261-AFD3-BAC7BE0EB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214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E6AC3-7621-43E3-8250-33FC4F416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AB93F7E-2E52-491C-A4E2-93BD52A3A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DBE2FA-54D3-4172-81E7-373C91D2D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91F23D-84DE-4544-AC01-F7FF3750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86C19-A0CC-4DF0-8678-0BBE7EFB4182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3E00FC-5CB8-415B-AE36-70E68655E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364C84-96C1-4A84-9334-30EEB92B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645A-B858-4261-AFD3-BAC7BE0EB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277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1D260C-AD53-4DE9-8901-2073D437D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EE63FD-2E18-4970-9F62-0037BD18E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3F73C1-D6F2-4AE1-BA69-22E24ED0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86C19-A0CC-4DF0-8678-0BBE7EFB4182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0FCF91-9DAA-4987-90A9-8E221891F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8CA6F2-AF25-4782-989C-405033CA6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645A-B858-4261-AFD3-BAC7BE0EB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3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6EE514-9FD6-4EF3-8DB4-92D9F11124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CCD7AC-E850-457D-A022-C1ECF877D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F51FA-569B-4429-8392-E6F59BE08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86C19-A0CC-4DF0-8678-0BBE7EFB4182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FBDE8B-96D3-47E4-BE15-64B429C2C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596AAE-F2EF-4A0B-8686-A95E7F63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645A-B858-4261-AFD3-BAC7BE0EB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95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7CF1E7-EC74-4904-A62B-B72867ABC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A0CDFE-B798-476D-B3CA-6F4F67035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EAD7D2-0A46-4F3D-985E-95F5B0A6C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86C19-A0CC-4DF0-8678-0BBE7EFB4182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3798A9-EB54-4946-8175-733E4420A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460A3E-1591-4178-AD5A-83DDC9C7B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2645A-B858-4261-AFD3-BAC7BE0EB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715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7B70C91-78D9-41F3-8145-A4335E1DFE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ko-KR" sz="4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PERCEIVER IO: A GENERAL ARCHITECTURE FOR STRUCTURED INPUTS &amp; OUTPUTS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667EF89C-0BBA-4256-A18E-299B88C45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06686"/>
            <a:ext cx="9144000" cy="751114"/>
          </a:xfrm>
        </p:spPr>
        <p:txBody>
          <a:bodyPr/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자연어처리팀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박희수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발표자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조진욱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김수빈 </a:t>
            </a:r>
            <a:r>
              <a:rPr lang="ko-KR" altLang="en-US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황경진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신문종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진명훈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0223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717E02-5C24-4929-8F9A-16E3F9234A42}"/>
              </a:ext>
            </a:extLst>
          </p:cNvPr>
          <p:cNvSpPr txBox="1"/>
          <p:nvPr/>
        </p:nvSpPr>
        <p:spPr>
          <a:xfrm>
            <a:off x="838200" y="3848298"/>
            <a:ext cx="10515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Perceiver 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모델은 </a:t>
            </a:r>
            <a:r>
              <a:rPr lang="en-US" altLang="ko-KR" sz="2400" dirty="0"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general</a:t>
            </a:r>
            <a:r>
              <a:rPr lang="ko-KR" altLang="en-US" sz="2400" dirty="0"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2400" dirty="0"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modality</a:t>
            </a:r>
            <a:r>
              <a:rPr lang="ko-KR" altLang="en-US" sz="2400" dirty="0"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2400" dirty="0"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input 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대해 디자인 되었다</a:t>
            </a: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(Video, Audio, 3D point clouds)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The model leverages an asymmetric attention mechanism to iteratively distill inputs into a tight latent bottleneck, allowing it to scale to handle very large inputs..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336E8F0-31DA-4A04-9E37-BBF77FACF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12" y="1442153"/>
            <a:ext cx="11486176" cy="2406145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578A4370-6F2B-403E-8344-F22C61FCE4A5}"/>
              </a:ext>
            </a:extLst>
          </p:cNvPr>
          <p:cNvSpPr txBox="1">
            <a:spLocks/>
          </p:cNvSpPr>
          <p:nvPr/>
        </p:nvSpPr>
        <p:spPr>
          <a:xfrm>
            <a:off x="838200" y="411676"/>
            <a:ext cx="10515600" cy="668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Perceiver: General Perception with Iterative Attention</a:t>
            </a:r>
            <a:endParaRPr lang="ko-KR" altLang="en-US" sz="3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7189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7B880A7-4BA6-4750-86E0-2346C67C361D}"/>
              </a:ext>
            </a:extLst>
          </p:cNvPr>
          <p:cNvSpPr txBox="1"/>
          <p:nvPr/>
        </p:nvSpPr>
        <p:spPr>
          <a:xfrm>
            <a:off x="838198" y="4555670"/>
            <a:ext cx="10515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Interleaves a latent Transformer mechanism with Cross Attention mechanism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The key is that the input only comes through the cross attention mechanism =&gt; 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큰</a:t>
            </a: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size 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의 </a:t>
            </a: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input 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을 줄여서 </a:t>
            </a: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computation bottleneck 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을 해결</a:t>
            </a:r>
            <a:endParaRPr lang="en-US" altLang="ko-KR" sz="2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D7A941A-134D-4173-988A-1053D3A52B36}"/>
              </a:ext>
            </a:extLst>
          </p:cNvPr>
          <p:cNvSpPr txBox="1">
            <a:spLocks/>
          </p:cNvSpPr>
          <p:nvPr/>
        </p:nvSpPr>
        <p:spPr>
          <a:xfrm>
            <a:off x="838200" y="411676"/>
            <a:ext cx="10515600" cy="668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Perceiver: General Perception with Iterative Attention</a:t>
            </a:r>
            <a:endParaRPr lang="ko-KR" altLang="en-US" sz="3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A8C1B97-9543-4AE3-B3A6-12CC91993656}"/>
              </a:ext>
            </a:extLst>
          </p:cNvPr>
          <p:cNvGrpSpPr/>
          <p:nvPr/>
        </p:nvGrpSpPr>
        <p:grpSpPr>
          <a:xfrm>
            <a:off x="1976435" y="1287235"/>
            <a:ext cx="8239125" cy="2781300"/>
            <a:chOff x="1976435" y="1287235"/>
            <a:chExt cx="8239125" cy="278130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92ABF03-026F-4FBD-877A-35E17627D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6435" y="1287235"/>
              <a:ext cx="8239125" cy="2781300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A8702653-C6EF-4F21-874D-BB9C05933475}"/>
                </a:ext>
              </a:extLst>
            </p:cNvPr>
            <p:cNvSpPr/>
            <p:nvPr/>
          </p:nvSpPr>
          <p:spPr>
            <a:xfrm>
              <a:off x="4446037" y="1724467"/>
              <a:ext cx="914400" cy="1093378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A8DA9AC6-A89E-41EF-87BB-3CF81AB8BF12}"/>
                </a:ext>
              </a:extLst>
            </p:cNvPr>
            <p:cNvSpPr/>
            <p:nvPr/>
          </p:nvSpPr>
          <p:spPr>
            <a:xfrm>
              <a:off x="3460102" y="1724467"/>
              <a:ext cx="533400" cy="1093378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FBDF5F83-3FF4-48A7-882F-52FDB7BFB67D}"/>
                </a:ext>
              </a:extLst>
            </p:cNvPr>
            <p:cNvSpPr/>
            <p:nvPr/>
          </p:nvSpPr>
          <p:spPr>
            <a:xfrm>
              <a:off x="9682159" y="1692403"/>
              <a:ext cx="533401" cy="1093378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981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E6ABD85-F864-45A4-AAA4-F32CBAD37406}"/>
              </a:ext>
            </a:extLst>
          </p:cNvPr>
          <p:cNvSpPr txBox="1">
            <a:spLocks/>
          </p:cNvSpPr>
          <p:nvPr/>
        </p:nvSpPr>
        <p:spPr>
          <a:xfrm>
            <a:off x="838200" y="411676"/>
            <a:ext cx="10515600" cy="1600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PERCEIVER IO: A GENERAL ARCHITECTURE</a:t>
            </a:r>
          </a:p>
          <a:p>
            <a:r>
              <a:rPr lang="en-US" altLang="ko-KR" sz="3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FOR STRUCTURED INPUTS &amp; OUTPUTS</a:t>
            </a:r>
            <a:endParaRPr lang="ko-KR" altLang="en-US" sz="3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201087-49CD-4E54-B67D-42828EBDA30C}"/>
              </a:ext>
            </a:extLst>
          </p:cNvPr>
          <p:cNvSpPr txBox="1"/>
          <p:nvPr/>
        </p:nvSpPr>
        <p:spPr>
          <a:xfrm>
            <a:off x="838200" y="5245995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PERCEIVER: General input 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대한 </a:t>
            </a: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transformer 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모델</a:t>
            </a:r>
            <a:endParaRPr lang="en-US" altLang="ko-KR" sz="2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PERCEIVER IO: General input 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과</a:t>
            </a: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output 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대한 </a:t>
            </a: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transformer 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모델</a:t>
            </a:r>
            <a:endParaRPr lang="en-US" altLang="ko-KR" sz="2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7C9651-A2ED-464C-AC58-EDA19D1F7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287" y="2250113"/>
            <a:ext cx="9877425" cy="275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46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E6ABD85-F864-45A4-AAA4-F32CBAD37406}"/>
              </a:ext>
            </a:extLst>
          </p:cNvPr>
          <p:cNvSpPr txBox="1">
            <a:spLocks/>
          </p:cNvSpPr>
          <p:nvPr/>
        </p:nvSpPr>
        <p:spPr>
          <a:xfrm>
            <a:off x="838200" y="411676"/>
            <a:ext cx="10515600" cy="992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THE PERCEIVER IO ARCHITECTURE</a:t>
            </a:r>
            <a:endParaRPr lang="ko-KR" altLang="en-US" sz="3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444EF4A-42A2-474C-B2D1-55C150F53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368" y="1154874"/>
            <a:ext cx="9483263" cy="547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0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E6ABD85-F864-45A4-AAA4-F32CBAD37406}"/>
              </a:ext>
            </a:extLst>
          </p:cNvPr>
          <p:cNvSpPr txBox="1">
            <a:spLocks/>
          </p:cNvSpPr>
          <p:nvPr/>
        </p:nvSpPr>
        <p:spPr>
          <a:xfrm>
            <a:off x="838200" y="411676"/>
            <a:ext cx="10515600" cy="992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ENCODING, PROCESSING, AND DECODING</a:t>
            </a:r>
            <a:endParaRPr lang="ko-KR" altLang="en-US" sz="3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8DFD1C-7347-46A8-A45F-05AFD3C4D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413" y="4575908"/>
            <a:ext cx="4709173" cy="2041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7A64B5-6DC5-4E8A-8118-2C1FD849F993}"/>
              </a:ext>
            </a:extLst>
          </p:cNvPr>
          <p:cNvSpPr txBox="1"/>
          <p:nvPr/>
        </p:nvSpPr>
        <p:spPr>
          <a:xfrm>
            <a:off x="838200" y="3827688"/>
            <a:ext cx="110204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Encode</a:t>
            </a:r>
            <a:r>
              <a:rPr lang="en-US" altLang="ko-KR" sz="2000" b="1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 </a:t>
            </a:r>
            <a:r>
              <a:rPr lang="en-US" altLang="ko-KR" sz="2000" dirty="0"/>
              <a:t>Encode attention can be viewed as mapping an input to a latent space, typically with a smaller index dimension (fewer elements).</a:t>
            </a:r>
            <a:endParaRPr lang="en-US" altLang="ko-KR" sz="2000" b="1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4E48C7C-8932-4BBD-A193-89971067C3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029"/>
          <a:stretch/>
        </p:blipFill>
        <p:spPr>
          <a:xfrm>
            <a:off x="2980767" y="1146575"/>
            <a:ext cx="6230463" cy="2660946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4608E6C-7971-4659-AE7D-7F4B1BC749ED}"/>
              </a:ext>
            </a:extLst>
          </p:cNvPr>
          <p:cNvSpPr/>
          <p:nvPr/>
        </p:nvSpPr>
        <p:spPr>
          <a:xfrm>
            <a:off x="2836983" y="1334232"/>
            <a:ext cx="2485294" cy="203029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555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E3016EE-F989-4D1E-B879-4BD97EA19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979" y="4714687"/>
            <a:ext cx="4262041" cy="1915330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4E6ABD85-F864-45A4-AAA4-F32CBAD37406}"/>
              </a:ext>
            </a:extLst>
          </p:cNvPr>
          <p:cNvSpPr txBox="1">
            <a:spLocks/>
          </p:cNvSpPr>
          <p:nvPr/>
        </p:nvSpPr>
        <p:spPr>
          <a:xfrm>
            <a:off x="838200" y="411676"/>
            <a:ext cx="10515600" cy="992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ENCODING, PROCESSING, AND DECODING</a:t>
            </a:r>
            <a:endParaRPr lang="ko-KR" altLang="en-US" sz="3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A64B5-6DC5-4E8A-8118-2C1FD849F993}"/>
              </a:ext>
            </a:extLst>
          </p:cNvPr>
          <p:cNvSpPr txBox="1"/>
          <p:nvPr/>
        </p:nvSpPr>
        <p:spPr>
          <a:xfrm>
            <a:off x="838198" y="3871580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Process</a:t>
            </a:r>
            <a:r>
              <a:rPr lang="en-US" altLang="ko-KR" sz="2400" b="1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</a:t>
            </a:r>
            <a:r>
              <a:rPr lang="en-US" altLang="ko-KR" sz="2400" dirty="0"/>
              <a:t>Process attention (self-attention) preserves the input index dimension (same elements).</a:t>
            </a:r>
            <a:r>
              <a:rPr lang="en-US" altLang="ko-KR" sz="2400" b="1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3C329B5-0326-441F-BD00-8E248ED98F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029"/>
          <a:stretch/>
        </p:blipFill>
        <p:spPr>
          <a:xfrm>
            <a:off x="2980767" y="1146575"/>
            <a:ext cx="6230463" cy="2660946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A3F78EA-3A11-4C16-95F2-DF86B3E2150D}"/>
              </a:ext>
            </a:extLst>
          </p:cNvPr>
          <p:cNvSpPr/>
          <p:nvPr/>
        </p:nvSpPr>
        <p:spPr>
          <a:xfrm>
            <a:off x="5275385" y="1770185"/>
            <a:ext cx="2074984" cy="15240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6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24F52E1-DD98-4583-80EB-230968412922}"/>
              </a:ext>
            </a:extLst>
          </p:cNvPr>
          <p:cNvSpPr txBox="1">
            <a:spLocks/>
          </p:cNvSpPr>
          <p:nvPr/>
        </p:nvSpPr>
        <p:spPr>
          <a:xfrm>
            <a:off x="655320" y="208476"/>
            <a:ext cx="10515600" cy="992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Example</a:t>
            </a:r>
            <a:endParaRPr lang="ko-KR" altLang="en-US" sz="3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D17448-8E7C-472A-8F77-070E44B33E82}"/>
              </a:ext>
            </a:extLst>
          </p:cNvPr>
          <p:cNvSpPr txBox="1"/>
          <p:nvPr/>
        </p:nvSpPr>
        <p:spPr>
          <a:xfrm>
            <a:off x="838200" y="1404257"/>
            <a:ext cx="11000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i="0" dirty="0">
                <a:solidFill>
                  <a:srgbClr val="212529"/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Language Modeling</a:t>
            </a:r>
          </a:p>
        </p:txBody>
      </p:sp>
      <p:pic>
        <p:nvPicPr>
          <p:cNvPr id="9" name="내용 개체 틀 4">
            <a:extLst>
              <a:ext uri="{FF2B5EF4-FFF2-40B4-BE49-F238E27FC236}">
                <a16:creationId xmlns:a16="http://schemas.microsoft.com/office/drawing/2014/main" id="{02F8F190-901F-46FE-A3B4-E320CE769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35598"/>
          <a:stretch/>
        </p:blipFill>
        <p:spPr>
          <a:xfrm>
            <a:off x="937532" y="2368735"/>
            <a:ext cx="10515600" cy="2471870"/>
          </a:xfr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2FA24B9-FDED-47F0-8CF6-6961AA423ABE}"/>
              </a:ext>
            </a:extLst>
          </p:cNvPr>
          <p:cNvSpPr/>
          <p:nvPr/>
        </p:nvSpPr>
        <p:spPr>
          <a:xfrm>
            <a:off x="5562599" y="3171825"/>
            <a:ext cx="2028825" cy="56197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88091F4-0147-41DA-B8BF-D1B0B15D123A}"/>
              </a:ext>
            </a:extLst>
          </p:cNvPr>
          <p:cNvSpPr/>
          <p:nvPr/>
        </p:nvSpPr>
        <p:spPr>
          <a:xfrm>
            <a:off x="5486399" y="3819525"/>
            <a:ext cx="2105025" cy="56197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9EF4E9-54C1-4361-BEDD-0C59291C1510}"/>
              </a:ext>
            </a:extLst>
          </p:cNvPr>
          <p:cNvSpPr txBox="1"/>
          <p:nvPr/>
        </p:nvSpPr>
        <p:spPr>
          <a:xfrm>
            <a:off x="1080407" y="5281863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Input 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사이즈를 조절 할 수 있기 때문에</a:t>
            </a: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depth 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를 늘리면서 모델의 성능을 조절 가능함</a:t>
            </a:r>
            <a:endParaRPr lang="en-US" altLang="ko-KR" sz="2400" b="1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1952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E0026E-A939-4A03-B03C-A883BC8B0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546" y="4837315"/>
            <a:ext cx="4020907" cy="1748220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4E6ABD85-F864-45A4-AAA4-F32CBAD37406}"/>
              </a:ext>
            </a:extLst>
          </p:cNvPr>
          <p:cNvSpPr txBox="1">
            <a:spLocks/>
          </p:cNvSpPr>
          <p:nvPr/>
        </p:nvSpPr>
        <p:spPr>
          <a:xfrm>
            <a:off x="838200" y="411676"/>
            <a:ext cx="10515600" cy="992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ENCODING, PROCESSING, AND DECODING</a:t>
            </a:r>
            <a:endParaRPr lang="ko-KR" altLang="en-US" sz="3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A64B5-6DC5-4E8A-8118-2C1FD849F993}"/>
              </a:ext>
            </a:extLst>
          </p:cNvPr>
          <p:cNvSpPr txBox="1"/>
          <p:nvPr/>
        </p:nvSpPr>
        <p:spPr>
          <a:xfrm>
            <a:off x="838200" y="3906919"/>
            <a:ext cx="10866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Decode</a:t>
            </a:r>
            <a:r>
              <a:rPr lang="en-US" altLang="ko-KR" sz="2400" b="1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</a:t>
            </a:r>
            <a:r>
              <a:rPr lang="en-US" altLang="ko-KR" sz="2400" dirty="0"/>
              <a:t>Decode attention can be viewed as mapping a latent to an output space, often with a larger index dimension (more elements).</a:t>
            </a:r>
            <a:r>
              <a:rPr lang="en-US" altLang="ko-KR" sz="2400" b="1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C29A2C7-B1C2-40D9-A28A-3E39ED0211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029"/>
          <a:stretch/>
        </p:blipFill>
        <p:spPr>
          <a:xfrm>
            <a:off x="2980767" y="1146575"/>
            <a:ext cx="6230463" cy="2660946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F004778-DC77-4A95-83E8-C37ACE429844}"/>
              </a:ext>
            </a:extLst>
          </p:cNvPr>
          <p:cNvSpPr/>
          <p:nvPr/>
        </p:nvSpPr>
        <p:spPr>
          <a:xfrm>
            <a:off x="2980766" y="2579077"/>
            <a:ext cx="6230463" cy="132784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263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E6ABD85-F864-45A4-AAA4-F32CBAD37406}"/>
              </a:ext>
            </a:extLst>
          </p:cNvPr>
          <p:cNvSpPr txBox="1">
            <a:spLocks/>
          </p:cNvSpPr>
          <p:nvPr/>
        </p:nvSpPr>
        <p:spPr>
          <a:xfrm>
            <a:off x="838200" y="411676"/>
            <a:ext cx="10515600" cy="992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DECODING THE LATENT REPRESENTATION WITH A QUERY ARRAY</a:t>
            </a:r>
            <a:endParaRPr lang="ko-KR" altLang="en-US" sz="3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09972A-C30D-4241-ACA2-2386E992F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687" y="3161456"/>
            <a:ext cx="10180626" cy="30059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9E6DD7-8E61-412B-B17A-A9B8857A2BF9}"/>
              </a:ext>
            </a:extLst>
          </p:cNvPr>
          <p:cNvSpPr txBox="1"/>
          <p:nvPr/>
        </p:nvSpPr>
        <p:spPr>
          <a:xfrm>
            <a:off x="838200" y="2101819"/>
            <a:ext cx="10866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원하는 </a:t>
            </a: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output 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개수만큼의 </a:t>
            </a: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vector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를 </a:t>
            </a:r>
            <a:r>
              <a:rPr lang="en-US" altLang="ko-KR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query matrix </a:t>
            </a:r>
            <a:r>
              <a:rPr lang="ko-KR" altLang="en-US" sz="2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</a:t>
            </a:r>
            <a:r>
              <a:rPr lang="ko-KR" altLang="en-US" sz="24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넣어줌</a:t>
            </a:r>
            <a:endParaRPr lang="en-US" altLang="ko-KR" sz="2400" b="1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66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24F52E1-DD98-4583-80EB-230968412922}"/>
              </a:ext>
            </a:extLst>
          </p:cNvPr>
          <p:cNvSpPr txBox="1">
            <a:spLocks/>
          </p:cNvSpPr>
          <p:nvPr/>
        </p:nvSpPr>
        <p:spPr>
          <a:xfrm>
            <a:off x="838200" y="411676"/>
            <a:ext cx="10515600" cy="992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EXPERIMENTS</a:t>
            </a:r>
            <a:endParaRPr lang="ko-KR" altLang="en-US" sz="3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ADE932-FDA7-42F2-9E49-2D1759881479}"/>
              </a:ext>
            </a:extLst>
          </p:cNvPr>
          <p:cNvSpPr txBox="1"/>
          <p:nvPr/>
        </p:nvSpPr>
        <p:spPr>
          <a:xfrm>
            <a:off x="838200" y="1720840"/>
            <a:ext cx="1100001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0" i="0" dirty="0">
                <a:solidFill>
                  <a:srgbClr val="212529"/>
                </a:solidFill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</a:rPr>
              <a:t>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b="0" i="0" dirty="0">
              <a:solidFill>
                <a:srgbClr val="212529"/>
              </a:solidFill>
              <a:effectLst/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Optical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12529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0" i="0" dirty="0">
                <a:solidFill>
                  <a:srgbClr val="212529"/>
                </a:solidFill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</a:rPr>
              <a:t>M</a:t>
            </a:r>
            <a:r>
              <a:rPr lang="en-US" altLang="ko-KR" sz="20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ultimodal Autoencoding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12529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0" i="0" dirty="0">
                <a:solidFill>
                  <a:srgbClr val="212529"/>
                </a:solidFill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ImageNet, Starcraft2, </a:t>
            </a:r>
            <a:r>
              <a:rPr lang="en-US" altLang="ko-KR" sz="2000" b="0" i="0" dirty="0" err="1">
                <a:solidFill>
                  <a:srgbClr val="212529"/>
                </a:solidFill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</a:t>
            </a:r>
            <a:r>
              <a:rPr lang="en-US" altLang="ko-KR" sz="2000" dirty="0" err="1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udioSet</a:t>
            </a:r>
            <a:endParaRPr lang="en-US" altLang="ko-KR" sz="2000" b="0" i="0" dirty="0">
              <a:solidFill>
                <a:srgbClr val="212529"/>
              </a:solidFill>
              <a:effectLst/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0300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24F52E1-DD98-4583-80EB-230968412922}"/>
              </a:ext>
            </a:extLst>
          </p:cNvPr>
          <p:cNvSpPr txBox="1">
            <a:spLocks/>
          </p:cNvSpPr>
          <p:nvPr/>
        </p:nvSpPr>
        <p:spPr>
          <a:xfrm>
            <a:off x="838200" y="411676"/>
            <a:ext cx="10515600" cy="992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EXPERIMENTS</a:t>
            </a:r>
            <a:endParaRPr lang="ko-KR" altLang="en-US" sz="3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D17448-8E7C-472A-8F77-070E44B33E82}"/>
              </a:ext>
            </a:extLst>
          </p:cNvPr>
          <p:cNvSpPr txBox="1"/>
          <p:nvPr/>
        </p:nvSpPr>
        <p:spPr>
          <a:xfrm>
            <a:off x="838200" y="1404257"/>
            <a:ext cx="11000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i="0" dirty="0">
                <a:solidFill>
                  <a:srgbClr val="212529"/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Language</a:t>
            </a:r>
          </a:p>
        </p:txBody>
      </p:sp>
      <p:pic>
        <p:nvPicPr>
          <p:cNvPr id="9" name="내용 개체 틀 4">
            <a:extLst>
              <a:ext uri="{FF2B5EF4-FFF2-40B4-BE49-F238E27FC236}">
                <a16:creationId xmlns:a16="http://schemas.microsoft.com/office/drawing/2014/main" id="{02F8F190-901F-46FE-A3B4-E320CE769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0407" y="2222050"/>
            <a:ext cx="10515600" cy="3838194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CCCAAF-D17D-46AB-BC0C-BF35598DAD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1009" b="45165"/>
          <a:stretch/>
        </p:blipFill>
        <p:spPr>
          <a:xfrm>
            <a:off x="9373577" y="277472"/>
            <a:ext cx="2108200" cy="179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735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90012-B309-9F41-BFF8-CFACB3435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ko-KR" dirty="0"/>
              <a:t>4.1 LANGUAGE</a:t>
            </a:r>
            <a:endParaRPr kumimoji="1" lang="ko-Kore-KR" alt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6B3A852-391E-40EA-9766-88364B3BE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520" y="3223306"/>
            <a:ext cx="5745897" cy="346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1CE8114-840D-4875-9E52-60F4AF4C82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0322" t="43920" r="66199" b="-11413"/>
          <a:stretch/>
        </p:blipFill>
        <p:spPr>
          <a:xfrm>
            <a:off x="10676489" y="3837181"/>
            <a:ext cx="1515511" cy="2240597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82F1C349-3256-4B88-8977-DAEBDDCB2C47}"/>
              </a:ext>
            </a:extLst>
          </p:cNvPr>
          <p:cNvSpPr txBox="1">
            <a:spLocks/>
          </p:cNvSpPr>
          <p:nvPr/>
        </p:nvSpPr>
        <p:spPr>
          <a:xfrm>
            <a:off x="838200" y="1355044"/>
            <a:ext cx="11170920" cy="5160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Multitask Perceiver IO</a:t>
            </a:r>
            <a:br>
              <a:rPr lang="en-US" altLang="ko-KR" sz="18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8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multitask query</a:t>
            </a:r>
            <a:r>
              <a:rPr lang="ko-KR" altLang="en-US" sz="18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를 사용하고</a:t>
            </a:r>
            <a:r>
              <a:rPr lang="en-US" altLang="ko-KR" sz="18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GLUE</a:t>
            </a:r>
            <a:r>
              <a:rPr lang="ko-KR" altLang="en-US" sz="18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의 </a:t>
            </a:r>
            <a:r>
              <a:rPr lang="en-US" altLang="ko-KR" sz="18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8</a:t>
            </a:r>
            <a:r>
              <a:rPr lang="ko-KR" altLang="en-US" sz="18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가지 </a:t>
            </a:r>
            <a:r>
              <a:rPr lang="en-US" altLang="ko-KR" sz="18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task</a:t>
            </a:r>
            <a:r>
              <a:rPr lang="ko-KR" altLang="en-US" sz="18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대해 한꺼번에 </a:t>
            </a:r>
            <a:r>
              <a:rPr lang="en-US" altLang="ko-KR" sz="18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finetuning </a:t>
            </a:r>
            <a:r>
              <a:rPr lang="ko-KR" altLang="en-US" sz="18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수행 </a:t>
            </a:r>
            <a:r>
              <a:rPr lang="en-US" altLang="ko-KR" sz="18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(UTF-8 byte model </a:t>
            </a:r>
            <a:r>
              <a:rPr lang="ko-KR" altLang="en-US" sz="18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</a:t>
            </a:r>
            <a:r>
              <a:rPr lang="en-US" altLang="ko-KR" sz="18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  <a:p>
            <a:r>
              <a:rPr lang="en-US" altLang="ko-KR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BERT</a:t>
            </a:r>
            <a:r>
              <a:rPr lang="ko-KR" altLang="en-US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같은 경우는 </a:t>
            </a:r>
            <a:r>
              <a:rPr lang="en-US" altLang="ko-KR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[CLS] </a:t>
            </a:r>
            <a:r>
              <a:rPr lang="ko-KR" altLang="en-US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토큰을 모든 </a:t>
            </a:r>
            <a:r>
              <a:rPr lang="en-US" altLang="ko-KR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finetuning </a:t>
            </a:r>
            <a:r>
              <a:rPr lang="ko-KR" altLang="en-US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다른 </a:t>
            </a:r>
            <a:r>
              <a:rPr lang="ko-KR" altLang="en-US" sz="1800" dirty="0" err="1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테스크에</a:t>
            </a:r>
            <a:r>
              <a:rPr lang="ko-KR" altLang="en-US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모두 활용함</a:t>
            </a:r>
            <a:r>
              <a:rPr lang="en-US" altLang="ko-KR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(shared</a:t>
            </a:r>
            <a:r>
              <a:rPr lang="ko-KR" altLang="en-US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input</a:t>
            </a:r>
            <a:r>
              <a:rPr lang="ko-KR" altLang="en-US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token)</a:t>
            </a:r>
          </a:p>
          <a:p>
            <a:r>
              <a:rPr lang="ko-KR" altLang="en-US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 논문에선 </a:t>
            </a:r>
            <a:r>
              <a:rPr lang="en-US" altLang="ko-KR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task </a:t>
            </a:r>
            <a:r>
              <a:rPr lang="ko-KR" altLang="en-US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마다 </a:t>
            </a:r>
            <a:r>
              <a:rPr lang="en-US" altLang="ko-KR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CLS token </a:t>
            </a:r>
            <a:r>
              <a:rPr lang="ko-KR" altLang="en-US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을 각각 두어서 더 </a:t>
            </a:r>
            <a:r>
              <a:rPr lang="en-US" altLang="ko-KR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generic </a:t>
            </a:r>
            <a:r>
              <a:rPr lang="ko-KR" altLang="en-US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하게 </a:t>
            </a:r>
            <a:r>
              <a:rPr lang="ko-KR" altLang="en-US" sz="1800" dirty="0" err="1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만듬</a:t>
            </a:r>
            <a:r>
              <a:rPr lang="en-US" altLang="ko-KR" sz="1800" dirty="0">
                <a:solidFill>
                  <a:srgbClr val="212529"/>
                </a:solidFill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(Task-specific)</a:t>
            </a:r>
            <a:endParaRPr lang="ko-KR" altLang="en-US" sz="1800" dirty="0">
              <a:highlight>
                <a:srgbClr val="FFFF00"/>
              </a:highlight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endParaRPr lang="en-US" altLang="ko-KR" sz="1800" i="1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token</a:t>
            </a:r>
            <a:r>
              <a:rPr lang="ko-KR" altLang="en-US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을 공유한 것</a:t>
            </a:r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(Shared input token)</a:t>
            </a:r>
            <a:r>
              <a:rPr lang="ko-KR" altLang="en-US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보다 </a:t>
            </a:r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task-specific token</a:t>
            </a:r>
            <a:r>
              <a:rPr lang="ko-KR" altLang="en-US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을 사용하는 것</a:t>
            </a:r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(Task-specific input tokens)</a:t>
            </a:r>
            <a:r>
              <a:rPr lang="ko-KR" altLang="en-US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 더 높은 성능을 보임</a:t>
            </a:r>
          </a:p>
        </p:txBody>
      </p:sp>
    </p:spTree>
    <p:extLst>
      <p:ext uri="{BB962C8B-B14F-4D97-AF65-F5344CB8AC3E}">
        <p14:creationId xmlns:p14="http://schemas.microsoft.com/office/powerpoint/2010/main" val="1999191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90012-B309-9F41-BFF8-CFACB343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OPTICAL FLOW</a:t>
            </a:r>
            <a:endParaRPr kumimoji="1" lang="ko-Kore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2EE1D64-EC6E-4DCA-A3C4-BC5C3D3B2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3459509"/>
            <a:ext cx="6883400" cy="3236566"/>
          </a:xfrm>
        </p:spPr>
      </p:pic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C63176B-B3FD-4CFD-9C1D-03C863A0D969}"/>
              </a:ext>
            </a:extLst>
          </p:cNvPr>
          <p:cNvSpPr txBox="1">
            <a:spLocks/>
          </p:cNvSpPr>
          <p:nvPr/>
        </p:nvSpPr>
        <p:spPr>
          <a:xfrm>
            <a:off x="838200" y="1595778"/>
            <a:ext cx="10515600" cy="2624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>
                <a:solidFill>
                  <a:srgbClr val="212529"/>
                </a:solidFill>
                <a:latin typeface="-apple-system"/>
              </a:rPr>
              <a:t>Perceiver IO on Flow</a:t>
            </a:r>
          </a:p>
          <a:p>
            <a:r>
              <a:rPr lang="ko-KR" altLang="en-US" sz="1800" dirty="0">
                <a:solidFill>
                  <a:srgbClr val="212529"/>
                </a:solidFill>
                <a:latin typeface="-apple-system"/>
              </a:rPr>
              <a:t>두 </a:t>
            </a:r>
            <a:r>
              <a:rPr lang="en-US" altLang="ko-KR" sz="1800" dirty="0">
                <a:solidFill>
                  <a:srgbClr val="212529"/>
                </a:solidFill>
                <a:latin typeface="-apple-system"/>
              </a:rPr>
              <a:t>frame</a:t>
            </a:r>
            <a:r>
              <a:rPr lang="ko-KR" altLang="en-US" sz="1800" dirty="0">
                <a:solidFill>
                  <a:srgbClr val="212529"/>
                </a:solidFill>
                <a:latin typeface="-apple-system"/>
              </a:rPr>
              <a:t>을 </a:t>
            </a:r>
            <a:r>
              <a:rPr lang="en-US" altLang="ko-KR" sz="1800" dirty="0">
                <a:solidFill>
                  <a:srgbClr val="212529"/>
                </a:solidFill>
                <a:latin typeface="-apple-system"/>
              </a:rPr>
              <a:t>channel dimension</a:t>
            </a:r>
            <a:r>
              <a:rPr lang="ko-KR" altLang="en-US" sz="1800" dirty="0">
                <a:solidFill>
                  <a:srgbClr val="212529"/>
                </a:solidFill>
                <a:latin typeface="-apple-system"/>
              </a:rPr>
              <a:t>에 따라 연결</a:t>
            </a:r>
            <a:r>
              <a:rPr lang="en-US" altLang="ko-KR" sz="1800" dirty="0">
                <a:solidFill>
                  <a:srgbClr val="212529"/>
                </a:solidFill>
                <a:latin typeface="-apple-system"/>
              </a:rPr>
              <a:t>(concatenating)</a:t>
            </a:r>
            <a:r>
              <a:rPr lang="ko-KR" altLang="en-US" sz="1800" dirty="0">
                <a:solidFill>
                  <a:srgbClr val="212529"/>
                </a:solidFill>
                <a:latin typeface="-apple-system"/>
              </a:rPr>
              <a:t>한 후</a:t>
            </a:r>
            <a:r>
              <a:rPr lang="en-US" altLang="ko-KR" sz="1800" dirty="0">
                <a:solidFill>
                  <a:srgbClr val="212529"/>
                </a:solidFill>
                <a:latin typeface="-apple-system"/>
              </a:rPr>
              <a:t>, </a:t>
            </a:r>
            <a:r>
              <a:rPr lang="ko-KR" altLang="en-US" sz="1800" dirty="0">
                <a:solidFill>
                  <a:srgbClr val="212529"/>
                </a:solidFill>
                <a:latin typeface="-apple-system"/>
              </a:rPr>
              <a:t>각 </a:t>
            </a:r>
            <a:r>
              <a:rPr lang="en-US" altLang="ko-KR" sz="1800" dirty="0">
                <a:solidFill>
                  <a:srgbClr val="212529"/>
                </a:solidFill>
                <a:latin typeface="-apple-system"/>
              </a:rPr>
              <a:t>pixel </a:t>
            </a:r>
            <a:r>
              <a:rPr lang="ko-KR" altLang="en-US" sz="1800" dirty="0">
                <a:solidFill>
                  <a:srgbClr val="212529"/>
                </a:solidFill>
                <a:latin typeface="-apple-system"/>
              </a:rPr>
              <a:t>주변의 </a:t>
            </a:r>
            <a:r>
              <a:rPr lang="en-US" altLang="ko-KR" sz="1800" dirty="0">
                <a:solidFill>
                  <a:srgbClr val="212529"/>
                </a:solidFill>
                <a:latin typeface="-apple-system"/>
              </a:rPr>
              <a:t>3 by 3 patch</a:t>
            </a:r>
            <a:r>
              <a:rPr lang="ko-KR" altLang="en-US" sz="1800" dirty="0">
                <a:solidFill>
                  <a:srgbClr val="212529"/>
                </a:solidFill>
                <a:latin typeface="-apple-system"/>
              </a:rPr>
              <a:t>를 추출한다 </a:t>
            </a:r>
            <a:r>
              <a:rPr lang="en-US" altLang="ko-KR" sz="1800" dirty="0">
                <a:solidFill>
                  <a:srgbClr val="212529"/>
                </a:solidFill>
                <a:highlight>
                  <a:srgbClr val="FFFF00"/>
                </a:highlight>
                <a:latin typeface="-apple-system"/>
              </a:rPr>
              <a:t>(3×3×3×2=54 values) </a:t>
            </a:r>
            <a:r>
              <a:rPr lang="ko-KR" altLang="en-US" sz="1800" dirty="0">
                <a:solidFill>
                  <a:srgbClr val="212529"/>
                </a:solidFill>
                <a:latin typeface="-apple-system"/>
              </a:rPr>
              <a:t>이에 </a:t>
            </a:r>
            <a:r>
              <a:rPr lang="en-US" altLang="ko-KR" sz="1800" dirty="0">
                <a:solidFill>
                  <a:srgbClr val="212529"/>
                </a:solidFill>
                <a:latin typeface="-apple-system"/>
              </a:rPr>
              <a:t>positional encoding</a:t>
            </a:r>
            <a:r>
              <a:rPr lang="ko-KR" altLang="en-US" sz="1800" dirty="0">
                <a:solidFill>
                  <a:srgbClr val="212529"/>
                </a:solidFill>
                <a:latin typeface="-apple-system"/>
              </a:rPr>
              <a:t>을 추가한 후</a:t>
            </a:r>
            <a:r>
              <a:rPr lang="en-US" altLang="ko-KR" sz="1800" dirty="0">
                <a:solidFill>
                  <a:srgbClr val="212529"/>
                </a:solidFill>
                <a:latin typeface="-apple-system"/>
              </a:rPr>
              <a:t>, Perceiver IO </a:t>
            </a:r>
            <a:r>
              <a:rPr lang="ko-KR" altLang="en-US" sz="1800" dirty="0">
                <a:solidFill>
                  <a:srgbClr val="212529"/>
                </a:solidFill>
                <a:latin typeface="-apple-system"/>
              </a:rPr>
              <a:t>적용</a:t>
            </a:r>
            <a:endParaRPr lang="en-US" altLang="ko-KR" sz="1800" dirty="0">
              <a:solidFill>
                <a:srgbClr val="212529"/>
              </a:solidFill>
              <a:latin typeface="-apple-system"/>
            </a:endParaRPr>
          </a:p>
          <a:p>
            <a:r>
              <a:rPr lang="en-US" altLang="ko-KR" sz="1800" dirty="0"/>
              <a:t>Sintel</a:t>
            </a:r>
            <a:r>
              <a:rPr lang="ko-KR" altLang="en-US" sz="1800" dirty="0"/>
              <a:t>에 대해 </a:t>
            </a:r>
            <a:r>
              <a:rPr lang="en-US" altLang="ko-KR" sz="1800" dirty="0"/>
              <a:t>Perceiver IO</a:t>
            </a:r>
            <a:r>
              <a:rPr lang="ko-KR" altLang="en-US" sz="1800" dirty="0"/>
              <a:t>가 가장 성능이 좋음</a:t>
            </a:r>
          </a:p>
          <a:p>
            <a:r>
              <a:rPr lang="en-US" altLang="ko-KR" sz="1800" dirty="0" err="1"/>
              <a:t>Sintel.final</a:t>
            </a:r>
            <a:r>
              <a:rPr lang="ko-KR" altLang="en-US" sz="1800" dirty="0"/>
              <a:t>에 대해선 </a:t>
            </a:r>
            <a:r>
              <a:rPr lang="en-US" altLang="ko-KR" sz="1800" dirty="0"/>
              <a:t>SOTA </a:t>
            </a:r>
            <a:r>
              <a:rPr lang="ko-KR" altLang="en-US" sz="1800" dirty="0"/>
              <a:t>달성</a:t>
            </a:r>
          </a:p>
        </p:txBody>
      </p:sp>
      <p:pic>
        <p:nvPicPr>
          <p:cNvPr id="7" name="내용 개체 틀 7">
            <a:extLst>
              <a:ext uri="{FF2B5EF4-FFF2-40B4-BE49-F238E27FC236}">
                <a16:creationId xmlns:a16="http://schemas.microsoft.com/office/drawing/2014/main" id="{4D53F3CE-61CA-4B78-B8FA-4334CF617F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065" t="26174" r="40537" b="27765"/>
          <a:stretch/>
        </p:blipFill>
        <p:spPr>
          <a:xfrm>
            <a:off x="8337139" y="3678731"/>
            <a:ext cx="3178760" cy="1771865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F13E6E3-3AED-4777-99BF-591501AABF49}"/>
              </a:ext>
            </a:extLst>
          </p:cNvPr>
          <p:cNvSpPr/>
          <p:nvPr/>
        </p:nvSpPr>
        <p:spPr>
          <a:xfrm>
            <a:off x="8349190" y="4219942"/>
            <a:ext cx="1290110" cy="6913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E18B462-24D5-47BB-A16B-3499393113E3}"/>
              </a:ext>
            </a:extLst>
          </p:cNvPr>
          <p:cNvSpPr/>
          <p:nvPr/>
        </p:nvSpPr>
        <p:spPr>
          <a:xfrm>
            <a:off x="1148289" y="2228855"/>
            <a:ext cx="2099735" cy="33336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F1340056-84EC-4AD3-8DA4-C92A57CC9E75}"/>
              </a:ext>
            </a:extLst>
          </p:cNvPr>
          <p:cNvCxnSpPr>
            <a:cxnSpLocks/>
            <a:stCxn id="9" idx="3"/>
            <a:endCxn id="8" idx="0"/>
          </p:cNvCxnSpPr>
          <p:nvPr/>
        </p:nvCxnSpPr>
        <p:spPr>
          <a:xfrm>
            <a:off x="3248024" y="2395540"/>
            <a:ext cx="5746221" cy="1824402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801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90012-B309-9F41-BFF8-CFACB343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Multimodal Autoencoding</a:t>
            </a:r>
            <a:endParaRPr kumimoji="1" lang="ko-Kore-KR" altLang="en-US" dirty="0"/>
          </a:p>
        </p:txBody>
      </p:sp>
      <p:pic>
        <p:nvPicPr>
          <p:cNvPr id="10" name="내용 개체 틀 7">
            <a:extLst>
              <a:ext uri="{FF2B5EF4-FFF2-40B4-BE49-F238E27FC236}">
                <a16:creationId xmlns:a16="http://schemas.microsoft.com/office/drawing/2014/main" id="{BF64D27A-D6ED-43CD-97D5-3388B2ED6C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505" t="-2105" r="3211" b="1103"/>
          <a:stretch/>
        </p:blipFill>
        <p:spPr>
          <a:xfrm>
            <a:off x="8299305" y="1167800"/>
            <a:ext cx="3716630" cy="314127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E7C7414-382F-41B7-8DFC-D3C86FCBE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960" y="4642450"/>
            <a:ext cx="3990975" cy="2095500"/>
          </a:xfrm>
          <a:prstGeom prst="rect">
            <a:avLst/>
          </a:prstGeom>
        </p:spPr>
      </p:pic>
      <p:sp>
        <p:nvSpPr>
          <p:cNvPr id="14" name="내용 개체 틀 3">
            <a:extLst>
              <a:ext uri="{FF2B5EF4-FFF2-40B4-BE49-F238E27FC236}">
                <a16:creationId xmlns:a16="http://schemas.microsoft.com/office/drawing/2014/main" id="{1FF18F96-73AE-443E-9C41-DABC3B3A69A3}"/>
              </a:ext>
            </a:extLst>
          </p:cNvPr>
          <p:cNvSpPr txBox="1">
            <a:spLocks/>
          </p:cNvSpPr>
          <p:nvPr/>
        </p:nvSpPr>
        <p:spPr>
          <a:xfrm>
            <a:off x="838200" y="3876675"/>
            <a:ext cx="7080251" cy="2463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비디오</a:t>
            </a:r>
            <a:r>
              <a:rPr lang="en-US" altLang="ko-KR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오디오를 복원하는 것과 동시에</a:t>
            </a:r>
            <a:r>
              <a:rPr lang="en-US" altLang="ko-KR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해당 영상의 </a:t>
            </a:r>
            <a:r>
              <a:rPr lang="en-US" altLang="ko-KR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label </a:t>
            </a:r>
            <a:r>
              <a:rPr lang="ko-KR" altLang="en-US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을 </a:t>
            </a:r>
            <a:r>
              <a:rPr lang="en-US" altLang="ko-KR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classification</a:t>
            </a:r>
          </a:p>
          <a:p>
            <a:r>
              <a:rPr lang="ko-KR" altLang="en-US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최대 신호 대 </a:t>
            </a:r>
            <a:r>
              <a:rPr lang="ko-KR" altLang="en-US" sz="1600" dirty="0" err="1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잡음비</a:t>
            </a:r>
            <a:r>
              <a:rPr lang="en-US" altLang="ko-KR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(Peak Signal-to-noise ratio, PSNR)</a:t>
            </a:r>
          </a:p>
          <a:p>
            <a:r>
              <a:rPr lang="ko-KR" altLang="en-US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 표는 </a:t>
            </a:r>
            <a:r>
              <a:rPr lang="en-US" altLang="ko-KR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audio video PSNR </a:t>
            </a:r>
            <a:r>
              <a:rPr lang="ko-KR" altLang="en-US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을 최대한 키우도록 한 경우인데</a:t>
            </a:r>
            <a:r>
              <a:rPr lang="en-US" altLang="ko-KR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따라서  </a:t>
            </a:r>
            <a:r>
              <a:rPr lang="en-US" altLang="ko-KR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PSNR  </a:t>
            </a:r>
            <a:r>
              <a:rPr lang="ko-KR" altLang="en-US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은 높지만 </a:t>
            </a:r>
            <a:r>
              <a:rPr lang="en-US" altLang="ko-KR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accuracy </a:t>
            </a:r>
            <a:r>
              <a:rPr lang="ko-KR" altLang="en-US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가 좀 낮음</a:t>
            </a:r>
            <a:endParaRPr lang="en-US" altLang="ko-KR" sz="1600" dirty="0">
              <a:solidFill>
                <a:srgbClr val="212529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r>
              <a:rPr lang="ko-KR" altLang="en-US" sz="14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그러나  </a:t>
            </a:r>
            <a:r>
              <a:rPr lang="en-US" altLang="ko-KR" sz="14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class loss term  </a:t>
            </a:r>
            <a:r>
              <a:rPr lang="ko-KR" altLang="en-US" sz="14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가중치를 키우면 </a:t>
            </a:r>
            <a:r>
              <a:rPr lang="en-US" altLang="ko-KR" sz="14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top1 accuracy 45%  </a:t>
            </a:r>
            <a:r>
              <a:rPr lang="ko-KR" altLang="en-US" sz="14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달성함</a:t>
            </a:r>
            <a:r>
              <a:rPr lang="en-US" altLang="ko-KR" sz="14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 video  PSNR  </a:t>
            </a:r>
            <a:r>
              <a:rPr lang="ko-KR" altLang="en-US" sz="14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은 </a:t>
            </a:r>
            <a:r>
              <a:rPr lang="en-US" altLang="ko-KR" sz="14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 </a:t>
            </a:r>
            <a:r>
              <a:rPr lang="ko-KR" altLang="en-US" sz="14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유지함</a:t>
            </a:r>
          </a:p>
          <a:p>
            <a:pPr marL="0" indent="0">
              <a:buNone/>
            </a:pPr>
            <a:r>
              <a:rPr lang="ko-KR" altLang="en-US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⇒ 이를 보아  </a:t>
            </a:r>
            <a:r>
              <a:rPr lang="en-US" altLang="ko-KR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Perceiver IO </a:t>
            </a:r>
            <a:r>
              <a:rPr lang="ko-KR" altLang="en-US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가 다양한 </a:t>
            </a:r>
            <a:r>
              <a:rPr lang="ko-KR" altLang="en-US" sz="1600" dirty="0" err="1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모달리티를</a:t>
            </a:r>
            <a:r>
              <a:rPr lang="ko-KR" altLang="en-US" sz="1600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적절히 표현하고 있음을 알 수 </a:t>
            </a:r>
            <a:r>
              <a:rPr lang="ko-KR" altLang="en-US" sz="1600" dirty="0" err="1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잇음</a:t>
            </a:r>
            <a:endParaRPr lang="ko-KR" altLang="en-US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504A448-56BC-41AD-BEF7-3557FA020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957999"/>
            <a:ext cx="7270678" cy="173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896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90012-B309-9F41-BFF8-CFACB343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4.4  IMAGENET, STARCRAFT II, AND AUDIOSET</a:t>
            </a:r>
            <a:endParaRPr kumimoji="1" lang="ko-Kore-KR" altLang="en-US" sz="3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C63176B-B3FD-4CFD-9C1D-03C863A0D969}"/>
              </a:ext>
            </a:extLst>
          </p:cNvPr>
          <p:cNvSpPr txBox="1">
            <a:spLocks/>
          </p:cNvSpPr>
          <p:nvPr/>
        </p:nvSpPr>
        <p:spPr>
          <a:xfrm>
            <a:off x="838200" y="1595778"/>
            <a:ext cx="10276840" cy="4744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ImageNet </a:t>
            </a:r>
            <a:r>
              <a:rPr lang="ko-KR" altLang="en-US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에서 </a:t>
            </a:r>
            <a:r>
              <a:rPr lang="en-US" altLang="ko-KR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2D convolution after pretraining on JFT </a:t>
            </a:r>
            <a:r>
              <a:rPr lang="ko-KR" altLang="en-US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없이 </a:t>
            </a:r>
            <a:r>
              <a:rPr lang="en-US" altLang="ko-KR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84.5%  top-1 acc  </a:t>
            </a:r>
            <a:r>
              <a:rPr lang="ko-KR" altLang="en-US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달성</a:t>
            </a:r>
            <a:endParaRPr lang="en-US" altLang="ko-KR" dirty="0">
              <a:solidFill>
                <a:srgbClr val="212529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endParaRPr lang="ko-KR" altLang="en-US" dirty="0">
              <a:solidFill>
                <a:srgbClr val="212529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dirty="0" err="1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AlphaStar</a:t>
            </a:r>
            <a:r>
              <a:rPr lang="en-US" altLang="ko-KR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에서 기존 엔티티 트랜스포머와 </a:t>
            </a:r>
            <a:r>
              <a:rPr lang="ko-KR" altLang="en-US" dirty="0" err="1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비교했을때</a:t>
            </a:r>
            <a:r>
              <a:rPr lang="ko-KR" altLang="en-US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</a:t>
            </a:r>
            <a:r>
              <a:rPr lang="ko-KR" altLang="en-US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번의 실험만에 </a:t>
            </a:r>
            <a:r>
              <a:rPr lang="en-US" altLang="ko-KR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</a:t>
            </a:r>
            <a:r>
              <a:rPr lang="ko-KR" altLang="en-US" dirty="0" err="1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파라메터수</a:t>
            </a:r>
            <a:r>
              <a:rPr lang="ko-KR" altLang="en-US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87%</a:t>
            </a:r>
            <a:r>
              <a:rPr lang="ko-KR" altLang="en-US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의 승률은 유지하면서 </a:t>
            </a:r>
            <a:r>
              <a:rPr lang="en-US" altLang="ko-KR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FLOPs </a:t>
            </a:r>
            <a:r>
              <a:rPr lang="ko-KR" altLang="en-US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를 </a:t>
            </a:r>
            <a:r>
              <a:rPr lang="en-US" altLang="ko-KR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3.5</a:t>
            </a:r>
            <a:r>
              <a:rPr lang="ko-KR" altLang="en-US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배 줄임</a:t>
            </a:r>
            <a:endParaRPr lang="en-US" altLang="ko-KR" dirty="0">
              <a:solidFill>
                <a:srgbClr val="212529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endParaRPr lang="ko-KR" altLang="en-US" dirty="0">
              <a:solidFill>
                <a:srgbClr val="212529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dirty="0" err="1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Audioset</a:t>
            </a:r>
            <a:r>
              <a:rPr lang="en-US" altLang="ko-KR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에선 기존 </a:t>
            </a:r>
            <a:r>
              <a:rPr lang="en-US" altLang="ko-KR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Perceiver </a:t>
            </a:r>
            <a:r>
              <a:rPr lang="ko-KR" altLang="en-US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과 같은 훈련 방식을 가지고  </a:t>
            </a:r>
            <a:r>
              <a:rPr lang="en-US" altLang="ko-KR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multimodal video + audio classification </a:t>
            </a:r>
            <a:r>
              <a:rPr lang="ko-KR" altLang="en-US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을 진행했더니 </a:t>
            </a:r>
            <a:r>
              <a:rPr lang="en-US" altLang="ko-KR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Perceiver  </a:t>
            </a:r>
            <a:r>
              <a:rPr lang="ko-KR" altLang="en-US" dirty="0">
                <a:solidFill>
                  <a:srgbClr val="21252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보다 지속적으로 더 좋은 성능을 보임</a:t>
            </a:r>
            <a:endParaRPr lang="ko-KR" altLang="en-US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9380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31155</TotalTime>
  <Words>580</Words>
  <Application>Microsoft Office PowerPoint</Application>
  <PresentationFormat>와이드스크린</PresentationFormat>
  <Paragraphs>60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-apple-system</vt:lpstr>
      <vt:lpstr>나눔스퀘어_ac</vt:lpstr>
      <vt:lpstr>나눔스퀘어_ac Bold</vt:lpstr>
      <vt:lpstr>맑은 고딕</vt:lpstr>
      <vt:lpstr>Arial</vt:lpstr>
      <vt:lpstr>Office 테마</vt:lpstr>
      <vt:lpstr>PERCEIVER IO: A GENERAL ARCHITECTURE FOR STRUCTURED INPUTS &amp; OUTPUTS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4.1 LANGUAGE</vt:lpstr>
      <vt:lpstr>4.2 OPTICAL FLOW</vt:lpstr>
      <vt:lpstr>4.3 Multimodal Autoencoding</vt:lpstr>
      <vt:lpstr>4.4  IMAGENET, STARCRAFT II, AND AUDIOSET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기술 개요</dc:title>
  <dc:creator>Park Harper</dc:creator>
  <cp:lastModifiedBy>Park Harper</cp:lastModifiedBy>
  <cp:revision>9</cp:revision>
  <dcterms:created xsi:type="dcterms:W3CDTF">2021-09-16T13:09:28Z</dcterms:created>
  <dcterms:modified xsi:type="dcterms:W3CDTF">2022-06-05T09:35:17Z</dcterms:modified>
</cp:coreProperties>
</file>