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80" r:id="rId5"/>
    <p:sldId id="282" r:id="rId6"/>
    <p:sldId id="259" r:id="rId7"/>
    <p:sldId id="260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  <p:sldId id="272" r:id="rId18"/>
    <p:sldId id="273" r:id="rId19"/>
    <p:sldId id="275" r:id="rId20"/>
    <p:sldId id="276" r:id="rId21"/>
    <p:sldId id="277" r:id="rId22"/>
    <p:sldId id="278" r:id="rId23"/>
  </p:sldIdLst>
  <p:sldSz cx="12192000" cy="6858000"/>
  <p:notesSz cx="6858000" cy="9144000"/>
  <p:embeddedFontLst>
    <p:embeddedFont>
      <p:font typeface="Arial Black" panose="020B0604020202020204" pitchFamily="34" charset="0"/>
      <p:regular r:id="rId25"/>
      <p:bold r:id="rId26"/>
    </p:embeddedFont>
    <p:embeddedFont>
      <p:font typeface="Lato" panose="020F0502020204030203" pitchFamily="34" charset="0"/>
      <p:regular r:id="rId27"/>
      <p:bold r:id="rId28"/>
      <p:italic r:id="rId29"/>
      <p:boldItalic r:id="rId30"/>
    </p:embeddedFont>
    <p:embeddedFont>
      <p:font typeface="Malgun Gothic" panose="020B0503020000020004" pitchFamily="34" charset="-127"/>
      <p:regular r:id="rId31"/>
      <p:bold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045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4" roundtripDataSignature="AMtx7mg9ZZF4xDCVetewqQUxd3shzEoH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92"/>
  </p:normalViewPr>
  <p:slideViewPr>
    <p:cSldViewPr snapToGrid="0">
      <p:cViewPr varScale="1">
        <p:scale>
          <a:sx n="106" d="100"/>
          <a:sy n="106" d="100"/>
        </p:scale>
        <p:origin x="792" y="176"/>
      </p:cViewPr>
      <p:guideLst>
        <p:guide orient="horz" pos="304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852257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964668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9" name="Google Shape;269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8" name="Google Shape;278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2" name="Google Shape;312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5" name="Google Shape;325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6" name="Google Shape;356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5" name="Google Shape;365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8"/>
          <p:cNvSpPr txBox="1">
            <a:spLocks noGrp="1"/>
          </p:cNvSpPr>
          <p:nvPr>
            <p:ph type="sldNum" idx="12"/>
          </p:nvPr>
        </p:nvSpPr>
        <p:spPr>
          <a:xfrm>
            <a:off x="9282404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3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3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3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gif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7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9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26.png"/><Relationship Id="rId4" Type="http://schemas.openxmlformats.org/officeDocument/2006/relationships/image" Target="../media/image30.png"/><Relationship Id="rId9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26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>
            <a:spLocks noGrp="1"/>
          </p:cNvSpPr>
          <p:nvPr>
            <p:ph type="ctrTitle"/>
          </p:nvPr>
        </p:nvSpPr>
        <p:spPr>
          <a:xfrm>
            <a:off x="1118952" y="1094906"/>
            <a:ext cx="9978189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dirty="0" err="1">
                <a:latin typeface="Arial"/>
                <a:ea typeface="Arial"/>
                <a:cs typeface="Arial"/>
                <a:sym typeface="Arial"/>
              </a:rPr>
              <a:t>MedSegDiff</a:t>
            </a:r>
            <a:r>
              <a:rPr lang="en-US" sz="4000" dirty="0">
                <a:latin typeface="Arial"/>
                <a:ea typeface="Arial"/>
                <a:cs typeface="Arial"/>
                <a:sym typeface="Arial"/>
              </a:rPr>
              <a:t>: Medical Image Segmentation with Diffusion Probabilistic Model</a:t>
            </a:r>
            <a:endParaRPr sz="40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subTitle" idx="1"/>
          </p:nvPr>
        </p:nvSpPr>
        <p:spPr>
          <a:xfrm>
            <a:off x="5125790" y="5524921"/>
            <a:ext cx="6238965" cy="872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 dirty="0"/>
              <a:t>2022. 11. </a:t>
            </a:r>
            <a:r>
              <a:rPr lang="en-US" altLang="ko-KR" sz="1400" dirty="0"/>
              <a:t>20</a:t>
            </a:r>
            <a:endParaRPr dirty="0"/>
          </a:p>
          <a:p>
            <a:pPr marL="0" lvl="0" indent="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 dirty="0" err="1"/>
              <a:t>김준철</a:t>
            </a:r>
            <a:r>
              <a:rPr lang="en-US" sz="1600" dirty="0"/>
              <a:t>, </a:t>
            </a:r>
            <a:r>
              <a:rPr lang="en-US" sz="1600" dirty="0" err="1"/>
              <a:t>김병현</a:t>
            </a:r>
            <a:r>
              <a:rPr lang="en-US" sz="1600" dirty="0"/>
              <a:t>, </a:t>
            </a:r>
            <a:r>
              <a:rPr lang="en-US" sz="1600" dirty="0" err="1"/>
              <a:t>박재완</a:t>
            </a:r>
            <a:r>
              <a:rPr lang="en-US" sz="1600" dirty="0"/>
              <a:t>, </a:t>
            </a:r>
            <a:r>
              <a:rPr lang="en-US" sz="1600" dirty="0" err="1"/>
              <a:t>이희재</a:t>
            </a:r>
            <a:r>
              <a:rPr lang="en-US" sz="1600" dirty="0"/>
              <a:t>, </a:t>
            </a:r>
            <a:r>
              <a:rPr lang="en-US" sz="1600" dirty="0" err="1"/>
              <a:t>조경진</a:t>
            </a:r>
            <a:r>
              <a:rPr lang="en-US" sz="1600" dirty="0"/>
              <a:t>, </a:t>
            </a:r>
            <a:r>
              <a:rPr lang="en-US" sz="1600" dirty="0" err="1"/>
              <a:t>최재규</a:t>
            </a:r>
            <a:endParaRPr sz="1600" dirty="0"/>
          </a:p>
        </p:txBody>
      </p:sp>
      <p:sp>
        <p:nvSpPr>
          <p:cNvPr id="91" name="Google Shape;91;p1"/>
          <p:cNvSpPr/>
          <p:nvPr/>
        </p:nvSpPr>
        <p:spPr>
          <a:xfrm>
            <a:off x="913921" y="3512330"/>
            <a:ext cx="10388252" cy="45719"/>
          </a:xfrm>
          <a:prstGeom prst="rect">
            <a:avLst/>
          </a:prstGeom>
          <a:solidFill>
            <a:srgbClr val="A61C37"/>
          </a:solidFill>
          <a:ln w="12700" cap="flat" cmpd="sng">
            <a:solidFill>
              <a:srgbClr val="A61C3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1080013" y="3661081"/>
            <a:ext cx="10284742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1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Junde Wu, Huihui Fang, Yu Zhang, Yehui Yang, Yanwu Xu</a:t>
            </a:r>
            <a:endParaRPr sz="14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Proceedings of the IEEE/CVF Conference on Computer Vision and Pattern Recognition (CVPR), 2022</a:t>
            </a:r>
            <a:endParaRPr sz="14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>
            <a:spLocks noGrp="1"/>
          </p:cNvSpPr>
          <p:nvPr>
            <p:ph type="sldNum" idx="12"/>
          </p:nvPr>
        </p:nvSpPr>
        <p:spPr>
          <a:xfrm>
            <a:off x="9292336" y="640232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C0C0C"/>
                </a:solidFill>
              </a:rPr>
              <a:t>2</a:t>
            </a:fld>
            <a:endParaRPr>
              <a:solidFill>
                <a:srgbClr val="0C0C0C"/>
              </a:solidFill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798688" y="1376423"/>
            <a:ext cx="677135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Background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Introduction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Method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Experiments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Conclusion</a:t>
            </a:r>
            <a:endParaRPr dirty="0"/>
          </a:p>
        </p:txBody>
      </p:sp>
      <p:sp>
        <p:nvSpPr>
          <p:cNvPr id="100" name="Google Shape;100;p2"/>
          <p:cNvSpPr txBox="1"/>
          <p:nvPr/>
        </p:nvSpPr>
        <p:spPr>
          <a:xfrm>
            <a:off x="374737" y="348782"/>
            <a:ext cx="9730609" cy="574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sz="1800" b="1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396520" y="935981"/>
            <a:ext cx="11564250" cy="63358"/>
          </a:xfrm>
          <a:prstGeom prst="rect">
            <a:avLst/>
          </a:prstGeom>
          <a:solidFill>
            <a:srgbClr val="A61C37"/>
          </a:solidFill>
          <a:ln w="12700" cap="flat" cmpd="sng">
            <a:solidFill>
              <a:srgbClr val="A61C3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>
            <a:spLocks noGrp="1"/>
          </p:cNvSpPr>
          <p:nvPr>
            <p:ph type="sldNum" idx="12"/>
          </p:nvPr>
        </p:nvSpPr>
        <p:spPr>
          <a:xfrm>
            <a:off x="9282404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08" name="Google Shape;108;p3"/>
          <p:cNvSpPr txBox="1"/>
          <p:nvPr/>
        </p:nvSpPr>
        <p:spPr>
          <a:xfrm>
            <a:off x="374737" y="348782"/>
            <a:ext cx="9730609" cy="574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Background </a:t>
            </a:r>
            <a:r>
              <a:rPr lang="en-US" sz="18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Diffusion</a:t>
            </a:r>
            <a:endParaRPr sz="1800" b="1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396520" y="935981"/>
            <a:ext cx="11564250" cy="63358"/>
          </a:xfrm>
          <a:prstGeom prst="rect">
            <a:avLst/>
          </a:prstGeom>
          <a:solidFill>
            <a:srgbClr val="A61C37"/>
          </a:solidFill>
          <a:ln w="12700" cap="flat" cmpd="sng">
            <a:solidFill>
              <a:srgbClr val="A61C3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585220" y="1509312"/>
            <a:ext cx="22265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thermodynamics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5785870" y="1509312"/>
            <a:ext cx="22265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statistics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0" y="4912940"/>
            <a:ext cx="4746731" cy="600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85870" y="2904020"/>
            <a:ext cx="5567928" cy="1587642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"/>
          <p:cNvSpPr txBox="1"/>
          <p:nvPr/>
        </p:nvSpPr>
        <p:spPr>
          <a:xfrm>
            <a:off x="557736" y="5144492"/>
            <a:ext cx="5307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High Density -&gt; Low Density -&gt; Equilibrium</a:t>
            </a: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5" name="Google Shape;115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609044"/>
            <a:ext cx="5481071" cy="230390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C702054-1923-7A2A-6C57-4A7204D1A0DD}"/>
              </a:ext>
            </a:extLst>
          </p:cNvPr>
          <p:cNvSpPr txBox="1"/>
          <p:nvPr/>
        </p:nvSpPr>
        <p:spPr>
          <a:xfrm>
            <a:off x="3211236" y="5922019"/>
            <a:ext cx="79479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dirty="0"/>
              <a:t>Equilibrium </a:t>
            </a:r>
            <a:r>
              <a:rPr kumimoji="1" lang="ko-Kore-KR" altLang="en-US" dirty="0"/>
              <a:t>상태에서</a:t>
            </a:r>
            <a:r>
              <a:rPr kumimoji="1" lang="ko-KR" altLang="en-US" dirty="0"/>
              <a:t> </a:t>
            </a:r>
            <a:r>
              <a:rPr kumimoji="1" lang="en-US" altLang="ko-KR" dirty="0"/>
              <a:t>High Density </a:t>
            </a:r>
            <a:r>
              <a:rPr kumimoji="1" lang="ko-KR" altLang="en-US" dirty="0"/>
              <a:t>로 모델이 학습할 수 있을까</a:t>
            </a:r>
            <a:r>
              <a:rPr kumimoji="1" lang="en-US" altLang="ko-KR" dirty="0"/>
              <a:t>?</a:t>
            </a:r>
            <a:endParaRPr kumimoji="1" lang="ko-Kore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>
            <a:extLst>
              <a:ext uri="{FF2B5EF4-FFF2-40B4-BE49-F238E27FC236}">
                <a16:creationId xmlns:a16="http://schemas.microsoft.com/office/drawing/2014/main" id="{02378A3A-9F27-DF63-18D1-9E4F72FCBDEE}"/>
              </a:ext>
            </a:extLst>
          </p:cNvPr>
          <p:cNvSpPr/>
          <p:nvPr/>
        </p:nvSpPr>
        <p:spPr>
          <a:xfrm>
            <a:off x="6256338" y="4795556"/>
            <a:ext cx="5415268" cy="16533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1E2C86E-ECF9-F21D-9B93-626B3BC2A20D}"/>
              </a:ext>
            </a:extLst>
          </p:cNvPr>
          <p:cNvSpPr/>
          <p:nvPr/>
        </p:nvSpPr>
        <p:spPr>
          <a:xfrm>
            <a:off x="512763" y="4795556"/>
            <a:ext cx="5415268" cy="16533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07" name="Google Shape;107;p3"/>
          <p:cNvSpPr txBox="1">
            <a:spLocks noGrp="1"/>
          </p:cNvSpPr>
          <p:nvPr>
            <p:ph type="sldNum" idx="12"/>
          </p:nvPr>
        </p:nvSpPr>
        <p:spPr>
          <a:xfrm>
            <a:off x="9282404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396520" y="935981"/>
            <a:ext cx="11564250" cy="63358"/>
          </a:xfrm>
          <a:prstGeom prst="rect">
            <a:avLst/>
          </a:prstGeom>
          <a:solidFill>
            <a:srgbClr val="A61C37"/>
          </a:solidFill>
          <a:ln w="12700" cap="flat" cmpd="sng">
            <a:solidFill>
              <a:srgbClr val="A61C3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2;p4">
            <a:extLst>
              <a:ext uri="{FF2B5EF4-FFF2-40B4-BE49-F238E27FC236}">
                <a16:creationId xmlns:a16="http://schemas.microsoft.com/office/drawing/2014/main" id="{EDA1C2FE-A6CC-F918-289C-E394ED5FE0D6}"/>
              </a:ext>
            </a:extLst>
          </p:cNvPr>
          <p:cNvSpPr txBox="1"/>
          <p:nvPr/>
        </p:nvSpPr>
        <p:spPr>
          <a:xfrm>
            <a:off x="374737" y="348782"/>
            <a:ext cx="9730609" cy="574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Background </a:t>
            </a:r>
            <a:r>
              <a:rPr lang="en-US" sz="1800" b="1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Diffusion Probabilistic Models</a:t>
            </a:r>
            <a:endParaRPr sz="1800" b="1" dirty="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1A21421-A965-6E45-4AC9-5DA946C771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458" y="4972019"/>
            <a:ext cx="1308100" cy="1282700"/>
          </a:xfrm>
          <a:prstGeom prst="rect">
            <a:avLst/>
          </a:prstGeom>
        </p:spPr>
      </p:pic>
      <p:pic>
        <p:nvPicPr>
          <p:cNvPr id="5" name="그림 4" descr="텍스트, 스크린샷이(가) 표시된 사진&#10;&#10;자동 생성된 설명">
            <a:extLst>
              <a:ext uri="{FF2B5EF4-FFF2-40B4-BE49-F238E27FC236}">
                <a16:creationId xmlns:a16="http://schemas.microsoft.com/office/drawing/2014/main" id="{73616567-61F5-0938-B6D1-9A45EBD824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1747" y="5035549"/>
            <a:ext cx="1257300" cy="12954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005E9FD-BFC9-C990-0211-6C6CAF707B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6236" y="5035549"/>
            <a:ext cx="1257300" cy="1320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0D322E2-AEBA-475F-8CE0-9A56970C58C2}"/>
              </a:ext>
            </a:extLst>
          </p:cNvPr>
          <p:cNvSpPr txBox="1"/>
          <p:nvPr/>
        </p:nvSpPr>
        <p:spPr>
          <a:xfrm>
            <a:off x="416545" y="1201860"/>
            <a:ext cx="1125506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dirty="0"/>
              <a:t>궁금증</a:t>
            </a:r>
            <a:r>
              <a:rPr kumimoji="1" lang="ko-KR" altLang="en-US" dirty="0"/>
              <a:t> 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/>
              <a:t>Diffusion </a:t>
            </a:r>
            <a:r>
              <a:rPr kumimoji="1" lang="ko-KR" altLang="en-US" dirty="0"/>
              <a:t>모델이 </a:t>
            </a:r>
            <a:r>
              <a:rPr kumimoji="1" lang="ko-Kore-KR" altLang="en-US" dirty="0"/>
              <a:t>왜</a:t>
            </a:r>
            <a:r>
              <a:rPr kumimoji="1" lang="en-US" altLang="ko-Kore-KR" dirty="0"/>
              <a:t> </a:t>
            </a:r>
            <a:r>
              <a:rPr kumimoji="1" lang="ko-KR" altLang="en-US" dirty="0"/>
              <a:t>잘되는가</a:t>
            </a:r>
            <a:r>
              <a:rPr kumimoji="1" lang="en-US" altLang="ko-KR" dirty="0"/>
              <a:t>?</a:t>
            </a:r>
          </a:p>
          <a:p>
            <a:endParaRPr kumimoji="1" lang="en-US" altLang="ko-KR" dirty="0"/>
          </a:p>
          <a:p>
            <a:r>
              <a:rPr kumimoji="1" lang="en-US" altLang="ko-KR" dirty="0"/>
              <a:t>Deep Unsupervised Learning using Nonequilibrium Thermodynamics (2015 PMRL)</a:t>
            </a:r>
          </a:p>
          <a:p>
            <a:endParaRPr kumimoji="1" lang="en-US" altLang="ko-KR" dirty="0"/>
          </a:p>
          <a:p>
            <a:r>
              <a:rPr kumimoji="1" lang="en-US" altLang="ko-KR" dirty="0"/>
              <a:t>=&gt; </a:t>
            </a:r>
            <a:r>
              <a:rPr kumimoji="1" lang="ko-KR" altLang="en-US" dirty="0"/>
              <a:t>결론 </a:t>
            </a:r>
            <a:r>
              <a:rPr kumimoji="1" lang="en-US" altLang="ko-KR" dirty="0"/>
              <a:t>:</a:t>
            </a:r>
            <a:r>
              <a:rPr kumimoji="1" lang="ko-KR" altLang="en-US" dirty="0"/>
              <a:t> 통계적 근사를 더 정확하게 구현하였다</a:t>
            </a:r>
            <a:r>
              <a:rPr kumimoji="1" lang="en-US" altLang="ko-KR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144E72-A37B-6F1A-6E45-23D485CA1584}"/>
              </a:ext>
            </a:extLst>
          </p:cNvPr>
          <p:cNvSpPr txBox="1"/>
          <p:nvPr/>
        </p:nvSpPr>
        <p:spPr>
          <a:xfrm>
            <a:off x="5840329" y="2462861"/>
            <a:ext cx="49138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두 번째 아이디어 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/>
              <a:t>Non-equilibrium statistical physics</a:t>
            </a:r>
          </a:p>
          <a:p>
            <a:endParaRPr kumimoji="1" lang="en-US" altLang="ko-KR" dirty="0"/>
          </a:p>
          <a:p>
            <a:r>
              <a:rPr kumimoji="1" lang="ko-KR" altLang="en-US" dirty="0"/>
              <a:t> </a:t>
            </a:r>
            <a:r>
              <a:rPr kumimoji="1" lang="en-US" altLang="ko-KR" dirty="0"/>
              <a:t>-&gt; </a:t>
            </a:r>
            <a:r>
              <a:rPr kumimoji="1" lang="ko-KR" altLang="en-US" dirty="0"/>
              <a:t>통계적 수식의 원천</a:t>
            </a:r>
            <a:endParaRPr kumimoji="1" lang="en-US" altLang="ko-KR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A377D8C-E030-E791-2065-73F71AF6762B}"/>
              </a:ext>
            </a:extLst>
          </p:cNvPr>
          <p:cNvSpPr txBox="1"/>
          <p:nvPr/>
        </p:nvSpPr>
        <p:spPr>
          <a:xfrm>
            <a:off x="418960" y="2466474"/>
            <a:ext cx="525317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첫 번째 아이디어 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/>
              <a:t>Sequential Monte Carlo</a:t>
            </a:r>
            <a:r>
              <a:rPr kumimoji="1" lang="ko-KR" altLang="en-US" dirty="0"/>
              <a:t>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Marcov</a:t>
            </a:r>
            <a:r>
              <a:rPr kumimoji="1" lang="en-US" altLang="ko-KR" dirty="0"/>
              <a:t> Chain</a:t>
            </a:r>
          </a:p>
          <a:p>
            <a:endParaRPr kumimoji="1" lang="en-US" altLang="ko-KR" dirty="0"/>
          </a:p>
          <a:p>
            <a:r>
              <a:rPr kumimoji="1" lang="en-US" altLang="ko-KR" dirty="0"/>
              <a:t>-&gt; </a:t>
            </a:r>
            <a:r>
              <a:rPr kumimoji="1" lang="ko-KR" altLang="en-US" dirty="0"/>
              <a:t>연속적 확률을 근사화</a:t>
            </a:r>
            <a:endParaRPr kumimoji="1" lang="en-US" altLang="ko-KR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77DB55-12CF-996C-CF1C-35EC0E7F18DB}"/>
              </a:ext>
            </a:extLst>
          </p:cNvPr>
          <p:cNvSpPr txBox="1"/>
          <p:nvPr/>
        </p:nvSpPr>
        <p:spPr>
          <a:xfrm>
            <a:off x="576458" y="3321432"/>
            <a:ext cx="838180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ko-Kore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Markov stochastic process</a:t>
            </a:r>
          </a:p>
          <a:p>
            <a:endParaRPr lang="en-US" altLang="ko-Kore-KR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r>
              <a:rPr lang="ko-KR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미래의 상태는 과거에 의존하지 않고 현재 상태에 대해서만 영향을 받는다</a:t>
            </a:r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</a:t>
            </a:r>
            <a:r>
              <a:rPr lang="ko-KR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ko-KR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연산의 단순화 </a:t>
            </a:r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+</a:t>
            </a:r>
            <a:r>
              <a:rPr lang="ko-KR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근사화</a:t>
            </a:r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)</a:t>
            </a:r>
            <a:endParaRPr lang="en" altLang="ko-Kore-KR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8E79A180-16D7-98F9-FEE7-98EA914AA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3647" y="4972019"/>
            <a:ext cx="1308100" cy="1282700"/>
          </a:xfrm>
          <a:prstGeom prst="rect">
            <a:avLst/>
          </a:prstGeom>
        </p:spPr>
      </p:pic>
      <p:pic>
        <p:nvPicPr>
          <p:cNvPr id="28" name="그림 27" descr="텍스트, 스크린샷이(가) 표시된 사진&#10;&#10;자동 생성된 설명">
            <a:extLst>
              <a:ext uri="{FF2B5EF4-FFF2-40B4-BE49-F238E27FC236}">
                <a16:creationId xmlns:a16="http://schemas.microsoft.com/office/drawing/2014/main" id="{003D68F5-26FD-6FC5-FAA6-E1DA84BE06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8936" y="5035549"/>
            <a:ext cx="1257300" cy="1295400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18C72E6F-8DFD-082E-23A0-842961032E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3425" y="5035549"/>
            <a:ext cx="1257300" cy="13208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E98998E-5B95-FCB8-23E3-97A6ED6142DE}"/>
              </a:ext>
            </a:extLst>
          </p:cNvPr>
          <p:cNvSpPr txBox="1"/>
          <p:nvPr/>
        </p:nvSpPr>
        <p:spPr>
          <a:xfrm>
            <a:off x="416545" y="4487779"/>
            <a:ext cx="21752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dirty="0"/>
              <a:t>- Ideal case</a:t>
            </a:r>
            <a:endParaRPr kumimoji="1" lang="ko-Kore-KR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E2C76AE-34BC-F91C-342A-4294B1C54A82}"/>
              </a:ext>
            </a:extLst>
          </p:cNvPr>
          <p:cNvSpPr txBox="1"/>
          <p:nvPr/>
        </p:nvSpPr>
        <p:spPr>
          <a:xfrm>
            <a:off x="6203734" y="4487779"/>
            <a:ext cx="29883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dirty="0"/>
              <a:t>- With Markov stochastic process</a:t>
            </a:r>
            <a:endParaRPr kumimoji="1" lang="ko-Kore-KR" altLang="en-US" dirty="0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EEE006C7-EC61-D459-0F4D-D09ABC66CF1A}"/>
              </a:ext>
            </a:extLst>
          </p:cNvPr>
          <p:cNvCxnSpPr/>
          <p:nvPr/>
        </p:nvCxnSpPr>
        <p:spPr>
          <a:xfrm>
            <a:off x="1884558" y="5622241"/>
            <a:ext cx="707189" cy="0"/>
          </a:xfrm>
          <a:prstGeom prst="straightConnector1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9B7CE5A5-6892-3235-98AE-D5142B6A669E}"/>
              </a:ext>
            </a:extLst>
          </p:cNvPr>
          <p:cNvCxnSpPr/>
          <p:nvPr/>
        </p:nvCxnSpPr>
        <p:spPr>
          <a:xfrm>
            <a:off x="3856233" y="5622241"/>
            <a:ext cx="707189" cy="0"/>
          </a:xfrm>
          <a:prstGeom prst="straightConnector1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U자형 화살표[U] 37">
            <a:extLst>
              <a:ext uri="{FF2B5EF4-FFF2-40B4-BE49-F238E27FC236}">
                <a16:creationId xmlns:a16="http://schemas.microsoft.com/office/drawing/2014/main" id="{D1EFB39F-5211-C3F3-620F-A67B5DCF1EDA}"/>
              </a:ext>
            </a:extLst>
          </p:cNvPr>
          <p:cNvSpPr/>
          <p:nvPr/>
        </p:nvSpPr>
        <p:spPr>
          <a:xfrm>
            <a:off x="1723705" y="4886631"/>
            <a:ext cx="3057525" cy="121373"/>
          </a:xfrm>
          <a:prstGeom prst="utur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chemeClr val="tx1"/>
              </a:solidFill>
            </a:endParaRP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B1444DA1-0B5B-50B8-687F-C6858668636F}"/>
              </a:ext>
            </a:extLst>
          </p:cNvPr>
          <p:cNvCxnSpPr/>
          <p:nvPr/>
        </p:nvCxnSpPr>
        <p:spPr>
          <a:xfrm>
            <a:off x="7656708" y="5622241"/>
            <a:ext cx="70718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2910314B-B6B9-B7EF-3D58-A283F2531776}"/>
              </a:ext>
            </a:extLst>
          </p:cNvPr>
          <p:cNvCxnSpPr/>
          <p:nvPr/>
        </p:nvCxnSpPr>
        <p:spPr>
          <a:xfrm>
            <a:off x="9628383" y="5622241"/>
            <a:ext cx="707189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오른쪽 화살표[R] 39">
            <a:extLst>
              <a:ext uri="{FF2B5EF4-FFF2-40B4-BE49-F238E27FC236}">
                <a16:creationId xmlns:a16="http://schemas.microsoft.com/office/drawing/2014/main" id="{2D41E801-300E-B8B6-BFB8-7323DCBCEB5B}"/>
              </a:ext>
            </a:extLst>
          </p:cNvPr>
          <p:cNvSpPr/>
          <p:nvPr/>
        </p:nvSpPr>
        <p:spPr>
          <a:xfrm>
            <a:off x="8853138" y="3637994"/>
            <a:ext cx="444111" cy="342445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81684D0-AB6B-CB80-A856-76318867AF2E}"/>
              </a:ext>
            </a:extLst>
          </p:cNvPr>
          <p:cNvSpPr txBox="1"/>
          <p:nvPr/>
        </p:nvSpPr>
        <p:spPr>
          <a:xfrm>
            <a:off x="9636236" y="3451807"/>
            <a:ext cx="20353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dirty="0"/>
              <a:t>근사화로</a:t>
            </a:r>
            <a:r>
              <a:rPr kumimoji="1" lang="ko-KR" altLang="en-US" dirty="0"/>
              <a:t> 인한 정확도 하락을 어떻게 커버 할 것인가</a:t>
            </a:r>
            <a:r>
              <a:rPr kumimoji="1" lang="en-US" altLang="ko-KR" dirty="0"/>
              <a:t>?</a:t>
            </a:r>
            <a:endParaRPr kumimoji="1" lang="ko-Kore-KR" altLang="en-US" dirty="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635E30CC-DB34-DBCF-763A-DBE90F9F773A}"/>
              </a:ext>
            </a:extLst>
          </p:cNvPr>
          <p:cNvSpPr/>
          <p:nvPr/>
        </p:nvSpPr>
        <p:spPr>
          <a:xfrm>
            <a:off x="416544" y="2462862"/>
            <a:ext cx="5253177" cy="76599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875478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>
            <a:extLst>
              <a:ext uri="{FF2B5EF4-FFF2-40B4-BE49-F238E27FC236}">
                <a16:creationId xmlns:a16="http://schemas.microsoft.com/office/drawing/2014/main" id="{02378A3A-9F27-DF63-18D1-9E4F72FCBDEE}"/>
              </a:ext>
            </a:extLst>
          </p:cNvPr>
          <p:cNvSpPr/>
          <p:nvPr/>
        </p:nvSpPr>
        <p:spPr>
          <a:xfrm>
            <a:off x="479663" y="2352344"/>
            <a:ext cx="11125363" cy="1870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07" name="Google Shape;107;p3"/>
          <p:cNvSpPr txBox="1">
            <a:spLocks noGrp="1"/>
          </p:cNvSpPr>
          <p:nvPr>
            <p:ph type="sldNum" idx="12"/>
          </p:nvPr>
        </p:nvSpPr>
        <p:spPr>
          <a:xfrm>
            <a:off x="9282404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396520" y="935981"/>
            <a:ext cx="11564250" cy="63358"/>
          </a:xfrm>
          <a:prstGeom prst="rect">
            <a:avLst/>
          </a:prstGeom>
          <a:solidFill>
            <a:srgbClr val="A61C37"/>
          </a:solidFill>
          <a:ln w="12700" cap="flat" cmpd="sng">
            <a:solidFill>
              <a:srgbClr val="A61C3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2;p4">
            <a:extLst>
              <a:ext uri="{FF2B5EF4-FFF2-40B4-BE49-F238E27FC236}">
                <a16:creationId xmlns:a16="http://schemas.microsoft.com/office/drawing/2014/main" id="{EDA1C2FE-A6CC-F918-289C-E394ED5FE0D6}"/>
              </a:ext>
            </a:extLst>
          </p:cNvPr>
          <p:cNvSpPr txBox="1"/>
          <p:nvPr/>
        </p:nvSpPr>
        <p:spPr>
          <a:xfrm>
            <a:off x="374737" y="348782"/>
            <a:ext cx="9730609" cy="574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Background </a:t>
            </a:r>
            <a:r>
              <a:rPr lang="en-US" sz="1800" b="1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Diffusion Probabilistic Models</a:t>
            </a:r>
            <a:endParaRPr sz="1800" b="1" dirty="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144E72-A37B-6F1A-6E45-23D485CA1584}"/>
              </a:ext>
            </a:extLst>
          </p:cNvPr>
          <p:cNvSpPr txBox="1"/>
          <p:nvPr/>
        </p:nvSpPr>
        <p:spPr>
          <a:xfrm>
            <a:off x="427060" y="1305903"/>
            <a:ext cx="49138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두 번째 아이디어 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/>
              <a:t>Non-equilibrium statistical physics</a:t>
            </a: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8E79A180-16D7-98F9-FEE7-98EA914AA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973" y="2528807"/>
            <a:ext cx="1308100" cy="1282700"/>
          </a:xfrm>
          <a:prstGeom prst="rect">
            <a:avLst/>
          </a:prstGeom>
        </p:spPr>
      </p:pic>
      <p:pic>
        <p:nvPicPr>
          <p:cNvPr id="28" name="그림 27" descr="텍스트, 스크린샷이(가) 표시된 사진&#10;&#10;자동 생성된 설명">
            <a:extLst>
              <a:ext uri="{FF2B5EF4-FFF2-40B4-BE49-F238E27FC236}">
                <a16:creationId xmlns:a16="http://schemas.microsoft.com/office/drawing/2014/main" id="{003D68F5-26FD-6FC5-FAA6-E1DA84BE06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4121" y="2592337"/>
            <a:ext cx="1257300" cy="1295400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18C72E6F-8DFD-082E-23A0-842961032E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5354" y="2592337"/>
            <a:ext cx="1257300" cy="1320800"/>
          </a:xfrm>
          <a:prstGeom prst="rect">
            <a:avLst/>
          </a:prstGeom>
        </p:spPr>
      </p:pic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B1444DA1-0B5B-50B8-687F-C6858668636F}"/>
              </a:ext>
            </a:extLst>
          </p:cNvPr>
          <p:cNvCxnSpPr/>
          <p:nvPr/>
        </p:nvCxnSpPr>
        <p:spPr>
          <a:xfrm>
            <a:off x="1880034" y="3179029"/>
            <a:ext cx="70718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2910314B-B6B9-B7EF-3D58-A283F2531776}"/>
              </a:ext>
            </a:extLst>
          </p:cNvPr>
          <p:cNvCxnSpPr/>
          <p:nvPr/>
        </p:nvCxnSpPr>
        <p:spPr>
          <a:xfrm>
            <a:off x="9166659" y="3179029"/>
            <a:ext cx="707189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96930FC0-7AF2-D17A-497D-7C3FEFEF8813}"/>
              </a:ext>
            </a:extLst>
          </p:cNvPr>
          <p:cNvCxnSpPr/>
          <p:nvPr/>
        </p:nvCxnSpPr>
        <p:spPr>
          <a:xfrm>
            <a:off x="4126736" y="3179029"/>
            <a:ext cx="707189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그림 25">
            <a:extLst>
              <a:ext uri="{FF2B5EF4-FFF2-40B4-BE49-F238E27FC236}">
                <a16:creationId xmlns:a16="http://schemas.microsoft.com/office/drawing/2014/main" id="{6E452236-E23A-1068-21FE-0CE256EE43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8660" y="2528807"/>
            <a:ext cx="1308100" cy="12827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9A15C21-A590-E9A9-7CAB-6AAA7CFEA631}"/>
              </a:ext>
            </a:extLst>
          </p:cNvPr>
          <p:cNvSpPr txBox="1"/>
          <p:nvPr/>
        </p:nvSpPr>
        <p:spPr>
          <a:xfrm>
            <a:off x="5014466" y="3016268"/>
            <a:ext cx="10104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dirty="0"/>
              <a:t>…</a:t>
            </a:r>
            <a:endParaRPr kumimoji="1" lang="ko-Kore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991872-EC6F-B7A2-B948-B1AA41A1E511}"/>
              </a:ext>
            </a:extLst>
          </p:cNvPr>
          <p:cNvSpPr txBox="1"/>
          <p:nvPr/>
        </p:nvSpPr>
        <p:spPr>
          <a:xfrm>
            <a:off x="8655600" y="3016269"/>
            <a:ext cx="553413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dirty="0"/>
              <a:t>…</a:t>
            </a:r>
            <a:endParaRPr kumimoji="1" lang="ko-Kore-KR" altLang="en-US" dirty="0"/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32CF3AF3-1785-AEF8-935D-2802F7995877}"/>
              </a:ext>
            </a:extLst>
          </p:cNvPr>
          <p:cNvCxnSpPr/>
          <p:nvPr/>
        </p:nvCxnSpPr>
        <p:spPr>
          <a:xfrm>
            <a:off x="5584061" y="3179029"/>
            <a:ext cx="707189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B921EF5F-A7E1-B844-AAB5-710FED286413}"/>
              </a:ext>
            </a:extLst>
          </p:cNvPr>
          <p:cNvCxnSpPr/>
          <p:nvPr/>
        </p:nvCxnSpPr>
        <p:spPr>
          <a:xfrm>
            <a:off x="7870061" y="3179029"/>
            <a:ext cx="707189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F7D426A-35C5-49FE-0D45-580A2477BA19}"/>
              </a:ext>
            </a:extLst>
          </p:cNvPr>
          <p:cNvSpPr txBox="1"/>
          <p:nvPr/>
        </p:nvSpPr>
        <p:spPr>
          <a:xfrm>
            <a:off x="966643" y="3887737"/>
            <a:ext cx="9715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dirty="0"/>
              <a:t>t = 0</a:t>
            </a:r>
            <a:endParaRPr kumimoji="1" lang="ko-Kore-KR" alt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11F7808-1634-6460-745D-ADA3EDFC691F}"/>
              </a:ext>
            </a:extLst>
          </p:cNvPr>
          <p:cNvSpPr txBox="1"/>
          <p:nvPr/>
        </p:nvSpPr>
        <p:spPr>
          <a:xfrm>
            <a:off x="3061236" y="3887737"/>
            <a:ext cx="9715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dirty="0"/>
              <a:t>t = 1</a:t>
            </a:r>
            <a:endParaRPr kumimoji="1" lang="ko-Kore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15A47EA-2754-5EFD-28F8-9C969F163957}"/>
              </a:ext>
            </a:extLst>
          </p:cNvPr>
          <p:cNvSpPr txBox="1"/>
          <p:nvPr/>
        </p:nvSpPr>
        <p:spPr>
          <a:xfrm>
            <a:off x="6900863" y="3887737"/>
            <a:ext cx="9715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dirty="0"/>
              <a:t>t = T/2</a:t>
            </a:r>
            <a:endParaRPr kumimoji="1" lang="ko-Kore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D7594FE-D72A-EED8-47BA-492B4D740BC7}"/>
              </a:ext>
            </a:extLst>
          </p:cNvPr>
          <p:cNvSpPr txBox="1"/>
          <p:nvPr/>
        </p:nvSpPr>
        <p:spPr>
          <a:xfrm>
            <a:off x="10434637" y="3887737"/>
            <a:ext cx="9715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dirty="0"/>
              <a:t>t = T</a:t>
            </a:r>
            <a:endParaRPr kumimoji="1" lang="ko-Kore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D6F7C3-6D6B-5E25-2B30-5E713E983791}"/>
              </a:ext>
            </a:extLst>
          </p:cNvPr>
          <p:cNvSpPr txBox="1"/>
          <p:nvPr/>
        </p:nvSpPr>
        <p:spPr>
          <a:xfrm>
            <a:off x="479663" y="1629350"/>
            <a:ext cx="66069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ore-KR" dirty="0"/>
              <a:t>Quasi-static processes (</a:t>
            </a:r>
            <a:r>
              <a:rPr kumimoji="1" lang="ko-Kore-KR" altLang="en-US" dirty="0"/>
              <a:t>준정적</a:t>
            </a:r>
            <a:r>
              <a:rPr kumimoji="1" lang="ko-KR" altLang="en-US" dirty="0"/>
              <a:t> 과정</a:t>
            </a:r>
            <a:r>
              <a:rPr kumimoji="1" lang="en-US" altLang="ko-KR" dirty="0"/>
              <a:t>)</a:t>
            </a:r>
          </a:p>
          <a:p>
            <a:r>
              <a:rPr kumimoji="1" lang="ko-KR" altLang="en-US" dirty="0"/>
              <a:t> </a:t>
            </a:r>
            <a:r>
              <a:rPr kumimoji="1" lang="en-US" altLang="ko-KR" dirty="0"/>
              <a:t>-</a:t>
            </a:r>
            <a:r>
              <a:rPr kumimoji="1" lang="ko-KR" altLang="en-US" dirty="0"/>
              <a:t> 매우 천천히 변하여 각 순간마다 평형상태로 간주 할 수 있는 이상적인 과정</a:t>
            </a:r>
            <a:endParaRPr kumimoji="1" lang="en-US" altLang="ko-Kore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056E28-DF3D-4938-3694-0B4465163834}"/>
              </a:ext>
            </a:extLst>
          </p:cNvPr>
          <p:cNvSpPr txBox="1"/>
          <p:nvPr/>
        </p:nvSpPr>
        <p:spPr>
          <a:xfrm>
            <a:off x="579843" y="4484303"/>
            <a:ext cx="3900487" cy="3077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ko-Kore-KR" dirty="0"/>
              <a:t>Noise</a:t>
            </a:r>
            <a:r>
              <a:rPr kumimoji="1" lang="ko-Kore-KR" altLang="en-US" dirty="0"/>
              <a:t>가</a:t>
            </a:r>
            <a:r>
              <a:rPr kumimoji="1" lang="ko-KR" altLang="en-US" dirty="0"/>
              <a:t> 추가되었지만 변화가 거의 없는 상태</a:t>
            </a:r>
            <a:endParaRPr kumimoji="1" lang="ko-Kore-KR" altLang="en-US" dirty="0"/>
          </a:p>
        </p:txBody>
      </p:sp>
      <p:sp>
        <p:nvSpPr>
          <p:cNvPr id="11" name="위쪽 화살표[U] 10">
            <a:extLst>
              <a:ext uri="{FF2B5EF4-FFF2-40B4-BE49-F238E27FC236}">
                <a16:creationId xmlns:a16="http://schemas.microsoft.com/office/drawing/2014/main" id="{844DE174-3887-1C6A-CCFE-2F884B636000}"/>
              </a:ext>
            </a:extLst>
          </p:cNvPr>
          <p:cNvSpPr/>
          <p:nvPr/>
        </p:nvSpPr>
        <p:spPr>
          <a:xfrm>
            <a:off x="3061236" y="4299122"/>
            <a:ext cx="485775" cy="248470"/>
          </a:xfrm>
          <a:prstGeom prst="up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EA5A45-80EE-10D2-4B2A-8DF9C36BEB58}"/>
              </a:ext>
            </a:extLst>
          </p:cNvPr>
          <p:cNvSpPr txBox="1"/>
          <p:nvPr/>
        </p:nvSpPr>
        <p:spPr>
          <a:xfrm>
            <a:off x="586973" y="5086350"/>
            <a:ext cx="10695681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ore-KR" altLang="en-US" dirty="0"/>
              <a:t>각</a:t>
            </a:r>
            <a:r>
              <a:rPr kumimoji="1" lang="ko-KR" altLang="en-US" dirty="0"/>
              <a:t> 순간의 변화과정이 거의 없는 상태로 구현 할 수 있다면 과거에 대한 의존성이 낮게 가져갈 수 있음</a:t>
            </a:r>
            <a:endParaRPr kumimoji="1" lang="en-US" altLang="ko-KR" dirty="0"/>
          </a:p>
        </p:txBody>
      </p:sp>
      <p:sp>
        <p:nvSpPr>
          <p:cNvPr id="16" name="오른쪽 화살표[R] 15">
            <a:extLst>
              <a:ext uri="{FF2B5EF4-FFF2-40B4-BE49-F238E27FC236}">
                <a16:creationId xmlns:a16="http://schemas.microsoft.com/office/drawing/2014/main" id="{83E4D653-A9B2-83F2-56B3-065A951C92C6}"/>
              </a:ext>
            </a:extLst>
          </p:cNvPr>
          <p:cNvSpPr/>
          <p:nvPr/>
        </p:nvSpPr>
        <p:spPr>
          <a:xfrm>
            <a:off x="1020683" y="5735860"/>
            <a:ext cx="519257" cy="293266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C6F728-DDDD-C63F-A46E-9088E1C44A48}"/>
              </a:ext>
            </a:extLst>
          </p:cNvPr>
          <p:cNvSpPr txBox="1"/>
          <p:nvPr/>
        </p:nvSpPr>
        <p:spPr>
          <a:xfrm>
            <a:off x="1757363" y="5721349"/>
            <a:ext cx="83479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dirty="0"/>
              <a:t>마지막으로</a:t>
            </a:r>
            <a:r>
              <a:rPr kumimoji="1" lang="ko-KR" altLang="en-US" dirty="0"/>
              <a:t> 수 많은 단계로 이루어진 과정을 수식적으로 표현하는 단계가 필요함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3474577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 txBox="1">
            <a:spLocks noGrp="1"/>
          </p:cNvSpPr>
          <p:nvPr>
            <p:ph type="sldNum" idx="12"/>
          </p:nvPr>
        </p:nvSpPr>
        <p:spPr>
          <a:xfrm>
            <a:off x="9282404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22" name="Google Shape;122;p4"/>
          <p:cNvSpPr txBox="1"/>
          <p:nvPr/>
        </p:nvSpPr>
        <p:spPr>
          <a:xfrm>
            <a:off x="374737" y="348782"/>
            <a:ext cx="9730609" cy="574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Background </a:t>
            </a:r>
            <a:r>
              <a:rPr lang="en-US" sz="1800" b="1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Diffusion Probabilistic Models</a:t>
            </a:r>
            <a:endParaRPr sz="1800" b="1" dirty="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396520" y="935981"/>
            <a:ext cx="11564250" cy="63358"/>
          </a:xfrm>
          <a:prstGeom prst="rect">
            <a:avLst/>
          </a:prstGeom>
          <a:solidFill>
            <a:srgbClr val="A61C37"/>
          </a:solidFill>
          <a:ln w="12700" cap="flat" cmpd="sng">
            <a:solidFill>
              <a:srgbClr val="A61C3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537210" y="1280160"/>
            <a:ext cx="11564250" cy="2954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Langevin dynamics</a:t>
            </a:r>
            <a:br>
              <a:rPr 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In a real world molecular system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: F = ma,               :</a:t>
            </a:r>
            <a:r>
              <a:rPr lang="en" altLang="ko-Kore-KR" sz="2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" altLang="ko-Kore-KR" sz="18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the particle interaction potential,       : damping factor             Gaussian Process </a:t>
            </a:r>
            <a:endParaRPr lang="en-US"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Kolmogorov forward and backward equation</a:t>
            </a:r>
            <a:br>
              <a:rPr 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stochastic differential equation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lang="en-US" altLang="ko-KR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Marcov</a:t>
            </a:r>
            <a:r>
              <a:rPr lang="en-US" alt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process</a:t>
            </a:r>
            <a:r>
              <a:rPr lang="ko-KR" altLang="en-US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일때</a:t>
            </a:r>
            <a:r>
              <a:rPr lang="ko-KR" altLang="en-US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스텝별</a:t>
            </a:r>
            <a:r>
              <a:rPr lang="ko-KR" altLang="en-US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Diffusion </a:t>
            </a:r>
            <a:r>
              <a:rPr lang="ko-KR" altLang="en-US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표현식</a:t>
            </a:r>
            <a:r>
              <a:rPr lang="en-US" alt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  <a:r>
              <a:rPr lang="ko-KR" altLang="en-US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54D7DFB-2A3F-D601-F562-8AE012B6F5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624" y="2240200"/>
            <a:ext cx="6997700" cy="609600"/>
          </a:xfrm>
          <a:prstGeom prst="rect">
            <a:avLst/>
          </a:prstGeom>
        </p:spPr>
      </p:pic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BC441D7D-9BE1-302A-9941-56F51AFF4F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623" y="4492884"/>
            <a:ext cx="6261102" cy="8712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76836D2-9850-45D9-675B-6EA1B7F39A55}"/>
              </a:ext>
            </a:extLst>
          </p:cNvPr>
          <p:cNvSpPr txBox="1"/>
          <p:nvPr/>
        </p:nvSpPr>
        <p:spPr>
          <a:xfrm>
            <a:off x="682623" y="4185107"/>
            <a:ext cx="6997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dirty="0"/>
              <a:t>- Kolmogorov backward equation (diffusion)</a:t>
            </a:r>
            <a:r>
              <a:rPr kumimoji="1" lang="ko-KR" altLang="en-US" dirty="0"/>
              <a:t> 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Fokker-Planck equation</a:t>
            </a:r>
            <a:r>
              <a:rPr kumimoji="1" lang="ko-KR" altLang="en-US" dirty="0"/>
              <a:t> </a:t>
            </a:r>
            <a:endParaRPr kumimoji="1" lang="ko-Kore-KR" altLang="en-US" dirty="0"/>
          </a:p>
        </p:txBody>
      </p:sp>
      <p:pic>
        <p:nvPicPr>
          <p:cNvPr id="11" name="그림 10" descr="텍스트이(가) 표시된 사진&#10;&#10;자동 생성된 설명">
            <a:extLst>
              <a:ext uri="{FF2B5EF4-FFF2-40B4-BE49-F238E27FC236}">
                <a16:creationId xmlns:a16="http://schemas.microsoft.com/office/drawing/2014/main" id="{9515A33D-05BA-662E-DBEC-4C604C73AA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623" y="5708649"/>
            <a:ext cx="6418264" cy="79984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CDD8D0E-4FDF-3820-0816-A247F719D5D2}"/>
              </a:ext>
            </a:extLst>
          </p:cNvPr>
          <p:cNvSpPr txBox="1"/>
          <p:nvPr/>
        </p:nvSpPr>
        <p:spPr>
          <a:xfrm>
            <a:off x="682623" y="5351242"/>
            <a:ext cx="38036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dirty="0"/>
              <a:t>- Kolmogorov forward equation</a:t>
            </a:r>
            <a:endParaRPr kumimoji="1" lang="ko-Kore-KR" altLang="en-US" dirty="0"/>
          </a:p>
        </p:txBody>
      </p:sp>
      <p:pic>
        <p:nvPicPr>
          <p:cNvPr id="13" name="그림 12" descr="텍스트이(가) 표시된 사진&#10;&#10;자동 생성된 설명">
            <a:extLst>
              <a:ext uri="{FF2B5EF4-FFF2-40B4-BE49-F238E27FC236}">
                <a16:creationId xmlns:a16="http://schemas.microsoft.com/office/drawing/2014/main" id="{A0FADAB9-4FC3-681C-B64A-4DBC2F14F3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623" y="2888415"/>
            <a:ext cx="787400" cy="469900"/>
          </a:xfrm>
          <a:prstGeom prst="rect">
            <a:avLst/>
          </a:prstGeom>
        </p:spPr>
      </p:pic>
      <p:pic>
        <p:nvPicPr>
          <p:cNvPr id="16" name="그림 15" descr="텍스트이(가) 표시된 사진&#10;&#10;자동 생성된 설명">
            <a:extLst>
              <a:ext uri="{FF2B5EF4-FFF2-40B4-BE49-F238E27FC236}">
                <a16:creationId xmlns:a16="http://schemas.microsoft.com/office/drawing/2014/main" id="{B04EAFC6-8996-045A-674B-03EFBCC4CE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84448" y="2921071"/>
            <a:ext cx="1054100" cy="41910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4C50C394-C744-A343-8599-EE85A784D7B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62164" y="2979385"/>
            <a:ext cx="292100" cy="355600"/>
          </a:xfrm>
          <a:prstGeom prst="rect">
            <a:avLst/>
          </a:prstGeom>
        </p:spPr>
      </p:pic>
      <p:pic>
        <p:nvPicPr>
          <p:cNvPr id="21" name="그림 20" descr="텍스트이(가) 표시된 사진&#10;&#10;자동 생성된 설명">
            <a:extLst>
              <a:ext uri="{FF2B5EF4-FFF2-40B4-BE49-F238E27FC236}">
                <a16:creationId xmlns:a16="http://schemas.microsoft.com/office/drawing/2014/main" id="{93B5BCB5-0D68-B154-75FA-7A366CB8C59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82404" y="2994665"/>
            <a:ext cx="658077" cy="394846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3CE21919-FC1D-649A-5D04-7CC4F3C6ECD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56184" y="1348829"/>
            <a:ext cx="2368594" cy="1539586"/>
          </a:xfrm>
          <a:prstGeom prst="rect">
            <a:avLst/>
          </a:prstGeom>
        </p:spPr>
      </p:pic>
      <p:sp>
        <p:nvSpPr>
          <p:cNvPr id="24" name="오른쪽 화살표[R] 23">
            <a:extLst>
              <a:ext uri="{FF2B5EF4-FFF2-40B4-BE49-F238E27FC236}">
                <a16:creationId xmlns:a16="http://schemas.microsoft.com/office/drawing/2014/main" id="{9D443F45-4145-6B4A-785E-5F8EEE3EBF17}"/>
              </a:ext>
            </a:extLst>
          </p:cNvPr>
          <p:cNvSpPr/>
          <p:nvPr/>
        </p:nvSpPr>
        <p:spPr>
          <a:xfrm>
            <a:off x="7347265" y="4584753"/>
            <a:ext cx="264160" cy="1840753"/>
          </a:xfrm>
          <a:prstGeom prst="rightArrow">
            <a:avLst>
              <a:gd name="adj1" fmla="val 50000"/>
              <a:gd name="adj2" fmla="val 10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AF5D376-4767-FCF9-CE70-E4108495E2F4}"/>
              </a:ext>
            </a:extLst>
          </p:cNvPr>
          <p:cNvSpPr txBox="1"/>
          <p:nvPr/>
        </p:nvSpPr>
        <p:spPr>
          <a:xfrm>
            <a:off x="7966918" y="5254761"/>
            <a:ext cx="38147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/>
              <a:t>각 스텝 별 </a:t>
            </a:r>
            <a:r>
              <a:rPr kumimoji="1" lang="en-US" altLang="ko-KR" dirty="0"/>
              <a:t>Noise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</a:t>
            </a:r>
            <a:r>
              <a:rPr kumimoji="1" lang="en-US" altLang="ko-KR" dirty="0"/>
              <a:t>Gaussian Noise</a:t>
            </a:r>
            <a:r>
              <a:rPr kumimoji="1" lang="ko-KR" altLang="en-US" dirty="0"/>
              <a:t>로</a:t>
            </a:r>
            <a:r>
              <a:rPr kumimoji="1" lang="en-US" altLang="ko-KR" dirty="0"/>
              <a:t> </a:t>
            </a:r>
            <a:r>
              <a:rPr kumimoji="1" lang="ko-KR" altLang="en-US" dirty="0"/>
              <a:t>적용</a:t>
            </a:r>
            <a:endParaRPr kumimoji="1" lang="ko-Kore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FB8D229-25DF-6A92-0BE7-9D4E008A27D5}"/>
              </a:ext>
            </a:extLst>
          </p:cNvPr>
          <p:cNvSpPr txBox="1"/>
          <p:nvPr/>
        </p:nvSpPr>
        <p:spPr>
          <a:xfrm>
            <a:off x="396520" y="1237445"/>
            <a:ext cx="49138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두 번째 아이디어 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/>
              <a:t>Non-equilibrium statistical physics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 txBox="1">
            <a:spLocks noGrp="1"/>
          </p:cNvSpPr>
          <p:nvPr>
            <p:ph type="sldNum" idx="12"/>
          </p:nvPr>
        </p:nvSpPr>
        <p:spPr>
          <a:xfrm>
            <a:off x="9282404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31" name="Google Shape;131;p5"/>
          <p:cNvSpPr txBox="1"/>
          <p:nvPr/>
        </p:nvSpPr>
        <p:spPr>
          <a:xfrm>
            <a:off x="374737" y="348782"/>
            <a:ext cx="9730609" cy="574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Background </a:t>
            </a:r>
            <a:r>
              <a:rPr lang="en-US" sz="18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Diffusion Probabilistic Models</a:t>
            </a:r>
            <a:endParaRPr sz="1800" b="1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396520" y="935981"/>
            <a:ext cx="11564250" cy="63358"/>
          </a:xfrm>
          <a:prstGeom prst="rect">
            <a:avLst/>
          </a:prstGeom>
          <a:solidFill>
            <a:srgbClr val="A61C37"/>
          </a:solidFill>
          <a:ln w="12700" cap="flat" cmpd="sng">
            <a:solidFill>
              <a:srgbClr val="A61C3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3908" y="1428333"/>
            <a:ext cx="4746731" cy="600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5" descr="텍스트이(가) 표시된 사진&#10;&#10;자동 생성된 설명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3908" y="2279037"/>
            <a:ext cx="3105152" cy="6369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3908" y="3128574"/>
            <a:ext cx="3632423" cy="600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5" descr="텍스트이(가) 표시된 사진&#10;&#10;자동 생성된 설명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3908" y="4524510"/>
            <a:ext cx="5025820" cy="114477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5"/>
          <p:cNvSpPr txBox="1"/>
          <p:nvPr/>
        </p:nvSpPr>
        <p:spPr>
          <a:xfrm>
            <a:off x="3998594" y="2384960"/>
            <a:ext cx="41948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Markov Chain, Stationary Distribution </a:t>
            </a: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8" name="Google Shape;138;p5"/>
          <p:cNvSpPr txBox="1"/>
          <p:nvPr/>
        </p:nvSpPr>
        <p:spPr>
          <a:xfrm>
            <a:off x="6095999" y="1500983"/>
            <a:ext cx="37719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Transformation - </a:t>
            </a:r>
            <a:r>
              <a:rPr lang="en-US" sz="1800" b="0" i="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T:Rd→Rd</a:t>
            </a:r>
            <a:endParaRPr sz="1800" b="0" i="0">
              <a:solidFill>
                <a:srgbClr val="4444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5"/>
          <p:cNvSpPr txBox="1"/>
          <p:nvPr/>
        </p:nvSpPr>
        <p:spPr>
          <a:xfrm>
            <a:off x="4720589" y="3110067"/>
            <a:ext cx="473202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By defining T to be repeated application of the transition kernel q(x|x’)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40" name="Google Shape;140;p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867899" y="3346450"/>
            <a:ext cx="1608258" cy="409948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5"/>
          <p:cNvSpPr txBox="1"/>
          <p:nvPr/>
        </p:nvSpPr>
        <p:spPr>
          <a:xfrm>
            <a:off x="9800545" y="3027626"/>
            <a:ext cx="188744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Stationary Distribution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2" name="Google Shape;142;p5"/>
          <p:cNvSpPr txBox="1"/>
          <p:nvPr/>
        </p:nvSpPr>
        <p:spPr>
          <a:xfrm>
            <a:off x="803908" y="3978111"/>
            <a:ext cx="84784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In practice, keep the iterations to a sufficiently large finite number t = T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3" name="Google Shape;143;p5"/>
          <p:cNvSpPr txBox="1"/>
          <p:nvPr/>
        </p:nvSpPr>
        <p:spPr>
          <a:xfrm>
            <a:off x="6240780" y="4747864"/>
            <a:ext cx="485775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Gaussian Diffusion = Forward Trajectory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(from Kolmogorov backward equations)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4" name="Google Shape;144;p5"/>
          <p:cNvSpPr txBox="1"/>
          <p:nvPr/>
        </p:nvSpPr>
        <p:spPr>
          <a:xfrm>
            <a:off x="948689" y="5713944"/>
            <a:ext cx="345186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Bt</a:t>
            </a:r>
            <a:r>
              <a:rPr 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= Diffusion rate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45" name="Google Shape;145;p5" descr="텍스트, 손목시계, 게이지이(가) 표시된 사진&#10;&#10;자동 생성된 설명"/>
          <p:cNvPicPr preferRelativeResize="0"/>
          <p:nvPr/>
        </p:nvPicPr>
        <p:blipFill rotWithShape="1">
          <a:blip r:embed="rId8">
            <a:alphaModFix/>
          </a:blip>
          <a:srcRect r="1359" b="760"/>
          <a:stretch/>
        </p:blipFill>
        <p:spPr>
          <a:xfrm>
            <a:off x="803908" y="6104279"/>
            <a:ext cx="2305051" cy="50414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5"/>
          <p:cNvSpPr txBox="1"/>
          <p:nvPr/>
        </p:nvSpPr>
        <p:spPr>
          <a:xfrm>
            <a:off x="3234689" y="6239087"/>
            <a:ext cx="27889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Markov diffusion kernel</a:t>
            </a: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374736" y="1597080"/>
            <a:ext cx="329581" cy="21133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374736" y="2479601"/>
            <a:ext cx="329581" cy="21133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374736" y="3262988"/>
            <a:ext cx="329581" cy="21133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374736" y="4775929"/>
            <a:ext cx="329581" cy="21133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" name="오른쪽 화살표[R] 1">
            <a:extLst>
              <a:ext uri="{FF2B5EF4-FFF2-40B4-BE49-F238E27FC236}">
                <a16:creationId xmlns:a16="http://schemas.microsoft.com/office/drawing/2014/main" id="{5F59AEFB-6EE6-F561-FA94-83285599BDDC}"/>
              </a:ext>
            </a:extLst>
          </p:cNvPr>
          <p:cNvSpPr/>
          <p:nvPr/>
        </p:nvSpPr>
        <p:spPr>
          <a:xfrm>
            <a:off x="6095999" y="6104279"/>
            <a:ext cx="390526" cy="252070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CE7639-A09F-C9FF-746C-5E8E13707996}"/>
              </a:ext>
            </a:extLst>
          </p:cNvPr>
          <p:cNvSpPr txBox="1"/>
          <p:nvPr/>
        </p:nvSpPr>
        <p:spPr>
          <a:xfrm>
            <a:off x="6719225" y="5869755"/>
            <a:ext cx="46688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dirty="0"/>
              <a:t>Beta </a:t>
            </a:r>
            <a:r>
              <a:rPr kumimoji="1" lang="ko-Kore-KR" altLang="en-US" dirty="0"/>
              <a:t>값이</a:t>
            </a:r>
            <a:r>
              <a:rPr kumimoji="1" lang="ko-KR" altLang="en-US" dirty="0"/>
              <a:t> 매우 작다면 </a:t>
            </a:r>
            <a:r>
              <a:rPr kumimoji="1" lang="en-US" altLang="ko-KR" dirty="0"/>
              <a:t>Diffusion</a:t>
            </a:r>
            <a:r>
              <a:rPr kumimoji="1" lang="ko-KR" altLang="en-US" dirty="0"/>
              <a:t> 과정에서 </a:t>
            </a:r>
            <a:r>
              <a:rPr kumimoji="1" lang="en-US" altLang="ko-KR" dirty="0"/>
              <a:t>gaussian noise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추가하는 분포와 모델이 </a:t>
            </a:r>
            <a:r>
              <a:rPr kumimoji="1" lang="en-US" altLang="ko-KR" dirty="0"/>
              <a:t>noise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걷어내는 분포가 매우 유사해짐</a:t>
            </a:r>
            <a:endParaRPr kumimoji="1" lang="ko-Kore-KR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 txBox="1">
            <a:spLocks noGrp="1"/>
          </p:cNvSpPr>
          <p:nvPr>
            <p:ph type="sldNum" idx="12"/>
          </p:nvPr>
        </p:nvSpPr>
        <p:spPr>
          <a:xfrm>
            <a:off x="9282404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67" name="Google Shape;167;p8"/>
          <p:cNvSpPr txBox="1"/>
          <p:nvPr/>
        </p:nvSpPr>
        <p:spPr>
          <a:xfrm>
            <a:off x="374737" y="348782"/>
            <a:ext cx="9730609" cy="574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Introduction  </a:t>
            </a:r>
            <a:r>
              <a:rPr lang="en-US" sz="18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Structure</a:t>
            </a:r>
            <a:endParaRPr sz="2800" b="1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396520" y="935981"/>
            <a:ext cx="11564250" cy="63358"/>
          </a:xfrm>
          <a:prstGeom prst="rect">
            <a:avLst/>
          </a:prstGeom>
          <a:solidFill>
            <a:srgbClr val="A61C37"/>
          </a:solidFill>
          <a:ln w="12700" cap="flat" cmpd="sng">
            <a:solidFill>
              <a:srgbClr val="A61C3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8"/>
          <p:cNvSpPr txBox="1"/>
          <p:nvPr/>
        </p:nvSpPr>
        <p:spPr>
          <a:xfrm>
            <a:off x="822100" y="3304479"/>
            <a:ext cx="10793637" cy="3139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We propose the first DPM based model toward general medical image segmentation tasks.</a:t>
            </a: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3429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We propose dynamic conditional encoding, which establishes the state-adaptive conditions for each sampling step</a:t>
            </a: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3429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We propose Feature Frequency Parser (FF-parser) to eliminate the negative effect of high-frequency noise component</a:t>
            </a: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3429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SOTA performance on three different medical segmentation tasks with different image modalities</a:t>
            </a:r>
            <a:endParaRPr dirty="0"/>
          </a:p>
          <a:p>
            <a:pPr marL="3429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70" name="Google Shape;170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96371" y="1073253"/>
            <a:ext cx="3795950" cy="21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08775" y="1061800"/>
            <a:ext cx="2311918" cy="21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8"/>
          <p:cNvSpPr txBox="1"/>
          <p:nvPr/>
        </p:nvSpPr>
        <p:spPr>
          <a:xfrm>
            <a:off x="2871475" y="3252000"/>
            <a:ext cx="2841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Dynamic Conditional Encoding</a:t>
            </a:r>
            <a:endParaRPr sz="1100"/>
          </a:p>
        </p:txBody>
      </p:sp>
      <p:sp>
        <p:nvSpPr>
          <p:cNvPr id="173" name="Google Shape;173;p8"/>
          <p:cNvSpPr txBox="1"/>
          <p:nvPr/>
        </p:nvSpPr>
        <p:spPr>
          <a:xfrm>
            <a:off x="7501075" y="3252000"/>
            <a:ext cx="14703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FF-Parser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9" descr="white wall paint with black lin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9748"/>
            <a:ext cx="12191999" cy="6848252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9"/>
          <p:cNvSpPr txBox="1">
            <a:spLocks noGrp="1"/>
          </p:cNvSpPr>
          <p:nvPr>
            <p:ph type="sldNum" idx="12"/>
          </p:nvPr>
        </p:nvSpPr>
        <p:spPr>
          <a:xfrm>
            <a:off x="9282404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81" name="Google Shape;181;p9"/>
          <p:cNvSpPr txBox="1"/>
          <p:nvPr/>
        </p:nvSpPr>
        <p:spPr>
          <a:xfrm>
            <a:off x="2367711" y="941547"/>
            <a:ext cx="3461343" cy="574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Method</a:t>
            </a:r>
            <a:endParaRPr sz="3200" b="1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82" name="Google Shape;182;p9"/>
          <p:cNvSpPr txBox="1"/>
          <p:nvPr/>
        </p:nvSpPr>
        <p:spPr>
          <a:xfrm>
            <a:off x="1898478" y="2280248"/>
            <a:ext cx="9108009" cy="2123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r>
              <a:rPr lang="en-US" sz="6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</a:t>
            </a:r>
            <a:r>
              <a:rPr lang="en-US" sz="4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Dynamic Conditional Encoding</a:t>
            </a:r>
            <a:r>
              <a:rPr lang="en-US" sz="6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	</a:t>
            </a:r>
            <a:endParaRPr sz="66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3" name="Google Shape;183;p9"/>
          <p:cNvSpPr txBox="1"/>
          <p:nvPr/>
        </p:nvSpPr>
        <p:spPr>
          <a:xfrm>
            <a:off x="1898479" y="3429000"/>
            <a:ext cx="9451397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r>
              <a:rPr lang="en-US" sz="6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</a:t>
            </a:r>
            <a:r>
              <a:rPr lang="en-US" sz="3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FF-Parser</a:t>
            </a:r>
            <a:r>
              <a:rPr lang="en-US" sz="6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	</a:t>
            </a:r>
            <a:endParaRPr sz="66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2367711" y="1515874"/>
            <a:ext cx="3461343" cy="45719"/>
          </a:xfrm>
          <a:prstGeom prst="rect">
            <a:avLst/>
          </a:prstGeom>
          <a:solidFill>
            <a:srgbClr val="A61C37"/>
          </a:solidFill>
          <a:ln w="12700" cap="flat" cmpd="sng">
            <a:solidFill>
              <a:srgbClr val="A61C3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"/>
          <p:cNvSpPr/>
          <p:nvPr/>
        </p:nvSpPr>
        <p:spPr>
          <a:xfrm>
            <a:off x="396520" y="935981"/>
            <a:ext cx="11564250" cy="63358"/>
          </a:xfrm>
          <a:prstGeom prst="rect">
            <a:avLst/>
          </a:prstGeom>
          <a:solidFill>
            <a:srgbClr val="A61C37"/>
          </a:solidFill>
          <a:ln w="12700" cap="flat" cmpd="sng">
            <a:solidFill>
              <a:srgbClr val="A61C3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0"/>
          <p:cNvSpPr txBox="1"/>
          <p:nvPr/>
        </p:nvSpPr>
        <p:spPr>
          <a:xfrm>
            <a:off x="374737" y="348782"/>
            <a:ext cx="9730609" cy="574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</a:t>
            </a:r>
            <a:r>
              <a:rPr lang="en-US" sz="27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1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Dynamic Conditional Encoding</a:t>
            </a:r>
            <a:r>
              <a:rPr lang="en-US" sz="21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b="1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0"/>
          <p:cNvSpPr txBox="1"/>
          <p:nvPr/>
        </p:nvSpPr>
        <p:spPr>
          <a:xfrm>
            <a:off x="716756" y="1700711"/>
            <a:ext cx="1075848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In most conditional DPM, the conditional prior will be a unique given information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3" name="Google Shape;193;p10"/>
          <p:cNvSpPr txBox="1"/>
          <p:nvPr/>
        </p:nvSpPr>
        <p:spPr>
          <a:xfrm>
            <a:off x="716756" y="2277693"/>
            <a:ext cx="1075848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Howerer, In medical image segmentation task is notorious for its ambiguous objects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(The lesions or tissues are often hard to discriminate from its background)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94" name="Google Shape;194;p10" descr="손목시계, 사슬이(가) 표시된 사진&#10;&#10;자동 생성된 설명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41575" y="3463112"/>
            <a:ext cx="2407565" cy="2703512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0"/>
          <p:cNvSpPr txBox="1"/>
          <p:nvPr/>
        </p:nvSpPr>
        <p:spPr>
          <a:xfrm>
            <a:off x="3414711" y="6329363"/>
            <a:ext cx="74295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MRI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96" name="Google Shape;196;p10" descr="어두운, 심벌즈이(가) 표시된 사진&#10;&#10;자동 생성된 설명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93771" y="3625632"/>
            <a:ext cx="3356654" cy="240340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0"/>
          <p:cNvSpPr txBox="1"/>
          <p:nvPr/>
        </p:nvSpPr>
        <p:spPr>
          <a:xfrm>
            <a:off x="7458075" y="6329363"/>
            <a:ext cx="1600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UltraSound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8" name="Google Shape;198;p10"/>
          <p:cNvSpPr txBox="1"/>
          <p:nvPr/>
        </p:nvSpPr>
        <p:spPr>
          <a:xfrm>
            <a:off x="542924" y="1215719"/>
            <a:ext cx="72437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Problems of Medical Image Segmentation on DPM process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"/>
          <p:cNvSpPr/>
          <p:nvPr/>
        </p:nvSpPr>
        <p:spPr>
          <a:xfrm>
            <a:off x="4843661" y="1179830"/>
            <a:ext cx="7117109" cy="554164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5" name="Google Shape;205;p11"/>
          <p:cNvSpPr txBox="1">
            <a:spLocks noGrp="1"/>
          </p:cNvSpPr>
          <p:nvPr>
            <p:ph type="sldNum" idx="12"/>
          </p:nvPr>
        </p:nvSpPr>
        <p:spPr>
          <a:xfrm>
            <a:off x="9282404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206" name="Google Shape;206;p11"/>
          <p:cNvSpPr txBox="1"/>
          <p:nvPr/>
        </p:nvSpPr>
        <p:spPr>
          <a:xfrm>
            <a:off x="374737" y="348782"/>
            <a:ext cx="9730609" cy="574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</a:t>
            </a:r>
            <a:r>
              <a:rPr lang="en-US" sz="27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1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Dynamic Conditional Encoding</a:t>
            </a:r>
            <a:r>
              <a:rPr lang="en-US" sz="21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b="1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396520" y="935981"/>
            <a:ext cx="11564250" cy="63358"/>
          </a:xfrm>
          <a:prstGeom prst="rect">
            <a:avLst/>
          </a:prstGeom>
          <a:solidFill>
            <a:srgbClr val="A61C37"/>
          </a:solidFill>
          <a:ln w="12700" cap="flat" cmpd="sng">
            <a:solidFill>
              <a:srgbClr val="A61C3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8" name="Google Shape;208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82742" y="1179830"/>
            <a:ext cx="6755130" cy="1102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82742" y="2655081"/>
            <a:ext cx="7078028" cy="40225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0" name="Google Shape;210;p11"/>
          <p:cNvCxnSpPr/>
          <p:nvPr/>
        </p:nvCxnSpPr>
        <p:spPr>
          <a:xfrm rot="10800000" flipH="1">
            <a:off x="4882742" y="2190873"/>
            <a:ext cx="3211830" cy="46052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11" name="Google Shape;211;p11"/>
          <p:cNvCxnSpPr/>
          <p:nvPr/>
        </p:nvCxnSpPr>
        <p:spPr>
          <a:xfrm rot="10800000">
            <a:off x="8460332" y="2190873"/>
            <a:ext cx="3500438" cy="46052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2" name="Google Shape;212;p11"/>
          <p:cNvSpPr/>
          <p:nvPr/>
        </p:nvSpPr>
        <p:spPr>
          <a:xfrm>
            <a:off x="8117149" y="1494890"/>
            <a:ext cx="286316" cy="647823"/>
          </a:xfrm>
          <a:prstGeom prst="rect">
            <a:avLst/>
          </a:prstGeom>
          <a:solidFill>
            <a:srgbClr val="FFC000">
              <a:alpha val="15294"/>
            </a:srgbClr>
          </a:solidFill>
          <a:ln w="1270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13" name="Google Shape;213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8701" y="2512645"/>
            <a:ext cx="4481214" cy="46052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1"/>
          <p:cNvSpPr txBox="1"/>
          <p:nvPr/>
        </p:nvSpPr>
        <p:spPr>
          <a:xfrm>
            <a:off x="231230" y="5171479"/>
            <a:ext cx="4612431" cy="133773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822" t="-1886" b="-471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215" name="Google Shape;215;p11"/>
          <p:cNvSpPr txBox="1"/>
          <p:nvPr/>
        </p:nvSpPr>
        <p:spPr>
          <a:xfrm>
            <a:off x="231230" y="2086257"/>
            <a:ext cx="43159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Architecture : U-Net (from vanilla DPM)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6" name="Google Shape;216;p11"/>
          <p:cNvSpPr txBox="1"/>
          <p:nvPr/>
        </p:nvSpPr>
        <p:spPr>
          <a:xfrm>
            <a:off x="100013" y="1547499"/>
            <a:ext cx="24860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Details</a:t>
            </a:r>
            <a:endParaRPr/>
          </a:p>
        </p:txBody>
      </p:sp>
      <p:pic>
        <p:nvPicPr>
          <p:cNvPr id="217" name="Google Shape;217;p1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151" y="3128332"/>
            <a:ext cx="3500224" cy="1927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"/>
          <p:cNvSpPr/>
          <p:nvPr/>
        </p:nvSpPr>
        <p:spPr>
          <a:xfrm>
            <a:off x="4843661" y="1179830"/>
            <a:ext cx="7117109" cy="554164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4" name="Google Shape;224;p12"/>
          <p:cNvSpPr txBox="1">
            <a:spLocks noGrp="1"/>
          </p:cNvSpPr>
          <p:nvPr>
            <p:ph type="sldNum" idx="12"/>
          </p:nvPr>
        </p:nvSpPr>
        <p:spPr>
          <a:xfrm>
            <a:off x="9282404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225" name="Google Shape;225;p12"/>
          <p:cNvSpPr txBox="1"/>
          <p:nvPr/>
        </p:nvSpPr>
        <p:spPr>
          <a:xfrm>
            <a:off x="374737" y="348782"/>
            <a:ext cx="9730609" cy="574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</a:t>
            </a:r>
            <a:r>
              <a:rPr lang="en-US" sz="27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1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Dynamic Conditional Encoding</a:t>
            </a:r>
            <a:r>
              <a:rPr lang="en-US" sz="21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b="1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396520" y="935981"/>
            <a:ext cx="11564250" cy="63358"/>
          </a:xfrm>
          <a:prstGeom prst="rect">
            <a:avLst/>
          </a:prstGeom>
          <a:solidFill>
            <a:srgbClr val="A61C37"/>
          </a:solidFill>
          <a:ln w="12700" cap="flat" cmpd="sng">
            <a:solidFill>
              <a:srgbClr val="A61C3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7" name="Google Shape;227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82742" y="1179830"/>
            <a:ext cx="6755130" cy="1102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82742" y="2655081"/>
            <a:ext cx="7078028" cy="40225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9" name="Google Shape;229;p12"/>
          <p:cNvCxnSpPr/>
          <p:nvPr/>
        </p:nvCxnSpPr>
        <p:spPr>
          <a:xfrm rot="10800000" flipH="1">
            <a:off x="4882742" y="2190873"/>
            <a:ext cx="3211830" cy="46052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30" name="Google Shape;230;p12"/>
          <p:cNvCxnSpPr/>
          <p:nvPr/>
        </p:nvCxnSpPr>
        <p:spPr>
          <a:xfrm rot="10800000">
            <a:off x="8460332" y="2190873"/>
            <a:ext cx="3500438" cy="46052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1" name="Google Shape;231;p12"/>
          <p:cNvSpPr/>
          <p:nvPr/>
        </p:nvSpPr>
        <p:spPr>
          <a:xfrm>
            <a:off x="8117149" y="1494890"/>
            <a:ext cx="286316" cy="647823"/>
          </a:xfrm>
          <a:prstGeom prst="rect">
            <a:avLst/>
          </a:prstGeom>
          <a:solidFill>
            <a:srgbClr val="FFC000">
              <a:alpha val="15294"/>
            </a:srgbClr>
          </a:solidFill>
          <a:ln w="1270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2" name="Google Shape;232;p12"/>
          <p:cNvSpPr txBox="1"/>
          <p:nvPr/>
        </p:nvSpPr>
        <p:spPr>
          <a:xfrm>
            <a:off x="231230" y="5171479"/>
            <a:ext cx="4612431" cy="133773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822" t="-1886" b="-471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233" name="Google Shape;233;p12"/>
          <p:cNvSpPr txBox="1"/>
          <p:nvPr/>
        </p:nvSpPr>
        <p:spPr>
          <a:xfrm>
            <a:off x="100013" y="1547499"/>
            <a:ext cx="24860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Details</a:t>
            </a:r>
            <a:endParaRPr/>
          </a:p>
        </p:txBody>
      </p:sp>
      <p:sp>
        <p:nvSpPr>
          <p:cNvPr id="234" name="Google Shape;234;p12"/>
          <p:cNvSpPr/>
          <p:nvPr/>
        </p:nvSpPr>
        <p:spPr>
          <a:xfrm>
            <a:off x="133747" y="2567401"/>
            <a:ext cx="4655195" cy="253164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35" name="Google Shape;235;p12"/>
          <p:cNvPicPr preferRelativeResize="0"/>
          <p:nvPr/>
        </p:nvPicPr>
        <p:blipFill rotWithShape="1">
          <a:blip r:embed="rId6">
            <a:alphaModFix/>
          </a:blip>
          <a:srcRect l="33683" t="989" r="17825" b="1637"/>
          <a:stretch/>
        </p:blipFill>
        <p:spPr>
          <a:xfrm>
            <a:off x="231230" y="2651394"/>
            <a:ext cx="2172964" cy="448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20737" y="2016807"/>
            <a:ext cx="4481214" cy="46052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2"/>
          <p:cNvSpPr txBox="1"/>
          <p:nvPr/>
        </p:nvSpPr>
        <p:spPr>
          <a:xfrm>
            <a:off x="175977" y="3107809"/>
            <a:ext cx="465519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입력데이터와 이전 노이즈가 낀 Segmentation Mask 와 중요한 부분을 고려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38" name="Google Shape;238;p12"/>
          <p:cNvPicPr preferRelativeResize="0"/>
          <p:nvPr/>
        </p:nvPicPr>
        <p:blipFill rotWithShape="1">
          <a:blip r:embed="rId6">
            <a:alphaModFix/>
          </a:blip>
          <a:srcRect l="33102" b="-6358"/>
          <a:stretch/>
        </p:blipFill>
        <p:spPr>
          <a:xfrm>
            <a:off x="190263" y="3827245"/>
            <a:ext cx="2997845" cy="489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2"/>
          <p:cNvSpPr txBox="1"/>
          <p:nvPr/>
        </p:nvSpPr>
        <p:spPr>
          <a:xfrm>
            <a:off x="175977" y="4305089"/>
            <a:ext cx="465519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입력 데이터 피쳐에서 중요한 부분을 얼마나 남길지 연산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0" name="Google Shape;240;p12"/>
          <p:cNvSpPr/>
          <p:nvPr/>
        </p:nvSpPr>
        <p:spPr>
          <a:xfrm>
            <a:off x="2461344" y="3826569"/>
            <a:ext cx="849791" cy="473321"/>
          </a:xfrm>
          <a:prstGeom prst="rect">
            <a:avLst/>
          </a:prstGeom>
          <a:noFill/>
          <a:ln w="349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3"/>
          <p:cNvSpPr/>
          <p:nvPr/>
        </p:nvSpPr>
        <p:spPr>
          <a:xfrm>
            <a:off x="6564018" y="1641395"/>
            <a:ext cx="5205412" cy="44879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7" name="Google Shape;247;p13"/>
          <p:cNvSpPr txBox="1">
            <a:spLocks noGrp="1"/>
          </p:cNvSpPr>
          <p:nvPr>
            <p:ph type="sldNum" idx="12"/>
          </p:nvPr>
        </p:nvSpPr>
        <p:spPr>
          <a:xfrm>
            <a:off x="9282404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248" name="Google Shape;248;p13"/>
          <p:cNvSpPr/>
          <p:nvPr/>
        </p:nvSpPr>
        <p:spPr>
          <a:xfrm>
            <a:off x="396520" y="935981"/>
            <a:ext cx="11564250" cy="63358"/>
          </a:xfrm>
          <a:prstGeom prst="rect">
            <a:avLst/>
          </a:prstGeom>
          <a:solidFill>
            <a:srgbClr val="A61C37"/>
          </a:solidFill>
          <a:ln w="12700" cap="flat" cmpd="sng">
            <a:solidFill>
              <a:srgbClr val="A61C3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3"/>
          <p:cNvSpPr txBox="1"/>
          <p:nvPr/>
        </p:nvSpPr>
        <p:spPr>
          <a:xfrm>
            <a:off x="374737" y="348782"/>
            <a:ext cx="9730609" cy="574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</a:t>
            </a:r>
            <a:r>
              <a:rPr lang="en-US" sz="27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1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Dynamic Conditional Encoding</a:t>
            </a:r>
            <a:r>
              <a:rPr lang="en-US" sz="21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b="1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3"/>
          <p:cNvSpPr txBox="1"/>
          <p:nvPr/>
        </p:nvSpPr>
        <p:spPr>
          <a:xfrm>
            <a:off x="557213" y="1157288"/>
            <a:ext cx="312896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Another specific problem</a:t>
            </a:r>
            <a:endParaRPr/>
          </a:p>
        </p:txBody>
      </p:sp>
      <p:pic>
        <p:nvPicPr>
          <p:cNvPr id="251" name="Google Shape;251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11645" y="3046493"/>
            <a:ext cx="2667000" cy="30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3"/>
          <p:cNvSpPr/>
          <p:nvPr/>
        </p:nvSpPr>
        <p:spPr>
          <a:xfrm>
            <a:off x="300049" y="5383872"/>
            <a:ext cx="2667000" cy="751411"/>
          </a:xfrm>
          <a:prstGeom prst="rect">
            <a:avLst/>
          </a:prstGeom>
          <a:solidFill>
            <a:srgbClr val="262626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segmentation mask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(With high frequency)</a:t>
            </a:r>
            <a:endParaRPr sz="1800" b="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53" name="Google Shape;253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64018" y="1687392"/>
            <a:ext cx="1411932" cy="406466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3"/>
          <p:cNvSpPr/>
          <p:nvPr/>
        </p:nvSpPr>
        <p:spPr>
          <a:xfrm>
            <a:off x="8053878" y="5142595"/>
            <a:ext cx="2006906" cy="200288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C00000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55" name="Google Shape;255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36735" y="5507496"/>
            <a:ext cx="4481214" cy="46052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3"/>
          <p:cNvSpPr/>
          <p:nvPr/>
        </p:nvSpPr>
        <p:spPr>
          <a:xfrm>
            <a:off x="3181495" y="4944352"/>
            <a:ext cx="181220" cy="954244"/>
          </a:xfrm>
          <a:prstGeom prst="rightArrow">
            <a:avLst>
              <a:gd name="adj1" fmla="val 50000"/>
              <a:gd name="adj2" fmla="val 10899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7" name="Google Shape;257;p13"/>
          <p:cNvSpPr txBox="1"/>
          <p:nvPr/>
        </p:nvSpPr>
        <p:spPr>
          <a:xfrm>
            <a:off x="571500" y="1641395"/>
            <a:ext cx="584358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The negative effects of high-frequency components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58" name="Google Shape;258;p1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70961" y="2708988"/>
            <a:ext cx="2574322" cy="441312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3"/>
          <p:cNvSpPr/>
          <p:nvPr/>
        </p:nvSpPr>
        <p:spPr>
          <a:xfrm>
            <a:off x="3425919" y="3329752"/>
            <a:ext cx="2223698" cy="1139192"/>
          </a:xfrm>
          <a:prstGeom prst="rect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60" name="Google Shape;260;p1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70960" y="3573489"/>
            <a:ext cx="1867803" cy="477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1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870960" y="4475739"/>
            <a:ext cx="1845487" cy="441312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3"/>
          <p:cNvSpPr txBox="1"/>
          <p:nvPr/>
        </p:nvSpPr>
        <p:spPr>
          <a:xfrm>
            <a:off x="6564018" y="2332628"/>
            <a:ext cx="249331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2D FFT</a:t>
            </a:r>
            <a:endParaRPr/>
          </a:p>
        </p:txBody>
      </p:sp>
      <p:sp>
        <p:nvSpPr>
          <p:cNvPr id="263" name="Google Shape;263;p13"/>
          <p:cNvSpPr txBox="1"/>
          <p:nvPr/>
        </p:nvSpPr>
        <p:spPr>
          <a:xfrm>
            <a:off x="6564018" y="3141459"/>
            <a:ext cx="317848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* Multiplying Attentive Map</a:t>
            </a:r>
            <a:endParaRPr/>
          </a:p>
        </p:txBody>
      </p:sp>
      <p:sp>
        <p:nvSpPr>
          <p:cNvPr id="264" name="Google Shape;264;p13"/>
          <p:cNvSpPr txBox="1"/>
          <p:nvPr/>
        </p:nvSpPr>
        <p:spPr>
          <a:xfrm>
            <a:off x="6564018" y="4058327"/>
            <a:ext cx="249331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Inverse FFT</a:t>
            </a:r>
            <a:endParaRPr/>
          </a:p>
        </p:txBody>
      </p:sp>
      <p:sp>
        <p:nvSpPr>
          <p:cNvPr id="265" name="Google Shape;265;p13"/>
          <p:cNvSpPr txBox="1"/>
          <p:nvPr/>
        </p:nvSpPr>
        <p:spPr>
          <a:xfrm>
            <a:off x="9356525" y="3636404"/>
            <a:ext cx="28146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A is parameterized</a:t>
            </a: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66" name="Google Shape;266;p13" descr="텍스트이(가) 표시된 사진&#10;&#10;자동 생성된 설명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7442" y="3098202"/>
            <a:ext cx="1631903" cy="21976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4"/>
          <p:cNvSpPr txBox="1">
            <a:spLocks noGrp="1"/>
          </p:cNvSpPr>
          <p:nvPr>
            <p:ph type="sldNum" idx="12"/>
          </p:nvPr>
        </p:nvSpPr>
        <p:spPr>
          <a:xfrm>
            <a:off x="9282404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273" name="Google Shape;273;p14"/>
          <p:cNvSpPr/>
          <p:nvPr/>
        </p:nvSpPr>
        <p:spPr>
          <a:xfrm>
            <a:off x="396520" y="935981"/>
            <a:ext cx="11564250" cy="63358"/>
          </a:xfrm>
          <a:prstGeom prst="rect">
            <a:avLst/>
          </a:prstGeom>
          <a:solidFill>
            <a:srgbClr val="A61C37"/>
          </a:solidFill>
          <a:ln w="12700" cap="flat" cmpd="sng">
            <a:solidFill>
              <a:srgbClr val="A61C3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4"/>
          <p:cNvSpPr txBox="1"/>
          <p:nvPr/>
        </p:nvSpPr>
        <p:spPr>
          <a:xfrm>
            <a:off x="374737" y="348782"/>
            <a:ext cx="9730609" cy="574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</a:t>
            </a:r>
            <a:r>
              <a:rPr lang="en-US" sz="27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1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FF-Parser</a:t>
            </a:r>
            <a:endParaRPr sz="1800" b="1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5" name="Google Shape;275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6519" y="1383579"/>
            <a:ext cx="5361343" cy="505595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246;p13">
            <a:extLst>
              <a:ext uri="{FF2B5EF4-FFF2-40B4-BE49-F238E27FC236}">
                <a16:creationId xmlns:a16="http://schemas.microsoft.com/office/drawing/2014/main" id="{AF06D8CB-2137-55BF-9009-86505A40E1F6}"/>
              </a:ext>
            </a:extLst>
          </p:cNvPr>
          <p:cNvSpPr/>
          <p:nvPr/>
        </p:nvSpPr>
        <p:spPr>
          <a:xfrm>
            <a:off x="6564018" y="1641395"/>
            <a:ext cx="5205412" cy="44879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8" name="Google Shape;253;p13">
            <a:extLst>
              <a:ext uri="{FF2B5EF4-FFF2-40B4-BE49-F238E27FC236}">
                <a16:creationId xmlns:a16="http://schemas.microsoft.com/office/drawing/2014/main" id="{328EAF6A-C621-7D22-EADC-7F5BCC11888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64018" y="1687392"/>
            <a:ext cx="1411932" cy="40646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254;p13">
            <a:extLst>
              <a:ext uri="{FF2B5EF4-FFF2-40B4-BE49-F238E27FC236}">
                <a16:creationId xmlns:a16="http://schemas.microsoft.com/office/drawing/2014/main" id="{E7FC0C1C-0CFA-D338-7F53-B3F50ADB0B0D}"/>
              </a:ext>
            </a:extLst>
          </p:cNvPr>
          <p:cNvSpPr/>
          <p:nvPr/>
        </p:nvSpPr>
        <p:spPr>
          <a:xfrm>
            <a:off x="8053878" y="5142595"/>
            <a:ext cx="2006906" cy="200288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C00000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0" name="Google Shape;255;p13">
            <a:extLst>
              <a:ext uri="{FF2B5EF4-FFF2-40B4-BE49-F238E27FC236}">
                <a16:creationId xmlns:a16="http://schemas.microsoft.com/office/drawing/2014/main" id="{4CCB1E0C-DDCA-12DE-635C-B2A233A872C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36735" y="5507496"/>
            <a:ext cx="4481214" cy="460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258;p13">
            <a:extLst>
              <a:ext uri="{FF2B5EF4-FFF2-40B4-BE49-F238E27FC236}">
                <a16:creationId xmlns:a16="http://schemas.microsoft.com/office/drawing/2014/main" id="{D839A5F6-58E8-3EED-26CC-7E1D92F83FE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70961" y="2708988"/>
            <a:ext cx="2574322" cy="441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260;p13">
            <a:extLst>
              <a:ext uri="{FF2B5EF4-FFF2-40B4-BE49-F238E27FC236}">
                <a16:creationId xmlns:a16="http://schemas.microsoft.com/office/drawing/2014/main" id="{B608FDF7-DAEE-EE4D-7BB1-A9E3FC01BA8B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70960" y="3573489"/>
            <a:ext cx="1867803" cy="477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261;p13">
            <a:extLst>
              <a:ext uri="{FF2B5EF4-FFF2-40B4-BE49-F238E27FC236}">
                <a16:creationId xmlns:a16="http://schemas.microsoft.com/office/drawing/2014/main" id="{976EF5D0-ADE7-3ACF-2FCD-BD2866729813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870960" y="4475739"/>
            <a:ext cx="1845487" cy="441312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262;p13">
            <a:extLst>
              <a:ext uri="{FF2B5EF4-FFF2-40B4-BE49-F238E27FC236}">
                <a16:creationId xmlns:a16="http://schemas.microsoft.com/office/drawing/2014/main" id="{4748582D-C072-2D86-8AD3-8F217CA868BB}"/>
              </a:ext>
            </a:extLst>
          </p:cNvPr>
          <p:cNvSpPr txBox="1"/>
          <p:nvPr/>
        </p:nvSpPr>
        <p:spPr>
          <a:xfrm>
            <a:off x="6564018" y="2332628"/>
            <a:ext cx="249331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2D FFT</a:t>
            </a:r>
            <a:endParaRPr/>
          </a:p>
        </p:txBody>
      </p:sp>
      <p:sp>
        <p:nvSpPr>
          <p:cNvPr id="15" name="Google Shape;263;p13">
            <a:extLst>
              <a:ext uri="{FF2B5EF4-FFF2-40B4-BE49-F238E27FC236}">
                <a16:creationId xmlns:a16="http://schemas.microsoft.com/office/drawing/2014/main" id="{473591B9-6569-FD9C-AA4D-93B067569F9E}"/>
              </a:ext>
            </a:extLst>
          </p:cNvPr>
          <p:cNvSpPr txBox="1"/>
          <p:nvPr/>
        </p:nvSpPr>
        <p:spPr>
          <a:xfrm>
            <a:off x="6564018" y="3141459"/>
            <a:ext cx="317848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* Multiplying Attentive Map</a:t>
            </a:r>
            <a:endParaRPr/>
          </a:p>
        </p:txBody>
      </p:sp>
      <p:sp>
        <p:nvSpPr>
          <p:cNvPr id="16" name="Google Shape;264;p13">
            <a:extLst>
              <a:ext uri="{FF2B5EF4-FFF2-40B4-BE49-F238E27FC236}">
                <a16:creationId xmlns:a16="http://schemas.microsoft.com/office/drawing/2014/main" id="{5A49E18E-FD99-9B99-D0AA-8C4260AADDF5}"/>
              </a:ext>
            </a:extLst>
          </p:cNvPr>
          <p:cNvSpPr txBox="1"/>
          <p:nvPr/>
        </p:nvSpPr>
        <p:spPr>
          <a:xfrm>
            <a:off x="6564018" y="4058327"/>
            <a:ext cx="249331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Inverse FFT</a:t>
            </a:r>
            <a:endParaRPr/>
          </a:p>
        </p:txBody>
      </p:sp>
      <p:sp>
        <p:nvSpPr>
          <p:cNvPr id="17" name="Google Shape;265;p13">
            <a:extLst>
              <a:ext uri="{FF2B5EF4-FFF2-40B4-BE49-F238E27FC236}">
                <a16:creationId xmlns:a16="http://schemas.microsoft.com/office/drawing/2014/main" id="{2C420FFC-2BEE-6347-3271-81D20D0E6C02}"/>
              </a:ext>
            </a:extLst>
          </p:cNvPr>
          <p:cNvSpPr txBox="1"/>
          <p:nvPr/>
        </p:nvSpPr>
        <p:spPr>
          <a:xfrm>
            <a:off x="9356525" y="3636404"/>
            <a:ext cx="28146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A is parameterized</a:t>
            </a: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5"/>
          <p:cNvSpPr txBox="1">
            <a:spLocks noGrp="1"/>
          </p:cNvSpPr>
          <p:nvPr>
            <p:ph type="sldNum" idx="12"/>
          </p:nvPr>
        </p:nvSpPr>
        <p:spPr>
          <a:xfrm>
            <a:off x="9282404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282" name="Google Shape;282;p15"/>
          <p:cNvSpPr/>
          <p:nvPr/>
        </p:nvSpPr>
        <p:spPr>
          <a:xfrm>
            <a:off x="396520" y="935981"/>
            <a:ext cx="11564250" cy="63358"/>
          </a:xfrm>
          <a:prstGeom prst="rect">
            <a:avLst/>
          </a:prstGeom>
          <a:solidFill>
            <a:srgbClr val="A61C37"/>
          </a:solidFill>
          <a:ln w="12700" cap="flat" cmpd="sng">
            <a:solidFill>
              <a:srgbClr val="A61C3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5"/>
          <p:cNvSpPr txBox="1"/>
          <p:nvPr/>
        </p:nvSpPr>
        <p:spPr>
          <a:xfrm>
            <a:off x="374737" y="348782"/>
            <a:ext cx="9730609" cy="574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</a:t>
            </a:r>
            <a:r>
              <a:rPr lang="en-US" sz="27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1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FF-Parser</a:t>
            </a:r>
            <a:endParaRPr sz="1800" b="1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5"/>
          <p:cNvSpPr txBox="1"/>
          <p:nvPr/>
        </p:nvSpPr>
        <p:spPr>
          <a:xfrm>
            <a:off x="557213" y="1157288"/>
            <a:ext cx="312896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Filtering high frequency</a:t>
            </a:r>
            <a:endParaRPr/>
          </a:p>
        </p:txBody>
      </p:sp>
      <p:pic>
        <p:nvPicPr>
          <p:cNvPr id="285" name="Google Shape;285;p15" descr="텍스트이(가) 표시된 사진&#10;&#10;자동 생성된 설명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4737" y="1679489"/>
            <a:ext cx="6985858" cy="4829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15" descr="텍스트, 옅은이(가) 표시된 사진&#10;&#10;자동 생성된 설명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82204" y="1478876"/>
            <a:ext cx="4135059" cy="2049858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5"/>
          <p:cNvSpPr txBox="1"/>
          <p:nvPr/>
        </p:nvSpPr>
        <p:spPr>
          <a:xfrm>
            <a:off x="8158163" y="3528734"/>
            <a:ext cx="29289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REFUGE-2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88" name="Google Shape;288;p15" descr="텍스트, 사람, 기어이(가) 표시된 사진&#10;&#10;자동 생성된 설명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82204" y="3909536"/>
            <a:ext cx="1976437" cy="2502902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5"/>
          <p:cNvSpPr txBox="1"/>
          <p:nvPr/>
        </p:nvSpPr>
        <p:spPr>
          <a:xfrm>
            <a:off x="8292408" y="6488668"/>
            <a:ext cx="14573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BraTs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90" name="Google Shape;290;p15" descr="텍스트, 모니터, 화면, 스크린샷이(가) 표시된 사진&#10;&#10;자동 생성된 설명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881218" y="3655440"/>
            <a:ext cx="1830717" cy="2795113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5"/>
          <p:cNvSpPr txBox="1"/>
          <p:nvPr/>
        </p:nvSpPr>
        <p:spPr>
          <a:xfrm>
            <a:off x="10373318" y="6488668"/>
            <a:ext cx="1028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DDTI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2" name="Google Shape;292;p15"/>
          <p:cNvSpPr txBox="1"/>
          <p:nvPr/>
        </p:nvSpPr>
        <p:spPr>
          <a:xfrm>
            <a:off x="7672388" y="1052269"/>
            <a:ext cx="2600325" cy="373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* Medical Datasets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7"/>
          <p:cNvSpPr txBox="1">
            <a:spLocks noGrp="1"/>
          </p:cNvSpPr>
          <p:nvPr>
            <p:ph type="sldNum" idx="12"/>
          </p:nvPr>
        </p:nvSpPr>
        <p:spPr>
          <a:xfrm>
            <a:off x="9282404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306" name="Google Shape;306;p17"/>
          <p:cNvSpPr txBox="1"/>
          <p:nvPr/>
        </p:nvSpPr>
        <p:spPr>
          <a:xfrm>
            <a:off x="374737" y="372161"/>
            <a:ext cx="9730609" cy="574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 lnSpcReduction="2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algun Gothic"/>
              <a:buNone/>
            </a:pPr>
            <a:endParaRPr sz="4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7" name="Google Shape;307;p17" descr="white wall paint with black lin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9748"/>
            <a:ext cx="12191999" cy="6848252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7"/>
          <p:cNvSpPr/>
          <p:nvPr/>
        </p:nvSpPr>
        <p:spPr>
          <a:xfrm rot="10800000" flipH="1">
            <a:off x="4614428" y="3575150"/>
            <a:ext cx="2921591" cy="45719"/>
          </a:xfrm>
          <a:prstGeom prst="rect">
            <a:avLst/>
          </a:prstGeom>
          <a:solidFill>
            <a:srgbClr val="A61C37"/>
          </a:solidFill>
          <a:ln w="12700" cap="flat" cmpd="sng">
            <a:solidFill>
              <a:srgbClr val="A61C3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7"/>
          <p:cNvSpPr txBox="1"/>
          <p:nvPr/>
        </p:nvSpPr>
        <p:spPr>
          <a:xfrm>
            <a:off x="5179590" y="2891186"/>
            <a:ext cx="3425444" cy="574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 &amp; A</a:t>
            </a:r>
            <a:endParaRPr sz="4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18" descr="white wall paint with black lin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9748"/>
            <a:ext cx="12191999" cy="6848252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8"/>
          <p:cNvSpPr txBox="1">
            <a:spLocks noGrp="1"/>
          </p:cNvSpPr>
          <p:nvPr>
            <p:ph type="sldNum" idx="12"/>
          </p:nvPr>
        </p:nvSpPr>
        <p:spPr>
          <a:xfrm>
            <a:off x="9282404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317" name="Google Shape;317;p18"/>
          <p:cNvSpPr txBox="1"/>
          <p:nvPr/>
        </p:nvSpPr>
        <p:spPr>
          <a:xfrm>
            <a:off x="2367710" y="883041"/>
            <a:ext cx="9730609" cy="574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 Black"/>
              <a:buNone/>
            </a:pPr>
            <a:r>
              <a:rPr lang="en-US" sz="3600" b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Experiments</a:t>
            </a:r>
            <a:endParaRPr sz="3600" b="1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18" name="Google Shape;318;p18"/>
          <p:cNvSpPr txBox="1"/>
          <p:nvPr/>
        </p:nvSpPr>
        <p:spPr>
          <a:xfrm>
            <a:off x="2139111" y="1776663"/>
            <a:ext cx="840081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r>
              <a:rPr lang="en-US" sz="6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</a:t>
            </a: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Dataset</a:t>
            </a:r>
            <a:endParaRPr sz="66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0" name="Google Shape;320;p18"/>
          <p:cNvSpPr txBox="1"/>
          <p:nvPr/>
        </p:nvSpPr>
        <p:spPr>
          <a:xfrm>
            <a:off x="2139111" y="2907181"/>
            <a:ext cx="8965014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r>
              <a:rPr lang="en-US" sz="6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</a:t>
            </a:r>
            <a:r>
              <a:rPr lang="en-US" sz="4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Main Results</a:t>
            </a:r>
            <a:r>
              <a:rPr lang="en-US" sz="6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sz="66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8"/>
          <p:cNvSpPr/>
          <p:nvPr/>
        </p:nvSpPr>
        <p:spPr>
          <a:xfrm>
            <a:off x="2437278" y="1523653"/>
            <a:ext cx="4795737" cy="45719"/>
          </a:xfrm>
          <a:prstGeom prst="rect">
            <a:avLst/>
          </a:prstGeom>
          <a:solidFill>
            <a:srgbClr val="A61C37"/>
          </a:solidFill>
          <a:ln w="12700" cap="flat" cmpd="sng">
            <a:solidFill>
              <a:srgbClr val="A61C3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2" name="Google Shape;322;p18"/>
          <p:cNvSpPr txBox="1"/>
          <p:nvPr/>
        </p:nvSpPr>
        <p:spPr>
          <a:xfrm>
            <a:off x="2139111" y="4117834"/>
            <a:ext cx="8965014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r>
              <a:rPr lang="en-US" sz="6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</a:t>
            </a:r>
            <a:r>
              <a:rPr lang="en-US" sz="4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Ablation Study</a:t>
            </a:r>
            <a:endParaRPr sz="66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9"/>
          <p:cNvSpPr txBox="1">
            <a:spLocks noGrp="1"/>
          </p:cNvSpPr>
          <p:nvPr>
            <p:ph type="sldNum" idx="12"/>
          </p:nvPr>
        </p:nvSpPr>
        <p:spPr>
          <a:xfrm>
            <a:off x="9282404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329" name="Google Shape;329;p19"/>
          <p:cNvSpPr txBox="1"/>
          <p:nvPr/>
        </p:nvSpPr>
        <p:spPr>
          <a:xfrm>
            <a:off x="374737" y="348782"/>
            <a:ext cx="9730609" cy="574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Experiments </a:t>
            </a:r>
            <a:r>
              <a:rPr lang="en-US" sz="18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Datasets</a:t>
            </a:r>
            <a:endParaRPr sz="2700" b="1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9"/>
          <p:cNvSpPr/>
          <p:nvPr/>
        </p:nvSpPr>
        <p:spPr>
          <a:xfrm>
            <a:off x="396520" y="935981"/>
            <a:ext cx="11564250" cy="63358"/>
          </a:xfrm>
          <a:prstGeom prst="rect">
            <a:avLst/>
          </a:prstGeom>
          <a:solidFill>
            <a:srgbClr val="A61C37"/>
          </a:solidFill>
          <a:ln w="12700" cap="flat" cmpd="sng">
            <a:solidFill>
              <a:srgbClr val="A61C3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1" name="Google Shape;331;p19" descr="텍스트, 옅은이(가) 표시된 사진&#10;&#10;자동 생성된 설명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0349" y="1815198"/>
            <a:ext cx="4743031" cy="2351246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19"/>
          <p:cNvSpPr txBox="1"/>
          <p:nvPr/>
        </p:nvSpPr>
        <p:spPr>
          <a:xfrm>
            <a:off x="814586" y="4357409"/>
            <a:ext cx="4250709" cy="1415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REFUGE-2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dk1"/>
              </a:solidFill>
              <a:latin typeface="Malgun Gothic"/>
              <a:ea typeface="Malgun Gothic"/>
              <a:sym typeface="Malgun Gothic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1200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 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samples</a:t>
            </a:r>
          </a:p>
          <a:p>
            <a:r>
              <a:rPr lang="en" altLang="ko-Kore-KR" sz="1800" b="0" i="0" dirty="0">
                <a:solidFill>
                  <a:srgbClr val="212529"/>
                </a:solidFill>
                <a:effectLst/>
                <a:latin typeface="Lato" panose="020F0502020204030203" pitchFamily="34" charset="0"/>
              </a:rPr>
              <a:t>Segmentation of Optic Disc and Cup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endParaRPr dirty="0"/>
          </a:p>
        </p:txBody>
      </p:sp>
      <p:pic>
        <p:nvPicPr>
          <p:cNvPr id="333" name="Google Shape;333;p19" descr="텍스트, 사람, 기어이(가) 표시된 사진&#10;&#10;자동 생성된 설명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85861" y="1739370"/>
            <a:ext cx="1976437" cy="2502902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19"/>
          <p:cNvSpPr txBox="1"/>
          <p:nvPr/>
        </p:nvSpPr>
        <p:spPr>
          <a:xfrm>
            <a:off x="5700149" y="4357409"/>
            <a:ext cx="1976437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BraTs</a:t>
            </a:r>
            <a:endParaRPr lang="en-US"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2000 samples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Brain Tumor MRI dataset</a:t>
            </a: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35" name="Google Shape;335;p19" descr="텍스트, 모니터, 화면, 스크린샷이(가) 표시된 사진&#10;&#10;자동 생성된 설명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84972" y="1739370"/>
            <a:ext cx="1976437" cy="2502902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9"/>
          <p:cNvSpPr txBox="1"/>
          <p:nvPr/>
        </p:nvSpPr>
        <p:spPr>
          <a:xfrm>
            <a:off x="8784971" y="4357409"/>
            <a:ext cx="2928937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DDTI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8046 samples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lang="en" altLang="ko-Kore-KR" sz="1800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Thyroid Ultrasound Images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lang="en-US" altLang="ko-KR" sz="1800" dirty="0">
                <a:solidFill>
                  <a:schemeClr val="tx1"/>
                </a:solidFill>
                <a:latin typeface="arial" panose="020B0604020202020204" pitchFamily="34" charset="0"/>
                <a:ea typeface="Malgun Gothic"/>
                <a:cs typeface="Malgun Gothic"/>
                <a:sym typeface="Malgun Gothic"/>
              </a:rPr>
              <a:t>(</a:t>
            </a:r>
            <a:r>
              <a:rPr lang="ko-KR" altLang="en-US" sz="1800" dirty="0">
                <a:solidFill>
                  <a:schemeClr val="tx1"/>
                </a:solidFill>
                <a:latin typeface="arial" panose="020B0604020202020204" pitchFamily="34" charset="0"/>
                <a:ea typeface="Malgun Gothic"/>
                <a:cs typeface="Malgun Gothic"/>
                <a:sym typeface="Malgun Gothic"/>
              </a:rPr>
              <a:t>갑상선 초음파</a:t>
            </a:r>
            <a:r>
              <a:rPr lang="en-US" altLang="ko-KR" sz="1800" dirty="0">
                <a:solidFill>
                  <a:schemeClr val="tx1"/>
                </a:solidFill>
                <a:latin typeface="arial" panose="020B0604020202020204" pitchFamily="34" charset="0"/>
                <a:ea typeface="Malgun Gothic"/>
                <a:cs typeface="Malgun Gothic"/>
                <a:sym typeface="Malgun Gothic"/>
              </a:rPr>
              <a:t>)</a:t>
            </a:r>
            <a:endParaRPr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1"/>
          <p:cNvSpPr txBox="1">
            <a:spLocks noGrp="1"/>
          </p:cNvSpPr>
          <p:nvPr>
            <p:ph type="sldNum" idx="12"/>
          </p:nvPr>
        </p:nvSpPr>
        <p:spPr>
          <a:xfrm>
            <a:off x="9282404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351" name="Google Shape;351;p21"/>
          <p:cNvSpPr txBox="1"/>
          <p:nvPr/>
        </p:nvSpPr>
        <p:spPr>
          <a:xfrm>
            <a:off x="374737" y="348782"/>
            <a:ext cx="9730609" cy="574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Experiments </a:t>
            </a:r>
            <a:r>
              <a:rPr lang="en-US" sz="18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Main Results</a:t>
            </a:r>
            <a:endParaRPr sz="2700" b="1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1"/>
          <p:cNvSpPr/>
          <p:nvPr/>
        </p:nvSpPr>
        <p:spPr>
          <a:xfrm>
            <a:off x="396520" y="935981"/>
            <a:ext cx="11564250" cy="63358"/>
          </a:xfrm>
          <a:prstGeom prst="rect">
            <a:avLst/>
          </a:prstGeom>
          <a:solidFill>
            <a:srgbClr val="A61C37"/>
          </a:solidFill>
          <a:ln w="12700" cap="flat" cmpd="sng">
            <a:solidFill>
              <a:srgbClr val="A61C3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3" name="Google Shape;353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39595" y="1358501"/>
            <a:ext cx="7675918" cy="49216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2"/>
          <p:cNvSpPr txBox="1">
            <a:spLocks noGrp="1"/>
          </p:cNvSpPr>
          <p:nvPr>
            <p:ph type="sldNum" idx="12"/>
          </p:nvPr>
        </p:nvSpPr>
        <p:spPr>
          <a:xfrm>
            <a:off x="9282404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360" name="Google Shape;360;p22"/>
          <p:cNvSpPr txBox="1"/>
          <p:nvPr/>
        </p:nvSpPr>
        <p:spPr>
          <a:xfrm>
            <a:off x="374737" y="348782"/>
            <a:ext cx="9730609" cy="574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Experiments </a:t>
            </a:r>
            <a:r>
              <a:rPr lang="en-US" sz="18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Ablation Study</a:t>
            </a:r>
            <a:endParaRPr sz="2700" b="1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22"/>
          <p:cNvSpPr/>
          <p:nvPr/>
        </p:nvSpPr>
        <p:spPr>
          <a:xfrm>
            <a:off x="396520" y="935981"/>
            <a:ext cx="11564250" cy="63358"/>
          </a:xfrm>
          <a:prstGeom prst="rect">
            <a:avLst/>
          </a:prstGeom>
          <a:solidFill>
            <a:srgbClr val="A61C37"/>
          </a:solidFill>
          <a:ln w="12700" cap="flat" cmpd="sng">
            <a:solidFill>
              <a:srgbClr val="A61C3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2" name="Google Shape;362;p22" descr="테이블이(가) 표시된 사진&#10;&#10;자동 생성된 설명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2333" y="1642781"/>
            <a:ext cx="9214157" cy="28372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3"/>
          <p:cNvSpPr txBox="1">
            <a:spLocks noGrp="1"/>
          </p:cNvSpPr>
          <p:nvPr>
            <p:ph type="sldNum" idx="12"/>
          </p:nvPr>
        </p:nvSpPr>
        <p:spPr>
          <a:xfrm>
            <a:off x="9282404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369" name="Google Shape;369;p23"/>
          <p:cNvSpPr txBox="1"/>
          <p:nvPr/>
        </p:nvSpPr>
        <p:spPr>
          <a:xfrm>
            <a:off x="374737" y="348782"/>
            <a:ext cx="9730609" cy="574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sz="2700" b="1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23"/>
          <p:cNvSpPr/>
          <p:nvPr/>
        </p:nvSpPr>
        <p:spPr>
          <a:xfrm>
            <a:off x="396520" y="935981"/>
            <a:ext cx="11564250" cy="63358"/>
          </a:xfrm>
          <a:prstGeom prst="rect">
            <a:avLst/>
          </a:prstGeom>
          <a:solidFill>
            <a:srgbClr val="A61C37"/>
          </a:solidFill>
          <a:ln w="12700" cap="flat" cmpd="sng">
            <a:solidFill>
              <a:srgbClr val="A61C3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3"/>
          <p:cNvSpPr txBox="1"/>
          <p:nvPr/>
        </p:nvSpPr>
        <p:spPr>
          <a:xfrm>
            <a:off x="780626" y="1813989"/>
            <a:ext cx="10796037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000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We provided a scheme to adopt DPM to the t=general medical image segmentation tasks</a:t>
            </a:r>
          </a:p>
          <a:p>
            <a:pPr marL="4000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000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We proposed the dynamic conditional encoding and FF-Parser</a:t>
            </a:r>
          </a:p>
          <a:p>
            <a:pPr marL="4000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000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Out model outperforms previous SOTA</a:t>
            </a:r>
          </a:p>
          <a:p>
            <a:pPr marL="4000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000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The first DPM application in general medical </a:t>
            </a: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image segmentation</a:t>
            </a: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4"/>
          <p:cNvSpPr txBox="1">
            <a:spLocks noGrp="1"/>
          </p:cNvSpPr>
          <p:nvPr>
            <p:ph type="sldNum" idx="12"/>
          </p:nvPr>
        </p:nvSpPr>
        <p:spPr>
          <a:xfrm>
            <a:off x="9282404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377" name="Google Shape;377;p24"/>
          <p:cNvSpPr txBox="1"/>
          <p:nvPr/>
        </p:nvSpPr>
        <p:spPr>
          <a:xfrm>
            <a:off x="374737" y="372161"/>
            <a:ext cx="9730609" cy="574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 lnSpcReduction="2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algun Gothic"/>
              <a:buNone/>
            </a:pPr>
            <a:endParaRPr sz="4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8" name="Google Shape;378;p24" descr="white wall paint with black lin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9748"/>
            <a:ext cx="12191999" cy="6848252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24"/>
          <p:cNvSpPr/>
          <p:nvPr/>
        </p:nvSpPr>
        <p:spPr>
          <a:xfrm rot="10800000" flipH="1">
            <a:off x="4614428" y="3575150"/>
            <a:ext cx="2921591" cy="45719"/>
          </a:xfrm>
          <a:prstGeom prst="rect">
            <a:avLst/>
          </a:prstGeom>
          <a:solidFill>
            <a:srgbClr val="A61C37"/>
          </a:solidFill>
          <a:ln w="12700" cap="flat" cmpd="sng">
            <a:solidFill>
              <a:srgbClr val="A61C3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4"/>
          <p:cNvSpPr txBox="1"/>
          <p:nvPr/>
        </p:nvSpPr>
        <p:spPr>
          <a:xfrm>
            <a:off x="5179590" y="2891186"/>
            <a:ext cx="3425444" cy="574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 &amp; A</a:t>
            </a:r>
            <a:endParaRPr sz="4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801</Words>
  <Application>Microsoft Macintosh PowerPoint</Application>
  <PresentationFormat>와이드스크린</PresentationFormat>
  <Paragraphs>193</Paragraphs>
  <Slides>22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8" baseType="lpstr">
      <vt:lpstr>Arial</vt:lpstr>
      <vt:lpstr>Malgun Gothic</vt:lpstr>
      <vt:lpstr>Arial Black</vt:lpstr>
      <vt:lpstr>Lato</vt:lpstr>
      <vt:lpstr>Arial</vt:lpstr>
      <vt:lpstr>Office 테마</vt:lpstr>
      <vt:lpstr>MedSegDiff: Medical Image Segmentation with Diffusion Probabilistic Model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MedSegDiff: Medical Image Segmentation with Diffusion Probabilistic Model</dc:title>
  <dc:creator>JCdata</dc:creator>
  <cp:lastModifiedBy>Manager8</cp:lastModifiedBy>
  <cp:revision>15</cp:revision>
  <dcterms:created xsi:type="dcterms:W3CDTF">2021-10-28T03:40:47Z</dcterms:created>
  <dcterms:modified xsi:type="dcterms:W3CDTF">2022-11-20T12:10:25Z</dcterms:modified>
</cp:coreProperties>
</file>