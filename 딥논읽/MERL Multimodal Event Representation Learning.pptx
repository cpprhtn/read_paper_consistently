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75" r:id="rId3"/>
    <p:sldId id="271" r:id="rId4"/>
    <p:sldId id="276" r:id="rId5"/>
    <p:sldId id="277" r:id="rId6"/>
    <p:sldId id="278" r:id="rId7"/>
    <p:sldId id="279" r:id="rId8"/>
    <p:sldId id="280" r:id="rId9"/>
    <p:sldId id="291" r:id="rId10"/>
    <p:sldId id="292" r:id="rId11"/>
    <p:sldId id="281" r:id="rId12"/>
    <p:sldId id="293" r:id="rId13"/>
    <p:sldId id="294" r:id="rId14"/>
    <p:sldId id="295" r:id="rId15"/>
    <p:sldId id="296" r:id="rId16"/>
    <p:sldId id="282" r:id="rId17"/>
    <p:sldId id="297" r:id="rId18"/>
    <p:sldId id="283" r:id="rId19"/>
    <p:sldId id="298" r:id="rId20"/>
    <p:sldId id="284" r:id="rId21"/>
    <p:sldId id="285" r:id="rId22"/>
    <p:sldId id="290" r:id="rId23"/>
    <p:sldId id="287" r:id="rId2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3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77" autoAdjust="0"/>
    <p:restoredTop sz="94660"/>
  </p:normalViewPr>
  <p:slideViewPr>
    <p:cSldViewPr snapToGrid="0">
      <p:cViewPr varScale="1">
        <p:scale>
          <a:sx n="47" d="100"/>
          <a:sy n="47" d="100"/>
        </p:scale>
        <p:origin x="43" y="8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16E7D3-9D63-408B-867B-9D95278E98E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105A7C02-159E-41C2-B850-BCDD8B6B4B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616DB69-A68F-4506-9EF5-7C1752963CA7}"/>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5" name="바닥글 개체 틀 4">
            <a:extLst>
              <a:ext uri="{FF2B5EF4-FFF2-40B4-BE49-F238E27FC236}">
                <a16:creationId xmlns:a16="http://schemas.microsoft.com/office/drawing/2014/main" id="{8B8DC3F4-123D-4FFB-9F31-997C1988567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48BD538-8478-447F-AFBE-42F6AB8E6246}"/>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44579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4793A18-859F-4974-BA95-8FADEDA65E9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FA4D384-8C0C-4A96-A7D1-377EE5892F91}"/>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2ADB123-524E-4FF7-B203-DFBEF85B16BD}"/>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5" name="바닥글 개체 틀 4">
            <a:extLst>
              <a:ext uri="{FF2B5EF4-FFF2-40B4-BE49-F238E27FC236}">
                <a16:creationId xmlns:a16="http://schemas.microsoft.com/office/drawing/2014/main" id="{376C5628-A3BC-4D76-B3B3-D49F9319C8D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A37E119-2942-48CB-ACB5-2BE8E384B6B3}"/>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2122161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1BEF8F-89E8-41F9-9D45-99C051BC9AAB}"/>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4F0A9EC-F3C9-4F9C-B0E0-CA71C1DBFC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88BB1901-1D06-4B7E-9E68-335A5B50131E}"/>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5" name="바닥글 개체 틀 4">
            <a:extLst>
              <a:ext uri="{FF2B5EF4-FFF2-40B4-BE49-F238E27FC236}">
                <a16:creationId xmlns:a16="http://schemas.microsoft.com/office/drawing/2014/main" id="{3C0CC9E7-851B-4814-BCA2-7FF0E9A8A7D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3C6193-3A0B-42FD-83F2-A317DC84BD76}"/>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1051402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C5530F2-550D-436F-8A45-1E320541F4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6A9C1F41-E022-4AC7-802F-87FB08522E17}"/>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579A9CA7-D6F2-4563-A744-2AF802BBFA0E}"/>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54B4B575-FC23-44B9-98E0-973FB7C91D6B}"/>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6" name="바닥글 개체 틀 5">
            <a:extLst>
              <a:ext uri="{FF2B5EF4-FFF2-40B4-BE49-F238E27FC236}">
                <a16:creationId xmlns:a16="http://schemas.microsoft.com/office/drawing/2014/main" id="{67CB588F-3B58-4B8F-8F6C-40B8B8E32C11}"/>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BB38876-8174-4ADB-9440-A79911EAF195}"/>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3151543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3CE712-2C4D-4DDC-BA62-AC9EBD2C36C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35F90A5-A8FC-4CF8-8031-4A90AB9B58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78E42F58-5DF9-4E11-8861-C19D78A4777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B9868909-BAEF-4BB4-B23C-5F59B34EF2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665ADE31-747E-4C00-B23F-897F49150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E7A7BAAA-CED1-4BDE-B1B4-1EE8057D8BCD}"/>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8" name="바닥글 개체 틀 7">
            <a:extLst>
              <a:ext uri="{FF2B5EF4-FFF2-40B4-BE49-F238E27FC236}">
                <a16:creationId xmlns:a16="http://schemas.microsoft.com/office/drawing/2014/main" id="{3DDD7846-909A-4BE4-99AE-386C2B5B5D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C408166-BB36-4407-A021-BD380ECD88BD}"/>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4235167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CA042A6-63C3-4DDD-BE80-8B3441262B4F}"/>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1C57B518-03FE-464A-871D-096C8C277AB5}"/>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4" name="바닥글 개체 틀 3">
            <a:extLst>
              <a:ext uri="{FF2B5EF4-FFF2-40B4-BE49-F238E27FC236}">
                <a16:creationId xmlns:a16="http://schemas.microsoft.com/office/drawing/2014/main" id="{08BE2A24-2CE6-471E-9CDD-02C367EFBB20}"/>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AACF95ED-E63C-4890-AD4F-8AEF4E49C950}"/>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2056505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DFAAD78-06B6-4AB2-A56C-61BB4CB3A889}"/>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3" name="바닥글 개체 틀 2">
            <a:extLst>
              <a:ext uri="{FF2B5EF4-FFF2-40B4-BE49-F238E27FC236}">
                <a16:creationId xmlns:a16="http://schemas.microsoft.com/office/drawing/2014/main" id="{75EB8E62-7F0C-46C8-A923-7BE134BBDBD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8822AA6-A60B-45EC-AF19-53211DCA36C2}"/>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193774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EBAACE-02E9-470D-90A4-C63A7B249D5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D7256C9-7043-47EA-AA29-40A2C8885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C9FDF179-EA48-4A87-A5CC-4D2E519A7F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74E38028-C799-4F13-9810-3C088AB4C04E}"/>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6" name="바닥글 개체 틀 5">
            <a:extLst>
              <a:ext uri="{FF2B5EF4-FFF2-40B4-BE49-F238E27FC236}">
                <a16:creationId xmlns:a16="http://schemas.microsoft.com/office/drawing/2014/main" id="{C8F76468-D8B6-4DD4-AE93-57298382823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CC8A678-6AF7-4AEC-9500-D6E13F47460E}"/>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1518214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D2E6AC3-7621-43E3-8250-33FC4F416DB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DAB93F7E-2E52-491C-A4E2-93BD52A3AE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CDDBE2FA-54D3-4172-81E7-373C91D2DE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F91F23D-84DE-4544-AC01-F7FF3750F933}"/>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6" name="바닥글 개체 틀 5">
            <a:extLst>
              <a:ext uri="{FF2B5EF4-FFF2-40B4-BE49-F238E27FC236}">
                <a16:creationId xmlns:a16="http://schemas.microsoft.com/office/drawing/2014/main" id="{AB3E00FC-5CB8-415B-AE36-70E68655E6D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D364C84-96C1-4A84-9334-30EEB92B15D0}"/>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4014277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71D260C-AD53-4DE9-8901-2073D437D11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BEE63FD-2E18-4970-9F62-0037BD18EA90}"/>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E3F73C1-D6F2-4AE1-BA69-22E24ED047EA}"/>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5" name="바닥글 개체 틀 4">
            <a:extLst>
              <a:ext uri="{FF2B5EF4-FFF2-40B4-BE49-F238E27FC236}">
                <a16:creationId xmlns:a16="http://schemas.microsoft.com/office/drawing/2014/main" id="{350FCF91-9DAA-4987-90A9-8E221891FDB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08CA6F2-AF25-4782-989C-405033CA6915}"/>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42163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CD6EE514-9FD6-4EF3-8DB4-92D9F11124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7ACCD7AC-E850-457D-A022-C1ECF877DC4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77F51FA-569B-4429-8392-E6F59BE08ED1}"/>
              </a:ext>
            </a:extLst>
          </p:cNvPr>
          <p:cNvSpPr>
            <a:spLocks noGrp="1"/>
          </p:cNvSpPr>
          <p:nvPr>
            <p:ph type="dt" sz="half" idx="10"/>
          </p:nvPr>
        </p:nvSpPr>
        <p:spPr/>
        <p:txBody>
          <a:bodyPr/>
          <a:lstStyle/>
          <a:p>
            <a:fld id="{4BA86C19-A0CC-4DF0-8678-0BBE7EFB4182}" type="datetimeFigureOut">
              <a:rPr lang="ko-KR" altLang="en-US" smtClean="0"/>
              <a:t>2021-11-14</a:t>
            </a:fld>
            <a:endParaRPr lang="ko-KR" altLang="en-US"/>
          </a:p>
        </p:txBody>
      </p:sp>
      <p:sp>
        <p:nvSpPr>
          <p:cNvPr id="5" name="바닥글 개체 틀 4">
            <a:extLst>
              <a:ext uri="{FF2B5EF4-FFF2-40B4-BE49-F238E27FC236}">
                <a16:creationId xmlns:a16="http://schemas.microsoft.com/office/drawing/2014/main" id="{39FBDE8B-96D3-47E4-BE15-64B429C2C38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B596AAE-F2EF-4A0B-8686-A95E7F63ABA9}"/>
              </a:ext>
            </a:extLst>
          </p:cNvPr>
          <p:cNvSpPr>
            <a:spLocks noGrp="1"/>
          </p:cNvSpPr>
          <p:nvPr>
            <p:ph type="sldNum" sz="quarter" idx="12"/>
          </p:nvPr>
        </p:nvSpPr>
        <p:spPr/>
        <p:txBody>
          <a:body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1925957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F7CF1E7-EC74-4904-A62B-B72867ABC8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0CA0CDFE-B798-476D-B3CA-6F4F67035D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5EAD7D2-0A46-4F3D-985E-95F5B0A6C4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A86C19-A0CC-4DF0-8678-0BBE7EFB4182}" type="datetimeFigureOut">
              <a:rPr lang="ko-KR" altLang="en-US" smtClean="0"/>
              <a:t>2021-11-14</a:t>
            </a:fld>
            <a:endParaRPr lang="ko-KR" altLang="en-US"/>
          </a:p>
        </p:txBody>
      </p:sp>
      <p:sp>
        <p:nvSpPr>
          <p:cNvPr id="5" name="바닥글 개체 틀 4">
            <a:extLst>
              <a:ext uri="{FF2B5EF4-FFF2-40B4-BE49-F238E27FC236}">
                <a16:creationId xmlns:a16="http://schemas.microsoft.com/office/drawing/2014/main" id="{BE3798A9-EB54-4946-8175-733E4420A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CD460A3E-1591-4178-AD5A-83DDC9C7BE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12645A-B858-4261-AFD3-BAC7BE0EB31A}" type="slidenum">
              <a:rPr lang="ko-KR" altLang="en-US" smtClean="0"/>
              <a:t>‹#›</a:t>
            </a:fld>
            <a:endParaRPr lang="ko-KR" altLang="en-US"/>
          </a:p>
        </p:txBody>
      </p:sp>
    </p:spTree>
    <p:extLst>
      <p:ext uri="{BB962C8B-B14F-4D97-AF65-F5344CB8AC3E}">
        <p14:creationId xmlns:p14="http://schemas.microsoft.com/office/powerpoint/2010/main" val="3467715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67B70C91-78D9-41F3-8145-A4335E1DFEB9}"/>
              </a:ext>
            </a:extLst>
          </p:cNvPr>
          <p:cNvSpPr>
            <a:spLocks noGrp="1"/>
          </p:cNvSpPr>
          <p:nvPr>
            <p:ph type="ctrTitle"/>
          </p:nvPr>
        </p:nvSpPr>
        <p:spPr/>
        <p:txBody>
          <a:bodyPr>
            <a:noAutofit/>
          </a:bodyPr>
          <a:lstStyle/>
          <a:p>
            <a:r>
              <a:rPr lang="en-US" altLang="ko-KR" sz="4000" dirty="0">
                <a:latin typeface="나눔스퀘어_ac Bold" panose="020B0600000101010101" pitchFamily="50" charset="-127"/>
                <a:ea typeface="나눔스퀘어_ac Bold" panose="020B0600000101010101" pitchFamily="50" charset="-127"/>
              </a:rPr>
              <a:t>MERL: Multimodal Event Representation Learning</a:t>
            </a:r>
            <a:br>
              <a:rPr lang="en-US" altLang="ko-KR" sz="4000" dirty="0">
                <a:latin typeface="나눔스퀘어_ac Bold" panose="020B0600000101010101" pitchFamily="50" charset="-127"/>
                <a:ea typeface="나눔스퀘어_ac Bold" panose="020B0600000101010101" pitchFamily="50" charset="-127"/>
              </a:rPr>
            </a:br>
            <a:r>
              <a:rPr lang="en-US" altLang="ko-KR" sz="4000" dirty="0">
                <a:latin typeface="나눔스퀘어_ac Bold" panose="020B0600000101010101" pitchFamily="50" charset="-127"/>
                <a:ea typeface="나눔스퀘어_ac Bold" panose="020B0600000101010101" pitchFamily="50" charset="-127"/>
              </a:rPr>
              <a:t>in Heterogeneous Embedding Spaces</a:t>
            </a:r>
            <a:endParaRPr lang="ko-KR" altLang="en-US" sz="4000" dirty="0"/>
          </a:p>
        </p:txBody>
      </p:sp>
      <p:sp>
        <p:nvSpPr>
          <p:cNvPr id="5" name="부제목 4">
            <a:extLst>
              <a:ext uri="{FF2B5EF4-FFF2-40B4-BE49-F238E27FC236}">
                <a16:creationId xmlns:a16="http://schemas.microsoft.com/office/drawing/2014/main" id="{667EF89C-0BBA-4256-A18E-299B88C4513C}"/>
              </a:ext>
            </a:extLst>
          </p:cNvPr>
          <p:cNvSpPr>
            <a:spLocks noGrp="1"/>
          </p:cNvSpPr>
          <p:nvPr>
            <p:ph type="subTitle" idx="1"/>
          </p:nvPr>
        </p:nvSpPr>
        <p:spPr>
          <a:xfrm>
            <a:off x="1524000" y="4506686"/>
            <a:ext cx="9144000" cy="751114"/>
          </a:xfrm>
        </p:spPr>
        <p:txBody>
          <a:bodyPr/>
          <a:lstStyle/>
          <a:p>
            <a:r>
              <a:rPr lang="ko-KR" altLang="en-US" dirty="0">
                <a:latin typeface="나눔스퀘어_ac Bold" panose="020B0600000101010101" pitchFamily="50" charset="-127"/>
                <a:ea typeface="나눔스퀘어_ac Bold" panose="020B0600000101010101" pitchFamily="50" charset="-127"/>
              </a:rPr>
              <a:t>자연어처리팀</a:t>
            </a:r>
            <a:r>
              <a:rPr lang="en-US" altLang="ko-KR" dirty="0">
                <a:latin typeface="나눔스퀘어_ac Bold" panose="020B0600000101010101" pitchFamily="50" charset="-127"/>
                <a:ea typeface="나눔스퀘어_ac Bold" panose="020B0600000101010101" pitchFamily="50" charset="-127"/>
              </a:rPr>
              <a:t>:</a:t>
            </a:r>
            <a:r>
              <a:rPr lang="ko-KR" altLang="en-US" dirty="0">
                <a:latin typeface="나눔스퀘어_ac Bold" panose="020B0600000101010101" pitchFamily="50" charset="-127"/>
                <a:ea typeface="나눔스퀘어_ac Bold" panose="020B0600000101010101" pitchFamily="50" charset="-127"/>
              </a:rPr>
              <a:t> 박희수</a:t>
            </a:r>
            <a:r>
              <a:rPr lang="en-US" altLang="ko-KR" dirty="0">
                <a:latin typeface="나눔스퀘어_ac Bold" panose="020B0600000101010101" pitchFamily="50" charset="-127"/>
                <a:ea typeface="나눔스퀘어_ac Bold" panose="020B0600000101010101" pitchFamily="50" charset="-127"/>
              </a:rPr>
              <a:t>(</a:t>
            </a:r>
            <a:r>
              <a:rPr lang="ko-KR" altLang="en-US" dirty="0">
                <a:latin typeface="나눔스퀘어_ac Bold" panose="020B0600000101010101" pitchFamily="50" charset="-127"/>
                <a:ea typeface="나눔스퀘어_ac Bold" panose="020B0600000101010101" pitchFamily="50" charset="-127"/>
              </a:rPr>
              <a:t>발표자</a:t>
            </a:r>
            <a:r>
              <a:rPr lang="en-US" altLang="ko-KR" dirty="0">
                <a:latin typeface="나눔스퀘어_ac Bold" panose="020B0600000101010101" pitchFamily="50" charset="-127"/>
                <a:ea typeface="나눔스퀘어_ac Bold" panose="020B0600000101010101" pitchFamily="50" charset="-127"/>
              </a:rPr>
              <a:t>)</a:t>
            </a:r>
            <a:r>
              <a:rPr lang="ko-KR" altLang="en-US" dirty="0">
                <a:latin typeface="나눔스퀘어_ac Bold" panose="020B0600000101010101" pitchFamily="50" charset="-127"/>
                <a:ea typeface="나눔스퀘어_ac Bold" panose="020B0600000101010101" pitchFamily="50" charset="-127"/>
              </a:rPr>
              <a:t> 백지윤</a:t>
            </a:r>
            <a:endParaRPr lang="ko-KR" altLang="en-US" sz="2400" dirty="0">
              <a:latin typeface="나눔스퀘어_ac Bold" panose="020B0600000101010101" pitchFamily="50" charset="-127"/>
              <a:ea typeface="나눔스퀘어_ac Bold" panose="020B0600000101010101" pitchFamily="50" charset="-127"/>
            </a:endParaRPr>
          </a:p>
        </p:txBody>
      </p:sp>
    </p:spTree>
    <p:extLst>
      <p:ext uri="{BB962C8B-B14F-4D97-AF65-F5344CB8AC3E}">
        <p14:creationId xmlns:p14="http://schemas.microsoft.com/office/powerpoint/2010/main" val="2510223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Event Representation Learning</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9" name="TextBox 8">
            <a:extLst>
              <a:ext uri="{FF2B5EF4-FFF2-40B4-BE49-F238E27FC236}">
                <a16:creationId xmlns:a16="http://schemas.microsoft.com/office/drawing/2014/main" id="{FC717E02-5C24-4929-8F9A-16E3F9234A42}"/>
              </a:ext>
            </a:extLst>
          </p:cNvPr>
          <p:cNvSpPr txBox="1"/>
          <p:nvPr/>
        </p:nvSpPr>
        <p:spPr>
          <a:xfrm>
            <a:off x="838200" y="1553578"/>
            <a:ext cx="6803571" cy="4524315"/>
          </a:xfrm>
          <a:prstGeom prst="rect">
            <a:avLst/>
          </a:prstGeom>
          <a:noFill/>
        </p:spPr>
        <p:txBody>
          <a:bodyPr wrap="square">
            <a:spAutoFit/>
          </a:bodyPr>
          <a:lstStyle/>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Represent prototype events as low-dimensional dense vectors.</a:t>
            </a:r>
          </a:p>
          <a:p>
            <a:pPr marL="342900" indent="-342900">
              <a:buFont typeface="Arial" panose="020B0604020202020204" pitchFamily="34" charset="0"/>
              <a:buChar char="•"/>
            </a:pPr>
            <a:endParaRPr lang="en-US" altLang="ko-KR" sz="24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Use them as the basis to induce textual features for downstream applications, such as script event prediction and stock market prediction.</a:t>
            </a:r>
          </a:p>
          <a:p>
            <a:pPr marL="342900" indent="-342900">
              <a:buFont typeface="Arial" panose="020B0604020202020204" pitchFamily="34" charset="0"/>
              <a:buChar char="•"/>
            </a:pPr>
            <a:endParaRPr lang="en-US" altLang="ko-KR" sz="24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Notable progresses have been made in learning event representations or embeddings from structured event triples expressed as (subject, predicate, object)</a:t>
            </a:r>
            <a:endParaRPr lang="ko-KR" altLang="en-US" sz="2400" dirty="0">
              <a:latin typeface="나눔스퀘어_ac" panose="020B0600000101010101" pitchFamily="50" charset="-127"/>
              <a:ea typeface="나눔스퀘어_ac" panose="020B0600000101010101" pitchFamily="50" charset="-127"/>
            </a:endParaRPr>
          </a:p>
        </p:txBody>
      </p:sp>
      <p:pic>
        <p:nvPicPr>
          <p:cNvPr id="3" name="그림 2">
            <a:extLst>
              <a:ext uri="{FF2B5EF4-FFF2-40B4-BE49-F238E27FC236}">
                <a16:creationId xmlns:a16="http://schemas.microsoft.com/office/drawing/2014/main" id="{7FB0E479-A742-4300-BDB5-55393B9F311D}"/>
              </a:ext>
            </a:extLst>
          </p:cNvPr>
          <p:cNvPicPr>
            <a:picLocks noChangeAspect="1"/>
          </p:cNvPicPr>
          <p:nvPr/>
        </p:nvPicPr>
        <p:blipFill>
          <a:blip r:embed="rId2"/>
          <a:stretch>
            <a:fillRect/>
          </a:stretch>
        </p:blipFill>
        <p:spPr>
          <a:xfrm>
            <a:off x="7931480" y="1553578"/>
            <a:ext cx="3422320" cy="2132160"/>
          </a:xfrm>
          <a:prstGeom prst="rect">
            <a:avLst/>
          </a:prstGeom>
        </p:spPr>
      </p:pic>
      <p:sp>
        <p:nvSpPr>
          <p:cNvPr id="8" name="TextBox 7">
            <a:extLst>
              <a:ext uri="{FF2B5EF4-FFF2-40B4-BE49-F238E27FC236}">
                <a16:creationId xmlns:a16="http://schemas.microsoft.com/office/drawing/2014/main" id="{E0A27D3E-DDD4-430B-B599-AE94B9B9C2BD}"/>
              </a:ext>
            </a:extLst>
          </p:cNvPr>
          <p:cNvSpPr txBox="1"/>
          <p:nvPr/>
        </p:nvSpPr>
        <p:spPr>
          <a:xfrm>
            <a:off x="8037980" y="4577797"/>
            <a:ext cx="3315820" cy="1200329"/>
          </a:xfrm>
          <a:prstGeom prst="rect">
            <a:avLst/>
          </a:prstGeom>
          <a:noFill/>
        </p:spPr>
        <p:txBody>
          <a:bodyPr wrap="square" rtlCol="0">
            <a:spAutoFit/>
          </a:bodyPr>
          <a:lstStyle/>
          <a:p>
            <a:pPr algn="ctr"/>
            <a:r>
              <a:rPr lang="en-US" altLang="ko-KR" sz="2400" dirty="0">
                <a:latin typeface="나눔스퀘어_ac Bold" panose="020B0600000101010101" pitchFamily="50" charset="-127"/>
                <a:ea typeface="나눔스퀘어_ac Bold" panose="020B0600000101010101" pitchFamily="50" charset="-127"/>
              </a:rPr>
              <a:t>(X, throw, basketball)</a:t>
            </a:r>
          </a:p>
          <a:p>
            <a:pPr algn="ctr"/>
            <a:r>
              <a:rPr lang="en-US" altLang="ko-KR" sz="2400" dirty="0">
                <a:latin typeface="나눔스퀘어_ac Bold" panose="020B0600000101010101" pitchFamily="50" charset="-127"/>
                <a:ea typeface="나눔스퀘어_ac Bold" panose="020B0600000101010101" pitchFamily="50" charset="-127"/>
              </a:rPr>
              <a:t>(Y, throw bomb)</a:t>
            </a:r>
          </a:p>
          <a:p>
            <a:pPr algn="ctr"/>
            <a:r>
              <a:rPr lang="en-US" altLang="ko-KR" sz="2400" dirty="0">
                <a:latin typeface="나눔스퀘어_ac Bold" panose="020B0600000101010101" pitchFamily="50" charset="-127"/>
                <a:ea typeface="나눔스퀘어_ac Bold" panose="020B0600000101010101" pitchFamily="50" charset="-127"/>
              </a:rPr>
              <a:t>(Z, attack embassy)</a:t>
            </a:r>
            <a:endParaRPr lang="ko-KR" altLang="en-US" sz="2400" dirty="0">
              <a:latin typeface="나눔스퀘어_ac Bold" panose="020B0600000101010101" pitchFamily="50" charset="-127"/>
              <a:ea typeface="나눔스퀘어_ac Bold" panose="020B0600000101010101" pitchFamily="50" charset="-127"/>
            </a:endParaRPr>
          </a:p>
        </p:txBody>
      </p:sp>
    </p:spTree>
    <p:extLst>
      <p:ext uri="{BB962C8B-B14F-4D97-AF65-F5344CB8AC3E}">
        <p14:creationId xmlns:p14="http://schemas.microsoft.com/office/powerpoint/2010/main" val="3647189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Motivation</a:t>
            </a:r>
            <a:endParaRPr lang="ko-KR" altLang="en-US" sz="3600" dirty="0">
              <a:latin typeface="나눔스퀘어_ac Bold" panose="020B0600000101010101" pitchFamily="50" charset="-127"/>
              <a:ea typeface="나눔스퀘어_ac Bold" panose="020B0600000101010101" pitchFamily="50" charset="-127"/>
            </a:endParaRPr>
          </a:p>
        </p:txBody>
      </p:sp>
      <p:pic>
        <p:nvPicPr>
          <p:cNvPr id="7" name="그림 6">
            <a:extLst>
              <a:ext uri="{FF2B5EF4-FFF2-40B4-BE49-F238E27FC236}">
                <a16:creationId xmlns:a16="http://schemas.microsoft.com/office/drawing/2014/main" id="{51E7B812-443F-43D3-8C38-036BB70FD55B}"/>
              </a:ext>
            </a:extLst>
          </p:cNvPr>
          <p:cNvPicPr>
            <a:picLocks noChangeAspect="1"/>
          </p:cNvPicPr>
          <p:nvPr/>
        </p:nvPicPr>
        <p:blipFill rotWithShape="1">
          <a:blip r:embed="rId2"/>
          <a:srcRect t="20516" b="73605"/>
          <a:stretch/>
        </p:blipFill>
        <p:spPr>
          <a:xfrm>
            <a:off x="2612353" y="2180951"/>
            <a:ext cx="6967294" cy="402321"/>
          </a:xfrm>
          <a:prstGeom prst="rect">
            <a:avLst/>
          </a:prstGeom>
        </p:spPr>
      </p:pic>
      <p:sp>
        <p:nvSpPr>
          <p:cNvPr id="5" name="TextBox 4">
            <a:extLst>
              <a:ext uri="{FF2B5EF4-FFF2-40B4-BE49-F238E27FC236}">
                <a16:creationId xmlns:a16="http://schemas.microsoft.com/office/drawing/2014/main" id="{24B07751-207F-40DB-8AC0-C791D79F812F}"/>
              </a:ext>
            </a:extLst>
          </p:cNvPr>
          <p:cNvSpPr txBox="1"/>
          <p:nvPr/>
        </p:nvSpPr>
        <p:spPr>
          <a:xfrm>
            <a:off x="838200" y="3469254"/>
            <a:ext cx="10738757" cy="1938992"/>
          </a:xfrm>
          <a:prstGeom prst="rect">
            <a:avLst/>
          </a:prstGeom>
          <a:noFill/>
        </p:spPr>
        <p:txBody>
          <a:bodyPr wrap="square">
            <a:spAutoFit/>
          </a:bodyPr>
          <a:lstStyle/>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Both Event (</a:t>
            </a:r>
            <a:r>
              <a:rPr lang="en-US" altLang="ko-KR" sz="2400" dirty="0" err="1">
                <a:latin typeface="나눔스퀘어_ac" panose="020B0600000101010101" pitchFamily="50" charset="-127"/>
                <a:ea typeface="나눔스퀘어_ac" panose="020B0600000101010101" pitchFamily="50" charset="-127"/>
              </a:rPr>
              <a:t>i</a:t>
            </a:r>
            <a:r>
              <a:rPr lang="en-US" altLang="ko-KR" sz="2400" dirty="0">
                <a:latin typeface="나눔스퀘어_ac" panose="020B0600000101010101" pitchFamily="50" charset="-127"/>
                <a:ea typeface="나눔스퀘어_ac" panose="020B0600000101010101" pitchFamily="50" charset="-127"/>
              </a:rPr>
              <a:t>) and (ii) share the same subject and predicate, however expressing totally different meanings.</a:t>
            </a:r>
          </a:p>
          <a:p>
            <a:pPr marL="342900" indent="-342900">
              <a:buFont typeface="Arial" panose="020B0604020202020204" pitchFamily="34" charset="0"/>
              <a:buChar char="•"/>
            </a:pPr>
            <a:endParaRPr lang="en-US" altLang="ko-KR" sz="24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Event (</a:t>
            </a:r>
            <a:r>
              <a:rPr lang="en-US" altLang="ko-KR" sz="2400" dirty="0" err="1">
                <a:latin typeface="나눔스퀘어_ac" panose="020B0600000101010101" pitchFamily="50" charset="-127"/>
                <a:ea typeface="나눔스퀘어_ac" panose="020B0600000101010101" pitchFamily="50" charset="-127"/>
              </a:rPr>
              <a:t>i</a:t>
            </a:r>
            <a:r>
              <a:rPr lang="en-US" altLang="ko-KR" sz="2400" dirty="0">
                <a:latin typeface="나눔스퀘어_ac" panose="020B0600000101010101" pitchFamily="50" charset="-127"/>
                <a:ea typeface="나눔스퀘어_ac" panose="020B0600000101010101" pitchFamily="50" charset="-127"/>
              </a:rPr>
              <a:t>) and (iii) do not have any event elements in common, yet they describe the same event</a:t>
            </a:r>
            <a:endParaRPr lang="ko-KR" altLang="en-US" sz="2400" dirty="0">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309981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Motivation</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5" name="TextBox 4">
            <a:extLst>
              <a:ext uri="{FF2B5EF4-FFF2-40B4-BE49-F238E27FC236}">
                <a16:creationId xmlns:a16="http://schemas.microsoft.com/office/drawing/2014/main" id="{24B07751-207F-40DB-8AC0-C791D79F812F}"/>
              </a:ext>
            </a:extLst>
          </p:cNvPr>
          <p:cNvSpPr txBox="1"/>
          <p:nvPr/>
        </p:nvSpPr>
        <p:spPr>
          <a:xfrm>
            <a:off x="838200" y="3429000"/>
            <a:ext cx="10967357" cy="2308324"/>
          </a:xfrm>
          <a:prstGeom prst="rect">
            <a:avLst/>
          </a:prstGeom>
          <a:noFill/>
        </p:spPr>
        <p:txBody>
          <a:bodyPr wrap="square">
            <a:spAutoFit/>
          </a:bodyPr>
          <a:lstStyle/>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Event semantics can be better captured by event-associated images rather than the text description of event triples</a:t>
            </a:r>
          </a:p>
          <a:p>
            <a:pPr marL="342900" indent="-342900">
              <a:buFont typeface="Arial" panose="020B0604020202020204" pitchFamily="34" charset="0"/>
              <a:buChar char="•"/>
            </a:pPr>
            <a:endParaRPr lang="en-US" altLang="ko-KR" sz="24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Previous approaches often project information from different modalities onto a homogeneous embedding space such as a point embedding space or a density embedding space (</a:t>
            </a:r>
            <a:r>
              <a:rPr lang="en-US" altLang="ko-KR" sz="2400" dirty="0" err="1">
                <a:latin typeface="나눔스퀘어_ac" panose="020B0600000101010101" pitchFamily="50" charset="-127"/>
                <a:ea typeface="나눔스퀘어_ac" panose="020B0600000101010101" pitchFamily="50" charset="-127"/>
              </a:rPr>
              <a:t>Vendrov</a:t>
            </a:r>
            <a:r>
              <a:rPr lang="en-US" altLang="ko-KR" sz="2400" dirty="0">
                <a:latin typeface="나눔스퀘어_ac" panose="020B0600000101010101" pitchFamily="50" charset="-127"/>
                <a:ea typeface="나눔스퀘어_ac" panose="020B0600000101010101" pitchFamily="50" charset="-127"/>
              </a:rPr>
              <a:t> et al. 2016; Ben and Andrew 2018).</a:t>
            </a:r>
            <a:endParaRPr lang="ko-KR" altLang="en-US" sz="2400" dirty="0">
              <a:latin typeface="나눔스퀘어_ac" panose="020B0600000101010101" pitchFamily="50" charset="-127"/>
              <a:ea typeface="나눔스퀘어_ac" panose="020B0600000101010101" pitchFamily="50" charset="-127"/>
            </a:endParaRPr>
          </a:p>
        </p:txBody>
      </p:sp>
      <p:pic>
        <p:nvPicPr>
          <p:cNvPr id="6" name="그림 5">
            <a:extLst>
              <a:ext uri="{FF2B5EF4-FFF2-40B4-BE49-F238E27FC236}">
                <a16:creationId xmlns:a16="http://schemas.microsoft.com/office/drawing/2014/main" id="{BB582D5D-5E53-4878-ACA4-42700205EC09}"/>
              </a:ext>
            </a:extLst>
          </p:cNvPr>
          <p:cNvPicPr>
            <a:picLocks noChangeAspect="1"/>
          </p:cNvPicPr>
          <p:nvPr/>
        </p:nvPicPr>
        <p:blipFill rotWithShape="1">
          <a:blip r:embed="rId2"/>
          <a:srcRect b="73605"/>
          <a:stretch/>
        </p:blipFill>
        <p:spPr>
          <a:xfrm>
            <a:off x="3736933" y="1520479"/>
            <a:ext cx="5169889" cy="1340431"/>
          </a:xfrm>
          <a:prstGeom prst="rect">
            <a:avLst/>
          </a:prstGeom>
        </p:spPr>
      </p:pic>
    </p:spTree>
    <p:extLst>
      <p:ext uri="{BB962C8B-B14F-4D97-AF65-F5344CB8AC3E}">
        <p14:creationId xmlns:p14="http://schemas.microsoft.com/office/powerpoint/2010/main" val="2493060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Motivation</a:t>
            </a:r>
            <a:endParaRPr lang="ko-KR" altLang="en-US" sz="3600" dirty="0">
              <a:latin typeface="나눔스퀘어_ac Bold" panose="020B0600000101010101" pitchFamily="50" charset="-127"/>
              <a:ea typeface="나눔스퀘어_ac Bold" panose="020B0600000101010101" pitchFamily="50" charset="-127"/>
            </a:endParaRPr>
          </a:p>
        </p:txBody>
      </p:sp>
      <p:pic>
        <p:nvPicPr>
          <p:cNvPr id="7" name="그림 6">
            <a:extLst>
              <a:ext uri="{FF2B5EF4-FFF2-40B4-BE49-F238E27FC236}">
                <a16:creationId xmlns:a16="http://schemas.microsoft.com/office/drawing/2014/main" id="{51E7B812-443F-43D3-8C38-036BB70FD55B}"/>
              </a:ext>
            </a:extLst>
          </p:cNvPr>
          <p:cNvPicPr>
            <a:picLocks noChangeAspect="1"/>
          </p:cNvPicPr>
          <p:nvPr/>
        </p:nvPicPr>
        <p:blipFill rotWithShape="1">
          <a:blip r:embed="rId2"/>
          <a:srcRect t="30253" b="35342"/>
          <a:stretch/>
        </p:blipFill>
        <p:spPr>
          <a:xfrm>
            <a:off x="3196996" y="1814279"/>
            <a:ext cx="5798008" cy="1959429"/>
          </a:xfrm>
          <a:prstGeom prst="rect">
            <a:avLst/>
          </a:prstGeom>
        </p:spPr>
      </p:pic>
      <p:sp>
        <p:nvSpPr>
          <p:cNvPr id="5" name="TextBox 4">
            <a:extLst>
              <a:ext uri="{FF2B5EF4-FFF2-40B4-BE49-F238E27FC236}">
                <a16:creationId xmlns:a16="http://schemas.microsoft.com/office/drawing/2014/main" id="{24B07751-207F-40DB-8AC0-C791D79F812F}"/>
              </a:ext>
            </a:extLst>
          </p:cNvPr>
          <p:cNvSpPr txBox="1"/>
          <p:nvPr/>
        </p:nvSpPr>
        <p:spPr>
          <a:xfrm>
            <a:off x="838200" y="4507332"/>
            <a:ext cx="10515600" cy="830997"/>
          </a:xfrm>
          <a:prstGeom prst="rect">
            <a:avLst/>
          </a:prstGeom>
          <a:noFill/>
        </p:spPr>
        <p:txBody>
          <a:bodyPr wrap="square">
            <a:spAutoFit/>
          </a:bodyPr>
          <a:lstStyle/>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However, in event embedding learning, events depicted in images often convey much more information than their counterpart text descriptions.</a:t>
            </a:r>
            <a:endParaRPr lang="ko-KR" altLang="en-US" sz="2400" dirty="0">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1444798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Motivation</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5" name="TextBox 4">
            <a:extLst>
              <a:ext uri="{FF2B5EF4-FFF2-40B4-BE49-F238E27FC236}">
                <a16:creationId xmlns:a16="http://schemas.microsoft.com/office/drawing/2014/main" id="{24B07751-207F-40DB-8AC0-C791D79F812F}"/>
              </a:ext>
            </a:extLst>
          </p:cNvPr>
          <p:cNvSpPr txBox="1"/>
          <p:nvPr/>
        </p:nvSpPr>
        <p:spPr>
          <a:xfrm>
            <a:off x="838200" y="4585001"/>
            <a:ext cx="11088169" cy="1200329"/>
          </a:xfrm>
          <a:prstGeom prst="rect">
            <a:avLst/>
          </a:prstGeom>
          <a:noFill/>
        </p:spPr>
        <p:txBody>
          <a:bodyPr wrap="square">
            <a:spAutoFit/>
          </a:bodyPr>
          <a:lstStyle/>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Propose a multimodal event representation learning framework (MERL) to project event triples and their associated images onto heterogeneous embedding spaces. </a:t>
            </a:r>
            <a:endParaRPr lang="ko-KR" altLang="en-US" sz="2400" dirty="0">
              <a:latin typeface="나눔스퀘어_ac" panose="020B0600000101010101" pitchFamily="50" charset="-127"/>
              <a:ea typeface="나눔스퀘어_ac" panose="020B0600000101010101" pitchFamily="50" charset="-127"/>
            </a:endParaRPr>
          </a:p>
        </p:txBody>
      </p:sp>
      <p:pic>
        <p:nvPicPr>
          <p:cNvPr id="3" name="그림 2">
            <a:extLst>
              <a:ext uri="{FF2B5EF4-FFF2-40B4-BE49-F238E27FC236}">
                <a16:creationId xmlns:a16="http://schemas.microsoft.com/office/drawing/2014/main" id="{E2EAD0F3-49EF-4FB6-A3D1-78417F2B0262}"/>
              </a:ext>
            </a:extLst>
          </p:cNvPr>
          <p:cNvPicPr>
            <a:picLocks noChangeAspect="1"/>
          </p:cNvPicPr>
          <p:nvPr/>
        </p:nvPicPr>
        <p:blipFill rotWithShape="1">
          <a:blip r:embed="rId2"/>
          <a:srcRect b="25257"/>
          <a:stretch/>
        </p:blipFill>
        <p:spPr>
          <a:xfrm>
            <a:off x="3180815" y="1472907"/>
            <a:ext cx="5830369" cy="2719842"/>
          </a:xfrm>
          <a:prstGeom prst="rect">
            <a:avLst/>
          </a:prstGeom>
        </p:spPr>
      </p:pic>
    </p:spTree>
    <p:extLst>
      <p:ext uri="{BB962C8B-B14F-4D97-AF65-F5344CB8AC3E}">
        <p14:creationId xmlns:p14="http://schemas.microsoft.com/office/powerpoint/2010/main" val="3772844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992581"/>
          </a:xfrm>
          <a:prstGeom prst="rect">
            <a:avLst/>
          </a:prstGeom>
        </p:spPr>
        <p:txBody>
          <a:bodyPr vert="horz" lIns="91440" tIns="45720" rIns="91440" bIns="45720" rtlCol="0" anchor="ctr">
            <a:normAutofit fontScale="92500" lnSpcReduction="10000"/>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Multimodal Event Representation Learning on</a:t>
            </a:r>
          </a:p>
          <a:p>
            <a:r>
              <a:rPr lang="en-US" altLang="ko-KR" sz="3600" dirty="0">
                <a:latin typeface="나눔스퀘어_ac Bold" panose="020B0600000101010101" pitchFamily="50" charset="-127"/>
                <a:ea typeface="나눔스퀘어_ac Bold" panose="020B0600000101010101" pitchFamily="50" charset="-127"/>
              </a:rPr>
              <a:t>Heterogeneous Embedding Spaces</a:t>
            </a:r>
            <a:endParaRPr lang="ko-KR" altLang="en-US" sz="3600" dirty="0">
              <a:latin typeface="나눔스퀘어_ac Bold" panose="020B0600000101010101" pitchFamily="50" charset="-127"/>
              <a:ea typeface="나눔스퀘어_ac Bold" panose="020B0600000101010101" pitchFamily="50" charset="-127"/>
            </a:endParaRPr>
          </a:p>
        </p:txBody>
      </p:sp>
      <p:pic>
        <p:nvPicPr>
          <p:cNvPr id="8" name="그림 7">
            <a:extLst>
              <a:ext uri="{FF2B5EF4-FFF2-40B4-BE49-F238E27FC236}">
                <a16:creationId xmlns:a16="http://schemas.microsoft.com/office/drawing/2014/main" id="{CFF2B8FD-306C-41E7-86A4-DC258B815D4B}"/>
              </a:ext>
            </a:extLst>
          </p:cNvPr>
          <p:cNvPicPr>
            <a:picLocks noChangeAspect="1"/>
          </p:cNvPicPr>
          <p:nvPr/>
        </p:nvPicPr>
        <p:blipFill>
          <a:blip r:embed="rId2"/>
          <a:stretch>
            <a:fillRect/>
          </a:stretch>
        </p:blipFill>
        <p:spPr>
          <a:xfrm>
            <a:off x="1924050" y="1733550"/>
            <a:ext cx="8343900" cy="4305300"/>
          </a:xfrm>
          <a:prstGeom prst="rect">
            <a:avLst/>
          </a:prstGeom>
        </p:spPr>
      </p:pic>
    </p:spTree>
    <p:extLst>
      <p:ext uri="{BB962C8B-B14F-4D97-AF65-F5344CB8AC3E}">
        <p14:creationId xmlns:p14="http://schemas.microsoft.com/office/powerpoint/2010/main" val="1202906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Dual-path Gaussian Triple Encoder</a:t>
            </a:r>
            <a:endParaRPr lang="ko-KR" altLang="en-US" sz="3600" dirty="0">
              <a:latin typeface="나눔스퀘어_ac Bold" panose="020B0600000101010101" pitchFamily="50" charset="-127"/>
              <a:ea typeface="나눔스퀘어_ac Bold" panose="020B0600000101010101" pitchFamily="50" charset="-127"/>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4B07751-207F-40DB-8AC0-C791D79F812F}"/>
                  </a:ext>
                </a:extLst>
              </p:cNvPr>
              <p:cNvSpPr txBox="1"/>
              <p:nvPr/>
            </p:nvSpPr>
            <p:spPr>
              <a:xfrm>
                <a:off x="838200" y="3862613"/>
                <a:ext cx="10689771" cy="2308324"/>
              </a:xfrm>
              <a:prstGeom prst="rect">
                <a:avLst/>
              </a:prstGeom>
              <a:noFill/>
            </p:spPr>
            <p:txBody>
              <a:bodyPr wrap="square">
                <a:spAutoFit/>
              </a:bodyPr>
              <a:lstStyle/>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Map an event triple </a:t>
                </a:r>
                <a14:m>
                  <m:oMath xmlns:m="http://schemas.openxmlformats.org/officeDocument/2006/math">
                    <m:r>
                      <a:rPr lang="en-US" altLang="ko-KR" sz="2400" i="1" dirty="0" smtClean="0">
                        <a:latin typeface="Cambria Math" panose="02040503050406030204" pitchFamily="18" charset="0"/>
                        <a:ea typeface="나눔스퀘어_ac" panose="020B0600000101010101" pitchFamily="50" charset="-127"/>
                      </a:rPr>
                      <m:t>𝑡</m:t>
                    </m:r>
                    <m:r>
                      <a:rPr lang="en-US" altLang="ko-KR" sz="2400" i="1" dirty="0" smtClean="0">
                        <a:latin typeface="Cambria Math" panose="02040503050406030204" pitchFamily="18" charset="0"/>
                        <a:ea typeface="나눔스퀘어_ac" panose="020B0600000101010101" pitchFamily="50" charset="-127"/>
                      </a:rPr>
                      <m:t> = (</m:t>
                    </m:r>
                    <m:r>
                      <a:rPr lang="en-US" altLang="ko-KR" sz="2400" i="1" dirty="0" smtClean="0">
                        <a:latin typeface="Cambria Math" panose="02040503050406030204" pitchFamily="18" charset="0"/>
                        <a:ea typeface="나눔스퀘어_ac" panose="020B0600000101010101" pitchFamily="50" charset="-127"/>
                      </a:rPr>
                      <m:t>𝑆</m:t>
                    </m:r>
                    <m:r>
                      <a:rPr lang="en-US" altLang="ko-KR" sz="2400" i="1" dirty="0" smtClean="0">
                        <a:latin typeface="Cambria Math" panose="02040503050406030204" pitchFamily="18" charset="0"/>
                        <a:ea typeface="나눔스퀘어_ac" panose="020B0600000101010101" pitchFamily="50" charset="-127"/>
                      </a:rPr>
                      <m:t>, </m:t>
                    </m:r>
                    <m:r>
                      <a:rPr lang="en-US" altLang="ko-KR" sz="2400" i="1" dirty="0" smtClean="0">
                        <a:latin typeface="Cambria Math" panose="02040503050406030204" pitchFamily="18" charset="0"/>
                        <a:ea typeface="나눔스퀘어_ac" panose="020B0600000101010101" pitchFamily="50" charset="-127"/>
                      </a:rPr>
                      <m:t>𝑃</m:t>
                    </m:r>
                    <m:r>
                      <a:rPr lang="en-US" altLang="ko-KR" sz="2400" i="1" dirty="0" smtClean="0">
                        <a:latin typeface="Cambria Math" panose="02040503050406030204" pitchFamily="18" charset="0"/>
                        <a:ea typeface="나눔스퀘어_ac" panose="020B0600000101010101" pitchFamily="50" charset="-127"/>
                      </a:rPr>
                      <m:t>, </m:t>
                    </m:r>
                    <m:r>
                      <a:rPr lang="en-US" altLang="ko-KR" sz="2400" i="1" dirty="0" smtClean="0">
                        <a:latin typeface="Cambria Math" panose="02040503050406030204" pitchFamily="18" charset="0"/>
                        <a:ea typeface="나눔스퀘어_ac" panose="020B0600000101010101" pitchFamily="50" charset="-127"/>
                      </a:rPr>
                      <m:t>𝑂</m:t>
                    </m:r>
                    <m:r>
                      <a:rPr lang="en-US" altLang="ko-KR" sz="2400" i="1" dirty="0" smtClean="0">
                        <a:latin typeface="Cambria Math" panose="02040503050406030204" pitchFamily="18" charset="0"/>
                        <a:ea typeface="나눔스퀘어_ac" panose="020B0600000101010101" pitchFamily="50" charset="-127"/>
                      </a:rPr>
                      <m:t>) </m:t>
                    </m:r>
                  </m:oMath>
                </a14:m>
                <a:r>
                  <a:rPr lang="en-US" altLang="ko-KR" sz="2400" dirty="0">
                    <a:latin typeface="나눔스퀘어_ac" panose="020B0600000101010101" pitchFamily="50" charset="-127"/>
                    <a:ea typeface="나눔스퀘어_ac" panose="020B0600000101010101" pitchFamily="50" charset="-127"/>
                  </a:rPr>
                  <a:t>to a Gaussian embedding t, where S refers to subject or actor, P refers to predicate or action and O is object of the action. </a:t>
                </a:r>
              </a:p>
              <a:p>
                <a:pPr marL="342900" indent="-342900">
                  <a:buFont typeface="Arial" panose="020B0604020202020204" pitchFamily="34" charset="0"/>
                  <a:buChar char="•"/>
                </a:pPr>
                <a:endParaRPr lang="en-US" altLang="ko-KR" sz="24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The task is to compose the event components to calculate the mean vector and variance vector </a:t>
                </a:r>
                <a14:m>
                  <m:oMath xmlns:m="http://schemas.openxmlformats.org/officeDocument/2006/math">
                    <m:r>
                      <a:rPr lang="en-US" altLang="ko-KR" sz="2400" i="1" dirty="0" smtClean="0">
                        <a:latin typeface="Cambria Math" panose="02040503050406030204" pitchFamily="18" charset="0"/>
                        <a:ea typeface="나눔스퀘어_ac" panose="020B0600000101010101" pitchFamily="50" charset="-127"/>
                      </a:rPr>
                      <m:t>𝑡</m:t>
                    </m:r>
                    <m:r>
                      <a:rPr lang="en-US" altLang="ko-KR" sz="2400" i="1" dirty="0" smtClean="0">
                        <a:latin typeface="Cambria Math" panose="02040503050406030204" pitchFamily="18" charset="0"/>
                        <a:ea typeface="나눔스퀘어_ac" panose="020B0600000101010101" pitchFamily="50" charset="-127"/>
                      </a:rPr>
                      <m:t>=</m:t>
                    </m:r>
                    <m:d>
                      <m:dPr>
                        <m:ctrlPr>
                          <a:rPr lang="en-US" altLang="ko-KR" sz="2400" i="1" dirty="0" smtClean="0">
                            <a:latin typeface="Cambria Math" panose="02040503050406030204" pitchFamily="18" charset="0"/>
                            <a:ea typeface="나눔스퀘어_ac" panose="020B0600000101010101" pitchFamily="50" charset="-127"/>
                          </a:rPr>
                        </m:ctrlPr>
                      </m:dPr>
                      <m:e>
                        <m:r>
                          <a:rPr lang="en-US" altLang="ko-KR" sz="2400" i="1" dirty="0" smtClean="0">
                            <a:latin typeface="Cambria Math" panose="02040503050406030204" pitchFamily="18" charset="0"/>
                            <a:ea typeface="나눔스퀘어_ac" panose="020B0600000101010101" pitchFamily="50" charset="-127"/>
                          </a:rPr>
                          <m:t>µ, </m:t>
                        </m:r>
                        <m:sSup>
                          <m:sSupPr>
                            <m:ctrlPr>
                              <a:rPr lang="en-US" altLang="ko-KR" sz="2400" b="0" i="1" dirty="0" smtClean="0">
                                <a:latin typeface="Cambria Math" panose="02040503050406030204" pitchFamily="18" charset="0"/>
                                <a:ea typeface="나눔스퀘어_ac" panose="020B0600000101010101" pitchFamily="50" charset="-127"/>
                              </a:rPr>
                            </m:ctrlPr>
                          </m:sSupPr>
                          <m:e>
                            <m:r>
                              <a:rPr lang="en-US" altLang="ko-KR" sz="2400" i="1" dirty="0" smtClean="0">
                                <a:latin typeface="Cambria Math" panose="02040503050406030204" pitchFamily="18" charset="0"/>
                                <a:ea typeface="나눔스퀘어_ac" panose="020B0600000101010101" pitchFamily="50" charset="-127"/>
                              </a:rPr>
                              <m:t>𝜎</m:t>
                            </m:r>
                          </m:e>
                          <m:sup>
                            <m:r>
                              <a:rPr lang="en-US" altLang="ko-KR" sz="2400" i="1" dirty="0" smtClean="0">
                                <a:latin typeface="Cambria Math" panose="02040503050406030204" pitchFamily="18" charset="0"/>
                                <a:ea typeface="나눔스퀘어_ac" panose="020B0600000101010101" pitchFamily="50" charset="-127"/>
                              </a:rPr>
                              <m:t>2</m:t>
                            </m:r>
                          </m:sup>
                        </m:sSup>
                      </m:e>
                    </m:d>
                    <m:r>
                      <a:rPr lang="en-US" altLang="ko-KR" sz="2400" i="1" dirty="0" smtClean="0">
                        <a:latin typeface="Cambria Math" panose="02040503050406030204" pitchFamily="18" charset="0"/>
                        <a:ea typeface="나눔스퀘어_ac" panose="020B0600000101010101" pitchFamily="50" charset="-127"/>
                      </a:rPr>
                      <m:t> </m:t>
                    </m:r>
                  </m:oMath>
                </a14:m>
                <a:r>
                  <a:rPr lang="en-US" altLang="ko-KR" sz="2400" dirty="0">
                    <a:latin typeface="나눔스퀘어_ac" panose="020B0600000101010101" pitchFamily="50" charset="-127"/>
                    <a:ea typeface="나눔스퀘어_ac" panose="020B0600000101010101" pitchFamily="50" charset="-127"/>
                  </a:rPr>
                  <a:t>of an event density embedding</a:t>
                </a:r>
                <a:endParaRPr lang="ko-KR" altLang="en-US" sz="2400" dirty="0">
                  <a:latin typeface="나눔스퀘어_ac" panose="020B0600000101010101" pitchFamily="50" charset="-127"/>
                  <a:ea typeface="나눔스퀘어_ac" panose="020B0600000101010101" pitchFamily="50" charset="-127"/>
                </a:endParaRPr>
              </a:p>
            </p:txBody>
          </p:sp>
        </mc:Choice>
        <mc:Fallback>
          <p:sp>
            <p:nvSpPr>
              <p:cNvPr id="5" name="TextBox 4">
                <a:extLst>
                  <a:ext uri="{FF2B5EF4-FFF2-40B4-BE49-F238E27FC236}">
                    <a16:creationId xmlns:a16="http://schemas.microsoft.com/office/drawing/2014/main" id="{24B07751-207F-40DB-8AC0-C791D79F812F}"/>
                  </a:ext>
                </a:extLst>
              </p:cNvPr>
              <p:cNvSpPr txBox="1">
                <a:spLocks noRot="1" noChangeAspect="1" noMove="1" noResize="1" noEditPoints="1" noAdjustHandles="1" noChangeArrowheads="1" noChangeShapeType="1" noTextEdit="1"/>
              </p:cNvSpPr>
              <p:nvPr/>
            </p:nvSpPr>
            <p:spPr>
              <a:xfrm>
                <a:off x="838200" y="3862613"/>
                <a:ext cx="10689771" cy="2308324"/>
              </a:xfrm>
              <a:prstGeom prst="rect">
                <a:avLst/>
              </a:prstGeom>
              <a:blipFill>
                <a:blip r:embed="rId2"/>
                <a:stretch>
                  <a:fillRect l="-799" t="-2116" b="-5556"/>
                </a:stretch>
              </a:blipFill>
            </p:spPr>
            <p:txBody>
              <a:bodyPr/>
              <a:lstStyle/>
              <a:p>
                <a:r>
                  <a:rPr lang="ko-KR" altLang="en-US">
                    <a:noFill/>
                  </a:rPr>
                  <a:t> </a:t>
                </a:r>
              </a:p>
            </p:txBody>
          </p:sp>
        </mc:Fallback>
      </mc:AlternateContent>
      <p:pic>
        <p:nvPicPr>
          <p:cNvPr id="7" name="그림 6">
            <a:extLst>
              <a:ext uri="{FF2B5EF4-FFF2-40B4-BE49-F238E27FC236}">
                <a16:creationId xmlns:a16="http://schemas.microsoft.com/office/drawing/2014/main" id="{37C06F67-22F5-4283-8D1F-23733F03BBD7}"/>
              </a:ext>
            </a:extLst>
          </p:cNvPr>
          <p:cNvPicPr>
            <a:picLocks noChangeAspect="1"/>
          </p:cNvPicPr>
          <p:nvPr/>
        </p:nvPicPr>
        <p:blipFill rotWithShape="1">
          <a:blip r:embed="rId3"/>
          <a:srcRect r="9447" b="50527"/>
          <a:stretch/>
        </p:blipFill>
        <p:spPr>
          <a:xfrm>
            <a:off x="2896427" y="1459328"/>
            <a:ext cx="6399146" cy="1803924"/>
          </a:xfrm>
          <a:prstGeom prst="rect">
            <a:avLst/>
          </a:prstGeom>
        </p:spPr>
      </p:pic>
    </p:spTree>
    <p:extLst>
      <p:ext uri="{BB962C8B-B14F-4D97-AF65-F5344CB8AC3E}">
        <p14:creationId xmlns:p14="http://schemas.microsoft.com/office/powerpoint/2010/main" val="748379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Dual-path Gaussian Triple Encoder</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5" name="TextBox 4">
            <a:extLst>
              <a:ext uri="{FF2B5EF4-FFF2-40B4-BE49-F238E27FC236}">
                <a16:creationId xmlns:a16="http://schemas.microsoft.com/office/drawing/2014/main" id="{24B07751-207F-40DB-8AC0-C791D79F812F}"/>
              </a:ext>
            </a:extLst>
          </p:cNvPr>
          <p:cNvSpPr txBox="1"/>
          <p:nvPr/>
        </p:nvSpPr>
        <p:spPr>
          <a:xfrm>
            <a:off x="838200" y="4221841"/>
            <a:ext cx="11088169" cy="1631216"/>
          </a:xfrm>
          <a:prstGeom prst="rect">
            <a:avLst/>
          </a:prstGeom>
          <a:noFill/>
        </p:spPr>
        <p:txBody>
          <a:bodyPr wrap="square">
            <a:spAutoFit/>
          </a:bodyPr>
          <a:lstStyle/>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For the event components comprising of multiple words, the average of their constituent word embeddings is applied. </a:t>
            </a:r>
          </a:p>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Therefore, we introduce a tensor composition-based path to calculate the mean vector of an event Gaussian embedding.</a:t>
            </a:r>
          </a:p>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µ is calculated by the tensor composition of the intermediate representations m1 and m2</a:t>
            </a:r>
            <a:endParaRPr lang="ko-KR" altLang="en-US" sz="2000" dirty="0">
              <a:latin typeface="나눔스퀘어_ac" panose="020B0600000101010101" pitchFamily="50" charset="-127"/>
              <a:ea typeface="나눔스퀘어_ac" panose="020B0600000101010101" pitchFamily="50" charset="-127"/>
            </a:endParaRPr>
          </a:p>
        </p:txBody>
      </p:sp>
      <p:pic>
        <p:nvPicPr>
          <p:cNvPr id="6" name="그림 5">
            <a:extLst>
              <a:ext uri="{FF2B5EF4-FFF2-40B4-BE49-F238E27FC236}">
                <a16:creationId xmlns:a16="http://schemas.microsoft.com/office/drawing/2014/main" id="{71FC3D0E-B0AF-4BE1-9851-2055A67D9228}"/>
              </a:ext>
            </a:extLst>
          </p:cNvPr>
          <p:cNvPicPr>
            <a:picLocks noChangeAspect="1"/>
          </p:cNvPicPr>
          <p:nvPr/>
        </p:nvPicPr>
        <p:blipFill>
          <a:blip r:embed="rId2"/>
          <a:stretch>
            <a:fillRect/>
          </a:stretch>
        </p:blipFill>
        <p:spPr>
          <a:xfrm>
            <a:off x="926646" y="1065566"/>
            <a:ext cx="5169354" cy="3141186"/>
          </a:xfrm>
          <a:prstGeom prst="rect">
            <a:avLst/>
          </a:prstGeom>
        </p:spPr>
      </p:pic>
      <p:pic>
        <p:nvPicPr>
          <p:cNvPr id="3" name="그림 2">
            <a:extLst>
              <a:ext uri="{FF2B5EF4-FFF2-40B4-BE49-F238E27FC236}">
                <a16:creationId xmlns:a16="http://schemas.microsoft.com/office/drawing/2014/main" id="{8DD66F61-A118-40BF-80A9-747E79734CDF}"/>
              </a:ext>
            </a:extLst>
          </p:cNvPr>
          <p:cNvPicPr>
            <a:picLocks noChangeAspect="1"/>
          </p:cNvPicPr>
          <p:nvPr/>
        </p:nvPicPr>
        <p:blipFill>
          <a:blip r:embed="rId3"/>
          <a:stretch>
            <a:fillRect/>
          </a:stretch>
        </p:blipFill>
        <p:spPr>
          <a:xfrm>
            <a:off x="6590260" y="1312720"/>
            <a:ext cx="4191000" cy="1009650"/>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B085265-B489-4288-B439-C8164056073D}"/>
                  </a:ext>
                </a:extLst>
              </p:cNvPr>
              <p:cNvSpPr txBox="1"/>
              <p:nvPr/>
            </p:nvSpPr>
            <p:spPr>
              <a:xfrm>
                <a:off x="6713978" y="2370943"/>
                <a:ext cx="4339504" cy="1487202"/>
              </a:xfrm>
              <a:prstGeom prst="rect">
                <a:avLst/>
              </a:prstGeom>
              <a:noFill/>
            </p:spPr>
            <p:txBody>
              <a:bodyPr wrap="square">
                <a:spAutoFit/>
              </a:bodyPr>
              <a:lstStyle/>
              <a:p>
                <a:r>
                  <a:rPr lang="en-US" altLang="ko-KR" dirty="0">
                    <a:latin typeface="나눔스퀘어_ac" panose="020B0600000101010101" pitchFamily="50" charset="-127"/>
                    <a:ea typeface="나눔스퀘어_ac" panose="020B0600000101010101" pitchFamily="50" charset="-127"/>
                  </a:rPr>
                  <a:t>where </a:t>
                </a:r>
                <a14:m>
                  <m:oMath xmlns:m="http://schemas.openxmlformats.org/officeDocument/2006/math">
                    <m:r>
                      <a:rPr lang="en-US" altLang="ko-KR" i="1" dirty="0" smtClean="0">
                        <a:latin typeface="Cambria Math" panose="02040503050406030204" pitchFamily="18" charset="0"/>
                      </a:rPr>
                      <m:t>𝑓</m:t>
                    </m:r>
                    <m:r>
                      <a:rPr lang="en-US" altLang="ko-KR" i="1" dirty="0" smtClean="0">
                        <a:latin typeface="Cambria Math" panose="02040503050406030204" pitchFamily="18" charset="0"/>
                      </a:rPr>
                      <m:t> = </m:t>
                    </m:r>
                    <m:r>
                      <m:rPr>
                        <m:sty m:val="p"/>
                      </m:rPr>
                      <a:rPr lang="en-US" altLang="ko-KR" i="1" dirty="0" smtClean="0">
                        <a:latin typeface="Cambria Math" panose="02040503050406030204" pitchFamily="18" charset="0"/>
                      </a:rPr>
                      <m:t>tanh</m:t>
                    </m:r>
                    <m:r>
                      <a:rPr lang="en-US" altLang="ko-KR" i="1" dirty="0" smtClean="0">
                        <a:latin typeface="Cambria Math" panose="02040503050406030204" pitchFamily="18" charset="0"/>
                      </a:rPr>
                      <m:t>⁡</m:t>
                    </m:r>
                  </m:oMath>
                </a14:m>
                <a:r>
                  <a:rPr lang="en-US" altLang="ko-KR" dirty="0">
                    <a:latin typeface="나눔스퀘어_ac" panose="020B0600000101010101" pitchFamily="50" charset="-127"/>
                    <a:ea typeface="나눔스퀘어_ac" panose="020B0600000101010101" pitchFamily="50" charset="-127"/>
                  </a:rPr>
                  <a:t>is a non-linear function applied elementwise, </a:t>
                </a:r>
                <a14:m>
                  <m:oMath xmlns:m="http://schemas.openxmlformats.org/officeDocument/2006/math">
                    <m:r>
                      <a:rPr lang="en-US" altLang="ko-KR" i="1" dirty="0" smtClean="0">
                        <a:latin typeface="Cambria Math" panose="02040503050406030204" pitchFamily="18" charset="0"/>
                      </a:rPr>
                      <m:t>𝑏</m:t>
                    </m:r>
                    <m:r>
                      <a:rPr lang="en-US" altLang="ko-KR" i="1" dirty="0" smtClean="0">
                        <a:latin typeface="Cambria Math" panose="02040503050406030204" pitchFamily="18" charset="0"/>
                      </a:rPr>
                      <m:t> ∈ </m:t>
                    </m:r>
                    <m:sSup>
                      <m:sSupPr>
                        <m:ctrlPr>
                          <a:rPr lang="en-US" altLang="ko-KR" b="0" i="1" dirty="0" smtClean="0">
                            <a:latin typeface="Cambria Math" panose="02040503050406030204" pitchFamily="18" charset="0"/>
                          </a:rPr>
                        </m:ctrlPr>
                      </m:sSupPr>
                      <m:e>
                        <m:r>
                          <a:rPr lang="en-US" altLang="ko-KR" i="1" dirty="0" smtClean="0">
                            <a:latin typeface="Cambria Math" panose="02040503050406030204" pitchFamily="18" charset="0"/>
                          </a:rPr>
                          <m:t>𝑅</m:t>
                        </m:r>
                      </m:e>
                      <m:sup>
                        <m:r>
                          <a:rPr lang="en-US" altLang="ko-KR" i="1" dirty="0" smtClean="0">
                            <a:latin typeface="Cambria Math" panose="02040503050406030204" pitchFamily="18" charset="0"/>
                          </a:rPr>
                          <m:t>𝑘</m:t>
                        </m:r>
                      </m:sup>
                    </m:sSup>
                    <m:r>
                      <a:rPr lang="en-US" altLang="ko-KR" i="1" dirty="0" smtClean="0">
                        <a:latin typeface="Cambria Math" panose="02040503050406030204" pitchFamily="18" charset="0"/>
                      </a:rPr>
                      <m:t> </m:t>
                    </m:r>
                  </m:oMath>
                </a14:m>
                <a:r>
                  <a:rPr lang="en-US" altLang="ko-KR" dirty="0">
                    <a:latin typeface="나눔스퀘어_ac" panose="020B0600000101010101" pitchFamily="50" charset="-127"/>
                    <a:ea typeface="나눔스퀘어_ac" panose="020B0600000101010101" pitchFamily="50" charset="-127"/>
                  </a:rPr>
                  <a:t>is the bias vector, </a:t>
                </a:r>
                <a14:m>
                  <m:oMath xmlns:m="http://schemas.openxmlformats.org/officeDocument/2006/math">
                    <m:r>
                      <a:rPr lang="en-US" altLang="ko-KR" i="1" dirty="0" smtClean="0">
                        <a:latin typeface="Cambria Math" panose="02040503050406030204" pitchFamily="18" charset="0"/>
                      </a:rPr>
                      <m:t>𝑈</m:t>
                    </m:r>
                    <m:r>
                      <a:rPr lang="en-US" altLang="ko-KR" i="1" dirty="0" smtClean="0">
                        <a:latin typeface="Cambria Math" panose="02040503050406030204" pitchFamily="18" charset="0"/>
                      </a:rPr>
                      <m:t>∈</m:t>
                    </m:r>
                    <m:sSup>
                      <m:sSupPr>
                        <m:ctrlPr>
                          <a:rPr lang="en-US" altLang="ko-KR" b="0" i="1" dirty="0" smtClean="0">
                            <a:latin typeface="Cambria Math" panose="02040503050406030204" pitchFamily="18" charset="0"/>
                          </a:rPr>
                        </m:ctrlPr>
                      </m:sSupPr>
                      <m:e>
                        <m:r>
                          <a:rPr lang="en-US" altLang="ko-KR" i="1" dirty="0" smtClean="0">
                            <a:latin typeface="Cambria Math" panose="02040503050406030204" pitchFamily="18" charset="0"/>
                          </a:rPr>
                          <m:t>𝑅</m:t>
                        </m:r>
                      </m:e>
                      <m:sup>
                        <m:r>
                          <a:rPr lang="en-US" altLang="ko-KR" i="1" dirty="0" err="1">
                            <a:latin typeface="Cambria Math" panose="02040503050406030204" pitchFamily="18" charset="0"/>
                          </a:rPr>
                          <m:t>𝑘</m:t>
                        </m:r>
                        <m:r>
                          <a:rPr lang="en-US" altLang="ko-KR" i="1" dirty="0" err="1">
                            <a:latin typeface="Cambria Math" panose="02040503050406030204" pitchFamily="18" charset="0"/>
                          </a:rPr>
                          <m:t>×</m:t>
                        </m:r>
                        <m:r>
                          <a:rPr lang="en-US" altLang="ko-KR" i="1" dirty="0" err="1">
                            <a:latin typeface="Cambria Math" panose="02040503050406030204" pitchFamily="18" charset="0"/>
                          </a:rPr>
                          <m:t>𝑑</m:t>
                        </m:r>
                        <m:r>
                          <a:rPr lang="en-US" altLang="ko-KR" i="1" dirty="0" err="1">
                            <a:latin typeface="Cambria Math" panose="02040503050406030204" pitchFamily="18" charset="0"/>
                          </a:rPr>
                          <m:t>×</m:t>
                        </m:r>
                        <m:r>
                          <a:rPr lang="en-US" altLang="ko-KR" i="1" dirty="0" err="1">
                            <a:latin typeface="Cambria Math" panose="02040503050406030204" pitchFamily="18" charset="0"/>
                          </a:rPr>
                          <m:t>𝑑</m:t>
                        </m:r>
                      </m:sup>
                    </m:sSup>
                    <m:r>
                      <a:rPr lang="en-US" altLang="ko-KR" i="1" dirty="0">
                        <a:latin typeface="Cambria Math" panose="02040503050406030204" pitchFamily="18" charset="0"/>
                      </a:rPr>
                      <m:t> </m:t>
                    </m:r>
                  </m:oMath>
                </a14:m>
                <a:r>
                  <a:rPr lang="en-US" altLang="ko-KR" dirty="0">
                    <a:latin typeface="나눔스퀘어_ac" panose="020B0600000101010101" pitchFamily="50" charset="-127"/>
                    <a:ea typeface="나눔스퀘어_ac" panose="020B0600000101010101" pitchFamily="50" charset="-127"/>
                  </a:rPr>
                  <a:t>are tensors, which are sets of matrices, each with d × d dimensions. </a:t>
                </a:r>
                <a:endParaRPr lang="ko-KR" altLang="en-US" dirty="0">
                  <a:latin typeface="나눔스퀘어_ac" panose="020B0600000101010101" pitchFamily="50" charset="-127"/>
                  <a:ea typeface="나눔스퀘어_ac" panose="020B0600000101010101" pitchFamily="50" charset="-127"/>
                </a:endParaRPr>
              </a:p>
            </p:txBody>
          </p:sp>
        </mc:Choice>
        <mc:Fallback>
          <p:sp>
            <p:nvSpPr>
              <p:cNvPr id="8" name="TextBox 7">
                <a:extLst>
                  <a:ext uri="{FF2B5EF4-FFF2-40B4-BE49-F238E27FC236}">
                    <a16:creationId xmlns:a16="http://schemas.microsoft.com/office/drawing/2014/main" id="{0B085265-B489-4288-B439-C8164056073D}"/>
                  </a:ext>
                </a:extLst>
              </p:cNvPr>
              <p:cNvSpPr txBox="1">
                <a:spLocks noRot="1" noChangeAspect="1" noMove="1" noResize="1" noEditPoints="1" noAdjustHandles="1" noChangeArrowheads="1" noChangeShapeType="1" noTextEdit="1"/>
              </p:cNvSpPr>
              <p:nvPr/>
            </p:nvSpPr>
            <p:spPr>
              <a:xfrm>
                <a:off x="6713978" y="2370943"/>
                <a:ext cx="4339504" cy="1487202"/>
              </a:xfrm>
              <a:prstGeom prst="rect">
                <a:avLst/>
              </a:prstGeom>
              <a:blipFill>
                <a:blip r:embed="rId4"/>
                <a:stretch>
                  <a:fillRect l="-1124" t="-2049" r="-1685" b="-5738"/>
                </a:stretch>
              </a:blipFill>
            </p:spPr>
            <p:txBody>
              <a:bodyPr/>
              <a:lstStyle/>
              <a:p>
                <a:r>
                  <a:rPr lang="ko-KR" altLang="en-US">
                    <a:noFill/>
                  </a:rPr>
                  <a:t> </a:t>
                </a:r>
              </a:p>
            </p:txBody>
          </p:sp>
        </mc:Fallback>
      </mc:AlternateContent>
      <p:pic>
        <p:nvPicPr>
          <p:cNvPr id="10" name="그림 9">
            <a:extLst>
              <a:ext uri="{FF2B5EF4-FFF2-40B4-BE49-F238E27FC236}">
                <a16:creationId xmlns:a16="http://schemas.microsoft.com/office/drawing/2014/main" id="{5F2B2213-DD1E-4534-8DFE-572852582338}"/>
              </a:ext>
            </a:extLst>
          </p:cNvPr>
          <p:cNvPicPr>
            <a:picLocks noChangeAspect="1"/>
          </p:cNvPicPr>
          <p:nvPr/>
        </p:nvPicPr>
        <p:blipFill>
          <a:blip r:embed="rId5"/>
          <a:stretch>
            <a:fillRect/>
          </a:stretch>
        </p:blipFill>
        <p:spPr>
          <a:xfrm>
            <a:off x="3857625" y="5969103"/>
            <a:ext cx="4476750" cy="495300"/>
          </a:xfrm>
          <a:prstGeom prst="rect">
            <a:avLst/>
          </a:prstGeom>
        </p:spPr>
      </p:pic>
    </p:spTree>
    <p:extLst>
      <p:ext uri="{BB962C8B-B14F-4D97-AF65-F5344CB8AC3E}">
        <p14:creationId xmlns:p14="http://schemas.microsoft.com/office/powerpoint/2010/main" val="2046060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Dual-path Gaussian Triple Encoder</a:t>
            </a:r>
            <a:endParaRPr lang="ko-KR" altLang="en-US" sz="3600" dirty="0">
              <a:latin typeface="나눔스퀘어_ac Bold" panose="020B0600000101010101" pitchFamily="50" charset="-127"/>
              <a:ea typeface="나눔스퀘어_ac Bold" panose="020B0600000101010101" pitchFamily="50" charset="-127"/>
            </a:endParaRPr>
          </a:p>
        </p:txBody>
      </p:sp>
      <p:pic>
        <p:nvPicPr>
          <p:cNvPr id="6" name="그림 5">
            <a:extLst>
              <a:ext uri="{FF2B5EF4-FFF2-40B4-BE49-F238E27FC236}">
                <a16:creationId xmlns:a16="http://schemas.microsoft.com/office/drawing/2014/main" id="{71FC3D0E-B0AF-4BE1-9851-2055A67D9228}"/>
              </a:ext>
            </a:extLst>
          </p:cNvPr>
          <p:cNvPicPr>
            <a:picLocks noChangeAspect="1"/>
          </p:cNvPicPr>
          <p:nvPr/>
        </p:nvPicPr>
        <p:blipFill>
          <a:blip r:embed="rId2"/>
          <a:stretch>
            <a:fillRect/>
          </a:stretch>
        </p:blipFill>
        <p:spPr>
          <a:xfrm>
            <a:off x="926646" y="1065566"/>
            <a:ext cx="5169354" cy="3141186"/>
          </a:xfrm>
          <a:prstGeom prst="rect">
            <a:avLst/>
          </a:prstGeom>
        </p:spPr>
      </p:pic>
      <p:pic>
        <p:nvPicPr>
          <p:cNvPr id="3" name="그림 2">
            <a:extLst>
              <a:ext uri="{FF2B5EF4-FFF2-40B4-BE49-F238E27FC236}">
                <a16:creationId xmlns:a16="http://schemas.microsoft.com/office/drawing/2014/main" id="{8DD66F61-A118-40BF-80A9-747E79734CD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740111" y="1173974"/>
            <a:ext cx="4191000" cy="902228"/>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B085265-B489-4288-B439-C8164056073D}"/>
                  </a:ext>
                </a:extLst>
              </p:cNvPr>
              <p:cNvSpPr txBox="1"/>
              <p:nvPr/>
            </p:nvSpPr>
            <p:spPr>
              <a:xfrm>
                <a:off x="6863829" y="2178486"/>
                <a:ext cx="4191000" cy="374270"/>
              </a:xfrm>
              <a:prstGeom prst="rect">
                <a:avLst/>
              </a:prstGeom>
              <a:noFill/>
            </p:spPr>
            <p:txBody>
              <a:bodyPr wrap="square">
                <a:spAutoFit/>
              </a:bodyPr>
              <a:lstStyle/>
              <a:p>
                <a:r>
                  <a:rPr lang="en-US" altLang="ko-KR" dirty="0">
                    <a:latin typeface="나눔스퀘어_ac" panose="020B0600000101010101" pitchFamily="50" charset="-127"/>
                    <a:ea typeface="나눔스퀘어_ac" panose="020B0600000101010101" pitchFamily="50" charset="-127"/>
                  </a:rPr>
                  <a:t>where </a:t>
                </a:r>
                <a14:m>
                  <m:oMath xmlns:m="http://schemas.openxmlformats.org/officeDocument/2006/math">
                    <m:r>
                      <a:rPr lang="en-US" altLang="ko-KR" i="1" dirty="0" smtClean="0">
                        <a:latin typeface="Cambria Math" panose="02040503050406030204" pitchFamily="18" charset="0"/>
                      </a:rPr>
                      <m:t>𝑊</m:t>
                    </m:r>
                    <m:r>
                      <a:rPr lang="en-US" altLang="ko-KR" i="1" dirty="0" smtClean="0">
                        <a:latin typeface="Cambria Math" panose="02040503050406030204" pitchFamily="18" charset="0"/>
                      </a:rPr>
                      <m:t> ∈ </m:t>
                    </m:r>
                    <m:sSup>
                      <m:sSupPr>
                        <m:ctrlPr>
                          <a:rPr lang="en-US" altLang="ko-KR" b="0" i="1" dirty="0" smtClean="0">
                            <a:latin typeface="Cambria Math" panose="02040503050406030204" pitchFamily="18" charset="0"/>
                          </a:rPr>
                        </m:ctrlPr>
                      </m:sSupPr>
                      <m:e>
                        <m:r>
                          <a:rPr lang="en-US" altLang="ko-KR" i="1" dirty="0" smtClean="0">
                            <a:latin typeface="Cambria Math" panose="02040503050406030204" pitchFamily="18" charset="0"/>
                          </a:rPr>
                          <m:t>𝑅</m:t>
                        </m:r>
                      </m:e>
                      <m:sup>
                        <m:r>
                          <a:rPr lang="en-US" altLang="ko-KR" i="1" dirty="0" smtClean="0">
                            <a:latin typeface="Cambria Math" panose="02040503050406030204" pitchFamily="18" charset="0"/>
                          </a:rPr>
                          <m:t>𝑘</m:t>
                        </m:r>
                        <m:r>
                          <a:rPr lang="en-US" altLang="ko-KR" i="1" dirty="0" smtClean="0">
                            <a:latin typeface="Cambria Math" panose="02040503050406030204" pitchFamily="18" charset="0"/>
                          </a:rPr>
                          <m:t>×2</m:t>
                        </m:r>
                        <m:r>
                          <a:rPr lang="en-US" altLang="ko-KR" i="1" dirty="0" smtClean="0">
                            <a:latin typeface="Cambria Math" panose="02040503050406030204" pitchFamily="18" charset="0"/>
                          </a:rPr>
                          <m:t>𝑑</m:t>
                        </m:r>
                      </m:sup>
                    </m:sSup>
                    <m:r>
                      <a:rPr lang="en-US" altLang="ko-KR" i="1" dirty="0" smtClean="0">
                        <a:latin typeface="Cambria Math" panose="02040503050406030204" pitchFamily="18" charset="0"/>
                      </a:rPr>
                      <m:t> </m:t>
                    </m:r>
                  </m:oMath>
                </a14:m>
                <a:r>
                  <a:rPr lang="en-US" altLang="ko-KR" dirty="0">
                    <a:latin typeface="나눔스퀘어_ac" panose="020B0600000101010101" pitchFamily="50" charset="-127"/>
                    <a:ea typeface="나눔스퀘어_ac" panose="020B0600000101010101" pitchFamily="50" charset="-127"/>
                  </a:rPr>
                  <a:t>is weight matrix. </a:t>
                </a:r>
                <a:endParaRPr lang="ko-KR" altLang="en-US" dirty="0">
                  <a:latin typeface="나눔스퀘어_ac" panose="020B0600000101010101" pitchFamily="50" charset="-127"/>
                  <a:ea typeface="나눔스퀘어_ac" panose="020B0600000101010101" pitchFamily="50" charset="-127"/>
                </a:endParaRPr>
              </a:p>
            </p:txBody>
          </p:sp>
        </mc:Choice>
        <mc:Fallback>
          <p:sp>
            <p:nvSpPr>
              <p:cNvPr id="8" name="TextBox 7">
                <a:extLst>
                  <a:ext uri="{FF2B5EF4-FFF2-40B4-BE49-F238E27FC236}">
                    <a16:creationId xmlns:a16="http://schemas.microsoft.com/office/drawing/2014/main" id="{0B085265-B489-4288-B439-C8164056073D}"/>
                  </a:ext>
                </a:extLst>
              </p:cNvPr>
              <p:cNvSpPr txBox="1">
                <a:spLocks noRot="1" noChangeAspect="1" noMove="1" noResize="1" noEditPoints="1" noAdjustHandles="1" noChangeArrowheads="1" noChangeShapeType="1" noTextEdit="1"/>
              </p:cNvSpPr>
              <p:nvPr/>
            </p:nvSpPr>
            <p:spPr>
              <a:xfrm>
                <a:off x="6863829" y="2178486"/>
                <a:ext cx="4191000" cy="374270"/>
              </a:xfrm>
              <a:prstGeom prst="rect">
                <a:avLst/>
              </a:prstGeom>
              <a:blipFill>
                <a:blip r:embed="rId4"/>
                <a:stretch>
                  <a:fillRect l="-1310" t="-4839" b="-25806"/>
                </a:stretch>
              </a:blipFill>
            </p:spPr>
            <p:txBody>
              <a:bodyPr/>
              <a:lstStyle/>
              <a:p>
                <a:r>
                  <a:rPr lang="ko-KR" altLang="en-US">
                    <a:noFill/>
                  </a:rPr>
                  <a:t> </a:t>
                </a:r>
              </a:p>
            </p:txBody>
          </p:sp>
        </mc:Fallback>
      </mc:AlternateContent>
      <p:sp>
        <p:nvSpPr>
          <p:cNvPr id="9" name="TextBox 8">
            <a:extLst>
              <a:ext uri="{FF2B5EF4-FFF2-40B4-BE49-F238E27FC236}">
                <a16:creationId xmlns:a16="http://schemas.microsoft.com/office/drawing/2014/main" id="{04137C1A-A22B-42CC-A6FF-8F32F730D989}"/>
              </a:ext>
            </a:extLst>
          </p:cNvPr>
          <p:cNvSpPr txBox="1"/>
          <p:nvPr/>
        </p:nvSpPr>
        <p:spPr>
          <a:xfrm>
            <a:off x="926646" y="4206752"/>
            <a:ext cx="10772295" cy="2031325"/>
          </a:xfrm>
          <a:prstGeom prst="rect">
            <a:avLst/>
          </a:prstGeom>
          <a:noFill/>
        </p:spPr>
        <p:txBody>
          <a:bodyPr wrap="square">
            <a:spAutoFit/>
          </a:bodyPr>
          <a:lstStyle/>
          <a:p>
            <a:pPr marL="285750" indent="-285750">
              <a:buFont typeface="Arial" panose="020B0604020202020204" pitchFamily="34" charset="0"/>
              <a:buChar char="•"/>
            </a:pPr>
            <a:r>
              <a:rPr lang="en-US" altLang="ko-KR" dirty="0">
                <a:latin typeface="나눔스퀘어_ac" panose="020B0600000101010101" pitchFamily="50" charset="-127"/>
                <a:ea typeface="나눔스퀘어_ac" panose="020B0600000101010101" pitchFamily="50" charset="-127"/>
              </a:rPr>
              <a:t>For the variance vector, we assume that it mainly captures the variety of expressions relating to the same event, which is mainly determined by the predicates of events, not the multiplicative interactions between s and p or p and o. </a:t>
            </a:r>
          </a:p>
          <a:p>
            <a:pPr marL="285750" indent="-285750">
              <a:buFont typeface="Arial" panose="020B0604020202020204" pitchFamily="34" charset="0"/>
              <a:buChar char="•"/>
            </a:pPr>
            <a:r>
              <a:rPr lang="en-US" altLang="ko-KR" dirty="0">
                <a:latin typeface="나눔스퀘어_ac" panose="020B0600000101010101" pitchFamily="50" charset="-127"/>
                <a:ea typeface="나눔스퀘어_ac" panose="020B0600000101010101" pitchFamily="50" charset="-127"/>
              </a:rPr>
              <a:t>Thus introduce an additive-composition-based path to model the variance vector of an event Gaussian embedding. </a:t>
            </a:r>
          </a:p>
          <a:p>
            <a:pPr marL="285750" indent="-285750">
              <a:buFont typeface="Arial" panose="020B0604020202020204" pitchFamily="34" charset="0"/>
              <a:buChar char="•"/>
            </a:pPr>
            <a:r>
              <a:rPr lang="en-US" altLang="ko-KR" dirty="0">
                <a:latin typeface="나눔스퀘어_ac" panose="020B0600000101010101" pitchFamily="50" charset="-127"/>
                <a:ea typeface="나눔스퀘어_ac" panose="020B0600000101010101" pitchFamily="50" charset="-127"/>
              </a:rPr>
              <a:t>The variance vector σ 2 is calculated by the additive composition of the intermediate representations m3 and m4: </a:t>
            </a:r>
          </a:p>
        </p:txBody>
      </p:sp>
      <p:pic>
        <p:nvPicPr>
          <p:cNvPr id="10" name="그림 9">
            <a:extLst>
              <a:ext uri="{FF2B5EF4-FFF2-40B4-BE49-F238E27FC236}">
                <a16:creationId xmlns:a16="http://schemas.microsoft.com/office/drawing/2014/main" id="{77C1BE41-0A3B-4CE2-B7A2-5790EEA98376}"/>
              </a:ext>
            </a:extLst>
          </p:cNvPr>
          <p:cNvPicPr>
            <a:picLocks noChangeAspect="1"/>
          </p:cNvPicPr>
          <p:nvPr/>
        </p:nvPicPr>
        <p:blipFill>
          <a:blip r:embed="rId5"/>
          <a:stretch>
            <a:fillRect/>
          </a:stretch>
        </p:blipFill>
        <p:spPr>
          <a:xfrm>
            <a:off x="3954695" y="6238077"/>
            <a:ext cx="4282609" cy="495099"/>
          </a:xfrm>
          <a:prstGeom prst="rect">
            <a:avLst/>
          </a:prstGeom>
        </p:spPr>
      </p:pic>
    </p:spTree>
    <p:extLst>
      <p:ext uri="{BB962C8B-B14F-4D97-AF65-F5344CB8AC3E}">
        <p14:creationId xmlns:p14="http://schemas.microsoft.com/office/powerpoint/2010/main" val="1519580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Visual Event Components-aware Image Encoder</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5" name="TextBox 4">
            <a:extLst>
              <a:ext uri="{FF2B5EF4-FFF2-40B4-BE49-F238E27FC236}">
                <a16:creationId xmlns:a16="http://schemas.microsoft.com/office/drawing/2014/main" id="{24B07751-207F-40DB-8AC0-C791D79F812F}"/>
              </a:ext>
            </a:extLst>
          </p:cNvPr>
          <p:cNvSpPr txBox="1"/>
          <p:nvPr/>
        </p:nvSpPr>
        <p:spPr>
          <a:xfrm>
            <a:off x="838200" y="4221841"/>
            <a:ext cx="11088169" cy="1938992"/>
          </a:xfrm>
          <a:prstGeom prst="rect">
            <a:avLst/>
          </a:prstGeom>
          <a:noFill/>
        </p:spPr>
        <p:txBody>
          <a:bodyPr wrap="square">
            <a:spAutoFit/>
          </a:bodyPr>
          <a:lstStyle/>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Map an event image v to a point embedding v, where the image embeddings of similar triples should be clustered and image embeddings of dissimilar triples should be separated. </a:t>
            </a:r>
          </a:p>
          <a:p>
            <a:pPr marL="342900" indent="-342900">
              <a:buFont typeface="Arial" panose="020B0604020202020204" pitchFamily="34" charset="0"/>
              <a:buChar char="•"/>
            </a:pPr>
            <a:endParaRPr lang="en-US" altLang="ko-KR" sz="20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To capture the event semantics in the image, we proposed to detect visual event components in the image and compose their representations to get event image embedding. </a:t>
            </a:r>
            <a:endParaRPr lang="ko-KR" altLang="en-US" sz="2000" dirty="0">
              <a:latin typeface="나눔스퀘어_ac" panose="020B0600000101010101" pitchFamily="50" charset="-127"/>
              <a:ea typeface="나눔스퀘어_ac" panose="020B0600000101010101" pitchFamily="50" charset="-127"/>
            </a:endParaRPr>
          </a:p>
        </p:txBody>
      </p:sp>
      <p:pic>
        <p:nvPicPr>
          <p:cNvPr id="7" name="그림 6">
            <a:extLst>
              <a:ext uri="{FF2B5EF4-FFF2-40B4-BE49-F238E27FC236}">
                <a16:creationId xmlns:a16="http://schemas.microsoft.com/office/drawing/2014/main" id="{0EB8EB44-7DF2-4A3A-A1F9-1A9B3DAE7442}"/>
              </a:ext>
            </a:extLst>
          </p:cNvPr>
          <p:cNvPicPr>
            <a:picLocks noChangeAspect="1"/>
          </p:cNvPicPr>
          <p:nvPr/>
        </p:nvPicPr>
        <p:blipFill rotWithShape="1">
          <a:blip r:embed="rId2"/>
          <a:srcRect l="381" t="54826" r="7544" b="1818"/>
          <a:stretch/>
        </p:blipFill>
        <p:spPr>
          <a:xfrm>
            <a:off x="3632360" y="1999129"/>
            <a:ext cx="6506722" cy="1580878"/>
          </a:xfrm>
          <a:prstGeom prst="rect">
            <a:avLst/>
          </a:prstGeom>
        </p:spPr>
      </p:pic>
    </p:spTree>
    <p:extLst>
      <p:ext uri="{BB962C8B-B14F-4D97-AF65-F5344CB8AC3E}">
        <p14:creationId xmlns:p14="http://schemas.microsoft.com/office/powerpoint/2010/main" val="21463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Visual Event Components-aware Image Encoder</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5" name="TextBox 4">
            <a:extLst>
              <a:ext uri="{FF2B5EF4-FFF2-40B4-BE49-F238E27FC236}">
                <a16:creationId xmlns:a16="http://schemas.microsoft.com/office/drawing/2014/main" id="{24B07751-207F-40DB-8AC0-C791D79F812F}"/>
              </a:ext>
            </a:extLst>
          </p:cNvPr>
          <p:cNvSpPr txBox="1"/>
          <p:nvPr/>
        </p:nvSpPr>
        <p:spPr>
          <a:xfrm>
            <a:off x="838200" y="4221841"/>
            <a:ext cx="11088169" cy="2246769"/>
          </a:xfrm>
          <a:prstGeom prst="rect">
            <a:avLst/>
          </a:prstGeom>
          <a:noFill/>
        </p:spPr>
        <p:txBody>
          <a:bodyPr wrap="square">
            <a:spAutoFit/>
          </a:bodyPr>
          <a:lstStyle/>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First train an image classifier on the </a:t>
            </a:r>
            <a:r>
              <a:rPr lang="en-US" altLang="ko-KR" sz="2000" dirty="0" err="1">
                <a:latin typeface="나눔스퀘어_ac" panose="020B0600000101010101" pitchFamily="50" charset="-127"/>
                <a:ea typeface="나눔스퀘어_ac" panose="020B0600000101010101" pitchFamily="50" charset="-127"/>
              </a:rPr>
              <a:t>ImSitu</a:t>
            </a:r>
            <a:r>
              <a:rPr lang="en-US" altLang="ko-KR" sz="2000" dirty="0">
                <a:latin typeface="나눔스퀘어_ac" panose="020B0600000101010101" pitchFamily="50" charset="-127"/>
                <a:ea typeface="나눔스퀘어_ac" panose="020B0600000101010101" pitchFamily="50" charset="-127"/>
              </a:rPr>
              <a:t> dataset, which introduces the task of situation recognition (In </a:t>
            </a:r>
            <a:r>
              <a:rPr lang="en-US" altLang="ko-KR" sz="2000" dirty="0" err="1">
                <a:latin typeface="나눔스퀘어_ac" panose="020B0600000101010101" pitchFamily="50" charset="-127"/>
                <a:ea typeface="나눔스퀘어_ac" panose="020B0600000101010101" pitchFamily="50" charset="-127"/>
              </a:rPr>
              <a:t>ImSitu</a:t>
            </a:r>
            <a:r>
              <a:rPr lang="en-US" altLang="ko-KR" sz="2000" dirty="0">
                <a:latin typeface="나눔스퀘어_ac" panose="020B0600000101010101" pitchFamily="50" charset="-127"/>
                <a:ea typeface="나눔스퀘어_ac" panose="020B0600000101010101" pitchFamily="50" charset="-127"/>
              </a:rPr>
              <a:t>, every image is annotated with an activity and roles (called attributes) which are participants in the activity)</a:t>
            </a:r>
          </a:p>
          <a:p>
            <a:pPr marL="342900" indent="-342900">
              <a:buFont typeface="Arial" panose="020B0604020202020204" pitchFamily="34" charset="0"/>
              <a:buChar char="•"/>
            </a:pPr>
            <a:endParaRPr lang="en-US" altLang="ko-KR" sz="20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Pre-train the image encoder to identify three attributes in </a:t>
            </a:r>
            <a:r>
              <a:rPr lang="en-US" altLang="ko-KR" sz="2000" dirty="0" err="1">
                <a:latin typeface="나눔스퀘어_ac" panose="020B0600000101010101" pitchFamily="50" charset="-127"/>
                <a:ea typeface="나눔스퀘어_ac" panose="020B0600000101010101" pitchFamily="50" charset="-127"/>
              </a:rPr>
              <a:t>ImSitu</a:t>
            </a:r>
            <a:r>
              <a:rPr lang="en-US" altLang="ko-KR" sz="2000" dirty="0">
                <a:latin typeface="나눔스퀘어_ac" panose="020B0600000101010101" pitchFamily="50" charset="-127"/>
                <a:ea typeface="나눔스퀘어_ac" panose="020B0600000101010101" pitchFamily="50" charset="-127"/>
              </a:rPr>
              <a:t>, subject, activity and source, which are corresponding to subject, predicate and object in an event triple.</a:t>
            </a:r>
          </a:p>
          <a:p>
            <a:pPr marL="342900" indent="-342900">
              <a:buFont typeface="Arial" panose="020B0604020202020204" pitchFamily="34" charset="0"/>
              <a:buChar char="•"/>
            </a:pPr>
            <a:endParaRPr lang="ko-KR" altLang="en-US" sz="2000" dirty="0">
              <a:latin typeface="나눔스퀘어_ac" panose="020B0600000101010101" pitchFamily="50" charset="-127"/>
              <a:ea typeface="나눔스퀘어_ac" panose="020B0600000101010101" pitchFamily="50" charset="-127"/>
            </a:endParaRPr>
          </a:p>
        </p:txBody>
      </p:sp>
      <p:pic>
        <p:nvPicPr>
          <p:cNvPr id="6" name="그림 5">
            <a:extLst>
              <a:ext uri="{FF2B5EF4-FFF2-40B4-BE49-F238E27FC236}">
                <a16:creationId xmlns:a16="http://schemas.microsoft.com/office/drawing/2014/main" id="{71FC3D0E-B0AF-4BE1-9851-2055A67D922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308116" y="1266652"/>
            <a:ext cx="5169354" cy="2521942"/>
          </a:xfrm>
          <a:prstGeom prst="rect">
            <a:avLst/>
          </a:prstGeom>
        </p:spPr>
      </p:pic>
      <p:pic>
        <p:nvPicPr>
          <p:cNvPr id="3" name="그림 2">
            <a:extLst>
              <a:ext uri="{FF2B5EF4-FFF2-40B4-BE49-F238E27FC236}">
                <a16:creationId xmlns:a16="http://schemas.microsoft.com/office/drawing/2014/main" id="{60A00A59-A0EE-47D0-BC78-778F134113C3}"/>
              </a:ext>
            </a:extLst>
          </p:cNvPr>
          <p:cNvPicPr>
            <a:picLocks noChangeAspect="1"/>
          </p:cNvPicPr>
          <p:nvPr/>
        </p:nvPicPr>
        <p:blipFill>
          <a:blip r:embed="rId3"/>
          <a:stretch>
            <a:fillRect/>
          </a:stretch>
        </p:blipFill>
        <p:spPr>
          <a:xfrm>
            <a:off x="570464" y="1331667"/>
            <a:ext cx="5525536" cy="2391912"/>
          </a:xfrm>
          <a:prstGeom prst="rect">
            <a:avLst/>
          </a:prstGeom>
        </p:spPr>
      </p:pic>
    </p:spTree>
    <p:extLst>
      <p:ext uri="{BB962C8B-B14F-4D97-AF65-F5344CB8AC3E}">
        <p14:creationId xmlns:p14="http://schemas.microsoft.com/office/powerpoint/2010/main" val="1534443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Visual Event Components-aware Image Encoder</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5" name="TextBox 4">
            <a:extLst>
              <a:ext uri="{FF2B5EF4-FFF2-40B4-BE49-F238E27FC236}">
                <a16:creationId xmlns:a16="http://schemas.microsoft.com/office/drawing/2014/main" id="{24B07751-207F-40DB-8AC0-C791D79F812F}"/>
              </a:ext>
            </a:extLst>
          </p:cNvPr>
          <p:cNvSpPr txBox="1"/>
          <p:nvPr/>
        </p:nvSpPr>
        <p:spPr>
          <a:xfrm>
            <a:off x="838200" y="4221841"/>
            <a:ext cx="11088169" cy="1631216"/>
          </a:xfrm>
          <a:prstGeom prst="rect">
            <a:avLst/>
          </a:prstGeom>
          <a:noFill/>
        </p:spPr>
        <p:txBody>
          <a:bodyPr wrap="square">
            <a:spAutoFit/>
          </a:bodyPr>
          <a:lstStyle/>
          <a:p>
            <a:pPr marL="342900" indent="-342900">
              <a:buFont typeface="Arial" panose="020B0604020202020204" pitchFamily="34" charset="0"/>
              <a:buChar char="•"/>
            </a:pPr>
            <a:r>
              <a:rPr lang="en-US" altLang="ko-KR" sz="2000" dirty="0"/>
              <a:t>Employ the attention mechanism to extract open-vocabulary event components.</a:t>
            </a:r>
          </a:p>
          <a:p>
            <a:pPr marL="342900" indent="-342900">
              <a:buFont typeface="Arial" panose="020B0604020202020204" pitchFamily="34" charset="0"/>
              <a:buChar char="•"/>
            </a:pPr>
            <a:endParaRPr lang="en-US" altLang="ko-KR" sz="20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A VGG-16 CNN to extract an overall image feature g and a 7 × 7 convolutional feature map for each image v: </a:t>
            </a:r>
            <a:r>
              <a:rPr lang="en-US" altLang="ko-KR" sz="2000" dirty="0" err="1">
                <a:latin typeface="나눔스퀘어_ac" panose="020B0600000101010101" pitchFamily="50" charset="-127"/>
                <a:ea typeface="나눔스퀘어_ac" panose="020B0600000101010101" pitchFamily="50" charset="-127"/>
              </a:rPr>
              <a:t>ki,j</a:t>
            </a:r>
            <a:r>
              <a:rPr lang="en-US" altLang="ko-KR" sz="2000" dirty="0">
                <a:latin typeface="나눔스퀘어_ac" panose="020B0600000101010101" pitchFamily="50" charset="-127"/>
                <a:ea typeface="나눔스퀘어_ac" panose="020B0600000101010101" pitchFamily="50" charset="-127"/>
              </a:rPr>
              <a:t> = CNN(v), </a:t>
            </a:r>
            <a:r>
              <a:rPr lang="en-US" altLang="ko-KR" sz="2000" dirty="0"/>
              <a:t>which can be regarded as attention keys for 7× 7 local regions</a:t>
            </a:r>
            <a:endParaRPr lang="ko-KR" altLang="en-US" sz="2000" dirty="0">
              <a:latin typeface="나눔스퀘어_ac" panose="020B0600000101010101" pitchFamily="50" charset="-127"/>
              <a:ea typeface="나눔스퀘어_ac" panose="020B0600000101010101" pitchFamily="50" charset="-127"/>
            </a:endParaRPr>
          </a:p>
        </p:txBody>
      </p:sp>
      <p:pic>
        <p:nvPicPr>
          <p:cNvPr id="6" name="그림 5">
            <a:extLst>
              <a:ext uri="{FF2B5EF4-FFF2-40B4-BE49-F238E27FC236}">
                <a16:creationId xmlns:a16="http://schemas.microsoft.com/office/drawing/2014/main" id="{71FC3D0E-B0AF-4BE1-9851-2055A67D922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3354" y="1233994"/>
            <a:ext cx="5889327" cy="2873191"/>
          </a:xfrm>
          <a:prstGeom prst="rect">
            <a:avLst/>
          </a:prstGeom>
        </p:spPr>
      </p:pic>
      <p:sp>
        <p:nvSpPr>
          <p:cNvPr id="2" name="직사각형 1">
            <a:extLst>
              <a:ext uri="{FF2B5EF4-FFF2-40B4-BE49-F238E27FC236}">
                <a16:creationId xmlns:a16="http://schemas.microsoft.com/office/drawing/2014/main" id="{16FE7B6B-30E7-40CA-964C-DEDEBDDB7E56}"/>
              </a:ext>
            </a:extLst>
          </p:cNvPr>
          <p:cNvSpPr/>
          <p:nvPr/>
        </p:nvSpPr>
        <p:spPr>
          <a:xfrm>
            <a:off x="2661556" y="1324990"/>
            <a:ext cx="1768928" cy="13909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a:extLst>
              <a:ext uri="{FF2B5EF4-FFF2-40B4-BE49-F238E27FC236}">
                <a16:creationId xmlns:a16="http://schemas.microsoft.com/office/drawing/2014/main" id="{69BD820A-038B-4F44-BCA8-5C8A5B70921F}"/>
              </a:ext>
            </a:extLst>
          </p:cNvPr>
          <p:cNvPicPr>
            <a:picLocks noChangeAspect="1"/>
          </p:cNvPicPr>
          <p:nvPr/>
        </p:nvPicPr>
        <p:blipFill>
          <a:blip r:embed="rId3"/>
          <a:stretch>
            <a:fillRect/>
          </a:stretch>
        </p:blipFill>
        <p:spPr>
          <a:xfrm>
            <a:off x="7511824" y="1371414"/>
            <a:ext cx="2981325" cy="485775"/>
          </a:xfrm>
          <a:prstGeom prst="rect">
            <a:avLst/>
          </a:prstGeom>
        </p:spPr>
      </p:pic>
      <p:pic>
        <p:nvPicPr>
          <p:cNvPr id="10" name="그림 9">
            <a:extLst>
              <a:ext uri="{FF2B5EF4-FFF2-40B4-BE49-F238E27FC236}">
                <a16:creationId xmlns:a16="http://schemas.microsoft.com/office/drawing/2014/main" id="{DF273F9D-2682-44C0-98D1-B66225043183}"/>
              </a:ext>
            </a:extLst>
          </p:cNvPr>
          <p:cNvPicPr>
            <a:picLocks noChangeAspect="1"/>
          </p:cNvPicPr>
          <p:nvPr/>
        </p:nvPicPr>
        <p:blipFill>
          <a:blip r:embed="rId4"/>
          <a:stretch>
            <a:fillRect/>
          </a:stretch>
        </p:blipFill>
        <p:spPr>
          <a:xfrm>
            <a:off x="7613876" y="2051254"/>
            <a:ext cx="3038475" cy="904875"/>
          </a:xfrm>
          <a:prstGeom prst="rect">
            <a:avLst/>
          </a:prstGeom>
        </p:spPr>
      </p:pic>
      <p:pic>
        <p:nvPicPr>
          <p:cNvPr id="12" name="그림 11">
            <a:extLst>
              <a:ext uri="{FF2B5EF4-FFF2-40B4-BE49-F238E27FC236}">
                <a16:creationId xmlns:a16="http://schemas.microsoft.com/office/drawing/2014/main" id="{628AE115-EBC2-46C9-A13F-BA23A1658F00}"/>
              </a:ext>
            </a:extLst>
          </p:cNvPr>
          <p:cNvPicPr>
            <a:picLocks noChangeAspect="1"/>
          </p:cNvPicPr>
          <p:nvPr/>
        </p:nvPicPr>
        <p:blipFill>
          <a:blip r:embed="rId5"/>
          <a:stretch>
            <a:fillRect/>
          </a:stretch>
        </p:blipFill>
        <p:spPr>
          <a:xfrm>
            <a:off x="8180613" y="3089578"/>
            <a:ext cx="1905000" cy="762000"/>
          </a:xfrm>
          <a:prstGeom prst="rect">
            <a:avLst/>
          </a:prstGeom>
        </p:spPr>
      </p:pic>
    </p:spTree>
    <p:extLst>
      <p:ext uri="{BB962C8B-B14F-4D97-AF65-F5344CB8AC3E}">
        <p14:creationId xmlns:p14="http://schemas.microsoft.com/office/powerpoint/2010/main" val="407330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Visual Event Components-aware Image Encoder</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5" name="TextBox 4">
            <a:extLst>
              <a:ext uri="{FF2B5EF4-FFF2-40B4-BE49-F238E27FC236}">
                <a16:creationId xmlns:a16="http://schemas.microsoft.com/office/drawing/2014/main" id="{24B07751-207F-40DB-8AC0-C791D79F812F}"/>
              </a:ext>
            </a:extLst>
          </p:cNvPr>
          <p:cNvSpPr txBox="1"/>
          <p:nvPr/>
        </p:nvSpPr>
        <p:spPr>
          <a:xfrm>
            <a:off x="838200" y="4221841"/>
            <a:ext cx="11088169" cy="1938992"/>
          </a:xfrm>
          <a:prstGeom prst="rect">
            <a:avLst/>
          </a:prstGeom>
          <a:noFill/>
        </p:spPr>
        <p:txBody>
          <a:bodyPr wrap="square">
            <a:spAutoFit/>
          </a:bodyPr>
          <a:lstStyle/>
          <a:p>
            <a:pPr marL="342900" indent="-342900">
              <a:buFont typeface="Arial" panose="020B0604020202020204" pitchFamily="34" charset="0"/>
              <a:buChar char="•"/>
            </a:pPr>
            <a:r>
              <a:rPr lang="en-US" altLang="ko-KR" sz="2000" dirty="0"/>
              <a:t>The representation of activity (predicate) is obtained by feeding the overall image feature g into an MLP: </a:t>
            </a:r>
            <a:r>
              <a:rPr lang="en-US" altLang="ko-KR" sz="2000" dirty="0" err="1"/>
              <a:t>rp</a:t>
            </a:r>
            <a:r>
              <a:rPr lang="en-US" altLang="ko-KR" sz="2000" dirty="0"/>
              <a:t> = MLP(g)</a:t>
            </a:r>
          </a:p>
          <a:p>
            <a:pPr marL="342900" indent="-342900">
              <a:buFont typeface="Arial" panose="020B0604020202020204" pitchFamily="34" charset="0"/>
              <a:buChar char="•"/>
            </a:pPr>
            <a:endParaRPr lang="en-US" altLang="ko-KR" sz="20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In the pre-training stage, we feed the extracted representations of subject and source as well as the representation g of the whole image I into the classification layers to perform situation recognition task.</a:t>
            </a:r>
            <a:endParaRPr lang="ko-KR" altLang="en-US" sz="2000" dirty="0">
              <a:latin typeface="나눔스퀘어_ac" panose="020B0600000101010101" pitchFamily="50" charset="-127"/>
              <a:ea typeface="나눔스퀘어_ac" panose="020B0600000101010101" pitchFamily="50" charset="-127"/>
            </a:endParaRPr>
          </a:p>
        </p:txBody>
      </p:sp>
      <p:pic>
        <p:nvPicPr>
          <p:cNvPr id="6" name="그림 5">
            <a:extLst>
              <a:ext uri="{FF2B5EF4-FFF2-40B4-BE49-F238E27FC236}">
                <a16:creationId xmlns:a16="http://schemas.microsoft.com/office/drawing/2014/main" id="{71FC3D0E-B0AF-4BE1-9851-2055A67D922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3354" y="1233994"/>
            <a:ext cx="5889327" cy="2873191"/>
          </a:xfrm>
          <a:prstGeom prst="rect">
            <a:avLst/>
          </a:prstGeom>
        </p:spPr>
      </p:pic>
      <p:sp>
        <p:nvSpPr>
          <p:cNvPr id="2" name="직사각형 1">
            <a:extLst>
              <a:ext uri="{FF2B5EF4-FFF2-40B4-BE49-F238E27FC236}">
                <a16:creationId xmlns:a16="http://schemas.microsoft.com/office/drawing/2014/main" id="{16FE7B6B-30E7-40CA-964C-DEDEBDDB7E56}"/>
              </a:ext>
            </a:extLst>
          </p:cNvPr>
          <p:cNvSpPr/>
          <p:nvPr/>
        </p:nvSpPr>
        <p:spPr>
          <a:xfrm>
            <a:off x="2955471" y="2775857"/>
            <a:ext cx="2824843" cy="8327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444966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Visual Event Components-aware Image Encoder</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5" name="TextBox 4">
            <a:extLst>
              <a:ext uri="{FF2B5EF4-FFF2-40B4-BE49-F238E27FC236}">
                <a16:creationId xmlns:a16="http://schemas.microsoft.com/office/drawing/2014/main" id="{24B07751-207F-40DB-8AC0-C791D79F812F}"/>
              </a:ext>
            </a:extLst>
          </p:cNvPr>
          <p:cNvSpPr txBox="1"/>
          <p:nvPr/>
        </p:nvSpPr>
        <p:spPr>
          <a:xfrm>
            <a:off x="838200" y="4710316"/>
            <a:ext cx="11088169" cy="1015663"/>
          </a:xfrm>
          <a:prstGeom prst="rect">
            <a:avLst/>
          </a:prstGeom>
          <a:noFill/>
        </p:spPr>
        <p:txBody>
          <a:bodyPr wrap="square">
            <a:spAutoFit/>
          </a:bodyPr>
          <a:lstStyle/>
          <a:p>
            <a:pPr marL="342900" indent="-342900">
              <a:buFont typeface="Arial" panose="020B0604020202020204" pitchFamily="34" charset="0"/>
              <a:buChar char="•"/>
            </a:pPr>
            <a:r>
              <a:rPr lang="en-US" altLang="ko-KR" sz="2000" dirty="0">
                <a:latin typeface="나눔스퀘어_ac" panose="020B0600000101010101" pitchFamily="50" charset="-127"/>
                <a:ea typeface="나눔스퀘어_ac" panose="020B0600000101010101" pitchFamily="50" charset="-127"/>
              </a:rPr>
              <a:t>After pre-training, we replace the classification layer with a fully-connected layer to compose the representations of event arguments and obtain the final representation of an image </a:t>
            </a:r>
            <a:r>
              <a:rPr lang="en-US" altLang="ko-KR" sz="2000" dirty="0" err="1">
                <a:latin typeface="나눔스퀘어_ac" panose="020B0600000101010101" pitchFamily="50" charset="-127"/>
                <a:ea typeface="나눔스퀘어_ac" panose="020B0600000101010101" pitchFamily="50" charset="-127"/>
              </a:rPr>
              <a:t>ei</a:t>
            </a:r>
            <a:endParaRPr lang="ko-KR" altLang="en-US" sz="2000" dirty="0">
              <a:latin typeface="나눔스퀘어_ac" panose="020B0600000101010101" pitchFamily="50" charset="-127"/>
              <a:ea typeface="나눔스퀘어_ac" panose="020B0600000101010101" pitchFamily="50" charset="-127"/>
            </a:endParaRPr>
          </a:p>
        </p:txBody>
      </p:sp>
      <p:pic>
        <p:nvPicPr>
          <p:cNvPr id="6" name="그림 5">
            <a:extLst>
              <a:ext uri="{FF2B5EF4-FFF2-40B4-BE49-F238E27FC236}">
                <a16:creationId xmlns:a16="http://schemas.microsoft.com/office/drawing/2014/main" id="{71FC3D0E-B0AF-4BE1-9851-2055A67D922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3354" y="1233994"/>
            <a:ext cx="5889327" cy="2873191"/>
          </a:xfrm>
          <a:prstGeom prst="rect">
            <a:avLst/>
          </a:prstGeom>
        </p:spPr>
      </p:pic>
      <p:sp>
        <p:nvSpPr>
          <p:cNvPr id="2" name="직사각형 1">
            <a:extLst>
              <a:ext uri="{FF2B5EF4-FFF2-40B4-BE49-F238E27FC236}">
                <a16:creationId xmlns:a16="http://schemas.microsoft.com/office/drawing/2014/main" id="{16FE7B6B-30E7-40CA-964C-DEDEBDDB7E56}"/>
              </a:ext>
            </a:extLst>
          </p:cNvPr>
          <p:cNvSpPr/>
          <p:nvPr/>
        </p:nvSpPr>
        <p:spPr>
          <a:xfrm>
            <a:off x="5731326" y="1402114"/>
            <a:ext cx="963381" cy="20268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2B221F6-0AC2-48BB-A10B-A2CB03572D2F}"/>
              </a:ext>
            </a:extLst>
          </p:cNvPr>
          <p:cNvPicPr>
            <a:picLocks noChangeAspect="1"/>
          </p:cNvPicPr>
          <p:nvPr/>
        </p:nvPicPr>
        <p:blipFill>
          <a:blip r:embed="rId3"/>
          <a:stretch>
            <a:fillRect/>
          </a:stretch>
        </p:blipFill>
        <p:spPr>
          <a:xfrm>
            <a:off x="8096250" y="2191618"/>
            <a:ext cx="3257550" cy="495300"/>
          </a:xfrm>
          <a:prstGeom prst="rect">
            <a:avLst/>
          </a:prstGeom>
        </p:spPr>
      </p:pic>
    </p:spTree>
    <p:extLst>
      <p:ext uri="{BB962C8B-B14F-4D97-AF65-F5344CB8AC3E}">
        <p14:creationId xmlns:p14="http://schemas.microsoft.com/office/powerpoint/2010/main" val="1363104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Training</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8" name="TextBox 7">
            <a:extLst>
              <a:ext uri="{FF2B5EF4-FFF2-40B4-BE49-F238E27FC236}">
                <a16:creationId xmlns:a16="http://schemas.microsoft.com/office/drawing/2014/main" id="{B38D7DD3-A2F0-4BB0-9720-C20DE16A758F}"/>
              </a:ext>
            </a:extLst>
          </p:cNvPr>
          <p:cNvSpPr txBox="1"/>
          <p:nvPr/>
        </p:nvSpPr>
        <p:spPr>
          <a:xfrm>
            <a:off x="838201" y="4380859"/>
            <a:ext cx="10515599" cy="1938992"/>
          </a:xfrm>
          <a:prstGeom prst="rect">
            <a:avLst/>
          </a:prstGeom>
          <a:noFill/>
        </p:spPr>
        <p:txBody>
          <a:bodyPr wrap="square">
            <a:spAutoFit/>
          </a:bodyPr>
          <a:lstStyle/>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For the intra-triple loss, we introduce a max-margin loss to encourage similar events having higher similarity score than the negative pairs. </a:t>
            </a:r>
          </a:p>
          <a:p>
            <a:pPr marL="342900" indent="-342900">
              <a:buFont typeface="Arial" panose="020B0604020202020204" pitchFamily="34" charset="0"/>
              <a:buChar char="•"/>
            </a:pPr>
            <a:endParaRPr lang="en-US" altLang="ko-KR" sz="24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The similarity score is measured by the Bhattacharyya distance between two distributions:</a:t>
            </a:r>
            <a:endParaRPr lang="ko-KR" altLang="en-US" sz="2400" dirty="0">
              <a:latin typeface="나눔스퀘어_ac" panose="020B0600000101010101" pitchFamily="50" charset="-127"/>
              <a:ea typeface="나눔스퀘어_ac" panose="020B0600000101010101" pitchFamily="50" charset="-127"/>
            </a:endParaRPr>
          </a:p>
        </p:txBody>
      </p:sp>
      <p:pic>
        <p:nvPicPr>
          <p:cNvPr id="10" name="그림 9">
            <a:extLst>
              <a:ext uri="{FF2B5EF4-FFF2-40B4-BE49-F238E27FC236}">
                <a16:creationId xmlns:a16="http://schemas.microsoft.com/office/drawing/2014/main" id="{D602A201-E3DB-42D4-9143-1217F86543AF}"/>
              </a:ext>
            </a:extLst>
          </p:cNvPr>
          <p:cNvPicPr>
            <a:picLocks noChangeAspect="1"/>
          </p:cNvPicPr>
          <p:nvPr/>
        </p:nvPicPr>
        <p:blipFill>
          <a:blip r:embed="rId2"/>
          <a:stretch>
            <a:fillRect/>
          </a:stretch>
        </p:blipFill>
        <p:spPr>
          <a:xfrm>
            <a:off x="3552825" y="1599559"/>
            <a:ext cx="5086350" cy="990600"/>
          </a:xfrm>
          <a:prstGeom prst="rect">
            <a:avLst/>
          </a:prstGeom>
        </p:spPr>
      </p:pic>
      <p:pic>
        <p:nvPicPr>
          <p:cNvPr id="12" name="그림 11">
            <a:extLst>
              <a:ext uri="{FF2B5EF4-FFF2-40B4-BE49-F238E27FC236}">
                <a16:creationId xmlns:a16="http://schemas.microsoft.com/office/drawing/2014/main" id="{68CE3F17-50D7-4FCD-83A3-99220D807C43}"/>
              </a:ext>
            </a:extLst>
          </p:cNvPr>
          <p:cNvPicPr>
            <a:picLocks noChangeAspect="1"/>
          </p:cNvPicPr>
          <p:nvPr/>
        </p:nvPicPr>
        <p:blipFill>
          <a:blip r:embed="rId3"/>
          <a:stretch>
            <a:fillRect/>
          </a:stretch>
        </p:blipFill>
        <p:spPr>
          <a:xfrm>
            <a:off x="2718027" y="2590159"/>
            <a:ext cx="7343775" cy="800100"/>
          </a:xfrm>
          <a:prstGeom prst="rect">
            <a:avLst/>
          </a:prstGeom>
        </p:spPr>
      </p:pic>
      <p:pic>
        <p:nvPicPr>
          <p:cNvPr id="14" name="그림 13">
            <a:extLst>
              <a:ext uri="{FF2B5EF4-FFF2-40B4-BE49-F238E27FC236}">
                <a16:creationId xmlns:a16="http://schemas.microsoft.com/office/drawing/2014/main" id="{6525417E-E95C-4C06-BB06-C902A0E874F1}"/>
              </a:ext>
            </a:extLst>
          </p:cNvPr>
          <p:cNvPicPr>
            <a:picLocks noChangeAspect="1"/>
          </p:cNvPicPr>
          <p:nvPr/>
        </p:nvPicPr>
        <p:blipFill>
          <a:blip r:embed="rId4"/>
          <a:stretch>
            <a:fillRect/>
          </a:stretch>
        </p:blipFill>
        <p:spPr>
          <a:xfrm>
            <a:off x="5362575" y="3634498"/>
            <a:ext cx="1466850" cy="485775"/>
          </a:xfrm>
          <a:prstGeom prst="rect">
            <a:avLst/>
          </a:prstGeom>
        </p:spPr>
      </p:pic>
    </p:spTree>
    <p:extLst>
      <p:ext uri="{BB962C8B-B14F-4D97-AF65-F5344CB8AC3E}">
        <p14:creationId xmlns:p14="http://schemas.microsoft.com/office/powerpoint/2010/main" val="554361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Training</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8" name="TextBox 7">
            <a:extLst>
              <a:ext uri="{FF2B5EF4-FFF2-40B4-BE49-F238E27FC236}">
                <a16:creationId xmlns:a16="http://schemas.microsoft.com/office/drawing/2014/main" id="{B38D7DD3-A2F0-4BB0-9720-C20DE16A758F}"/>
              </a:ext>
            </a:extLst>
          </p:cNvPr>
          <p:cNvSpPr txBox="1"/>
          <p:nvPr/>
        </p:nvSpPr>
        <p:spPr>
          <a:xfrm>
            <a:off x="838201" y="3966521"/>
            <a:ext cx="10515599" cy="2308324"/>
          </a:xfrm>
          <a:prstGeom prst="rect">
            <a:avLst/>
          </a:prstGeom>
          <a:noFill/>
        </p:spPr>
        <p:txBody>
          <a:bodyPr wrap="square">
            <a:spAutoFit/>
          </a:bodyPr>
          <a:lstStyle/>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For the intra-image loss, the objective function encourage the encoder persevere the semantic relationships of event images in the embeddings space</a:t>
            </a:r>
          </a:p>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The last loss is to align the results produced by the two encoders, so that the knowledge from two modalities could be utilized to mutually enhance the event density embeddings and image embeddings learned</a:t>
            </a:r>
            <a:endParaRPr lang="ko-KR" altLang="en-US" sz="2400" dirty="0">
              <a:latin typeface="나눔스퀘어_ac" panose="020B0600000101010101" pitchFamily="50" charset="-127"/>
              <a:ea typeface="나눔스퀘어_ac" panose="020B0600000101010101" pitchFamily="50" charset="-127"/>
            </a:endParaRPr>
          </a:p>
        </p:txBody>
      </p:sp>
      <p:pic>
        <p:nvPicPr>
          <p:cNvPr id="3" name="그림 2">
            <a:extLst>
              <a:ext uri="{FF2B5EF4-FFF2-40B4-BE49-F238E27FC236}">
                <a16:creationId xmlns:a16="http://schemas.microsoft.com/office/drawing/2014/main" id="{84C9402F-F11A-47BE-A721-C0BAAD255EFC}"/>
              </a:ext>
            </a:extLst>
          </p:cNvPr>
          <p:cNvPicPr>
            <a:picLocks noChangeAspect="1"/>
          </p:cNvPicPr>
          <p:nvPr/>
        </p:nvPicPr>
        <p:blipFill>
          <a:blip r:embed="rId2"/>
          <a:stretch>
            <a:fillRect/>
          </a:stretch>
        </p:blipFill>
        <p:spPr>
          <a:xfrm>
            <a:off x="3267075" y="1459169"/>
            <a:ext cx="5657850" cy="847725"/>
          </a:xfrm>
          <a:prstGeom prst="rect">
            <a:avLst/>
          </a:prstGeom>
        </p:spPr>
      </p:pic>
      <p:pic>
        <p:nvPicPr>
          <p:cNvPr id="6" name="그림 5">
            <a:extLst>
              <a:ext uri="{FF2B5EF4-FFF2-40B4-BE49-F238E27FC236}">
                <a16:creationId xmlns:a16="http://schemas.microsoft.com/office/drawing/2014/main" id="{6BF57219-B8E6-4B2B-9FA7-4F30B30B0A59}"/>
              </a:ext>
            </a:extLst>
          </p:cNvPr>
          <p:cNvPicPr>
            <a:picLocks noChangeAspect="1"/>
          </p:cNvPicPr>
          <p:nvPr/>
        </p:nvPicPr>
        <p:blipFill>
          <a:blip r:embed="rId3"/>
          <a:stretch>
            <a:fillRect/>
          </a:stretch>
        </p:blipFill>
        <p:spPr>
          <a:xfrm>
            <a:off x="2747962" y="2740282"/>
            <a:ext cx="6696075" cy="828675"/>
          </a:xfrm>
          <a:prstGeom prst="rect">
            <a:avLst/>
          </a:prstGeom>
        </p:spPr>
      </p:pic>
    </p:spTree>
    <p:extLst>
      <p:ext uri="{BB962C8B-B14F-4D97-AF65-F5344CB8AC3E}">
        <p14:creationId xmlns:p14="http://schemas.microsoft.com/office/powerpoint/2010/main" val="3474264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Training</a:t>
            </a:r>
            <a:endParaRPr lang="ko-KR" altLang="en-US" sz="3600" dirty="0">
              <a:latin typeface="나눔스퀘어_ac Bold" panose="020B0600000101010101" pitchFamily="50" charset="-127"/>
              <a:ea typeface="나눔스퀘어_ac Bold" panose="020B0600000101010101" pitchFamily="50" charset="-127"/>
            </a:endParaRPr>
          </a:p>
        </p:txBody>
      </p:sp>
      <p:pic>
        <p:nvPicPr>
          <p:cNvPr id="3" name="그림 2">
            <a:extLst>
              <a:ext uri="{FF2B5EF4-FFF2-40B4-BE49-F238E27FC236}">
                <a16:creationId xmlns:a16="http://schemas.microsoft.com/office/drawing/2014/main" id="{2F15509F-7F06-4B07-959F-F90D02FF4AD4}"/>
              </a:ext>
            </a:extLst>
          </p:cNvPr>
          <p:cNvPicPr>
            <a:picLocks noChangeAspect="1"/>
          </p:cNvPicPr>
          <p:nvPr/>
        </p:nvPicPr>
        <p:blipFill>
          <a:blip r:embed="rId2"/>
          <a:stretch>
            <a:fillRect/>
          </a:stretch>
        </p:blipFill>
        <p:spPr>
          <a:xfrm>
            <a:off x="3156665" y="1627023"/>
            <a:ext cx="5878670" cy="4438650"/>
          </a:xfrm>
          <a:prstGeom prst="rect">
            <a:avLst/>
          </a:prstGeom>
        </p:spPr>
      </p:pic>
    </p:spTree>
    <p:extLst>
      <p:ext uri="{BB962C8B-B14F-4D97-AF65-F5344CB8AC3E}">
        <p14:creationId xmlns:p14="http://schemas.microsoft.com/office/powerpoint/2010/main" val="1830214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dataset</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5" name="TextBox 4">
            <a:extLst>
              <a:ext uri="{FF2B5EF4-FFF2-40B4-BE49-F238E27FC236}">
                <a16:creationId xmlns:a16="http://schemas.microsoft.com/office/drawing/2014/main" id="{F95E80E7-5D24-40FD-AD00-B0D0A5916375}"/>
              </a:ext>
            </a:extLst>
          </p:cNvPr>
          <p:cNvSpPr txBox="1"/>
          <p:nvPr/>
        </p:nvSpPr>
        <p:spPr>
          <a:xfrm>
            <a:off x="609600" y="1690062"/>
            <a:ext cx="10972800" cy="4216539"/>
          </a:xfrm>
          <a:prstGeom prst="rect">
            <a:avLst/>
          </a:prstGeom>
          <a:noFill/>
        </p:spPr>
        <p:txBody>
          <a:bodyPr wrap="square">
            <a:spAutoFit/>
          </a:bodyPr>
          <a:lstStyle/>
          <a:p>
            <a:pPr marL="285750" indent="-28575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The original dataset: 1,000 event triples, each event is paired with a positive sample and negative sample. </a:t>
            </a:r>
          </a:p>
          <a:p>
            <a:endParaRPr lang="en-US" altLang="ko-KR" sz="2000" dirty="0">
              <a:latin typeface="나눔스퀘어_ac" panose="020B0600000101010101" pitchFamily="50" charset="-127"/>
              <a:ea typeface="나눔스퀘어_ac" panose="020B0600000101010101" pitchFamily="50" charset="-127"/>
            </a:endParaRPr>
          </a:p>
          <a:p>
            <a:r>
              <a:rPr lang="en-US" altLang="ko-KR" sz="2000" dirty="0">
                <a:latin typeface="나눔스퀘어_ac" panose="020B0600000101010101" pitchFamily="50" charset="-127"/>
                <a:ea typeface="나눔스퀘어_ac" panose="020B0600000101010101" pitchFamily="50" charset="-127"/>
              </a:rPr>
              <a:t>The positive sample: e.g., police catch robber / authorities apprehend suspect</a:t>
            </a:r>
          </a:p>
          <a:p>
            <a:r>
              <a:rPr lang="en-US" altLang="ko-KR" sz="2000" dirty="0">
                <a:latin typeface="나눔스퀘어_ac" panose="020B0600000101010101" pitchFamily="50" charset="-127"/>
                <a:ea typeface="나눔스퀘어_ac" panose="020B0600000101010101" pitchFamily="50" charset="-127"/>
              </a:rPr>
              <a:t>The negative sample: e.g., police catch robber / police catch disease </a:t>
            </a:r>
          </a:p>
          <a:p>
            <a:endParaRPr lang="en-US" altLang="ko-KR" sz="20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The extended dataset: each event triple is used to query Google Image to retrieve 20 candidate images, which are filtered by human annotators to keep the top 10 most relevant ones. </a:t>
            </a:r>
          </a:p>
          <a:p>
            <a:pPr marL="342900" indent="-342900">
              <a:buFont typeface="Arial" panose="020B0604020202020204" pitchFamily="34" charset="0"/>
              <a:buChar char="•"/>
            </a:pPr>
            <a:endParaRPr lang="en-US" altLang="ko-KR" sz="20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Final multimodal event similarity dataset consists of 3,000 event triples paired with 30,000 event images.</a:t>
            </a:r>
            <a:endParaRPr lang="ko-KR" altLang="en-US" sz="2400" dirty="0">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608729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Experiments - </a:t>
            </a:r>
            <a:r>
              <a:rPr lang="en-US" altLang="ko-KR" sz="2800" dirty="0">
                <a:latin typeface="나눔스퀘어_ac Bold" panose="020B0600000101010101" pitchFamily="50" charset="-127"/>
                <a:ea typeface="나눔스퀘어_ac Bold" panose="020B0600000101010101" pitchFamily="50" charset="-127"/>
              </a:rPr>
              <a:t>Multimodal Event Similarity</a:t>
            </a:r>
            <a:endParaRPr lang="ko-KR" altLang="en-US" sz="3600" dirty="0">
              <a:latin typeface="나눔스퀘어_ac Bold" panose="020B0600000101010101" pitchFamily="50" charset="-127"/>
              <a:ea typeface="나눔스퀘어_ac Bold" panose="020B0600000101010101" pitchFamily="50" charset="-127"/>
            </a:endParaRPr>
          </a:p>
        </p:txBody>
      </p:sp>
      <p:sp>
        <p:nvSpPr>
          <p:cNvPr id="9" name="TextBox 8">
            <a:extLst>
              <a:ext uri="{FF2B5EF4-FFF2-40B4-BE49-F238E27FC236}">
                <a16:creationId xmlns:a16="http://schemas.microsoft.com/office/drawing/2014/main" id="{13737CBA-5877-4F11-B13C-27D959E42333}"/>
              </a:ext>
            </a:extLst>
          </p:cNvPr>
          <p:cNvSpPr txBox="1"/>
          <p:nvPr/>
        </p:nvSpPr>
        <p:spPr>
          <a:xfrm>
            <a:off x="609600" y="1554184"/>
            <a:ext cx="10972800" cy="4154984"/>
          </a:xfrm>
          <a:prstGeom prst="rect">
            <a:avLst/>
          </a:prstGeom>
          <a:noFill/>
        </p:spPr>
        <p:txBody>
          <a:bodyPr wrap="square">
            <a:spAutoFit/>
          </a:bodyPr>
          <a:lstStyle/>
          <a:p>
            <a:endParaRPr lang="en-US" altLang="ko-KR" sz="24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b="1" dirty="0">
                <a:latin typeface="나눔스퀘어_ac" panose="020B0600000101010101" pitchFamily="50" charset="-127"/>
                <a:ea typeface="나눔스퀘어_ac" panose="020B0600000101010101" pitchFamily="50" charset="-127"/>
              </a:rPr>
              <a:t>Multimodal hard similarity dataset: </a:t>
            </a:r>
          </a:p>
          <a:p>
            <a:pPr marL="800100" lvl="1"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Extended Weber et al. (2018) </a:t>
            </a:r>
          </a:p>
          <a:p>
            <a:pPr marL="1257300" lvl="2"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230 pairs of events (115 pairs of similar types and 115 pairs of dissimilar types). </a:t>
            </a:r>
            <a:r>
              <a:rPr lang="en-US" altLang="ko-KR" sz="2400" dirty="0">
                <a:latin typeface="나눔스퀘어_ac" panose="020B0600000101010101" pitchFamily="50" charset="-127"/>
                <a:ea typeface="나눔스퀘어_ac" panose="020B0600000101010101" pitchFamily="50" charset="-127"/>
                <a:sym typeface="Wingdings" panose="05000000000000000000" pitchFamily="2" charset="2"/>
              </a:rPr>
              <a:t> </a:t>
            </a:r>
            <a:r>
              <a:rPr lang="en-US" altLang="ko-KR" sz="2400" dirty="0">
                <a:latin typeface="나눔스퀘어_ac" panose="020B0600000101010101" pitchFamily="50" charset="-127"/>
                <a:ea typeface="나눔스퀘어_ac" panose="020B0600000101010101" pitchFamily="50" charset="-127"/>
              </a:rPr>
              <a:t>690 event triples paired with 6,900 event images. </a:t>
            </a:r>
          </a:p>
          <a:p>
            <a:endParaRPr lang="en-US" altLang="ko-KR" sz="2400" dirty="0">
              <a:latin typeface="나눔스퀘어_ac" panose="020B0600000101010101" pitchFamily="50" charset="-127"/>
              <a:ea typeface="나눔스퀘어_ac" panose="020B0600000101010101" pitchFamily="50" charset="-127"/>
            </a:endParaRPr>
          </a:p>
          <a:p>
            <a:pPr marL="342900" indent="-342900">
              <a:buFont typeface="Arial" panose="020B0604020202020204" pitchFamily="34" charset="0"/>
              <a:buChar char="•"/>
            </a:pPr>
            <a:r>
              <a:rPr lang="en-US" altLang="ko-KR" sz="2400" b="1" dirty="0">
                <a:latin typeface="나눔스퀘어_ac" panose="020B0600000101010101" pitchFamily="50" charset="-127"/>
                <a:ea typeface="나눔스퀘어_ac" panose="020B0600000101010101" pitchFamily="50" charset="-127"/>
              </a:rPr>
              <a:t>Transitive sentence similarity dataset:</a:t>
            </a:r>
          </a:p>
          <a:p>
            <a:pPr marL="800100" lvl="1"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 (</a:t>
            </a:r>
            <a:r>
              <a:rPr lang="en-US" altLang="ko-KR" sz="2400" dirty="0" err="1">
                <a:latin typeface="나눔스퀘어_ac" panose="020B0600000101010101" pitchFamily="50" charset="-127"/>
                <a:ea typeface="나눔스퀘어_ac" panose="020B0600000101010101" pitchFamily="50" charset="-127"/>
              </a:rPr>
              <a:t>Kartsaklis</a:t>
            </a:r>
            <a:r>
              <a:rPr lang="en-US" altLang="ko-KR" sz="2400" dirty="0">
                <a:latin typeface="나눔스퀘어_ac" panose="020B0600000101010101" pitchFamily="50" charset="-127"/>
                <a:ea typeface="나눔스퀘어_ac" panose="020B0600000101010101" pitchFamily="50" charset="-127"/>
              </a:rPr>
              <a:t> et al., 2014), </a:t>
            </a:r>
          </a:p>
          <a:p>
            <a:pPr marL="1257300" lvl="2" indent="-342900">
              <a:buFont typeface="Arial" panose="020B0604020202020204" pitchFamily="34" charset="0"/>
              <a:buChar char="•"/>
            </a:pPr>
            <a:r>
              <a:rPr lang="en-US" altLang="ko-KR" sz="2400" dirty="0">
                <a:latin typeface="나눔스퀘어_ac" panose="020B0600000101010101" pitchFamily="50" charset="-127"/>
                <a:ea typeface="나눔스퀘어_ac" panose="020B0600000101010101" pitchFamily="50" charset="-127"/>
              </a:rPr>
              <a:t>108 pairs of transitive sentences (i.e. short sentences contain a single subject, verb and object). </a:t>
            </a:r>
            <a:endParaRPr lang="ko-KR" altLang="en-US" sz="2400" dirty="0">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2436107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Experiments - Multimodal Event Similarity</a:t>
            </a:r>
            <a:endParaRPr lang="ko-KR" altLang="en-US" sz="3600" dirty="0">
              <a:latin typeface="나눔스퀘어_ac Bold" panose="020B0600000101010101" pitchFamily="50" charset="-127"/>
              <a:ea typeface="나눔스퀘어_ac Bold" panose="020B0600000101010101" pitchFamily="50" charset="-127"/>
            </a:endParaRPr>
          </a:p>
        </p:txBody>
      </p:sp>
      <p:pic>
        <p:nvPicPr>
          <p:cNvPr id="5" name="그림 4">
            <a:extLst>
              <a:ext uri="{FF2B5EF4-FFF2-40B4-BE49-F238E27FC236}">
                <a16:creationId xmlns:a16="http://schemas.microsoft.com/office/drawing/2014/main" id="{02D08B32-AAB0-43DE-AE7B-0FB5D21796B8}"/>
              </a:ext>
            </a:extLst>
          </p:cNvPr>
          <p:cNvPicPr>
            <a:picLocks noChangeAspect="1"/>
          </p:cNvPicPr>
          <p:nvPr/>
        </p:nvPicPr>
        <p:blipFill>
          <a:blip r:embed="rId2"/>
          <a:stretch>
            <a:fillRect/>
          </a:stretch>
        </p:blipFill>
        <p:spPr>
          <a:xfrm>
            <a:off x="1432363" y="1444382"/>
            <a:ext cx="9327269" cy="3372572"/>
          </a:xfrm>
          <a:prstGeom prst="rect">
            <a:avLst/>
          </a:prstGeom>
        </p:spPr>
      </p:pic>
      <p:sp>
        <p:nvSpPr>
          <p:cNvPr id="6" name="TextBox 5">
            <a:extLst>
              <a:ext uri="{FF2B5EF4-FFF2-40B4-BE49-F238E27FC236}">
                <a16:creationId xmlns:a16="http://schemas.microsoft.com/office/drawing/2014/main" id="{AFDC5E09-92E5-4ECD-8CD4-57BDE094310F}"/>
              </a:ext>
            </a:extLst>
          </p:cNvPr>
          <p:cNvSpPr txBox="1"/>
          <p:nvPr/>
        </p:nvSpPr>
        <p:spPr>
          <a:xfrm>
            <a:off x="838199" y="5245995"/>
            <a:ext cx="10515599" cy="1200329"/>
          </a:xfrm>
          <a:prstGeom prst="rect">
            <a:avLst/>
          </a:prstGeom>
          <a:noFill/>
        </p:spPr>
        <p:txBody>
          <a:bodyPr wrap="square">
            <a:spAutoFit/>
          </a:bodyPr>
          <a:lstStyle/>
          <a:p>
            <a:r>
              <a:rPr lang="en-US" altLang="ko-KR" b="1" dirty="0">
                <a:latin typeface="나눔스퀘어_ac" panose="020B0600000101010101" pitchFamily="50" charset="-127"/>
                <a:ea typeface="나눔스퀘어_ac" panose="020B0600000101010101" pitchFamily="50" charset="-127"/>
              </a:rPr>
              <a:t>Results</a:t>
            </a:r>
            <a:r>
              <a:rPr lang="en-US" altLang="ko-KR" dirty="0">
                <a:latin typeface="나눔스퀘어_ac" panose="020B0600000101010101" pitchFamily="50" charset="-127"/>
                <a:ea typeface="나눔스퀘어_ac" panose="020B0600000101010101" pitchFamily="50" charset="-127"/>
              </a:rPr>
              <a:t> From the results in Table 1 we can observe that after multimodal training, our triple encoder and image encoder both outperform other baselines and the variant of MERL trained with unimodal data only. This verifies our hypothesis that leveraging knowledge from both modalities enhances the quality of event embeddings learned in each modality.</a:t>
            </a:r>
            <a:endParaRPr lang="ko-KR" altLang="en-US" dirty="0">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3790957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Experiments- Script Event Prediction</a:t>
            </a:r>
            <a:endParaRPr lang="ko-KR" altLang="en-US" sz="3600" dirty="0">
              <a:latin typeface="나눔스퀘어_ac Bold" panose="020B0600000101010101" pitchFamily="50" charset="-127"/>
              <a:ea typeface="나눔스퀘어_ac Bold" panose="020B0600000101010101" pitchFamily="50" charset="-127"/>
            </a:endParaRPr>
          </a:p>
        </p:txBody>
      </p:sp>
      <p:pic>
        <p:nvPicPr>
          <p:cNvPr id="3" name="그림 2">
            <a:extLst>
              <a:ext uri="{FF2B5EF4-FFF2-40B4-BE49-F238E27FC236}">
                <a16:creationId xmlns:a16="http://schemas.microsoft.com/office/drawing/2014/main" id="{FA9DC4FF-3F09-4140-9EC5-D73C72B1B64A}"/>
              </a:ext>
            </a:extLst>
          </p:cNvPr>
          <p:cNvPicPr>
            <a:picLocks noChangeAspect="1"/>
          </p:cNvPicPr>
          <p:nvPr/>
        </p:nvPicPr>
        <p:blipFill>
          <a:blip r:embed="rId2"/>
          <a:stretch>
            <a:fillRect/>
          </a:stretch>
        </p:blipFill>
        <p:spPr>
          <a:xfrm>
            <a:off x="3571875" y="2927131"/>
            <a:ext cx="5048250" cy="3209925"/>
          </a:xfrm>
          <a:prstGeom prst="rect">
            <a:avLst/>
          </a:prstGeom>
        </p:spPr>
      </p:pic>
      <p:sp>
        <p:nvSpPr>
          <p:cNvPr id="5" name="TextBox 4">
            <a:extLst>
              <a:ext uri="{FF2B5EF4-FFF2-40B4-BE49-F238E27FC236}">
                <a16:creationId xmlns:a16="http://schemas.microsoft.com/office/drawing/2014/main" id="{76AEB2C5-0EC1-4D9D-8632-2CACABF3F34E}"/>
              </a:ext>
            </a:extLst>
          </p:cNvPr>
          <p:cNvSpPr txBox="1"/>
          <p:nvPr/>
        </p:nvSpPr>
        <p:spPr>
          <a:xfrm>
            <a:off x="838200" y="1310244"/>
            <a:ext cx="11016343" cy="1015663"/>
          </a:xfrm>
          <a:prstGeom prst="rect">
            <a:avLst/>
          </a:prstGeom>
          <a:noFill/>
        </p:spPr>
        <p:txBody>
          <a:bodyPr wrap="square">
            <a:spAutoFit/>
          </a:bodyPr>
          <a:lstStyle/>
          <a:p>
            <a:r>
              <a:rPr lang="en-US" altLang="ko-KR" sz="2000" b="1" dirty="0">
                <a:latin typeface="나눔스퀘어_ac" panose="020B0600000101010101" pitchFamily="50" charset="-127"/>
                <a:ea typeface="나눔스퀘어_ac" panose="020B0600000101010101" pitchFamily="50" charset="-127"/>
              </a:rPr>
              <a:t>Multiple choice narrative cloze dataset </a:t>
            </a:r>
          </a:p>
          <a:p>
            <a:r>
              <a:rPr lang="en-US" altLang="ko-KR" sz="2000" dirty="0">
                <a:latin typeface="나눔스퀘어_ac" panose="020B0600000101010101" pitchFamily="50" charset="-127"/>
                <a:ea typeface="나눔스퀘어_ac" panose="020B0600000101010101" pitchFamily="50" charset="-127"/>
              </a:rPr>
              <a:t> Li, Ding, and Liu (2018) The dataset contains 140k samples for training and 10k samples for testing. For each event chain, 5 candidate events are provided with 1 correct answer. </a:t>
            </a:r>
            <a:endParaRPr lang="ko-KR" altLang="en-US" sz="2000" dirty="0">
              <a:latin typeface="나눔스퀘어_ac" panose="020B0600000101010101" pitchFamily="50" charset="-127"/>
              <a:ea typeface="나눔스퀘어_ac" panose="020B0600000101010101" pitchFamily="50" charset="-127"/>
            </a:endParaRPr>
          </a:p>
        </p:txBody>
      </p:sp>
    </p:spTree>
    <p:extLst>
      <p:ext uri="{BB962C8B-B14F-4D97-AF65-F5344CB8AC3E}">
        <p14:creationId xmlns:p14="http://schemas.microsoft.com/office/powerpoint/2010/main" val="1703140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1">
            <a:extLst>
              <a:ext uri="{FF2B5EF4-FFF2-40B4-BE49-F238E27FC236}">
                <a16:creationId xmlns:a16="http://schemas.microsoft.com/office/drawing/2014/main" id="{4E6ABD85-F864-45A4-AAA4-F32CBAD37406}"/>
              </a:ext>
            </a:extLst>
          </p:cNvPr>
          <p:cNvSpPr txBox="1">
            <a:spLocks/>
          </p:cNvSpPr>
          <p:nvPr/>
        </p:nvSpPr>
        <p:spPr>
          <a:xfrm>
            <a:off x="838200" y="411676"/>
            <a:ext cx="10515600" cy="668979"/>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lang="en-US" altLang="ko-KR" sz="3600" dirty="0">
                <a:latin typeface="나눔스퀘어_ac Bold" panose="020B0600000101010101" pitchFamily="50" charset="-127"/>
                <a:ea typeface="나눔스퀘어_ac Bold" panose="020B0600000101010101" pitchFamily="50" charset="-127"/>
              </a:rPr>
              <a:t>Experiments -Cross-modal Event Retrieval</a:t>
            </a:r>
            <a:endParaRPr lang="ko-KR" altLang="en-US" sz="3600" dirty="0">
              <a:latin typeface="나눔스퀘어_ac Bold" panose="020B0600000101010101" pitchFamily="50" charset="-127"/>
              <a:ea typeface="나눔스퀘어_ac Bold" panose="020B0600000101010101" pitchFamily="50" charset="-127"/>
            </a:endParaRPr>
          </a:p>
        </p:txBody>
      </p:sp>
      <p:pic>
        <p:nvPicPr>
          <p:cNvPr id="3" name="그림 2">
            <a:extLst>
              <a:ext uri="{FF2B5EF4-FFF2-40B4-BE49-F238E27FC236}">
                <a16:creationId xmlns:a16="http://schemas.microsoft.com/office/drawing/2014/main" id="{C0720390-C657-493A-9933-38FB08BF528B}"/>
              </a:ext>
            </a:extLst>
          </p:cNvPr>
          <p:cNvPicPr>
            <a:picLocks noChangeAspect="1"/>
          </p:cNvPicPr>
          <p:nvPr/>
        </p:nvPicPr>
        <p:blipFill>
          <a:blip r:embed="rId2"/>
          <a:stretch>
            <a:fillRect/>
          </a:stretch>
        </p:blipFill>
        <p:spPr>
          <a:xfrm>
            <a:off x="3469822" y="2764291"/>
            <a:ext cx="4991100" cy="2047875"/>
          </a:xfrm>
          <a:prstGeom prst="rect">
            <a:avLst/>
          </a:prstGeom>
        </p:spPr>
      </p:pic>
      <p:sp>
        <p:nvSpPr>
          <p:cNvPr id="7" name="TextBox 6">
            <a:extLst>
              <a:ext uri="{FF2B5EF4-FFF2-40B4-BE49-F238E27FC236}">
                <a16:creationId xmlns:a16="http://schemas.microsoft.com/office/drawing/2014/main" id="{B154A52D-646B-4F0D-BA8B-13D990B1D61A}"/>
              </a:ext>
            </a:extLst>
          </p:cNvPr>
          <p:cNvSpPr txBox="1"/>
          <p:nvPr/>
        </p:nvSpPr>
        <p:spPr>
          <a:xfrm>
            <a:off x="838200" y="1955070"/>
            <a:ext cx="6098720" cy="400110"/>
          </a:xfrm>
          <a:prstGeom prst="rect">
            <a:avLst/>
          </a:prstGeom>
          <a:noFill/>
        </p:spPr>
        <p:txBody>
          <a:bodyPr wrap="square">
            <a:spAutoFit/>
          </a:bodyPr>
          <a:lstStyle/>
          <a:p>
            <a:r>
              <a:rPr lang="en-US" altLang="ko-KR" sz="2000" b="1" dirty="0"/>
              <a:t>the multimodal hard similarly dataset</a:t>
            </a:r>
            <a:endParaRPr lang="ko-KR" altLang="en-US" sz="2000" b="1" dirty="0"/>
          </a:p>
        </p:txBody>
      </p:sp>
    </p:spTree>
    <p:extLst>
      <p:ext uri="{BB962C8B-B14F-4D97-AF65-F5344CB8AC3E}">
        <p14:creationId xmlns:p14="http://schemas.microsoft.com/office/powerpoint/2010/main" val="1650893663"/>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29345</TotalTime>
  <Words>1200</Words>
  <Application>Microsoft Office PowerPoint</Application>
  <PresentationFormat>와이드스크린</PresentationFormat>
  <Paragraphs>90</Paragraphs>
  <Slides>23</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23</vt:i4>
      </vt:variant>
    </vt:vector>
  </HeadingPairs>
  <TitlesOfParts>
    <vt:vector size="29" baseType="lpstr">
      <vt:lpstr>나눔스퀘어_ac</vt:lpstr>
      <vt:lpstr>나눔스퀘어_ac Bold</vt:lpstr>
      <vt:lpstr>맑은 고딕</vt:lpstr>
      <vt:lpstr>Arial</vt:lpstr>
      <vt:lpstr>Cambria Math</vt:lpstr>
      <vt:lpstr>Office 테마</vt:lpstr>
      <vt:lpstr>MERL: Multimodal Event Representation Learning in Heterogeneous Embedding Spaces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기술 개요</dc:title>
  <dc:creator>Park Harper</dc:creator>
  <cp:lastModifiedBy>Park Harper</cp:lastModifiedBy>
  <cp:revision>7</cp:revision>
  <dcterms:created xsi:type="dcterms:W3CDTF">2021-09-16T13:09:28Z</dcterms:created>
  <dcterms:modified xsi:type="dcterms:W3CDTF">2021-11-14T11:39:22Z</dcterms:modified>
</cp:coreProperties>
</file>