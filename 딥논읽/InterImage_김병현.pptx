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1"/>
  </p:sldMasterIdLst>
  <p:notesMasterIdLst>
    <p:notesMasterId r:id="rId40"/>
  </p:notesMasterIdLst>
  <p:handoutMasterIdLst>
    <p:handoutMasterId r:id="rId41"/>
  </p:handoutMasterIdLst>
  <p:sldIdLst>
    <p:sldId id="934" r:id="rId2"/>
    <p:sldId id="1318" r:id="rId3"/>
    <p:sldId id="1319" r:id="rId4"/>
    <p:sldId id="1320" r:id="rId5"/>
    <p:sldId id="1324" r:id="rId6"/>
    <p:sldId id="1340" r:id="rId7"/>
    <p:sldId id="1341" r:id="rId8"/>
    <p:sldId id="1342" r:id="rId9"/>
    <p:sldId id="1321" r:id="rId10"/>
    <p:sldId id="1322" r:id="rId11"/>
    <p:sldId id="1325" r:id="rId12"/>
    <p:sldId id="1332" r:id="rId13"/>
    <p:sldId id="1323" r:id="rId14"/>
    <p:sldId id="1326" r:id="rId15"/>
    <p:sldId id="1327" r:id="rId16"/>
    <p:sldId id="1328" r:id="rId17"/>
    <p:sldId id="1329" r:id="rId18"/>
    <p:sldId id="1355" r:id="rId19"/>
    <p:sldId id="1357" r:id="rId20"/>
    <p:sldId id="1358" r:id="rId21"/>
    <p:sldId id="1359" r:id="rId22"/>
    <p:sldId id="1350" r:id="rId23"/>
    <p:sldId id="1344" r:id="rId24"/>
    <p:sldId id="1346" r:id="rId25"/>
    <p:sldId id="1347" r:id="rId26"/>
    <p:sldId id="1349" r:id="rId27"/>
    <p:sldId id="1351" r:id="rId28"/>
    <p:sldId id="1348" r:id="rId29"/>
    <p:sldId id="1352" r:id="rId30"/>
    <p:sldId id="1353" r:id="rId31"/>
    <p:sldId id="1334" r:id="rId32"/>
    <p:sldId id="1333" r:id="rId33"/>
    <p:sldId id="1335" r:id="rId34"/>
    <p:sldId id="1336" r:id="rId35"/>
    <p:sldId id="1337" r:id="rId36"/>
    <p:sldId id="1338" r:id="rId37"/>
    <p:sldId id="1360" r:id="rId38"/>
    <p:sldId id="1339" r:id="rId39"/>
  </p:sldIdLst>
  <p:sldSz cx="9144000" cy="6858000" type="screen4x3"/>
  <p:notesSz cx="6742113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4"/>
    <a:srgbClr val="55759C"/>
    <a:srgbClr val="4F81BD"/>
    <a:srgbClr val="0000FF"/>
    <a:srgbClr val="FFC000"/>
    <a:srgbClr val="66FF33"/>
    <a:srgbClr val="FF9900"/>
    <a:srgbClr val="595959"/>
    <a:srgbClr val="BCBCBC"/>
    <a:srgbClr val="61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44" autoAdjust="0"/>
    <p:restoredTop sz="92852" autoAdjust="0"/>
  </p:normalViewPr>
  <p:slideViewPr>
    <p:cSldViewPr snapToObjects="1">
      <p:cViewPr varScale="1">
        <p:scale>
          <a:sx n="118" d="100"/>
          <a:sy n="118" d="100"/>
        </p:scale>
        <p:origin x="79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101" d="100"/>
          <a:sy n="101" d="100"/>
        </p:scale>
        <p:origin x="-3018" y="-90"/>
      </p:cViewPr>
      <p:guideLst>
        <p:guide orient="horz" pos="3110"/>
        <p:guide pos="212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8972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r">
              <a:defRPr sz="1200"/>
            </a:lvl1pPr>
          </a:lstStyle>
          <a:p>
            <a:fld id="{85C30BFA-5C6F-4751-A60F-1891D9D032AD}" type="datetimeFigureOut">
              <a:rPr lang="ko-KR" altLang="en-US" smtClean="0"/>
              <a:pPr/>
              <a:t>2023-02-05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8972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r">
              <a:defRPr sz="1200"/>
            </a:lvl1pPr>
          </a:lstStyle>
          <a:p>
            <a:fld id="{E885786E-BF44-4B4E-B288-71366A7332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6193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8972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688D100-9705-4248-87A6-B01B0E7D9CB9}" type="datetimeFigureOut">
              <a:rPr lang="ko-KR" altLang="en-US"/>
              <a:pPr>
                <a:defRPr/>
              </a:pPr>
              <a:t>2023-02-05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1363"/>
            <a:ext cx="4935537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45" tIns="45423" rIns="90845" bIns="45423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4212" y="4690269"/>
            <a:ext cx="5393690" cy="4443412"/>
          </a:xfrm>
          <a:prstGeom prst="rect">
            <a:avLst/>
          </a:prstGeom>
        </p:spPr>
        <p:txBody>
          <a:bodyPr vert="horz" lIns="90845" tIns="45423" rIns="90845" bIns="45423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8972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11EDD26-A168-4EA9-A3CB-289510ED914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469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643042" y="2000240"/>
            <a:ext cx="7215238" cy="1714511"/>
          </a:xfrm>
          <a:solidFill>
            <a:schemeClr val="tx1"/>
          </a:solidFill>
          <a:ln/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2000" endA="300" endPos="35000" dir="5400000" sy="-100000" algn="bl" rotWithShape="0"/>
            <a:softEdge rad="63500"/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none"/>
        </p:style>
        <p:txBody>
          <a:bodyPr>
            <a:normAutofit/>
          </a:bodyPr>
          <a:lstStyle>
            <a:lvl1pPr marL="93663" indent="0" algn="l">
              <a:defRPr sz="2800" b="0" cap="none" spc="0" baseline="0">
                <a:ln w="1270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noProof="0" dirty="0"/>
              <a:t>마스터</a:t>
            </a:r>
            <a:r>
              <a:rPr lang="en-US" altLang="ko-KR" dirty="0"/>
              <a:t> </a:t>
            </a:r>
            <a:r>
              <a:rPr lang="ko-KR" altLang="en-US" dirty="0"/>
              <a:t>제목 스타일 편집</a:t>
            </a:r>
            <a:endParaRPr lang="en-US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714480" y="4286256"/>
            <a:ext cx="6715172" cy="2071702"/>
          </a:xfrm>
        </p:spPr>
        <p:txBody>
          <a:bodyPr>
            <a:normAutofit/>
          </a:bodyPr>
          <a:lstStyle>
            <a:lvl1pPr marL="74613" indent="0" algn="r">
              <a:buNone/>
              <a:defRPr sz="2000" baseline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357158" y="2000240"/>
            <a:ext cx="928694" cy="785818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8" name="모서리가 둥근 직사각형 17"/>
          <p:cNvSpPr/>
          <p:nvPr userDrawn="1"/>
        </p:nvSpPr>
        <p:spPr>
          <a:xfrm>
            <a:off x="571472" y="2500306"/>
            <a:ext cx="928694" cy="78581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9" name="모서리가 둥근 직사각형 18"/>
          <p:cNvSpPr/>
          <p:nvPr userDrawn="1"/>
        </p:nvSpPr>
        <p:spPr>
          <a:xfrm>
            <a:off x="214282" y="2928934"/>
            <a:ext cx="928694" cy="78581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6406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6" name="직선 연결선 15"/>
          <p:cNvCxnSpPr/>
          <p:nvPr userDrawn="1"/>
        </p:nvCxnSpPr>
        <p:spPr>
          <a:xfrm>
            <a:off x="0" y="656134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00138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 userDrawn="1"/>
        </p:nvSpPr>
        <p:spPr>
          <a:xfrm>
            <a:off x="1233870" y="2271543"/>
            <a:ext cx="7119359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1548358" y="1018919"/>
            <a:ext cx="6809830" cy="1202124"/>
          </a:xfrm>
        </p:spPr>
        <p:txBody>
          <a:bodyPr anchor="b" anchorCtr="0">
            <a:normAutofit/>
          </a:bodyPr>
          <a:lstStyle>
            <a:lvl1pPr algn="r">
              <a:defRPr sz="32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9" name="모서리가 둥근 직사각형 18"/>
          <p:cNvSpPr/>
          <p:nvPr userDrawn="1"/>
        </p:nvSpPr>
        <p:spPr>
          <a:xfrm>
            <a:off x="359532" y="857722"/>
            <a:ext cx="694318" cy="652444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673326" y="1336396"/>
            <a:ext cx="694318" cy="652444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1" name="모서리가 둥근 직사각형 20"/>
          <p:cNvSpPr/>
          <p:nvPr userDrawn="1"/>
        </p:nvSpPr>
        <p:spPr>
          <a:xfrm>
            <a:off x="272173" y="1636316"/>
            <a:ext cx="694318" cy="65244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089132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1048502" y="782638"/>
            <a:ext cx="7935161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51620" y="220646"/>
            <a:ext cx="7838453" cy="615931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>
            <a:lvl1pPr marL="452438" indent="-452438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v"/>
              <a:defRPr sz="2400" b="0" i="0" cap="none" spc="0" baseline="0">
                <a:ln w="1905"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Times New Roman" pitchFamily="18" charset="0"/>
              </a:defRPr>
            </a:lvl1pPr>
            <a:lvl2pPr marL="804863" indent="-347663">
              <a:spcBef>
                <a:spcPts val="800"/>
              </a:spcBef>
              <a:buFontTx/>
              <a:buBlip>
                <a:blip r:embed="rId2"/>
              </a:buBlip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Times New Roman" pitchFamily="18" charset="0"/>
              </a:defRPr>
            </a:lvl2pPr>
            <a:lvl3pPr marL="1168400" indent="-254000">
              <a:spcBef>
                <a:spcPts val="700"/>
              </a:spcBef>
              <a:defRPr sz="1800" b="0" baseline="0">
                <a:latin typeface="+mj-ea"/>
                <a:ea typeface="+mj-ea"/>
              </a:defRPr>
            </a:lvl3pPr>
            <a:lvl4pPr>
              <a:spcBef>
                <a:spcPts val="600"/>
              </a:spcBef>
              <a:defRPr sz="1800" b="0" baseline="0">
                <a:latin typeface="+mj-ea"/>
                <a:ea typeface="+mj-ea"/>
              </a:defRPr>
            </a:lvl4pPr>
            <a:lvl5pPr>
              <a:spcBef>
                <a:spcPts val="500"/>
              </a:spcBef>
              <a:defRPr sz="1600" b="0" baseline="0"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190949" y="158986"/>
            <a:ext cx="672639" cy="698549"/>
            <a:chOff x="226953" y="129332"/>
            <a:chExt cx="777856" cy="803286"/>
          </a:xfrm>
        </p:grpSpPr>
        <p:sp>
          <p:nvSpPr>
            <p:cNvPr id="24" name="모서리가 둥근 직사각형 23"/>
            <p:cNvSpPr/>
            <p:nvPr userDrawn="1"/>
          </p:nvSpPr>
          <p:spPr>
            <a:xfrm>
              <a:off x="361841" y="129332"/>
              <a:ext cx="500066" cy="42862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5" name="모서리가 둥근 직사각형 24"/>
            <p:cNvSpPr/>
            <p:nvPr userDrawn="1"/>
          </p:nvSpPr>
          <p:spPr>
            <a:xfrm>
              <a:off x="504743" y="353148"/>
              <a:ext cx="500066" cy="428628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6" name="모서리가 둥근 직사각형 25"/>
            <p:cNvSpPr/>
            <p:nvPr userDrawn="1"/>
          </p:nvSpPr>
          <p:spPr>
            <a:xfrm>
              <a:off x="226953" y="503990"/>
              <a:ext cx="500066" cy="42862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</p:grpSp>
      <p:sp>
        <p:nvSpPr>
          <p:cNvPr id="14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03642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048502" y="782638"/>
            <a:ext cx="7935161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8" name="제목 1"/>
          <p:cNvSpPr>
            <a:spLocks noGrp="1"/>
          </p:cNvSpPr>
          <p:nvPr>
            <p:ph type="title"/>
          </p:nvPr>
        </p:nvSpPr>
        <p:spPr>
          <a:xfrm>
            <a:off x="1151620" y="220646"/>
            <a:ext cx="7838453" cy="615931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190949" y="158986"/>
            <a:ext cx="672639" cy="698549"/>
            <a:chOff x="226953" y="129332"/>
            <a:chExt cx="777856" cy="803286"/>
          </a:xfrm>
        </p:grpSpPr>
        <p:sp>
          <p:nvSpPr>
            <p:cNvPr id="24" name="모서리가 둥근 직사각형 23"/>
            <p:cNvSpPr/>
            <p:nvPr userDrawn="1"/>
          </p:nvSpPr>
          <p:spPr>
            <a:xfrm>
              <a:off x="361841" y="129332"/>
              <a:ext cx="500066" cy="42862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5" name="모서리가 둥근 직사각형 24"/>
            <p:cNvSpPr/>
            <p:nvPr userDrawn="1"/>
          </p:nvSpPr>
          <p:spPr>
            <a:xfrm>
              <a:off x="504743" y="353148"/>
              <a:ext cx="500066" cy="428628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6" name="모서리가 둥근 직사각형 25"/>
            <p:cNvSpPr/>
            <p:nvPr userDrawn="1"/>
          </p:nvSpPr>
          <p:spPr>
            <a:xfrm>
              <a:off x="226953" y="503990"/>
              <a:ext cx="500066" cy="42862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</p:grpSp>
      <p:sp>
        <p:nvSpPr>
          <p:cNvPr id="12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792501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D88BC96-86ED-4F8B-B297-F70E08D8F793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767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7" r:id="rId2"/>
    <p:sldLayoutId id="2147483835" r:id="rId3"/>
    <p:sldLayoutId id="2147483836" r:id="rId4"/>
  </p:sldLayoutIdLst>
  <p:transition>
    <p:fad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8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8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59.png"/><Relationship Id="rId17" Type="http://schemas.openxmlformats.org/officeDocument/2006/relationships/image" Target="../media/image52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23" Type="http://schemas.openxmlformats.org/officeDocument/2006/relationships/image" Target="../media/image60.png"/><Relationship Id="rId10" Type="http://schemas.openxmlformats.org/officeDocument/2006/relationships/image" Target="../media/image58.pn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ko-K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InternImage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: Exploring Large-Scale Vision Foundation Models with</a:t>
            </a:r>
            <a:b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Deformable Convolutions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발표자</a:t>
            </a:r>
            <a:r>
              <a:rPr lang="en-US" altLang="ko-KR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: </a:t>
            </a:r>
            <a:r>
              <a:rPr lang="ko-KR" altLang="en-US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김병현</a:t>
            </a:r>
            <a:endParaRPr lang="en-US" altLang="ko-KR" sz="2400" b="1">
              <a:solidFill>
                <a:schemeClr val="tx1"/>
              </a:solidFill>
              <a:ea typeface="08서울남산체 M" panose="02020603020101020101" pitchFamily="18" charset="-127"/>
              <a:cs typeface="Arial Unicode MS" panose="020B0604020202020204" pitchFamily="50" charset="-127"/>
            </a:endParaRPr>
          </a:p>
          <a:p>
            <a:endParaRPr lang="en-US" altLang="ko-KR" sz="2400" b="1">
              <a:solidFill>
                <a:schemeClr val="tx1"/>
              </a:solidFill>
              <a:ea typeface="08서울남산체 M" panose="02020603020101020101" pitchFamily="18" charset="-127"/>
              <a:cs typeface="Arial Unicode MS" panose="020B0604020202020204" pitchFamily="50" charset="-127"/>
            </a:endParaRPr>
          </a:p>
          <a:p>
            <a:r>
              <a:rPr lang="ko-KR" altLang="en-US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이미지처리팀</a:t>
            </a:r>
            <a:r>
              <a:rPr lang="en-US" altLang="ko-KR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: </a:t>
            </a:r>
          </a:p>
          <a:p>
            <a:r>
              <a:rPr lang="ko-KR" altLang="en-US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강인하</a:t>
            </a:r>
            <a:r>
              <a:rPr lang="en-US" altLang="ko-KR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김현진</a:t>
            </a:r>
            <a:r>
              <a:rPr lang="en-US" altLang="ko-KR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안종식</a:t>
            </a:r>
            <a:r>
              <a:rPr lang="en-US" altLang="ko-KR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이주영</a:t>
            </a:r>
            <a:r>
              <a:rPr lang="en-US" altLang="ko-KR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이희재</a:t>
            </a:r>
            <a:r>
              <a:rPr lang="en-US" altLang="ko-KR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sz="2400" b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현청천 </a:t>
            </a:r>
            <a:endParaRPr lang="en-US" altLang="ko-KR" b="1" dirty="0">
              <a:solidFill>
                <a:schemeClr val="tx1"/>
              </a:solidFill>
              <a:ea typeface="08서울남산체 M" panose="02020603020101020101" pitchFamily="18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576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InterImage</a:t>
            </a:r>
            <a:endParaRPr lang="ko-KR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State-of-the-Art (COCO test-dev) </a:t>
            </a:r>
            <a:r>
              <a:rPr lang="en-US" altLang="ko-KR"/>
              <a:t>Backbone Network</a:t>
            </a:r>
          </a:p>
          <a:p>
            <a:pPr lvl="1"/>
            <a:r>
              <a:rPr lang="en-US" altLang="ko-KR"/>
              <a:t>Released by OpenGVLab</a:t>
            </a:r>
            <a:endParaRPr lang="ko-KR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0C2138-29DE-3ABF-9B4B-AA57C244A0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1009"/>
          <a:stretch/>
        </p:blipFill>
        <p:spPr>
          <a:xfrm>
            <a:off x="142844" y="2460629"/>
            <a:ext cx="8858312" cy="39659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F4B01D-904A-DF64-E38D-9FD3DD3B2228}"/>
              </a:ext>
            </a:extLst>
          </p:cNvPr>
          <p:cNvSpPr/>
          <p:nvPr/>
        </p:nvSpPr>
        <p:spPr>
          <a:xfrm>
            <a:off x="359532" y="3356992"/>
            <a:ext cx="2232248" cy="6840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11984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EF564-B73B-5A45-3A69-C87073063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25C499-1DA9-F7EE-3A4A-98C76FB96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Success of Transformers in Computer Vision Tasks</a:t>
            </a:r>
          </a:p>
          <a:p>
            <a:r>
              <a:rPr lang="en-US" altLang="ko-KR" u="sng" dirty="0"/>
              <a:t>CNN-based foundation models can also achieve comparable or even better performance</a:t>
            </a:r>
            <a:r>
              <a:rPr lang="en-US" altLang="ko-KR" dirty="0"/>
              <a:t> than </a:t>
            </a:r>
            <a:r>
              <a:rPr lang="en-US" altLang="ko-KR" dirty="0" err="1"/>
              <a:t>ViTs</a:t>
            </a:r>
            <a:r>
              <a:rPr lang="en-US" altLang="ko-KR" dirty="0"/>
              <a:t> when equipped with similar operator-/architecture-level designs, scaling-up parameters, and massive data.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BB822F-D302-829D-31B7-DB60DE3E93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262465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E93C7E-C4E3-0438-62E7-63BA5172C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085646-EDDF-999C-B9D0-0A0F5E250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Gap between CNNs and </a:t>
            </a:r>
            <a:r>
              <a:rPr lang="en-US" altLang="ko-KR" dirty="0" err="1"/>
              <a:t>ViTs</a:t>
            </a:r>
            <a:endParaRPr lang="en-US" altLang="ko-KR" dirty="0"/>
          </a:p>
          <a:p>
            <a:pPr lvl="1"/>
            <a:r>
              <a:rPr lang="en-US" altLang="ko-KR" dirty="0"/>
              <a:t>Operator Level </a:t>
            </a:r>
          </a:p>
          <a:p>
            <a:pPr lvl="2"/>
            <a:r>
              <a:rPr lang="en-US" altLang="ko-KR" dirty="0"/>
              <a:t>Long-range dependency </a:t>
            </a:r>
          </a:p>
          <a:p>
            <a:pPr lvl="2"/>
            <a:r>
              <a:rPr lang="en-US" altLang="ko-KR" dirty="0"/>
              <a:t>Adaptive spatial aggregation</a:t>
            </a:r>
          </a:p>
          <a:p>
            <a:pPr lvl="1"/>
            <a:r>
              <a:rPr lang="en-US" altLang="ko-KR" dirty="0"/>
              <a:t>Architecture View </a:t>
            </a:r>
          </a:p>
          <a:p>
            <a:pPr lvl="2"/>
            <a:r>
              <a:rPr lang="en-US" altLang="ko-KR" dirty="0"/>
              <a:t>Advanced components </a:t>
            </a:r>
          </a:p>
          <a:p>
            <a:pPr lvl="3"/>
            <a:r>
              <a:rPr lang="en-US" altLang="ko-KR" dirty="0"/>
              <a:t>Layer Normalization</a:t>
            </a:r>
          </a:p>
          <a:p>
            <a:pPr lvl="3"/>
            <a:r>
              <a:rPr lang="en-US" altLang="ko-KR" dirty="0"/>
              <a:t>Feed Forward Networks </a:t>
            </a:r>
          </a:p>
          <a:p>
            <a:pPr lvl="3"/>
            <a:r>
              <a:rPr lang="en-US" altLang="ko-KR"/>
              <a:t>GELU</a:t>
            </a:r>
          </a:p>
          <a:p>
            <a:pPr lvl="1"/>
            <a:r>
              <a:rPr lang="en-US" altLang="ko-KR"/>
              <a:t>Recent Long-Range CNNs</a:t>
            </a:r>
          </a:p>
          <a:p>
            <a:pPr lvl="2"/>
            <a:r>
              <a:rPr lang="en-US" altLang="ko-KR"/>
              <a:t>Very large kernels (31x31)</a:t>
            </a:r>
          </a:p>
          <a:p>
            <a:pPr lvl="2"/>
            <a:r>
              <a:rPr lang="en-US" altLang="ko-KR"/>
              <a:t>Gap with SOTA ViTs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09B1CE-818E-6DF2-2662-34FA28B8F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82611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C0812-AD8E-8FA9-6BCD-60207C2C8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77EBB5-FB90-39A4-FF3D-61D8A336B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Comparison of different core operators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5BC01B-89A2-0721-64EA-9395546FC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6A820C-216D-A495-3418-E76F48D9F8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80" t="6812"/>
          <a:stretch/>
        </p:blipFill>
        <p:spPr>
          <a:xfrm>
            <a:off x="2177734" y="1538846"/>
            <a:ext cx="4788532" cy="521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9690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61C1-78BF-37E3-39ED-D3E2A66F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Introduction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F9F83-0912-B779-3B11-3B3330222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Global Attention: Vision Transformer</a:t>
            </a:r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62529-645D-B0EF-52A6-1F6CBA9910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  <p:pic>
        <p:nvPicPr>
          <p:cNvPr id="1026" name="Picture 2" descr="drawing">
            <a:extLst>
              <a:ext uri="{FF2B5EF4-FFF2-40B4-BE49-F238E27FC236}">
                <a16:creationId xmlns:a16="http://schemas.microsoft.com/office/drawing/2014/main" id="{ABB95FE2-E28B-11D9-B309-CC6CCB018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62" y="1808820"/>
            <a:ext cx="8140930" cy="4111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BBF5ED-316E-A82B-926F-B4CC4F52D43C}"/>
              </a:ext>
            </a:extLst>
          </p:cNvPr>
          <p:cNvSpPr txBox="1"/>
          <p:nvPr/>
        </p:nvSpPr>
        <p:spPr>
          <a:xfrm>
            <a:off x="4565527" y="6373355"/>
            <a:ext cx="4572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Dosovitskiy, Alexey, et al. "An image is worth 16x16 words: Transformers for image recognition at scale." </a:t>
            </a:r>
            <a:r>
              <a:rPr lang="en-US" altLang="ko-KR" sz="1050" b="0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 preprint arXiv:2010.11929</a:t>
            </a:r>
            <a:r>
              <a:rPr lang="en-US" altLang="ko-KR" sz="105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(2020).</a:t>
            </a:r>
            <a:endParaRPr lang="ko-KR" altLang="en-US" sz="10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F4B817-8DA2-0B3B-D4F5-817FD574DDD6}"/>
              </a:ext>
            </a:extLst>
          </p:cNvPr>
          <p:cNvSpPr txBox="1"/>
          <p:nvPr/>
        </p:nvSpPr>
        <p:spPr>
          <a:xfrm>
            <a:off x="2711321" y="5774810"/>
            <a:ext cx="3708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Architecture of ViT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62624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FC6D-4092-B372-5D19-815FE2E0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Introduction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7CE36-796E-D024-05D5-E760BDA4B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Local Attention: Swin Transformer</a:t>
            </a:r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0D29B-A728-479F-44B6-86376E2B0B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  <p:pic>
        <p:nvPicPr>
          <p:cNvPr id="2050" name="Picture 2" descr="GitHub - rishigami/Swin-Transformer-TF: Tensorflow implementation of Swin  Transformer model.">
            <a:extLst>
              <a:ext uri="{FF2B5EF4-FFF2-40B4-BE49-F238E27FC236}">
                <a16:creationId xmlns:a16="http://schemas.microsoft.com/office/drawing/2014/main" id="{301B1C56-FF69-F3C5-5F76-37ACA17BC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226" y="1824564"/>
            <a:ext cx="6912260" cy="3800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2B2C56-77F8-A3A4-CB5A-802447AE2AA4}"/>
              </a:ext>
            </a:extLst>
          </p:cNvPr>
          <p:cNvSpPr txBox="1"/>
          <p:nvPr/>
        </p:nvSpPr>
        <p:spPr>
          <a:xfrm>
            <a:off x="2703252" y="5711421"/>
            <a:ext cx="3708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Architecture of Swin Transformer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AB06F-0C4E-985F-F5E5-A28918DF82E5}"/>
              </a:ext>
            </a:extLst>
          </p:cNvPr>
          <p:cNvSpPr txBox="1"/>
          <p:nvPr/>
        </p:nvSpPr>
        <p:spPr>
          <a:xfrm>
            <a:off x="4357718" y="6292563"/>
            <a:ext cx="4572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>
                <a:solidFill>
                  <a:srgbClr val="222222"/>
                </a:solidFill>
                <a:latin typeface="Arial" panose="020B0604020202020204" pitchFamily="34" charset="0"/>
              </a:rPr>
              <a:t>Liu, Ze, et al. "Swin transformer: Hierarchical vision transformer using shifted windows." Proceedings of the IEEE/CVF international conference on computer vision. 2021.</a:t>
            </a:r>
            <a:endParaRPr lang="ko-KR" altLang="en-US" sz="105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67272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F1D0E-74E6-3399-64B2-FB6D1738B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Introduction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C3CFC-0E24-9E89-451E-BA717F3AE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Large Kernel: SLaK</a:t>
            </a:r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13792-E4EF-22C8-CC96-45A2F48F07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7C8308-C7F0-AB37-53BB-37914E9F1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82" y="2376208"/>
            <a:ext cx="8458987" cy="27926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5B4113-8DCB-8515-A162-9420AD0E21D0}"/>
              </a:ext>
            </a:extLst>
          </p:cNvPr>
          <p:cNvSpPr txBox="1"/>
          <p:nvPr/>
        </p:nvSpPr>
        <p:spPr>
          <a:xfrm>
            <a:off x="4179094" y="6294162"/>
            <a:ext cx="4572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>
                <a:solidFill>
                  <a:srgbClr val="222222"/>
                </a:solidFill>
                <a:latin typeface="Arial" panose="020B0604020202020204" pitchFamily="34" charset="0"/>
              </a:rPr>
              <a:t>Liu, Shiwei, et al. "More convnets in the 2020s: Scaling up kernels beyond 51x51 using sparsity." arXiv preprint arXiv:2207.03620 (2022).</a:t>
            </a:r>
            <a:endParaRPr lang="ko-KR" altLang="en-US" sz="105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03420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C89478-5BD5-0CDB-EA55-DBE81A02E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237C08-032F-18FF-1471-08F650524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Concentration on CNN-based Model </a:t>
            </a:r>
          </a:p>
          <a:p>
            <a:pPr lvl="1"/>
            <a:r>
              <a:rPr lang="en-US" altLang="ko-KR" i="1" dirty="0" err="1"/>
              <a:t>InterImage</a:t>
            </a:r>
            <a:endParaRPr lang="en-US" altLang="ko-KR" i="1" dirty="0"/>
          </a:p>
          <a:p>
            <a:pPr lvl="2"/>
            <a:r>
              <a:rPr lang="en-US" altLang="ko-KR" dirty="0"/>
              <a:t>Brand-New CNN-based Backbone Network</a:t>
            </a:r>
          </a:p>
          <a:p>
            <a:pPr lvl="2"/>
            <a:r>
              <a:rPr lang="en-US" altLang="ko-KR" dirty="0"/>
              <a:t>Characteristics </a:t>
            </a:r>
          </a:p>
          <a:p>
            <a:pPr lvl="3"/>
            <a:r>
              <a:rPr lang="en-US" altLang="ko-KR" dirty="0"/>
              <a:t>Dynamic sparse convolutional layer </a:t>
            </a:r>
          </a:p>
          <a:p>
            <a:pPr lvl="4"/>
            <a:r>
              <a:rPr lang="en-US" altLang="ko-KR" dirty="0"/>
              <a:t>Only with 3x3 kernels </a:t>
            </a:r>
          </a:p>
          <a:p>
            <a:pPr lvl="4"/>
            <a:r>
              <a:rPr lang="en-US" altLang="ko-KR" dirty="0"/>
              <a:t>Adaptive spatial aggregation </a:t>
            </a:r>
          </a:p>
          <a:p>
            <a:pPr lvl="4"/>
            <a:r>
              <a:rPr lang="en-US" altLang="ko-KR" dirty="0"/>
              <a:t>Reduce inductive bias </a:t>
            </a:r>
          </a:p>
          <a:p>
            <a:pPr lvl="4"/>
            <a:r>
              <a:rPr lang="en-US" altLang="ko-KR" dirty="0"/>
              <a:t>Low computational cost compared to large convolutional layers </a:t>
            </a:r>
          </a:p>
          <a:p>
            <a:pPr lvl="3"/>
            <a:r>
              <a:rPr lang="en-US" altLang="ko-KR" dirty="0">
                <a:solidFill>
                  <a:srgbClr val="FF0000"/>
                </a:solidFill>
              </a:rPr>
              <a:t>Overall Architecture of </a:t>
            </a:r>
            <a:r>
              <a:rPr lang="en-US" altLang="ko-KR" dirty="0" err="1">
                <a:solidFill>
                  <a:srgbClr val="FF0000"/>
                </a:solidFill>
              </a:rPr>
              <a:t>ViT</a:t>
            </a:r>
            <a:endParaRPr lang="en-US" altLang="ko-KR" dirty="0">
              <a:solidFill>
                <a:srgbClr val="FF0000"/>
              </a:solidFill>
            </a:endParaRPr>
          </a:p>
          <a:p>
            <a:pPr lvl="3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F91F37-6F75-71E7-CCB5-6D74A3EEC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432674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B3F48A-CC8F-7BF8-D348-8C91C7280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487B98-9522-5FBC-E2F8-5A0A18B83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Contributions </a:t>
            </a:r>
          </a:p>
          <a:p>
            <a:pPr lvl="1"/>
            <a:r>
              <a:rPr lang="en-US" altLang="ko-KR" dirty="0"/>
              <a:t>1</a:t>
            </a:r>
            <a:r>
              <a:rPr lang="en-US" altLang="ko-KR" baseline="30000" dirty="0"/>
              <a:t>st</a:t>
            </a:r>
            <a:r>
              <a:rPr lang="en-US" altLang="ko-KR" dirty="0"/>
              <a:t> CNN-based backbone with more than 1 billion params.</a:t>
            </a:r>
          </a:p>
          <a:p>
            <a:pPr lvl="1"/>
            <a:r>
              <a:rPr lang="en-US" altLang="ko-KR" dirty="0"/>
              <a:t>Add long-rage dependencies and adaptive spatial aggregation with 3x3 DCN </a:t>
            </a:r>
          </a:p>
          <a:p>
            <a:pPr lvl="1"/>
            <a:r>
              <a:rPr lang="en-US" altLang="ko-KR" dirty="0"/>
              <a:t>SOTA accuracy in COCO dataset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C37AF9-A52A-DD80-2436-62580D9716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9FE0A7-E594-F3EE-A141-0920C0638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796" y="3140967"/>
            <a:ext cx="3492388" cy="36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7465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89C0D98B-5CB9-6C65-7A50-1A5BA74E8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 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DC0007E-84D7-D290-D344-DAB225138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ko-KR" sz="8000" dirty="0"/>
          </a:p>
          <a:p>
            <a:pPr marL="0" indent="0" algn="ctr">
              <a:buNone/>
            </a:pPr>
            <a:r>
              <a:rPr lang="en-US" altLang="ko-KR" sz="13800" dirty="0"/>
              <a:t>Q &amp; A </a:t>
            </a:r>
            <a:endParaRPr lang="ko-KR" altLang="en-US" sz="13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746F64-692F-E93B-4955-7846437BE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162558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80657-A109-9409-7A6D-48D62466B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Overall</a:t>
            </a:r>
            <a:r>
              <a:rPr lang="ko-KR" altLang="en-US" dirty="0"/>
              <a:t> </a:t>
            </a:r>
            <a:r>
              <a:rPr lang="en-US" altLang="ko-KR" dirty="0"/>
              <a:t>Architecture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9E8FC5-3702-23C9-0460-16376AA591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792495-974D-39BC-DDF7-36E8B3F9D8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458"/>
          <a:stretch/>
        </p:blipFill>
        <p:spPr>
          <a:xfrm>
            <a:off x="2483768" y="1056112"/>
            <a:ext cx="3816424" cy="551488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C23E13-815B-184F-654C-2754D54D1B52}"/>
              </a:ext>
            </a:extLst>
          </p:cNvPr>
          <p:cNvSpPr/>
          <p:nvPr/>
        </p:nvSpPr>
        <p:spPr>
          <a:xfrm>
            <a:off x="5076056" y="4581128"/>
            <a:ext cx="1026114" cy="3960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30407C-11E6-E984-2E81-C2660581D0E0}"/>
              </a:ext>
            </a:extLst>
          </p:cNvPr>
          <p:cNvCxnSpPr>
            <a:cxnSpLocks/>
          </p:cNvCxnSpPr>
          <p:nvPr/>
        </p:nvCxnSpPr>
        <p:spPr>
          <a:xfrm flipV="1">
            <a:off x="6102170" y="4545124"/>
            <a:ext cx="738082" cy="2198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3AF7EF2-E082-4AEB-66A0-A872C09664CD}"/>
              </a:ext>
            </a:extLst>
          </p:cNvPr>
          <p:cNvSpPr txBox="1"/>
          <p:nvPr/>
        </p:nvSpPr>
        <p:spPr>
          <a:xfrm>
            <a:off x="6840252" y="4194375"/>
            <a:ext cx="2123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1. Deformable Convolutional Layer V3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8CC3579-CE1E-6F59-A349-910B36361638}"/>
              </a:ext>
            </a:extLst>
          </p:cNvPr>
          <p:cNvSpPr/>
          <p:nvPr/>
        </p:nvSpPr>
        <p:spPr>
          <a:xfrm>
            <a:off x="3635896" y="1196752"/>
            <a:ext cx="1368152" cy="544060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5763C3-42FF-819E-2672-11CC8B20112D}"/>
              </a:ext>
            </a:extLst>
          </p:cNvPr>
          <p:cNvSpPr txBox="1"/>
          <p:nvPr/>
        </p:nvSpPr>
        <p:spPr>
          <a:xfrm>
            <a:off x="89756" y="3410685"/>
            <a:ext cx="2123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2. Architecture Design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D01B3A6-94C2-09F0-F03E-DC94900BC364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078723" y="3703072"/>
            <a:ext cx="1557173" cy="2139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67502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8B8DE-2571-CA76-443F-843A33D88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Deformable Convolutional Layer v3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A6A72F-C895-10B2-4867-EFDE8D84B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Revisiting DCNv2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0E5CE2-4CDC-D13F-9945-E7F2818705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A2C763-41FD-3CD3-4CDE-B6F62C56C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735865"/>
            <a:ext cx="4660568" cy="503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27920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DDEE8-BFF3-E4F2-2F9F-07D7817C9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Deformable Convolutional Layer v3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7070F2-FD01-D404-C1EE-FA0B327D3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D6C3C1-F473-BACC-6C6E-A8781E259C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D7885E-0339-4F6E-D899-5DD9EC1AD10F}"/>
              </a:ext>
            </a:extLst>
          </p:cNvPr>
          <p:cNvSpPr txBox="1"/>
          <p:nvPr/>
        </p:nvSpPr>
        <p:spPr>
          <a:xfrm>
            <a:off x="2110307" y="6563027"/>
            <a:ext cx="6640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100" dirty="0"/>
              <a:t>https://www.taokong.org/report/DCN_v2_paper_reading.pdf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9BB3A2E-B23E-F5F1-64F5-ED1FC8FF8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" y="1268760"/>
            <a:ext cx="8436085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01745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DDEE8-BFF3-E4F2-2F9F-07D7817C9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Deformable Convolutional Layer v3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7070F2-FD01-D404-C1EE-FA0B327D3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D6C3C1-F473-BACC-6C6E-A8781E259C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D7885E-0339-4F6E-D899-5DD9EC1AD10F}"/>
              </a:ext>
            </a:extLst>
          </p:cNvPr>
          <p:cNvSpPr txBox="1"/>
          <p:nvPr/>
        </p:nvSpPr>
        <p:spPr>
          <a:xfrm>
            <a:off x="2110307" y="6563027"/>
            <a:ext cx="6640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100" dirty="0"/>
              <a:t>https://www.taokong.org/report/DCN_v2_paper_reading.pdf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742603F-31C3-58B7-9D7A-FC7123264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95" y="1232756"/>
            <a:ext cx="8699820" cy="481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0570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621A6-3709-4FC1-58B4-33D8324A0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Deformable Convolutional Layer v3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22A1E1-3B3F-F3C6-DD6F-2529B3EED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u="sng" dirty="0"/>
              <a:t>Sharing weights among convolutional</a:t>
            </a:r>
            <a:r>
              <a:rPr lang="en-US" altLang="ko-KR" dirty="0"/>
              <a:t> neurons.</a:t>
            </a:r>
          </a:p>
          <a:p>
            <a:pPr marL="809625" lvl="1" indent="-457200">
              <a:buFont typeface="Arial" panose="020B0604020202020204" pitchFamily="34" charset="0"/>
              <a:buChar char="•"/>
            </a:pPr>
            <a:r>
              <a:rPr lang="en-US" altLang="ko-KR" dirty="0"/>
              <a:t>Heavy computational cost of DCNv2</a:t>
            </a:r>
          </a:p>
          <a:p>
            <a:pPr marL="1173162" lvl="2" indent="-457200">
              <a:buFont typeface="Arial" panose="020B0604020202020204" pitchFamily="34" charset="0"/>
              <a:buChar char="•"/>
            </a:pPr>
            <a:r>
              <a:rPr lang="en-US" altLang="ko-KR" dirty="0"/>
              <a:t>independent linear projection weights</a:t>
            </a:r>
          </a:p>
          <a:p>
            <a:pPr marL="1173162" lvl="2" indent="-457200">
              <a:buFont typeface="Arial" panose="020B0604020202020204" pitchFamily="34" charset="0"/>
              <a:buChar char="•"/>
            </a:pPr>
            <a:r>
              <a:rPr lang="en-US" altLang="ko-KR" dirty="0"/>
              <a:t>memory complexity is linear with the total number of sampling points</a:t>
            </a:r>
          </a:p>
          <a:p>
            <a:pPr marL="809625" lvl="1" indent="-457200">
              <a:buFont typeface="Arial" panose="020B0604020202020204" pitchFamily="34" charset="0"/>
              <a:buChar char="•"/>
            </a:pPr>
            <a:r>
              <a:rPr lang="en-US" altLang="ko-KR" dirty="0"/>
              <a:t>To remedy this problem, we borrow the idea from the separable convolution and detach the original convolution weights into depth-wise and point-wise parts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Introducing </a:t>
            </a:r>
            <a:r>
              <a:rPr lang="en-US" altLang="ko-KR" u="sng" dirty="0"/>
              <a:t>multi-group mechanism</a:t>
            </a:r>
          </a:p>
          <a:p>
            <a:pPr marL="809625" lvl="1" indent="-457200">
              <a:buFont typeface="Arial" panose="020B0604020202020204" pitchFamily="34" charset="0"/>
              <a:buChar char="•"/>
            </a:pPr>
            <a:r>
              <a:rPr lang="en-US" altLang="ko-KR" dirty="0"/>
              <a:t>Split the spatial aggregation process into G groups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u="sng" dirty="0"/>
              <a:t>Normalizing modulation</a:t>
            </a:r>
            <a:r>
              <a:rPr lang="en-US" altLang="ko-KR" dirty="0"/>
              <a:t> scalars along sampling points</a:t>
            </a:r>
          </a:p>
          <a:p>
            <a:pPr marL="809625" lvl="1" indent="-457200">
              <a:buFont typeface="Arial" panose="020B0604020202020204" pitchFamily="34" charset="0"/>
              <a:buChar char="•"/>
            </a:pPr>
            <a:r>
              <a:rPr lang="en-US" altLang="ko-KR" dirty="0"/>
              <a:t>Change element-wise sigmoid normalization to </a:t>
            </a:r>
            <a:r>
              <a:rPr lang="en-US" altLang="ko-KR" dirty="0" err="1"/>
              <a:t>softmax</a:t>
            </a:r>
            <a:r>
              <a:rPr lang="en-US" altLang="ko-KR" dirty="0"/>
              <a:t> normalization along sample points.</a:t>
            </a:r>
          </a:p>
          <a:p>
            <a:pPr marL="457200" indent="-4572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2E53CE-CFB8-073F-6869-3C0200999F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300185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4D676-1936-9AAA-0339-28D95C96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Deformable Convolutional Layer v3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C50164-8781-92D5-F737-712E82D401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F2B861-A36C-68CA-1673-3210FC707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20" y="1172380"/>
            <a:ext cx="6849734" cy="540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78446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8286-6949-828A-8D3F-4E02D88D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Deformable Convolutional Layer v3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95DE0-73F6-1E0B-49E2-5CB3E02FF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Normal Convolutional Layer 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DA0B6-1590-8D5C-D756-447FA2F83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79A5B5E-7240-65CE-1158-A4630E75C685}"/>
              </a:ext>
            </a:extLst>
          </p:cNvPr>
          <p:cNvGrpSpPr/>
          <p:nvPr/>
        </p:nvGrpSpPr>
        <p:grpSpPr>
          <a:xfrm>
            <a:off x="92551" y="2491805"/>
            <a:ext cx="2867020" cy="2910517"/>
            <a:chOff x="444840" y="2420887"/>
            <a:chExt cx="2867020" cy="2910517"/>
          </a:xfrm>
        </p:grpSpPr>
        <p:sp>
          <p:nvSpPr>
            <p:cNvPr id="32" name="정육면체 31">
              <a:extLst>
                <a:ext uri="{FF2B5EF4-FFF2-40B4-BE49-F238E27FC236}">
                  <a16:creationId xmlns:a16="http://schemas.microsoft.com/office/drawing/2014/main" id="{8F0C53F1-D70D-6D4A-E279-1C89A4A3CD24}"/>
                </a:ext>
              </a:extLst>
            </p:cNvPr>
            <p:cNvSpPr/>
            <p:nvPr/>
          </p:nvSpPr>
          <p:spPr>
            <a:xfrm>
              <a:off x="899592" y="2420887"/>
              <a:ext cx="2412268" cy="2408705"/>
            </a:xfrm>
            <a:prstGeom prst="cube">
              <a:avLst>
                <a:gd name="adj" fmla="val 53723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왼쪽 중괄호 32">
              <a:extLst>
                <a:ext uri="{FF2B5EF4-FFF2-40B4-BE49-F238E27FC236}">
                  <a16:creationId xmlns:a16="http://schemas.microsoft.com/office/drawing/2014/main" id="{F390A05E-E8F4-3F13-6086-BCD0AACFFF4F}"/>
                </a:ext>
              </a:extLst>
            </p:cNvPr>
            <p:cNvSpPr/>
            <p:nvPr/>
          </p:nvSpPr>
          <p:spPr>
            <a:xfrm>
              <a:off x="683568" y="3717032"/>
              <a:ext cx="216024" cy="1112561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왼쪽 중괄호 33">
              <a:extLst>
                <a:ext uri="{FF2B5EF4-FFF2-40B4-BE49-F238E27FC236}">
                  <a16:creationId xmlns:a16="http://schemas.microsoft.com/office/drawing/2014/main" id="{14172E29-6CE4-7D78-8F94-A58ECA8D0604}"/>
                </a:ext>
              </a:extLst>
            </p:cNvPr>
            <p:cNvSpPr/>
            <p:nvPr/>
          </p:nvSpPr>
          <p:spPr>
            <a:xfrm rot="16200000">
              <a:off x="1347861" y="4379785"/>
              <a:ext cx="216024" cy="1112561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왼쪽 중괄호 34">
              <a:extLst>
                <a:ext uri="{FF2B5EF4-FFF2-40B4-BE49-F238E27FC236}">
                  <a16:creationId xmlns:a16="http://schemas.microsoft.com/office/drawing/2014/main" id="{3628271D-1C0C-336A-1AB0-1DB8C155C63B}"/>
                </a:ext>
              </a:extLst>
            </p:cNvPr>
            <p:cNvSpPr/>
            <p:nvPr/>
          </p:nvSpPr>
          <p:spPr>
            <a:xfrm rot="2761143">
              <a:off x="1328635" y="2077014"/>
              <a:ext cx="251979" cy="1792785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F16D653-64B7-6872-0A5A-9980B565E1C3}"/>
                    </a:ext>
                  </a:extLst>
                </p:cNvPr>
                <p:cNvSpPr txBox="1"/>
                <p:nvPr/>
              </p:nvSpPr>
              <p:spPr>
                <a:xfrm>
                  <a:off x="444840" y="4179491"/>
                  <a:ext cx="16382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h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F16D653-64B7-6872-0A5A-9980B565E1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840" y="4179491"/>
                  <a:ext cx="163827" cy="246221"/>
                </a:xfrm>
                <a:prstGeom prst="rect">
                  <a:avLst/>
                </a:prstGeom>
                <a:blipFill>
                  <a:blip r:embed="rId2"/>
                  <a:stretch>
                    <a:fillRect l="-29630" r="-25926" b="-48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428661A-C618-00CD-8A6A-F84D1E4B1E32}"/>
                    </a:ext>
                  </a:extLst>
                </p:cNvPr>
                <p:cNvSpPr txBox="1"/>
                <p:nvPr/>
              </p:nvSpPr>
              <p:spPr>
                <a:xfrm>
                  <a:off x="1353827" y="5085183"/>
                  <a:ext cx="20480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𝑤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428661A-C618-00CD-8A6A-F84D1E4B1E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3827" y="5085183"/>
                  <a:ext cx="204800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11765" r="-882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856551C-C8CC-42E7-25F8-B8212E209B68}"/>
                    </a:ext>
                  </a:extLst>
                </p:cNvPr>
                <p:cNvSpPr txBox="1"/>
                <p:nvPr/>
              </p:nvSpPr>
              <p:spPr>
                <a:xfrm>
                  <a:off x="1160936" y="2700725"/>
                  <a:ext cx="17164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𝑑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856551C-C8CC-42E7-25F8-B8212E209B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0936" y="2700725"/>
                  <a:ext cx="171649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28571" r="-25000" b="-7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정육면체 42">
            <a:extLst>
              <a:ext uri="{FF2B5EF4-FFF2-40B4-BE49-F238E27FC236}">
                <a16:creationId xmlns:a16="http://schemas.microsoft.com/office/drawing/2014/main" id="{7D7B62D6-5016-29C6-E9FF-877425A2A845}"/>
              </a:ext>
            </a:extLst>
          </p:cNvPr>
          <p:cNvSpPr/>
          <p:nvPr/>
        </p:nvSpPr>
        <p:spPr>
          <a:xfrm>
            <a:off x="3707003" y="2618155"/>
            <a:ext cx="1824849" cy="1850166"/>
          </a:xfrm>
          <a:prstGeom prst="cube">
            <a:avLst>
              <a:gd name="adj" fmla="val 7689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0A2F076-DD6A-FA95-88A9-3F2B4F3A4A0C}"/>
                  </a:ext>
                </a:extLst>
              </p:cNvPr>
              <p:cNvSpPr txBox="1"/>
              <p:nvPr/>
            </p:nvSpPr>
            <p:spPr>
              <a:xfrm>
                <a:off x="3439890" y="4167892"/>
                <a:ext cx="16632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08서울남산체 B" panose="02020603020101020101" pitchFamily="18" charset="-127"/>
                          <a:cs typeface="Times New Roman" pitchFamily="18" charset="0"/>
                        </a:rPr>
                        <m:t>𝑘</m:t>
                      </m:r>
                    </m:oMath>
                  </m:oMathPara>
                </a14:m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0A2F076-DD6A-FA95-88A9-3F2B4F3A4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890" y="4167892"/>
                <a:ext cx="166328" cy="246221"/>
              </a:xfrm>
              <a:prstGeom prst="rect">
                <a:avLst/>
              </a:prstGeom>
              <a:blipFill>
                <a:blip r:embed="rId5"/>
                <a:stretch>
                  <a:fillRect l="-28571" r="-21429" b="-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5E3EB24-CF81-8FB4-0C16-E49ADD0E9364}"/>
                  </a:ext>
                </a:extLst>
              </p:cNvPr>
              <p:cNvSpPr txBox="1"/>
              <p:nvPr/>
            </p:nvSpPr>
            <p:spPr>
              <a:xfrm>
                <a:off x="4273751" y="3075565"/>
                <a:ext cx="19518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08서울남산체 B" panose="02020603020101020101" pitchFamily="18" charset="-127"/>
                          <a:cs typeface="Times New Roman" pitchFamily="18" charset="0"/>
                        </a:rPr>
                        <m:t>𝐷</m:t>
                      </m:r>
                    </m:oMath>
                  </m:oMathPara>
                </a14:m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5E3EB24-CF81-8FB4-0C16-E49ADD0E9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751" y="3075565"/>
                <a:ext cx="195182" cy="246221"/>
              </a:xfrm>
              <a:prstGeom prst="rect">
                <a:avLst/>
              </a:prstGeom>
              <a:blipFill>
                <a:blip r:embed="rId6"/>
                <a:stretch>
                  <a:fillRect l="-21875" r="-21875" b="-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F775D9D-9881-3C3E-8843-8C55B3E1B8AB}"/>
                  </a:ext>
                </a:extLst>
              </p:cNvPr>
              <p:cNvSpPr txBox="1"/>
              <p:nvPr/>
            </p:nvSpPr>
            <p:spPr>
              <a:xfrm>
                <a:off x="3882762" y="4566513"/>
                <a:ext cx="16632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08서울남산체 B" panose="02020603020101020101" pitchFamily="18" charset="-127"/>
                          <a:cs typeface="Times New Roman" pitchFamily="18" charset="0"/>
                        </a:rPr>
                        <m:t>𝑘</m:t>
                      </m:r>
                    </m:oMath>
                  </m:oMathPara>
                </a14:m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F775D9D-9881-3C3E-8843-8C55B3E1B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762" y="4566513"/>
                <a:ext cx="166328" cy="246221"/>
              </a:xfrm>
              <a:prstGeom prst="rect">
                <a:avLst/>
              </a:prstGeom>
              <a:blipFill>
                <a:blip r:embed="rId7"/>
                <a:stretch>
                  <a:fillRect l="-29630" r="-25926" b="-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그룹 50">
            <a:extLst>
              <a:ext uri="{FF2B5EF4-FFF2-40B4-BE49-F238E27FC236}">
                <a16:creationId xmlns:a16="http://schemas.microsoft.com/office/drawing/2014/main" id="{74BB7869-4DB2-B5DE-89BB-7C7421036971}"/>
              </a:ext>
            </a:extLst>
          </p:cNvPr>
          <p:cNvGrpSpPr/>
          <p:nvPr/>
        </p:nvGrpSpPr>
        <p:grpSpPr>
          <a:xfrm>
            <a:off x="5943587" y="2211967"/>
            <a:ext cx="2867020" cy="2910517"/>
            <a:chOff x="444840" y="2420887"/>
            <a:chExt cx="2867020" cy="2910517"/>
          </a:xfrm>
        </p:grpSpPr>
        <p:sp>
          <p:nvSpPr>
            <p:cNvPr id="52" name="정육면체 51">
              <a:extLst>
                <a:ext uri="{FF2B5EF4-FFF2-40B4-BE49-F238E27FC236}">
                  <a16:creationId xmlns:a16="http://schemas.microsoft.com/office/drawing/2014/main" id="{1EEEDF46-6E35-2ADE-FB33-71CF73090433}"/>
                </a:ext>
              </a:extLst>
            </p:cNvPr>
            <p:cNvSpPr/>
            <p:nvPr/>
          </p:nvSpPr>
          <p:spPr>
            <a:xfrm>
              <a:off x="899592" y="2420887"/>
              <a:ext cx="2412268" cy="2408705"/>
            </a:xfrm>
            <a:prstGeom prst="cube">
              <a:avLst>
                <a:gd name="adj" fmla="val 5372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왼쪽 중괄호 52">
              <a:extLst>
                <a:ext uri="{FF2B5EF4-FFF2-40B4-BE49-F238E27FC236}">
                  <a16:creationId xmlns:a16="http://schemas.microsoft.com/office/drawing/2014/main" id="{4A2DB8ED-EC1F-CCB4-9A37-3D76B1728912}"/>
                </a:ext>
              </a:extLst>
            </p:cNvPr>
            <p:cNvSpPr/>
            <p:nvPr/>
          </p:nvSpPr>
          <p:spPr>
            <a:xfrm>
              <a:off x="683568" y="3717032"/>
              <a:ext cx="216024" cy="1112561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왼쪽 중괄호 53">
              <a:extLst>
                <a:ext uri="{FF2B5EF4-FFF2-40B4-BE49-F238E27FC236}">
                  <a16:creationId xmlns:a16="http://schemas.microsoft.com/office/drawing/2014/main" id="{F4A1CAF8-6222-9A98-09DD-DE211E13D700}"/>
                </a:ext>
              </a:extLst>
            </p:cNvPr>
            <p:cNvSpPr/>
            <p:nvPr/>
          </p:nvSpPr>
          <p:spPr>
            <a:xfrm rot="16200000">
              <a:off x="1347861" y="4379785"/>
              <a:ext cx="216024" cy="1112561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왼쪽 중괄호 54">
              <a:extLst>
                <a:ext uri="{FF2B5EF4-FFF2-40B4-BE49-F238E27FC236}">
                  <a16:creationId xmlns:a16="http://schemas.microsoft.com/office/drawing/2014/main" id="{C2AD2862-CB5A-6576-7984-EBE0B689450A}"/>
                </a:ext>
              </a:extLst>
            </p:cNvPr>
            <p:cNvSpPr/>
            <p:nvPr/>
          </p:nvSpPr>
          <p:spPr>
            <a:xfrm rot="2761143">
              <a:off x="1328635" y="2077014"/>
              <a:ext cx="251979" cy="1792785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E1D11EE-2565-90A5-A046-8EF2D9F1A4B6}"/>
                    </a:ext>
                  </a:extLst>
                </p:cNvPr>
                <p:cNvSpPr txBox="1"/>
                <p:nvPr/>
              </p:nvSpPr>
              <p:spPr>
                <a:xfrm>
                  <a:off x="444840" y="4179491"/>
                  <a:ext cx="20159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𝐻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E1D11EE-2565-90A5-A046-8EF2D9F1A4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840" y="4179491"/>
                  <a:ext cx="201594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24242" r="-18182" b="-48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268E04B3-B0DF-6BE6-4255-459945CDD7A5}"/>
                    </a:ext>
                  </a:extLst>
                </p:cNvPr>
                <p:cNvSpPr txBox="1"/>
                <p:nvPr/>
              </p:nvSpPr>
              <p:spPr>
                <a:xfrm>
                  <a:off x="1353827" y="5085183"/>
                  <a:ext cx="25006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𝑊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268E04B3-B0DF-6BE6-4255-459945CDD7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3827" y="5085183"/>
                  <a:ext cx="250068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17073" r="-14634" b="-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7C618D03-2EB7-58C5-0F0F-0E1A7D408F46}"/>
                    </a:ext>
                  </a:extLst>
                </p:cNvPr>
                <p:cNvSpPr txBox="1"/>
                <p:nvPr/>
              </p:nvSpPr>
              <p:spPr>
                <a:xfrm>
                  <a:off x="1160936" y="2700725"/>
                  <a:ext cx="19518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𝐷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7C618D03-2EB7-58C5-0F0F-0E1A7D408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0936" y="2700725"/>
                  <a:ext cx="195182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21875" r="-21875" b="-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06454DF3-AA8C-FB7F-01E9-CB357C61A883}"/>
              </a:ext>
            </a:extLst>
          </p:cNvPr>
          <p:cNvSpPr txBox="1"/>
          <p:nvPr/>
        </p:nvSpPr>
        <p:spPr>
          <a:xfrm>
            <a:off x="195893" y="5424484"/>
            <a:ext cx="18030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Input Tensor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4BEBD3-B6F6-3AED-20B2-B7126EF8444C}"/>
              </a:ext>
            </a:extLst>
          </p:cNvPr>
          <p:cNvSpPr txBox="1"/>
          <p:nvPr/>
        </p:nvSpPr>
        <p:spPr>
          <a:xfrm>
            <a:off x="2999944" y="4762974"/>
            <a:ext cx="2001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Convolutional Kernel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6F2FF1-CA89-3D50-76B0-EB784698EE23}"/>
              </a:ext>
            </a:extLst>
          </p:cNvPr>
          <p:cNvSpPr txBox="1"/>
          <p:nvPr/>
        </p:nvSpPr>
        <p:spPr>
          <a:xfrm>
            <a:off x="6044384" y="5186333"/>
            <a:ext cx="2001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Output Tensor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63C79516-A0F7-D21A-A480-EC7029885FC1}"/>
              </a:ext>
            </a:extLst>
          </p:cNvPr>
          <p:cNvCxnSpPr/>
          <p:nvPr/>
        </p:nvCxnSpPr>
        <p:spPr>
          <a:xfrm>
            <a:off x="2519772" y="3861048"/>
            <a:ext cx="920118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0EA94672-81FB-17CB-F207-1D23455359C3}"/>
              </a:ext>
            </a:extLst>
          </p:cNvPr>
          <p:cNvCxnSpPr/>
          <p:nvPr/>
        </p:nvCxnSpPr>
        <p:spPr>
          <a:xfrm>
            <a:off x="5071793" y="3902571"/>
            <a:ext cx="920118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2662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8286-6949-828A-8D3F-4E02D88D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Deformable Convolutional Layer v3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95DE0-73F6-1E0B-49E2-5CB3E02FF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499435"/>
          </a:xfrm>
        </p:spPr>
        <p:txBody>
          <a:bodyPr/>
          <a:lstStyle/>
          <a:p>
            <a:r>
              <a:rPr lang="en-US" altLang="ko-KR" dirty="0"/>
              <a:t>Deformable Convolutional Layer v1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DA0B6-1590-8D5C-D756-447FA2F83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5990393-FB0B-ED86-328F-5B64D6ADA27C}"/>
              </a:ext>
            </a:extLst>
          </p:cNvPr>
          <p:cNvGrpSpPr/>
          <p:nvPr/>
        </p:nvGrpSpPr>
        <p:grpSpPr>
          <a:xfrm>
            <a:off x="911872" y="1934427"/>
            <a:ext cx="1906435" cy="2261567"/>
            <a:chOff x="92551" y="2491805"/>
            <a:chExt cx="2867020" cy="3401090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379A5B5E-7240-65CE-1158-A4630E75C685}"/>
                </a:ext>
              </a:extLst>
            </p:cNvPr>
            <p:cNvGrpSpPr/>
            <p:nvPr/>
          </p:nvGrpSpPr>
          <p:grpSpPr>
            <a:xfrm>
              <a:off x="92551" y="2491805"/>
              <a:ext cx="2867020" cy="2910517"/>
              <a:chOff x="444840" y="2420887"/>
              <a:chExt cx="2867020" cy="2910517"/>
            </a:xfrm>
          </p:grpSpPr>
          <p:sp>
            <p:nvSpPr>
              <p:cNvPr id="32" name="정육면체 31">
                <a:extLst>
                  <a:ext uri="{FF2B5EF4-FFF2-40B4-BE49-F238E27FC236}">
                    <a16:creationId xmlns:a16="http://schemas.microsoft.com/office/drawing/2014/main" id="{8F0C53F1-D70D-6D4A-E279-1C89A4A3CD24}"/>
                  </a:ext>
                </a:extLst>
              </p:cNvPr>
              <p:cNvSpPr/>
              <p:nvPr/>
            </p:nvSpPr>
            <p:spPr>
              <a:xfrm>
                <a:off x="899592" y="2420887"/>
                <a:ext cx="2412268" cy="2408705"/>
              </a:xfrm>
              <a:prstGeom prst="cube">
                <a:avLst>
                  <a:gd name="adj" fmla="val 53723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왼쪽 중괄호 32">
                <a:extLst>
                  <a:ext uri="{FF2B5EF4-FFF2-40B4-BE49-F238E27FC236}">
                    <a16:creationId xmlns:a16="http://schemas.microsoft.com/office/drawing/2014/main" id="{F390A05E-E8F4-3F13-6086-BCD0AACFFF4F}"/>
                  </a:ext>
                </a:extLst>
              </p:cNvPr>
              <p:cNvSpPr/>
              <p:nvPr/>
            </p:nvSpPr>
            <p:spPr>
              <a:xfrm>
                <a:off x="683568" y="3717032"/>
                <a:ext cx="216024" cy="1112561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왼쪽 중괄호 33">
                <a:extLst>
                  <a:ext uri="{FF2B5EF4-FFF2-40B4-BE49-F238E27FC236}">
                    <a16:creationId xmlns:a16="http://schemas.microsoft.com/office/drawing/2014/main" id="{14172E29-6CE4-7D78-8F94-A58ECA8D0604}"/>
                  </a:ext>
                </a:extLst>
              </p:cNvPr>
              <p:cNvSpPr/>
              <p:nvPr/>
            </p:nvSpPr>
            <p:spPr>
              <a:xfrm rot="16200000">
                <a:off x="1347861" y="4379785"/>
                <a:ext cx="216024" cy="1112561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왼쪽 중괄호 34">
                <a:extLst>
                  <a:ext uri="{FF2B5EF4-FFF2-40B4-BE49-F238E27FC236}">
                    <a16:creationId xmlns:a16="http://schemas.microsoft.com/office/drawing/2014/main" id="{3628271D-1C0C-336A-1AB0-1DB8C155C63B}"/>
                  </a:ext>
                </a:extLst>
              </p:cNvPr>
              <p:cNvSpPr/>
              <p:nvPr/>
            </p:nvSpPr>
            <p:spPr>
              <a:xfrm rot="2761143">
                <a:off x="1328635" y="2077014"/>
                <a:ext cx="251979" cy="1792785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1F16D653-64B7-6872-0A5A-9980B565E1C3}"/>
                      </a:ext>
                    </a:extLst>
                  </p:cNvPr>
                  <p:cNvSpPr txBox="1"/>
                  <p:nvPr/>
                </p:nvSpPr>
                <p:spPr>
                  <a:xfrm>
                    <a:off x="444840" y="4179491"/>
                    <a:ext cx="163827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1F16D653-64B7-6872-0A5A-9980B565E1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840" y="4179491"/>
                    <a:ext cx="163827" cy="24622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70588" r="-76471" b="-5925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3428661A-C618-00CD-8A6A-F84D1E4B1E32}"/>
                      </a:ext>
                    </a:extLst>
                  </p:cNvPr>
                  <p:cNvSpPr txBox="1"/>
                  <p:nvPr/>
                </p:nvSpPr>
                <p:spPr>
                  <a:xfrm>
                    <a:off x="1353827" y="5085183"/>
                    <a:ext cx="20480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3428661A-C618-00CD-8A6A-F84D1E4B1E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53827" y="5085183"/>
                    <a:ext cx="204800" cy="2462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0909" r="-45455" b="-44444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F856551C-C8CC-42E7-25F8-B8212E209B68}"/>
                      </a:ext>
                    </a:extLst>
                  </p:cNvPr>
                  <p:cNvSpPr txBox="1"/>
                  <p:nvPr/>
                </p:nvSpPr>
                <p:spPr>
                  <a:xfrm>
                    <a:off x="1160936" y="2700725"/>
                    <a:ext cx="171649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F856551C-C8CC-42E7-25F8-B8212E209B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60936" y="2700725"/>
                    <a:ext cx="171649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66667" r="-72222" b="-5925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6454DF3-AA8C-FB7F-01E9-CB357C61A883}"/>
                </a:ext>
              </a:extLst>
            </p:cNvPr>
            <p:cNvSpPr txBox="1"/>
            <p:nvPr/>
          </p:nvSpPr>
          <p:spPr>
            <a:xfrm>
              <a:off x="195894" y="5383756"/>
              <a:ext cx="2374889" cy="509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Input Tensor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5938BEF-63A3-3444-646B-113D476967B1}"/>
              </a:ext>
            </a:extLst>
          </p:cNvPr>
          <p:cNvGrpSpPr/>
          <p:nvPr/>
        </p:nvGrpSpPr>
        <p:grpSpPr>
          <a:xfrm>
            <a:off x="3420154" y="1875599"/>
            <a:ext cx="2119044" cy="2133629"/>
            <a:chOff x="3313840" y="1566722"/>
            <a:chExt cx="2531908" cy="2549335"/>
          </a:xfrm>
        </p:grpSpPr>
        <p:sp>
          <p:nvSpPr>
            <p:cNvPr id="43" name="정육면체 42">
              <a:extLst>
                <a:ext uri="{FF2B5EF4-FFF2-40B4-BE49-F238E27FC236}">
                  <a16:creationId xmlns:a16="http://schemas.microsoft.com/office/drawing/2014/main" id="{7D7B62D6-5016-29C6-E9FF-877425A2A845}"/>
                </a:ext>
              </a:extLst>
            </p:cNvPr>
            <p:cNvSpPr/>
            <p:nvPr/>
          </p:nvSpPr>
          <p:spPr>
            <a:xfrm>
              <a:off x="4020899" y="1566722"/>
              <a:ext cx="1824849" cy="1850166"/>
            </a:xfrm>
            <a:prstGeom prst="cube">
              <a:avLst>
                <a:gd name="adj" fmla="val 768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0A2F076-DD6A-FA95-88A9-3F2B4F3A4A0C}"/>
                    </a:ext>
                  </a:extLst>
                </p:cNvPr>
                <p:cNvSpPr txBox="1"/>
                <p:nvPr/>
              </p:nvSpPr>
              <p:spPr>
                <a:xfrm>
                  <a:off x="3753786" y="3116459"/>
                  <a:ext cx="16632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𝑘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0A2F076-DD6A-FA95-88A9-3F2B4F3A4A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3786" y="3116459"/>
                  <a:ext cx="166328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43478" r="-39130" b="-2647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5E3EB24-CF81-8FB4-0C16-E49ADD0E9364}"/>
                    </a:ext>
                  </a:extLst>
                </p:cNvPr>
                <p:cNvSpPr txBox="1"/>
                <p:nvPr/>
              </p:nvSpPr>
              <p:spPr>
                <a:xfrm>
                  <a:off x="4587647" y="2024132"/>
                  <a:ext cx="19518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𝐷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5E3EB24-CF81-8FB4-0C16-E49ADD0E93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7647" y="2024132"/>
                  <a:ext cx="195182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40741" r="-29630" b="-2647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F775D9D-9881-3C3E-8843-8C55B3E1B8AB}"/>
                    </a:ext>
                  </a:extLst>
                </p:cNvPr>
                <p:cNvSpPr txBox="1"/>
                <p:nvPr/>
              </p:nvSpPr>
              <p:spPr>
                <a:xfrm>
                  <a:off x="4196658" y="3515080"/>
                  <a:ext cx="16632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𝑘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F775D9D-9881-3C3E-8843-8C55B3E1B8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6658" y="3515080"/>
                  <a:ext cx="166328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43478" r="-39130" b="-2647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D4BEBD3-B6F6-3AED-20B2-B7126EF8444C}"/>
                </a:ext>
              </a:extLst>
            </p:cNvPr>
            <p:cNvSpPr txBox="1"/>
            <p:nvPr/>
          </p:nvSpPr>
          <p:spPr>
            <a:xfrm>
              <a:off x="3313840" y="3711541"/>
              <a:ext cx="2512057" cy="404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Convolutional Kernel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88B6DE3-307E-51C1-7A30-DC73C1EB8D03}"/>
              </a:ext>
            </a:extLst>
          </p:cNvPr>
          <p:cNvGrpSpPr/>
          <p:nvPr/>
        </p:nvGrpSpPr>
        <p:grpSpPr>
          <a:xfrm>
            <a:off x="6481299" y="1602988"/>
            <a:ext cx="2084267" cy="2408428"/>
            <a:chOff x="5943587" y="2211967"/>
            <a:chExt cx="2867020" cy="3312920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74BB7869-4DB2-B5DE-89BB-7C7421036971}"/>
                </a:ext>
              </a:extLst>
            </p:cNvPr>
            <p:cNvGrpSpPr/>
            <p:nvPr/>
          </p:nvGrpSpPr>
          <p:grpSpPr>
            <a:xfrm>
              <a:off x="5943587" y="2211967"/>
              <a:ext cx="2867020" cy="2910517"/>
              <a:chOff x="444840" y="2420887"/>
              <a:chExt cx="2867020" cy="2910517"/>
            </a:xfrm>
          </p:grpSpPr>
          <p:sp>
            <p:nvSpPr>
              <p:cNvPr id="52" name="정육면체 51">
                <a:extLst>
                  <a:ext uri="{FF2B5EF4-FFF2-40B4-BE49-F238E27FC236}">
                    <a16:creationId xmlns:a16="http://schemas.microsoft.com/office/drawing/2014/main" id="{1EEEDF46-6E35-2ADE-FB33-71CF73090433}"/>
                  </a:ext>
                </a:extLst>
              </p:cNvPr>
              <p:cNvSpPr/>
              <p:nvPr/>
            </p:nvSpPr>
            <p:spPr>
              <a:xfrm>
                <a:off x="899592" y="2420887"/>
                <a:ext cx="2412268" cy="2408705"/>
              </a:xfrm>
              <a:prstGeom prst="cube">
                <a:avLst>
                  <a:gd name="adj" fmla="val 5372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왼쪽 중괄호 52">
                <a:extLst>
                  <a:ext uri="{FF2B5EF4-FFF2-40B4-BE49-F238E27FC236}">
                    <a16:creationId xmlns:a16="http://schemas.microsoft.com/office/drawing/2014/main" id="{4A2DB8ED-EC1F-CCB4-9A37-3D76B1728912}"/>
                  </a:ext>
                </a:extLst>
              </p:cNvPr>
              <p:cNvSpPr/>
              <p:nvPr/>
            </p:nvSpPr>
            <p:spPr>
              <a:xfrm>
                <a:off x="683568" y="3717032"/>
                <a:ext cx="216024" cy="1112561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왼쪽 중괄호 53">
                <a:extLst>
                  <a:ext uri="{FF2B5EF4-FFF2-40B4-BE49-F238E27FC236}">
                    <a16:creationId xmlns:a16="http://schemas.microsoft.com/office/drawing/2014/main" id="{F4A1CAF8-6222-9A98-09DD-DE211E13D700}"/>
                  </a:ext>
                </a:extLst>
              </p:cNvPr>
              <p:cNvSpPr/>
              <p:nvPr/>
            </p:nvSpPr>
            <p:spPr>
              <a:xfrm rot="16200000">
                <a:off x="1347861" y="4379785"/>
                <a:ext cx="216024" cy="1112561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왼쪽 중괄호 54">
                <a:extLst>
                  <a:ext uri="{FF2B5EF4-FFF2-40B4-BE49-F238E27FC236}">
                    <a16:creationId xmlns:a16="http://schemas.microsoft.com/office/drawing/2014/main" id="{C2AD2862-CB5A-6576-7984-EBE0B689450A}"/>
                  </a:ext>
                </a:extLst>
              </p:cNvPr>
              <p:cNvSpPr/>
              <p:nvPr/>
            </p:nvSpPr>
            <p:spPr>
              <a:xfrm rot="2761143">
                <a:off x="1328635" y="2077014"/>
                <a:ext cx="251979" cy="1792785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DE1D11EE-2565-90A5-A046-8EF2D9F1A4B6}"/>
                      </a:ext>
                    </a:extLst>
                  </p:cNvPr>
                  <p:cNvSpPr txBox="1"/>
                  <p:nvPr/>
                </p:nvSpPr>
                <p:spPr>
                  <a:xfrm>
                    <a:off x="444840" y="4179491"/>
                    <a:ext cx="201594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DE1D11EE-2565-90A5-A046-8EF2D9F1A4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840" y="4179491"/>
                    <a:ext cx="201594" cy="24622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5833" r="-50000" b="-4482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268E04B3-B0DF-6BE6-4255-459945CDD7A5}"/>
                      </a:ext>
                    </a:extLst>
                  </p:cNvPr>
                  <p:cNvSpPr txBox="1"/>
                  <p:nvPr/>
                </p:nvSpPr>
                <p:spPr>
                  <a:xfrm>
                    <a:off x="1353827" y="5085183"/>
                    <a:ext cx="250068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𝑊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268E04B3-B0DF-6BE6-4255-459945CDD7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53827" y="5085183"/>
                    <a:ext cx="250068" cy="24622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41379" r="-44828" b="-4482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7C618D03-2EB7-58C5-0F0F-0E1A7D408F46}"/>
                      </a:ext>
                    </a:extLst>
                  </p:cNvPr>
                  <p:cNvSpPr txBox="1"/>
                  <p:nvPr/>
                </p:nvSpPr>
                <p:spPr>
                  <a:xfrm>
                    <a:off x="1160936" y="2700725"/>
                    <a:ext cx="195182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𝐷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7C618D03-2EB7-58C5-0F0F-0E1A7D408F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60936" y="2700725"/>
                    <a:ext cx="195182" cy="24622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174" r="-47826" b="-4333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56F2FF1-CA89-3D50-76B0-EB784698EE23}"/>
                </a:ext>
              </a:extLst>
            </p:cNvPr>
            <p:cNvSpPr txBox="1"/>
            <p:nvPr/>
          </p:nvSpPr>
          <p:spPr>
            <a:xfrm>
              <a:off x="6044384" y="5186333"/>
              <a:ext cx="20017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Output Tensor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79672E2-2FC4-15B3-216A-B620FA00F556}"/>
              </a:ext>
            </a:extLst>
          </p:cNvPr>
          <p:cNvGrpSpPr/>
          <p:nvPr/>
        </p:nvGrpSpPr>
        <p:grpSpPr>
          <a:xfrm>
            <a:off x="590517" y="5090641"/>
            <a:ext cx="2426375" cy="1470403"/>
            <a:chOff x="2071888" y="5311297"/>
            <a:chExt cx="2426375" cy="1470403"/>
          </a:xfrm>
        </p:grpSpPr>
        <p:sp>
          <p:nvSpPr>
            <p:cNvPr id="5" name="정육면체 4">
              <a:extLst>
                <a:ext uri="{FF2B5EF4-FFF2-40B4-BE49-F238E27FC236}">
                  <a16:creationId xmlns:a16="http://schemas.microsoft.com/office/drawing/2014/main" id="{C7E5FC54-2A13-8D48-E832-18A76EF61E57}"/>
                </a:ext>
              </a:extLst>
            </p:cNvPr>
            <p:cNvSpPr/>
            <p:nvPr/>
          </p:nvSpPr>
          <p:spPr>
            <a:xfrm>
              <a:off x="2764508" y="5311297"/>
              <a:ext cx="616550" cy="640025"/>
            </a:xfrm>
            <a:prstGeom prst="cube">
              <a:avLst>
                <a:gd name="adj" fmla="val 398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0044DAF-6F7D-CC03-17FE-074E72EA2789}"/>
                    </a:ext>
                  </a:extLst>
                </p:cNvPr>
                <p:cNvSpPr txBox="1"/>
                <p:nvPr/>
              </p:nvSpPr>
              <p:spPr>
                <a:xfrm>
                  <a:off x="2511834" y="5601843"/>
                  <a:ext cx="16632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𝑘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0044DAF-6F7D-CC03-17FE-074E72EA27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1834" y="5601843"/>
                  <a:ext cx="166328" cy="246221"/>
                </a:xfrm>
                <a:prstGeom prst="rect">
                  <a:avLst/>
                </a:prstGeom>
                <a:blipFill>
                  <a:blip r:embed="rId11"/>
                  <a:stretch>
                    <a:fillRect l="-29630" r="-25926" b="-7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C592310-DA25-1F35-EC2A-EAD00A1E9AC0}"/>
                    </a:ext>
                  </a:extLst>
                </p:cNvPr>
                <p:cNvSpPr txBox="1"/>
                <p:nvPr/>
              </p:nvSpPr>
              <p:spPr>
                <a:xfrm>
                  <a:off x="3369813" y="5753509"/>
                  <a:ext cx="112845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2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C592310-DA25-1F35-EC2A-EAD00A1E9A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9813" y="5753509"/>
                  <a:ext cx="1128450" cy="246221"/>
                </a:xfrm>
                <a:prstGeom prst="rect">
                  <a:avLst/>
                </a:prstGeom>
                <a:blipFill>
                  <a:blip r:embed="rId12"/>
                  <a:stretch>
                    <a:fillRect l="-3784" t="-2500" r="-5946" b="-3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73B3915-BD39-D317-78F4-7A67EF40CF28}"/>
                    </a:ext>
                  </a:extLst>
                </p:cNvPr>
                <p:cNvSpPr txBox="1"/>
                <p:nvPr/>
              </p:nvSpPr>
              <p:spPr>
                <a:xfrm>
                  <a:off x="2954706" y="6000464"/>
                  <a:ext cx="16632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𝑘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73B3915-BD39-D317-78F4-7A67EF40C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4706" y="6000464"/>
                  <a:ext cx="166328" cy="246221"/>
                </a:xfrm>
                <a:prstGeom prst="rect">
                  <a:avLst/>
                </a:prstGeom>
                <a:blipFill>
                  <a:blip r:embed="rId13"/>
                  <a:stretch>
                    <a:fillRect l="-29630" r="-25926" b="-48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A7FB4E-29D0-DAFC-9C28-B3B8E3E51687}"/>
                </a:ext>
              </a:extLst>
            </p:cNvPr>
            <p:cNvSpPr txBox="1"/>
            <p:nvPr/>
          </p:nvSpPr>
          <p:spPr>
            <a:xfrm>
              <a:off x="2071888" y="6196925"/>
              <a:ext cx="20017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Offset Layer</a:t>
              </a:r>
            </a:p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(Convolutional Kernel)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1A3EAEA-EDB0-22E7-299B-A2C364E95E6A}"/>
              </a:ext>
            </a:extLst>
          </p:cNvPr>
          <p:cNvGrpSpPr/>
          <p:nvPr/>
        </p:nvGrpSpPr>
        <p:grpSpPr>
          <a:xfrm>
            <a:off x="3592481" y="4765021"/>
            <a:ext cx="2406464" cy="1769564"/>
            <a:chOff x="2311108" y="3479617"/>
            <a:chExt cx="2406464" cy="1769564"/>
          </a:xfrm>
        </p:grpSpPr>
        <p:sp>
          <p:nvSpPr>
            <p:cNvPr id="16" name="정육면체 15">
              <a:extLst>
                <a:ext uri="{FF2B5EF4-FFF2-40B4-BE49-F238E27FC236}">
                  <a16:creationId xmlns:a16="http://schemas.microsoft.com/office/drawing/2014/main" id="{21B29CF5-2BAA-81F3-3D81-83B6A39225C8}"/>
                </a:ext>
              </a:extLst>
            </p:cNvPr>
            <p:cNvSpPr/>
            <p:nvPr/>
          </p:nvSpPr>
          <p:spPr>
            <a:xfrm>
              <a:off x="2641704" y="3479617"/>
              <a:ext cx="1039565" cy="1019785"/>
            </a:xfrm>
            <a:prstGeom prst="cube">
              <a:avLst>
                <a:gd name="adj" fmla="val 21966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왼쪽 중괄호 16">
              <a:extLst>
                <a:ext uri="{FF2B5EF4-FFF2-40B4-BE49-F238E27FC236}">
                  <a16:creationId xmlns:a16="http://schemas.microsoft.com/office/drawing/2014/main" id="{E7419A0C-1890-1862-26C3-6128C7C4359C}"/>
                </a:ext>
              </a:extLst>
            </p:cNvPr>
            <p:cNvSpPr/>
            <p:nvPr/>
          </p:nvSpPr>
          <p:spPr>
            <a:xfrm>
              <a:off x="2484659" y="3690593"/>
              <a:ext cx="157045" cy="80881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왼쪽 중괄호 17">
              <a:extLst>
                <a:ext uri="{FF2B5EF4-FFF2-40B4-BE49-F238E27FC236}">
                  <a16:creationId xmlns:a16="http://schemas.microsoft.com/office/drawing/2014/main" id="{B0125CFB-8007-6CDF-CD2E-1F32F3C663DF}"/>
                </a:ext>
              </a:extLst>
            </p:cNvPr>
            <p:cNvSpPr/>
            <p:nvPr/>
          </p:nvSpPr>
          <p:spPr>
            <a:xfrm rot="16200000">
              <a:off x="2967586" y="4172402"/>
              <a:ext cx="157045" cy="80881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D3F0815-64E8-C879-B1E7-405C228FE83E}"/>
                    </a:ext>
                  </a:extLst>
                </p:cNvPr>
                <p:cNvSpPr txBox="1"/>
                <p:nvPr/>
              </p:nvSpPr>
              <p:spPr>
                <a:xfrm>
                  <a:off x="2311108" y="4026792"/>
                  <a:ext cx="146555" cy="178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𝐻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D3F0815-64E8-C879-B1E7-405C228FE8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108" y="4026792"/>
                  <a:ext cx="146555" cy="178998"/>
                </a:xfrm>
                <a:prstGeom prst="rect">
                  <a:avLst/>
                </a:prstGeom>
                <a:blipFill>
                  <a:blip r:embed="rId14"/>
                  <a:stretch>
                    <a:fillRect l="-45833" r="-50000" b="-43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01B7530-810D-B1B6-F0B1-92EC8E03320D}"/>
                    </a:ext>
                  </a:extLst>
                </p:cNvPr>
                <p:cNvSpPr txBox="1"/>
                <p:nvPr/>
              </p:nvSpPr>
              <p:spPr>
                <a:xfrm>
                  <a:off x="2971924" y="4685212"/>
                  <a:ext cx="181795" cy="178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𝑊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01B7530-810D-B1B6-F0B1-92EC8E033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924" y="4685212"/>
                  <a:ext cx="181795" cy="178998"/>
                </a:xfrm>
                <a:prstGeom prst="rect">
                  <a:avLst/>
                </a:prstGeom>
                <a:blipFill>
                  <a:blip r:embed="rId15"/>
                  <a:stretch>
                    <a:fillRect l="-40000" r="-40000" b="-43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D9BC93-D394-474E-1D3F-88C3DC9BDD76}"/>
                </a:ext>
              </a:extLst>
            </p:cNvPr>
            <p:cNvSpPr txBox="1"/>
            <p:nvPr/>
          </p:nvSpPr>
          <p:spPr>
            <a:xfrm>
              <a:off x="2384385" y="4910627"/>
              <a:ext cx="14552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Offset map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FE357B5-2816-1FE8-B3C1-D6E1F841DB19}"/>
                    </a:ext>
                  </a:extLst>
                </p:cNvPr>
                <p:cNvSpPr txBox="1"/>
                <p:nvPr/>
              </p:nvSpPr>
              <p:spPr>
                <a:xfrm>
                  <a:off x="3589122" y="4373367"/>
                  <a:ext cx="112845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2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FE357B5-2816-1FE8-B3C1-D6E1F841DB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122" y="4373367"/>
                  <a:ext cx="1128450" cy="246221"/>
                </a:xfrm>
                <a:prstGeom prst="rect">
                  <a:avLst/>
                </a:prstGeom>
                <a:blipFill>
                  <a:blip r:embed="rId16"/>
                  <a:stretch>
                    <a:fillRect l="-3784" r="-5946" b="-3170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9A02CEA-C7BD-9874-7F54-38B76CB71165}"/>
              </a:ext>
            </a:extLst>
          </p:cNvPr>
          <p:cNvCxnSpPr>
            <a:cxnSpLocks/>
          </p:cNvCxnSpPr>
          <p:nvPr/>
        </p:nvCxnSpPr>
        <p:spPr>
          <a:xfrm>
            <a:off x="1610357" y="4293096"/>
            <a:ext cx="0" cy="612068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9643827-7EB3-5A61-3197-1FB990848312}"/>
              </a:ext>
            </a:extLst>
          </p:cNvPr>
          <p:cNvCxnSpPr>
            <a:cxnSpLocks/>
          </p:cNvCxnSpPr>
          <p:nvPr/>
        </p:nvCxnSpPr>
        <p:spPr>
          <a:xfrm>
            <a:off x="2367407" y="5381187"/>
            <a:ext cx="944453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F36C5AC-A5BC-09E3-D9E3-9586BE8F678E}"/>
              </a:ext>
            </a:extLst>
          </p:cNvPr>
          <p:cNvCxnSpPr>
            <a:cxnSpLocks/>
          </p:cNvCxnSpPr>
          <p:nvPr/>
        </p:nvCxnSpPr>
        <p:spPr>
          <a:xfrm flipV="1">
            <a:off x="4298221" y="4011416"/>
            <a:ext cx="1" cy="667673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56AF445-7C2D-0003-87C2-893F3339C752}"/>
              </a:ext>
            </a:extLst>
          </p:cNvPr>
          <p:cNvCxnSpPr>
            <a:cxnSpLocks/>
          </p:cNvCxnSpPr>
          <p:nvPr/>
        </p:nvCxnSpPr>
        <p:spPr>
          <a:xfrm>
            <a:off x="3003738" y="2750059"/>
            <a:ext cx="840816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25201C62-1E4A-07E1-DB2E-62C3BB7E7053}"/>
              </a:ext>
            </a:extLst>
          </p:cNvPr>
          <p:cNvCxnSpPr>
            <a:cxnSpLocks/>
          </p:cNvCxnSpPr>
          <p:nvPr/>
        </p:nvCxnSpPr>
        <p:spPr>
          <a:xfrm>
            <a:off x="5434720" y="2776027"/>
            <a:ext cx="840816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82830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8286-6949-828A-8D3F-4E02D88D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Deformable Convolutional Layer v3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95DE0-73F6-1E0B-49E2-5CB3E02FF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499435"/>
          </a:xfrm>
        </p:spPr>
        <p:txBody>
          <a:bodyPr/>
          <a:lstStyle/>
          <a:p>
            <a:r>
              <a:rPr lang="en-US" altLang="ko-KR" dirty="0"/>
              <a:t>Deformable Convolutional Layer v2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DA0B6-1590-8D5C-D756-447FA2F83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79672E2-2FC4-15B3-216A-B620FA00F556}"/>
              </a:ext>
            </a:extLst>
          </p:cNvPr>
          <p:cNvGrpSpPr/>
          <p:nvPr/>
        </p:nvGrpSpPr>
        <p:grpSpPr>
          <a:xfrm>
            <a:off x="616696" y="3902918"/>
            <a:ext cx="2426375" cy="1470403"/>
            <a:chOff x="2071888" y="5311297"/>
            <a:chExt cx="2426375" cy="1470403"/>
          </a:xfrm>
        </p:grpSpPr>
        <p:sp>
          <p:nvSpPr>
            <p:cNvPr id="5" name="정육면체 4">
              <a:extLst>
                <a:ext uri="{FF2B5EF4-FFF2-40B4-BE49-F238E27FC236}">
                  <a16:creationId xmlns:a16="http://schemas.microsoft.com/office/drawing/2014/main" id="{C7E5FC54-2A13-8D48-E832-18A76EF61E57}"/>
                </a:ext>
              </a:extLst>
            </p:cNvPr>
            <p:cNvSpPr/>
            <p:nvPr/>
          </p:nvSpPr>
          <p:spPr>
            <a:xfrm>
              <a:off x="2764508" y="5311297"/>
              <a:ext cx="616550" cy="640025"/>
            </a:xfrm>
            <a:prstGeom prst="cube">
              <a:avLst>
                <a:gd name="adj" fmla="val 398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0044DAF-6F7D-CC03-17FE-074E72EA2789}"/>
                    </a:ext>
                  </a:extLst>
                </p:cNvPr>
                <p:cNvSpPr txBox="1"/>
                <p:nvPr/>
              </p:nvSpPr>
              <p:spPr>
                <a:xfrm>
                  <a:off x="2511834" y="5601843"/>
                  <a:ext cx="16632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𝑘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0044DAF-6F7D-CC03-17FE-074E72EA27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1834" y="5601843"/>
                  <a:ext cx="166328" cy="246221"/>
                </a:xfrm>
                <a:prstGeom prst="rect">
                  <a:avLst/>
                </a:prstGeom>
                <a:blipFill>
                  <a:blip r:embed="rId2"/>
                  <a:stretch>
                    <a:fillRect l="-28571" r="-21429" b="-7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C592310-DA25-1F35-EC2A-EAD00A1E9AC0}"/>
                    </a:ext>
                  </a:extLst>
                </p:cNvPr>
                <p:cNvSpPr txBox="1"/>
                <p:nvPr/>
              </p:nvSpPr>
              <p:spPr>
                <a:xfrm>
                  <a:off x="3369813" y="5753509"/>
                  <a:ext cx="112845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2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C592310-DA25-1F35-EC2A-EAD00A1E9A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9813" y="5753509"/>
                  <a:ext cx="1128450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3243" r="-6486" b="-3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73B3915-BD39-D317-78F4-7A67EF40CF28}"/>
                    </a:ext>
                  </a:extLst>
                </p:cNvPr>
                <p:cNvSpPr txBox="1"/>
                <p:nvPr/>
              </p:nvSpPr>
              <p:spPr>
                <a:xfrm>
                  <a:off x="2954706" y="6000464"/>
                  <a:ext cx="16632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𝑘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73B3915-BD39-D317-78F4-7A67EF40C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4706" y="6000464"/>
                  <a:ext cx="166328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29630" r="-25926" b="-48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A7FB4E-29D0-DAFC-9C28-B3B8E3E51687}"/>
                </a:ext>
              </a:extLst>
            </p:cNvPr>
            <p:cNvSpPr txBox="1"/>
            <p:nvPr/>
          </p:nvSpPr>
          <p:spPr>
            <a:xfrm>
              <a:off x="2071888" y="6196925"/>
              <a:ext cx="24263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Offset Layer</a:t>
              </a:r>
            </a:p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(Convolutional Kernel)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1A3EAEA-EDB0-22E7-299B-A2C364E95E6A}"/>
              </a:ext>
            </a:extLst>
          </p:cNvPr>
          <p:cNvGrpSpPr/>
          <p:nvPr/>
        </p:nvGrpSpPr>
        <p:grpSpPr>
          <a:xfrm>
            <a:off x="3928420" y="3895143"/>
            <a:ext cx="2310357" cy="1082892"/>
            <a:chOff x="2235395" y="3479617"/>
            <a:chExt cx="2901137" cy="1384593"/>
          </a:xfrm>
        </p:grpSpPr>
        <p:sp>
          <p:nvSpPr>
            <p:cNvPr id="16" name="정육면체 15">
              <a:extLst>
                <a:ext uri="{FF2B5EF4-FFF2-40B4-BE49-F238E27FC236}">
                  <a16:creationId xmlns:a16="http://schemas.microsoft.com/office/drawing/2014/main" id="{21B29CF5-2BAA-81F3-3D81-83B6A39225C8}"/>
                </a:ext>
              </a:extLst>
            </p:cNvPr>
            <p:cNvSpPr/>
            <p:nvPr/>
          </p:nvSpPr>
          <p:spPr>
            <a:xfrm>
              <a:off x="2641704" y="3479617"/>
              <a:ext cx="1039565" cy="1019785"/>
            </a:xfrm>
            <a:prstGeom prst="cube">
              <a:avLst>
                <a:gd name="adj" fmla="val 21966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왼쪽 중괄호 16">
              <a:extLst>
                <a:ext uri="{FF2B5EF4-FFF2-40B4-BE49-F238E27FC236}">
                  <a16:creationId xmlns:a16="http://schemas.microsoft.com/office/drawing/2014/main" id="{E7419A0C-1890-1862-26C3-6128C7C4359C}"/>
                </a:ext>
              </a:extLst>
            </p:cNvPr>
            <p:cNvSpPr/>
            <p:nvPr/>
          </p:nvSpPr>
          <p:spPr>
            <a:xfrm>
              <a:off x="2484659" y="3690593"/>
              <a:ext cx="157045" cy="80881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왼쪽 중괄호 17">
              <a:extLst>
                <a:ext uri="{FF2B5EF4-FFF2-40B4-BE49-F238E27FC236}">
                  <a16:creationId xmlns:a16="http://schemas.microsoft.com/office/drawing/2014/main" id="{B0125CFB-8007-6CDF-CD2E-1F32F3C663DF}"/>
                </a:ext>
              </a:extLst>
            </p:cNvPr>
            <p:cNvSpPr/>
            <p:nvPr/>
          </p:nvSpPr>
          <p:spPr>
            <a:xfrm rot="16200000">
              <a:off x="2967586" y="4172402"/>
              <a:ext cx="157045" cy="80881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D3F0815-64E8-C879-B1E7-405C228FE83E}"/>
                    </a:ext>
                  </a:extLst>
                </p:cNvPr>
                <p:cNvSpPr txBox="1"/>
                <p:nvPr/>
              </p:nvSpPr>
              <p:spPr>
                <a:xfrm>
                  <a:off x="2235395" y="3973843"/>
                  <a:ext cx="146555" cy="178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𝐻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D3F0815-64E8-C879-B1E7-405C228FE8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5395" y="3973843"/>
                  <a:ext cx="146555" cy="178999"/>
                </a:xfrm>
                <a:prstGeom prst="rect">
                  <a:avLst/>
                </a:prstGeom>
                <a:blipFill>
                  <a:blip r:embed="rId5"/>
                  <a:stretch>
                    <a:fillRect l="-55000" r="-80000" b="-869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01B7530-810D-B1B6-F0B1-92EC8E03320D}"/>
                    </a:ext>
                  </a:extLst>
                </p:cNvPr>
                <p:cNvSpPr txBox="1"/>
                <p:nvPr/>
              </p:nvSpPr>
              <p:spPr>
                <a:xfrm>
                  <a:off x="2971924" y="4685212"/>
                  <a:ext cx="181795" cy="178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𝑊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01B7530-810D-B1B6-F0B1-92EC8E033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924" y="4685212"/>
                  <a:ext cx="181795" cy="178998"/>
                </a:xfrm>
                <a:prstGeom prst="rect">
                  <a:avLst/>
                </a:prstGeom>
                <a:blipFill>
                  <a:blip r:embed="rId6"/>
                  <a:stretch>
                    <a:fillRect l="-52174" r="-82609" b="-8260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D9BC93-D394-474E-1D3F-88C3DC9BDD76}"/>
                </a:ext>
              </a:extLst>
            </p:cNvPr>
            <p:cNvSpPr txBox="1"/>
            <p:nvPr/>
          </p:nvSpPr>
          <p:spPr>
            <a:xfrm>
              <a:off x="3681269" y="3804566"/>
              <a:ext cx="14552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Offset map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FE357B5-2816-1FE8-B3C1-D6E1F841DB19}"/>
                    </a:ext>
                  </a:extLst>
                </p:cNvPr>
                <p:cNvSpPr txBox="1"/>
                <p:nvPr/>
              </p:nvSpPr>
              <p:spPr>
                <a:xfrm>
                  <a:off x="3589122" y="4373367"/>
                  <a:ext cx="112845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2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FE357B5-2816-1FE8-B3C1-D6E1F841DB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122" y="4373367"/>
                  <a:ext cx="1128450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7432" t="-3226" r="-29730" b="-7096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5990393-FB0B-ED86-328F-5B64D6ADA27C}"/>
              </a:ext>
            </a:extLst>
          </p:cNvPr>
          <p:cNvGrpSpPr/>
          <p:nvPr/>
        </p:nvGrpSpPr>
        <p:grpSpPr>
          <a:xfrm>
            <a:off x="911872" y="1860367"/>
            <a:ext cx="1480437" cy="1756214"/>
            <a:chOff x="92551" y="2491805"/>
            <a:chExt cx="2867020" cy="3401090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379A5B5E-7240-65CE-1158-A4630E75C685}"/>
                </a:ext>
              </a:extLst>
            </p:cNvPr>
            <p:cNvGrpSpPr/>
            <p:nvPr/>
          </p:nvGrpSpPr>
          <p:grpSpPr>
            <a:xfrm>
              <a:off x="92551" y="2491805"/>
              <a:ext cx="2867020" cy="2910517"/>
              <a:chOff x="444840" y="2420887"/>
              <a:chExt cx="2867020" cy="2910517"/>
            </a:xfrm>
          </p:grpSpPr>
          <p:sp>
            <p:nvSpPr>
              <p:cNvPr id="32" name="정육면체 31">
                <a:extLst>
                  <a:ext uri="{FF2B5EF4-FFF2-40B4-BE49-F238E27FC236}">
                    <a16:creationId xmlns:a16="http://schemas.microsoft.com/office/drawing/2014/main" id="{8F0C53F1-D70D-6D4A-E279-1C89A4A3CD24}"/>
                  </a:ext>
                </a:extLst>
              </p:cNvPr>
              <p:cNvSpPr/>
              <p:nvPr/>
            </p:nvSpPr>
            <p:spPr>
              <a:xfrm>
                <a:off x="899592" y="2420887"/>
                <a:ext cx="2412268" cy="2408705"/>
              </a:xfrm>
              <a:prstGeom prst="cube">
                <a:avLst>
                  <a:gd name="adj" fmla="val 53723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왼쪽 중괄호 32">
                <a:extLst>
                  <a:ext uri="{FF2B5EF4-FFF2-40B4-BE49-F238E27FC236}">
                    <a16:creationId xmlns:a16="http://schemas.microsoft.com/office/drawing/2014/main" id="{F390A05E-E8F4-3F13-6086-BCD0AACFFF4F}"/>
                  </a:ext>
                </a:extLst>
              </p:cNvPr>
              <p:cNvSpPr/>
              <p:nvPr/>
            </p:nvSpPr>
            <p:spPr>
              <a:xfrm>
                <a:off x="683568" y="3717032"/>
                <a:ext cx="216024" cy="1112561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왼쪽 중괄호 33">
                <a:extLst>
                  <a:ext uri="{FF2B5EF4-FFF2-40B4-BE49-F238E27FC236}">
                    <a16:creationId xmlns:a16="http://schemas.microsoft.com/office/drawing/2014/main" id="{14172E29-6CE4-7D78-8F94-A58ECA8D0604}"/>
                  </a:ext>
                </a:extLst>
              </p:cNvPr>
              <p:cNvSpPr/>
              <p:nvPr/>
            </p:nvSpPr>
            <p:spPr>
              <a:xfrm rot="16200000">
                <a:off x="1347861" y="4379785"/>
                <a:ext cx="216024" cy="1112561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왼쪽 중괄호 34">
                <a:extLst>
                  <a:ext uri="{FF2B5EF4-FFF2-40B4-BE49-F238E27FC236}">
                    <a16:creationId xmlns:a16="http://schemas.microsoft.com/office/drawing/2014/main" id="{3628271D-1C0C-336A-1AB0-1DB8C155C63B}"/>
                  </a:ext>
                </a:extLst>
              </p:cNvPr>
              <p:cNvSpPr/>
              <p:nvPr/>
            </p:nvSpPr>
            <p:spPr>
              <a:xfrm rot="2761143">
                <a:off x="1328635" y="2077014"/>
                <a:ext cx="251979" cy="1792785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1F16D653-64B7-6872-0A5A-9980B565E1C3}"/>
                      </a:ext>
                    </a:extLst>
                  </p:cNvPr>
                  <p:cNvSpPr txBox="1"/>
                  <p:nvPr/>
                </p:nvSpPr>
                <p:spPr>
                  <a:xfrm>
                    <a:off x="444840" y="4179491"/>
                    <a:ext cx="163827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1F16D653-64B7-6872-0A5A-9980B565E1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840" y="4179491"/>
                    <a:ext cx="163827" cy="24622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92308" r="-130769" b="-104762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3428661A-C618-00CD-8A6A-F84D1E4B1E32}"/>
                      </a:ext>
                    </a:extLst>
                  </p:cNvPr>
                  <p:cNvSpPr txBox="1"/>
                  <p:nvPr/>
                </p:nvSpPr>
                <p:spPr>
                  <a:xfrm>
                    <a:off x="1353827" y="5085183"/>
                    <a:ext cx="20480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3428661A-C618-00CD-8A6A-F84D1E4B1E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53827" y="5085183"/>
                    <a:ext cx="204800" cy="24622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52941" r="-88235" b="-85714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F856551C-C8CC-42E7-25F8-B8212E209B68}"/>
                      </a:ext>
                    </a:extLst>
                  </p:cNvPr>
                  <p:cNvSpPr txBox="1"/>
                  <p:nvPr/>
                </p:nvSpPr>
                <p:spPr>
                  <a:xfrm>
                    <a:off x="1075112" y="2460417"/>
                    <a:ext cx="171649" cy="24622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F856551C-C8CC-42E7-25F8-B8212E209B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5112" y="2460417"/>
                    <a:ext cx="171649" cy="24622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80000" r="-106667" b="-115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6454DF3-AA8C-FB7F-01E9-CB357C61A883}"/>
                </a:ext>
              </a:extLst>
            </p:cNvPr>
            <p:cNvSpPr txBox="1"/>
            <p:nvPr/>
          </p:nvSpPr>
          <p:spPr>
            <a:xfrm>
              <a:off x="195894" y="5383756"/>
              <a:ext cx="2374889" cy="509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Input Tensor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5938BEF-63A3-3444-646B-113D476967B1}"/>
              </a:ext>
            </a:extLst>
          </p:cNvPr>
          <p:cNvGrpSpPr/>
          <p:nvPr/>
        </p:nvGrpSpPr>
        <p:grpSpPr>
          <a:xfrm>
            <a:off x="4046351" y="1710599"/>
            <a:ext cx="2647739" cy="1426301"/>
            <a:chOff x="3753786" y="1566722"/>
            <a:chExt cx="4073946" cy="2194579"/>
          </a:xfrm>
        </p:grpSpPr>
        <p:sp>
          <p:nvSpPr>
            <p:cNvPr id="43" name="정육면체 42">
              <a:extLst>
                <a:ext uri="{FF2B5EF4-FFF2-40B4-BE49-F238E27FC236}">
                  <a16:creationId xmlns:a16="http://schemas.microsoft.com/office/drawing/2014/main" id="{7D7B62D6-5016-29C6-E9FF-877425A2A845}"/>
                </a:ext>
              </a:extLst>
            </p:cNvPr>
            <p:cNvSpPr/>
            <p:nvPr/>
          </p:nvSpPr>
          <p:spPr>
            <a:xfrm>
              <a:off x="4020899" y="1566722"/>
              <a:ext cx="1824849" cy="1850166"/>
            </a:xfrm>
            <a:prstGeom prst="cube">
              <a:avLst>
                <a:gd name="adj" fmla="val 768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0A2F076-DD6A-FA95-88A9-3F2B4F3A4A0C}"/>
                    </a:ext>
                  </a:extLst>
                </p:cNvPr>
                <p:cNvSpPr txBox="1"/>
                <p:nvPr/>
              </p:nvSpPr>
              <p:spPr>
                <a:xfrm>
                  <a:off x="3753786" y="3116459"/>
                  <a:ext cx="16632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𝑘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0A2F076-DD6A-FA95-88A9-3F2B4F3A4A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3786" y="3116459"/>
                  <a:ext cx="166328" cy="246221"/>
                </a:xfrm>
                <a:prstGeom prst="rect">
                  <a:avLst/>
                </a:prstGeom>
                <a:blipFill>
                  <a:blip r:embed="rId11"/>
                  <a:stretch>
                    <a:fillRect l="-66667" r="-66667" b="-6538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5E3EB24-CF81-8FB4-0C16-E49ADD0E9364}"/>
                    </a:ext>
                  </a:extLst>
                </p:cNvPr>
                <p:cNvSpPr txBox="1"/>
                <p:nvPr/>
              </p:nvSpPr>
              <p:spPr>
                <a:xfrm>
                  <a:off x="4246195" y="2010466"/>
                  <a:ext cx="19518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𝐷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5E3EB24-CF81-8FB4-0C16-E49ADD0E93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195" y="2010466"/>
                  <a:ext cx="195182" cy="246221"/>
                </a:xfrm>
                <a:prstGeom prst="rect">
                  <a:avLst/>
                </a:prstGeom>
                <a:blipFill>
                  <a:blip r:embed="rId12"/>
                  <a:stretch>
                    <a:fillRect l="-52381" r="-66667" b="-6153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F775D9D-9881-3C3E-8843-8C55B3E1B8AB}"/>
                    </a:ext>
                  </a:extLst>
                </p:cNvPr>
                <p:cNvSpPr txBox="1"/>
                <p:nvPr/>
              </p:nvSpPr>
              <p:spPr>
                <a:xfrm>
                  <a:off x="4196658" y="3515080"/>
                  <a:ext cx="16632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𝑘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F775D9D-9881-3C3E-8843-8C55B3E1B8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6658" y="3515080"/>
                  <a:ext cx="166328" cy="246221"/>
                </a:xfrm>
                <a:prstGeom prst="rect">
                  <a:avLst/>
                </a:prstGeom>
                <a:blipFill>
                  <a:blip r:embed="rId13"/>
                  <a:stretch>
                    <a:fillRect l="-66667" r="-66667" b="-5925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D4BEBD3-B6F6-3AED-20B2-B7126EF8444C}"/>
                </a:ext>
              </a:extLst>
            </p:cNvPr>
            <p:cNvSpPr txBox="1"/>
            <p:nvPr/>
          </p:nvSpPr>
          <p:spPr>
            <a:xfrm>
              <a:off x="4441377" y="3199642"/>
              <a:ext cx="3386355" cy="520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Convolutional Kernel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88B6DE3-307E-51C1-7A30-DC73C1EB8D03}"/>
              </a:ext>
            </a:extLst>
          </p:cNvPr>
          <p:cNvGrpSpPr/>
          <p:nvPr/>
        </p:nvGrpSpPr>
        <p:grpSpPr>
          <a:xfrm>
            <a:off x="6940258" y="1558742"/>
            <a:ext cx="1618532" cy="1870258"/>
            <a:chOff x="5943587" y="2211967"/>
            <a:chExt cx="2867020" cy="3312920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74BB7869-4DB2-B5DE-89BB-7C7421036971}"/>
                </a:ext>
              </a:extLst>
            </p:cNvPr>
            <p:cNvGrpSpPr/>
            <p:nvPr/>
          </p:nvGrpSpPr>
          <p:grpSpPr>
            <a:xfrm>
              <a:off x="5943587" y="2211967"/>
              <a:ext cx="2867020" cy="2910517"/>
              <a:chOff x="444840" y="2420887"/>
              <a:chExt cx="2867020" cy="2910517"/>
            </a:xfrm>
          </p:grpSpPr>
          <p:sp>
            <p:nvSpPr>
              <p:cNvPr id="52" name="정육면체 51">
                <a:extLst>
                  <a:ext uri="{FF2B5EF4-FFF2-40B4-BE49-F238E27FC236}">
                    <a16:creationId xmlns:a16="http://schemas.microsoft.com/office/drawing/2014/main" id="{1EEEDF46-6E35-2ADE-FB33-71CF73090433}"/>
                  </a:ext>
                </a:extLst>
              </p:cNvPr>
              <p:cNvSpPr/>
              <p:nvPr/>
            </p:nvSpPr>
            <p:spPr>
              <a:xfrm>
                <a:off x="899592" y="2420887"/>
                <a:ext cx="2412268" cy="2408705"/>
              </a:xfrm>
              <a:prstGeom prst="cube">
                <a:avLst>
                  <a:gd name="adj" fmla="val 5372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왼쪽 중괄호 52">
                <a:extLst>
                  <a:ext uri="{FF2B5EF4-FFF2-40B4-BE49-F238E27FC236}">
                    <a16:creationId xmlns:a16="http://schemas.microsoft.com/office/drawing/2014/main" id="{4A2DB8ED-EC1F-CCB4-9A37-3D76B1728912}"/>
                  </a:ext>
                </a:extLst>
              </p:cNvPr>
              <p:cNvSpPr/>
              <p:nvPr/>
            </p:nvSpPr>
            <p:spPr>
              <a:xfrm>
                <a:off x="683568" y="3717032"/>
                <a:ext cx="216024" cy="1112561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왼쪽 중괄호 53">
                <a:extLst>
                  <a:ext uri="{FF2B5EF4-FFF2-40B4-BE49-F238E27FC236}">
                    <a16:creationId xmlns:a16="http://schemas.microsoft.com/office/drawing/2014/main" id="{F4A1CAF8-6222-9A98-09DD-DE211E13D700}"/>
                  </a:ext>
                </a:extLst>
              </p:cNvPr>
              <p:cNvSpPr/>
              <p:nvPr/>
            </p:nvSpPr>
            <p:spPr>
              <a:xfrm rot="16200000">
                <a:off x="1347861" y="4379785"/>
                <a:ext cx="216024" cy="1112561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왼쪽 중괄호 54">
                <a:extLst>
                  <a:ext uri="{FF2B5EF4-FFF2-40B4-BE49-F238E27FC236}">
                    <a16:creationId xmlns:a16="http://schemas.microsoft.com/office/drawing/2014/main" id="{C2AD2862-CB5A-6576-7984-EBE0B689450A}"/>
                  </a:ext>
                </a:extLst>
              </p:cNvPr>
              <p:cNvSpPr/>
              <p:nvPr/>
            </p:nvSpPr>
            <p:spPr>
              <a:xfrm rot="2761143">
                <a:off x="1328635" y="2077014"/>
                <a:ext cx="251979" cy="1792785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DE1D11EE-2565-90A5-A046-8EF2D9F1A4B6}"/>
                      </a:ext>
                    </a:extLst>
                  </p:cNvPr>
                  <p:cNvSpPr txBox="1"/>
                  <p:nvPr/>
                </p:nvSpPr>
                <p:spPr>
                  <a:xfrm>
                    <a:off x="444840" y="4179491"/>
                    <a:ext cx="201594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DE1D11EE-2565-90A5-A046-8EF2D9F1A4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840" y="4179491"/>
                    <a:ext cx="201594" cy="24622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57895" r="-89474" b="-9090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268E04B3-B0DF-6BE6-4255-459945CDD7A5}"/>
                      </a:ext>
                    </a:extLst>
                  </p:cNvPr>
                  <p:cNvSpPr txBox="1"/>
                  <p:nvPr/>
                </p:nvSpPr>
                <p:spPr>
                  <a:xfrm>
                    <a:off x="1353827" y="5085183"/>
                    <a:ext cx="250068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𝑊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268E04B3-B0DF-6BE6-4255-459945CDD7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53827" y="5085183"/>
                    <a:ext cx="250068" cy="24622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52174" r="-82609" b="-8695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7C618D03-2EB7-58C5-0F0F-0E1A7D408F46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344" y="2515705"/>
                    <a:ext cx="195182" cy="24622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𝐷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7C618D03-2EB7-58C5-0F0F-0E1A7D408F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344" y="2515705"/>
                    <a:ext cx="195182" cy="24622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66667" r="-88889" b="-8695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56F2FF1-CA89-3D50-76B0-EB784698EE23}"/>
                </a:ext>
              </a:extLst>
            </p:cNvPr>
            <p:cNvSpPr txBox="1"/>
            <p:nvPr/>
          </p:nvSpPr>
          <p:spPr>
            <a:xfrm>
              <a:off x="6044384" y="5186333"/>
              <a:ext cx="20017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Output Tensor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56AF445-7C2D-0003-87C2-893F3339C752}"/>
              </a:ext>
            </a:extLst>
          </p:cNvPr>
          <p:cNvCxnSpPr>
            <a:cxnSpLocks/>
          </p:cNvCxnSpPr>
          <p:nvPr/>
        </p:nvCxnSpPr>
        <p:spPr>
          <a:xfrm>
            <a:off x="2917198" y="2522657"/>
            <a:ext cx="652933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25201C62-1E4A-07E1-DB2E-62C3BB7E7053}"/>
              </a:ext>
            </a:extLst>
          </p:cNvPr>
          <p:cNvCxnSpPr>
            <a:cxnSpLocks/>
          </p:cNvCxnSpPr>
          <p:nvPr/>
        </p:nvCxnSpPr>
        <p:spPr>
          <a:xfrm>
            <a:off x="5998945" y="2532268"/>
            <a:ext cx="652933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A761E68-7191-BB65-7328-942998E875D4}"/>
              </a:ext>
            </a:extLst>
          </p:cNvPr>
          <p:cNvGrpSpPr/>
          <p:nvPr/>
        </p:nvGrpSpPr>
        <p:grpSpPr>
          <a:xfrm>
            <a:off x="674368" y="5514139"/>
            <a:ext cx="2368703" cy="1328160"/>
            <a:chOff x="2071888" y="5453540"/>
            <a:chExt cx="2368703" cy="1328160"/>
          </a:xfrm>
        </p:grpSpPr>
        <p:sp>
          <p:nvSpPr>
            <p:cNvPr id="19" name="정육면체 18">
              <a:extLst>
                <a:ext uri="{FF2B5EF4-FFF2-40B4-BE49-F238E27FC236}">
                  <a16:creationId xmlns:a16="http://schemas.microsoft.com/office/drawing/2014/main" id="{B7E2E1E9-DE33-8029-A9C4-2917593AABEB}"/>
                </a:ext>
              </a:extLst>
            </p:cNvPr>
            <p:cNvSpPr/>
            <p:nvPr/>
          </p:nvSpPr>
          <p:spPr>
            <a:xfrm>
              <a:off x="2794045" y="5453540"/>
              <a:ext cx="475617" cy="500100"/>
            </a:xfrm>
            <a:prstGeom prst="cube">
              <a:avLst>
                <a:gd name="adj" fmla="val 23783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0982505-C0F3-02B2-92AC-3B4A8B92806F}"/>
                    </a:ext>
                  </a:extLst>
                </p:cNvPr>
                <p:cNvSpPr txBox="1"/>
                <p:nvPr/>
              </p:nvSpPr>
              <p:spPr>
                <a:xfrm>
                  <a:off x="2511834" y="5601843"/>
                  <a:ext cx="16632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𝑘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0982505-C0F3-02B2-92AC-3B4A8B9280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1834" y="5601843"/>
                  <a:ext cx="166328" cy="246221"/>
                </a:xfrm>
                <a:prstGeom prst="rect">
                  <a:avLst/>
                </a:prstGeom>
                <a:blipFill>
                  <a:blip r:embed="rId17"/>
                  <a:stretch>
                    <a:fillRect l="-29630" r="-25926" b="-7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259F4DA-D494-584A-2B69-ABF7690A6170}"/>
                    </a:ext>
                  </a:extLst>
                </p:cNvPr>
                <p:cNvSpPr txBox="1"/>
                <p:nvPr/>
              </p:nvSpPr>
              <p:spPr>
                <a:xfrm>
                  <a:off x="3369813" y="5753509"/>
                  <a:ext cx="101463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259F4DA-D494-584A-2B69-ABF7690A61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9813" y="5753509"/>
                  <a:ext cx="1014637" cy="246221"/>
                </a:xfrm>
                <a:prstGeom prst="rect">
                  <a:avLst/>
                </a:prstGeom>
                <a:blipFill>
                  <a:blip r:embed="rId18"/>
                  <a:stretch>
                    <a:fillRect l="-4217" r="-6627" b="-3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4E7CDC8-9F4D-CB66-3D4B-19D793249DC2}"/>
                    </a:ext>
                  </a:extLst>
                </p:cNvPr>
                <p:cNvSpPr txBox="1"/>
                <p:nvPr/>
              </p:nvSpPr>
              <p:spPr>
                <a:xfrm>
                  <a:off x="2954706" y="6000464"/>
                  <a:ext cx="16632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𝑘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4E7CDC8-9F4D-CB66-3D4B-19D793249D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4706" y="6000464"/>
                  <a:ext cx="166328" cy="246221"/>
                </a:xfrm>
                <a:prstGeom prst="rect">
                  <a:avLst/>
                </a:prstGeom>
                <a:blipFill>
                  <a:blip r:embed="rId19"/>
                  <a:stretch>
                    <a:fillRect l="-28571" r="-21429" b="-48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2B72C2A-5C90-7BBA-3366-A14F68A45895}"/>
                </a:ext>
              </a:extLst>
            </p:cNvPr>
            <p:cNvSpPr txBox="1"/>
            <p:nvPr/>
          </p:nvSpPr>
          <p:spPr>
            <a:xfrm>
              <a:off x="2071888" y="6196925"/>
              <a:ext cx="236870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Modulation Layer</a:t>
              </a:r>
            </a:p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(Convolutional Kernel)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F27F34B-5258-6CF7-05D3-0B6E74677096}"/>
              </a:ext>
            </a:extLst>
          </p:cNvPr>
          <p:cNvGrpSpPr/>
          <p:nvPr/>
        </p:nvGrpSpPr>
        <p:grpSpPr>
          <a:xfrm>
            <a:off x="3987909" y="5514138"/>
            <a:ext cx="2816339" cy="1044937"/>
            <a:chOff x="2311108" y="3560829"/>
            <a:chExt cx="3606535" cy="1303381"/>
          </a:xfrm>
        </p:grpSpPr>
        <p:sp>
          <p:nvSpPr>
            <p:cNvPr id="64" name="정육면체 63">
              <a:extLst>
                <a:ext uri="{FF2B5EF4-FFF2-40B4-BE49-F238E27FC236}">
                  <a16:creationId xmlns:a16="http://schemas.microsoft.com/office/drawing/2014/main" id="{6E984A23-A97B-7D63-0D5C-4F27A61A11A2}"/>
                </a:ext>
              </a:extLst>
            </p:cNvPr>
            <p:cNvSpPr/>
            <p:nvPr/>
          </p:nvSpPr>
          <p:spPr>
            <a:xfrm>
              <a:off x="2641704" y="3560829"/>
              <a:ext cx="947419" cy="938573"/>
            </a:xfrm>
            <a:prstGeom prst="cube">
              <a:avLst>
                <a:gd name="adj" fmla="val 1369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왼쪽 중괄호 64">
              <a:extLst>
                <a:ext uri="{FF2B5EF4-FFF2-40B4-BE49-F238E27FC236}">
                  <a16:creationId xmlns:a16="http://schemas.microsoft.com/office/drawing/2014/main" id="{A0E3D3F1-99FD-3507-102F-8FDF3565713F}"/>
                </a:ext>
              </a:extLst>
            </p:cNvPr>
            <p:cNvSpPr/>
            <p:nvPr/>
          </p:nvSpPr>
          <p:spPr>
            <a:xfrm>
              <a:off x="2484659" y="3690593"/>
              <a:ext cx="157045" cy="80881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왼쪽 중괄호 65">
              <a:extLst>
                <a:ext uri="{FF2B5EF4-FFF2-40B4-BE49-F238E27FC236}">
                  <a16:creationId xmlns:a16="http://schemas.microsoft.com/office/drawing/2014/main" id="{E221AF6B-8A7D-AC5C-0F0D-C9F52BAE75FA}"/>
                </a:ext>
              </a:extLst>
            </p:cNvPr>
            <p:cNvSpPr/>
            <p:nvPr/>
          </p:nvSpPr>
          <p:spPr>
            <a:xfrm rot="16200000">
              <a:off x="2967586" y="4172402"/>
              <a:ext cx="157045" cy="80881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7159F60-EA8A-28DD-A3AD-1A1FB1C04F84}"/>
                    </a:ext>
                  </a:extLst>
                </p:cNvPr>
                <p:cNvSpPr txBox="1"/>
                <p:nvPr/>
              </p:nvSpPr>
              <p:spPr>
                <a:xfrm>
                  <a:off x="2311108" y="4026792"/>
                  <a:ext cx="146555" cy="178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𝐻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7159F60-EA8A-28DD-A3AD-1A1FB1C04F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108" y="4026792"/>
                  <a:ext cx="146555" cy="178998"/>
                </a:xfrm>
                <a:prstGeom prst="rect">
                  <a:avLst/>
                </a:prstGeom>
                <a:blipFill>
                  <a:blip r:embed="rId20"/>
                  <a:stretch>
                    <a:fillRect l="-57895" r="-89474" b="-8260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E79C88B-0421-884E-A577-5614E84D25B8}"/>
                    </a:ext>
                  </a:extLst>
                </p:cNvPr>
                <p:cNvSpPr txBox="1"/>
                <p:nvPr/>
              </p:nvSpPr>
              <p:spPr>
                <a:xfrm>
                  <a:off x="2971924" y="4685212"/>
                  <a:ext cx="181795" cy="178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𝑊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E79C88B-0421-884E-A577-5614E84D25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924" y="4685212"/>
                  <a:ext cx="181795" cy="178998"/>
                </a:xfrm>
                <a:prstGeom prst="rect">
                  <a:avLst/>
                </a:prstGeom>
                <a:blipFill>
                  <a:blip r:embed="rId21"/>
                  <a:stretch>
                    <a:fillRect l="-52174" r="-82609" b="-791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1A4B9D1-B758-2D8E-381E-D0B31445025B}"/>
                </a:ext>
              </a:extLst>
            </p:cNvPr>
            <p:cNvSpPr txBox="1"/>
            <p:nvPr/>
          </p:nvSpPr>
          <p:spPr>
            <a:xfrm>
              <a:off x="3696391" y="3723564"/>
              <a:ext cx="2221252" cy="422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Modulation map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CBB84DCD-C5FC-1D58-16CC-73492317178C}"/>
                    </a:ext>
                  </a:extLst>
                </p:cNvPr>
                <p:cNvSpPr txBox="1"/>
                <p:nvPr/>
              </p:nvSpPr>
              <p:spPr>
                <a:xfrm>
                  <a:off x="3589123" y="4373367"/>
                  <a:ext cx="1299319" cy="3071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CBB84DCD-C5FC-1D58-16CC-7349231717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123" y="4373367"/>
                  <a:ext cx="1299319" cy="307119"/>
                </a:xfrm>
                <a:prstGeom prst="rect">
                  <a:avLst/>
                </a:prstGeom>
                <a:blipFill>
                  <a:blip r:embed="rId22"/>
                  <a:stretch>
                    <a:fillRect l="-4217" r="-6627" b="-3170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625F01AB-B783-4A88-F691-38D93F8AB5BA}"/>
              </a:ext>
            </a:extLst>
          </p:cNvPr>
          <p:cNvCxnSpPr>
            <a:stCxn id="38" idx="1"/>
            <a:endCxn id="6" idx="1"/>
          </p:cNvCxnSpPr>
          <p:nvPr/>
        </p:nvCxnSpPr>
        <p:spPr>
          <a:xfrm rot="10800000" flipH="1" flipV="1">
            <a:off x="911872" y="2832025"/>
            <a:ext cx="144770" cy="1484550"/>
          </a:xfrm>
          <a:prstGeom prst="bentConnector3">
            <a:avLst>
              <a:gd name="adj1" fmla="val -157906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B82DD20A-7CE0-2565-C2B7-02B897288B2E}"/>
              </a:ext>
            </a:extLst>
          </p:cNvPr>
          <p:cNvCxnSpPr>
            <a:cxnSpLocks/>
            <a:stCxn id="38" idx="1"/>
            <a:endCxn id="22" idx="1"/>
          </p:cNvCxnSpPr>
          <p:nvPr/>
        </p:nvCxnSpPr>
        <p:spPr>
          <a:xfrm rot="10800000" flipH="1" flipV="1">
            <a:off x="911872" y="2832025"/>
            <a:ext cx="202442" cy="2953528"/>
          </a:xfrm>
          <a:prstGeom prst="bentConnector3">
            <a:avLst>
              <a:gd name="adj1" fmla="val -112921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0605EA17-83E5-A333-D9FE-7AC6B3671184}"/>
              </a:ext>
            </a:extLst>
          </p:cNvPr>
          <p:cNvCxnSpPr>
            <a:cxnSpLocks/>
          </p:cNvCxnSpPr>
          <p:nvPr/>
        </p:nvCxnSpPr>
        <p:spPr>
          <a:xfrm>
            <a:off x="2486649" y="4208813"/>
            <a:ext cx="1112843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8326335D-A1C8-C57C-5C99-461A9AF41BC2}"/>
              </a:ext>
            </a:extLst>
          </p:cNvPr>
          <p:cNvCxnSpPr>
            <a:cxnSpLocks/>
          </p:cNvCxnSpPr>
          <p:nvPr/>
        </p:nvCxnSpPr>
        <p:spPr>
          <a:xfrm>
            <a:off x="2486649" y="5670730"/>
            <a:ext cx="1112843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26EAFEB9-F390-D03F-1AED-C68562D9043F}"/>
              </a:ext>
            </a:extLst>
          </p:cNvPr>
          <p:cNvCxnSpPr>
            <a:cxnSpLocks/>
          </p:cNvCxnSpPr>
          <p:nvPr/>
        </p:nvCxnSpPr>
        <p:spPr>
          <a:xfrm flipV="1">
            <a:off x="4574292" y="3169958"/>
            <a:ext cx="0" cy="460328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8EC2BE4B-26DD-0B4E-3782-882F18AB88C4}"/>
              </a:ext>
            </a:extLst>
          </p:cNvPr>
          <p:cNvSpPr txBox="1"/>
          <p:nvPr/>
        </p:nvSpPr>
        <p:spPr>
          <a:xfrm>
            <a:off x="2079761" y="5321894"/>
            <a:ext cx="2001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Sigmoid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73804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8286-6949-828A-8D3F-4E02D88D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Deformable Convolutional Layer v3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95DE0-73F6-1E0B-49E2-5CB3E02FF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499435"/>
          </a:xfrm>
        </p:spPr>
        <p:txBody>
          <a:bodyPr/>
          <a:lstStyle/>
          <a:p>
            <a:r>
              <a:rPr lang="en-US" altLang="ko-KR" dirty="0"/>
              <a:t>Deformable Convolutional Layer v3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DA0B6-1590-8D5C-D756-447FA2F83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79672E2-2FC4-15B3-216A-B620FA00F556}"/>
              </a:ext>
            </a:extLst>
          </p:cNvPr>
          <p:cNvGrpSpPr/>
          <p:nvPr/>
        </p:nvGrpSpPr>
        <p:grpSpPr>
          <a:xfrm>
            <a:off x="616696" y="3902918"/>
            <a:ext cx="2426375" cy="1439626"/>
            <a:chOff x="2071888" y="5311297"/>
            <a:chExt cx="2426375" cy="1439626"/>
          </a:xfrm>
        </p:grpSpPr>
        <p:sp>
          <p:nvSpPr>
            <p:cNvPr id="5" name="정육면체 4">
              <a:extLst>
                <a:ext uri="{FF2B5EF4-FFF2-40B4-BE49-F238E27FC236}">
                  <a16:creationId xmlns:a16="http://schemas.microsoft.com/office/drawing/2014/main" id="{C7E5FC54-2A13-8D48-E832-18A76EF61E57}"/>
                </a:ext>
              </a:extLst>
            </p:cNvPr>
            <p:cNvSpPr/>
            <p:nvPr/>
          </p:nvSpPr>
          <p:spPr>
            <a:xfrm>
              <a:off x="2764508" y="5311297"/>
              <a:ext cx="616550" cy="640025"/>
            </a:xfrm>
            <a:prstGeom prst="cube">
              <a:avLst>
                <a:gd name="adj" fmla="val 398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0044DAF-6F7D-CC03-17FE-074E72EA2789}"/>
                    </a:ext>
                  </a:extLst>
                </p:cNvPr>
                <p:cNvSpPr txBox="1"/>
                <p:nvPr/>
              </p:nvSpPr>
              <p:spPr>
                <a:xfrm>
                  <a:off x="2511834" y="5601843"/>
                  <a:ext cx="16632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𝑘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0044DAF-6F7D-CC03-17FE-074E72EA27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1834" y="5601843"/>
                  <a:ext cx="166328" cy="246221"/>
                </a:xfrm>
                <a:prstGeom prst="rect">
                  <a:avLst/>
                </a:prstGeom>
                <a:blipFill>
                  <a:blip r:embed="rId2"/>
                  <a:stretch>
                    <a:fillRect l="-28571" r="-21429" b="-7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C592310-DA25-1F35-EC2A-EAD00A1E9AC0}"/>
                    </a:ext>
                  </a:extLst>
                </p:cNvPr>
                <p:cNvSpPr txBox="1"/>
                <p:nvPr/>
              </p:nvSpPr>
              <p:spPr>
                <a:xfrm>
                  <a:off x="3369813" y="5753509"/>
                  <a:ext cx="112845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2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C592310-DA25-1F35-EC2A-EAD00A1E9A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9813" y="5753509"/>
                  <a:ext cx="1128450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3243" r="-6486" b="-3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73B3915-BD39-D317-78F4-7A67EF40CF28}"/>
                    </a:ext>
                  </a:extLst>
                </p:cNvPr>
                <p:cNvSpPr txBox="1"/>
                <p:nvPr/>
              </p:nvSpPr>
              <p:spPr>
                <a:xfrm>
                  <a:off x="2954706" y="6000464"/>
                  <a:ext cx="16632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𝑘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73B3915-BD39-D317-78F4-7A67EF40C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4706" y="6000464"/>
                  <a:ext cx="166328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29630" r="-25926" b="-48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A7FB4E-29D0-DAFC-9C28-B3B8E3E51687}"/>
                </a:ext>
              </a:extLst>
            </p:cNvPr>
            <p:cNvSpPr txBox="1"/>
            <p:nvPr/>
          </p:nvSpPr>
          <p:spPr>
            <a:xfrm>
              <a:off x="2071888" y="6196925"/>
              <a:ext cx="214857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Offset Layer</a:t>
              </a:r>
            </a:p>
            <a:p>
              <a:pPr algn="ctr"/>
              <a:r>
                <a:rPr lang="en-US" altLang="ko-KR" sz="14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(Convolutional Kernel*)</a:t>
              </a:r>
              <a:endParaRPr lang="ko-KR" altLang="en-US" sz="1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1A3EAEA-EDB0-22E7-299B-A2C364E95E6A}"/>
              </a:ext>
            </a:extLst>
          </p:cNvPr>
          <p:cNvGrpSpPr/>
          <p:nvPr/>
        </p:nvGrpSpPr>
        <p:grpSpPr>
          <a:xfrm>
            <a:off x="3928420" y="3895143"/>
            <a:ext cx="2310357" cy="1082892"/>
            <a:chOff x="2235395" y="3479617"/>
            <a:chExt cx="2901137" cy="1384593"/>
          </a:xfrm>
        </p:grpSpPr>
        <p:sp>
          <p:nvSpPr>
            <p:cNvPr id="16" name="정육면체 15">
              <a:extLst>
                <a:ext uri="{FF2B5EF4-FFF2-40B4-BE49-F238E27FC236}">
                  <a16:creationId xmlns:a16="http://schemas.microsoft.com/office/drawing/2014/main" id="{21B29CF5-2BAA-81F3-3D81-83B6A39225C8}"/>
                </a:ext>
              </a:extLst>
            </p:cNvPr>
            <p:cNvSpPr/>
            <p:nvPr/>
          </p:nvSpPr>
          <p:spPr>
            <a:xfrm>
              <a:off x="2641704" y="3479617"/>
              <a:ext cx="1039565" cy="1019785"/>
            </a:xfrm>
            <a:prstGeom prst="cube">
              <a:avLst>
                <a:gd name="adj" fmla="val 21966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왼쪽 중괄호 16">
              <a:extLst>
                <a:ext uri="{FF2B5EF4-FFF2-40B4-BE49-F238E27FC236}">
                  <a16:creationId xmlns:a16="http://schemas.microsoft.com/office/drawing/2014/main" id="{E7419A0C-1890-1862-26C3-6128C7C4359C}"/>
                </a:ext>
              </a:extLst>
            </p:cNvPr>
            <p:cNvSpPr/>
            <p:nvPr/>
          </p:nvSpPr>
          <p:spPr>
            <a:xfrm>
              <a:off x="2484659" y="3690593"/>
              <a:ext cx="157045" cy="80881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왼쪽 중괄호 17">
              <a:extLst>
                <a:ext uri="{FF2B5EF4-FFF2-40B4-BE49-F238E27FC236}">
                  <a16:creationId xmlns:a16="http://schemas.microsoft.com/office/drawing/2014/main" id="{B0125CFB-8007-6CDF-CD2E-1F32F3C663DF}"/>
                </a:ext>
              </a:extLst>
            </p:cNvPr>
            <p:cNvSpPr/>
            <p:nvPr/>
          </p:nvSpPr>
          <p:spPr>
            <a:xfrm rot="16200000">
              <a:off x="2967586" y="4172402"/>
              <a:ext cx="157045" cy="80881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D3F0815-64E8-C879-B1E7-405C228FE83E}"/>
                    </a:ext>
                  </a:extLst>
                </p:cNvPr>
                <p:cNvSpPr txBox="1"/>
                <p:nvPr/>
              </p:nvSpPr>
              <p:spPr>
                <a:xfrm>
                  <a:off x="2235395" y="3973843"/>
                  <a:ext cx="146555" cy="178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𝐻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D3F0815-64E8-C879-B1E7-405C228FE8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5395" y="3973843"/>
                  <a:ext cx="146555" cy="178999"/>
                </a:xfrm>
                <a:prstGeom prst="rect">
                  <a:avLst/>
                </a:prstGeom>
                <a:blipFill>
                  <a:blip r:embed="rId5"/>
                  <a:stretch>
                    <a:fillRect l="-55000" r="-80000" b="-869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01B7530-810D-B1B6-F0B1-92EC8E03320D}"/>
                    </a:ext>
                  </a:extLst>
                </p:cNvPr>
                <p:cNvSpPr txBox="1"/>
                <p:nvPr/>
              </p:nvSpPr>
              <p:spPr>
                <a:xfrm>
                  <a:off x="2971924" y="4685212"/>
                  <a:ext cx="181795" cy="178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𝑊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01B7530-810D-B1B6-F0B1-92EC8E033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924" y="4685212"/>
                  <a:ext cx="181795" cy="178998"/>
                </a:xfrm>
                <a:prstGeom prst="rect">
                  <a:avLst/>
                </a:prstGeom>
                <a:blipFill>
                  <a:blip r:embed="rId6"/>
                  <a:stretch>
                    <a:fillRect l="-52174" r="-82609" b="-8260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D9BC93-D394-474E-1D3F-88C3DC9BDD76}"/>
                </a:ext>
              </a:extLst>
            </p:cNvPr>
            <p:cNvSpPr txBox="1"/>
            <p:nvPr/>
          </p:nvSpPr>
          <p:spPr>
            <a:xfrm>
              <a:off x="3681269" y="3804566"/>
              <a:ext cx="14552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Offset map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FE357B5-2816-1FE8-B3C1-D6E1F841DB19}"/>
                    </a:ext>
                  </a:extLst>
                </p:cNvPr>
                <p:cNvSpPr txBox="1"/>
                <p:nvPr/>
              </p:nvSpPr>
              <p:spPr>
                <a:xfrm>
                  <a:off x="3589122" y="4373367"/>
                  <a:ext cx="112845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2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FE357B5-2816-1FE8-B3C1-D6E1F841DB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122" y="4373367"/>
                  <a:ext cx="1128450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7432" t="-3226" r="-29730" b="-7096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5990393-FB0B-ED86-328F-5B64D6ADA27C}"/>
              </a:ext>
            </a:extLst>
          </p:cNvPr>
          <p:cNvGrpSpPr/>
          <p:nvPr/>
        </p:nvGrpSpPr>
        <p:grpSpPr>
          <a:xfrm>
            <a:off x="402932" y="1860367"/>
            <a:ext cx="1989377" cy="1756214"/>
            <a:chOff x="-893064" y="2491805"/>
            <a:chExt cx="3852635" cy="3401090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379A5B5E-7240-65CE-1158-A4630E75C685}"/>
                </a:ext>
              </a:extLst>
            </p:cNvPr>
            <p:cNvGrpSpPr/>
            <p:nvPr/>
          </p:nvGrpSpPr>
          <p:grpSpPr>
            <a:xfrm>
              <a:off x="-893064" y="2491805"/>
              <a:ext cx="3852635" cy="2910517"/>
              <a:chOff x="-540775" y="2420887"/>
              <a:chExt cx="3852635" cy="2910517"/>
            </a:xfrm>
          </p:grpSpPr>
          <p:sp>
            <p:nvSpPr>
              <p:cNvPr id="32" name="정육면체 31">
                <a:extLst>
                  <a:ext uri="{FF2B5EF4-FFF2-40B4-BE49-F238E27FC236}">
                    <a16:creationId xmlns:a16="http://schemas.microsoft.com/office/drawing/2014/main" id="{8F0C53F1-D70D-6D4A-E279-1C89A4A3CD24}"/>
                  </a:ext>
                </a:extLst>
              </p:cNvPr>
              <p:cNvSpPr/>
              <p:nvPr/>
            </p:nvSpPr>
            <p:spPr>
              <a:xfrm>
                <a:off x="899592" y="2420887"/>
                <a:ext cx="2412268" cy="2408705"/>
              </a:xfrm>
              <a:prstGeom prst="cube">
                <a:avLst>
                  <a:gd name="adj" fmla="val 53723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왼쪽 중괄호 32">
                <a:extLst>
                  <a:ext uri="{FF2B5EF4-FFF2-40B4-BE49-F238E27FC236}">
                    <a16:creationId xmlns:a16="http://schemas.microsoft.com/office/drawing/2014/main" id="{F390A05E-E8F4-3F13-6086-BCD0AACFFF4F}"/>
                  </a:ext>
                </a:extLst>
              </p:cNvPr>
              <p:cNvSpPr/>
              <p:nvPr/>
            </p:nvSpPr>
            <p:spPr>
              <a:xfrm>
                <a:off x="683568" y="3717032"/>
                <a:ext cx="216024" cy="1112561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왼쪽 중괄호 33">
                <a:extLst>
                  <a:ext uri="{FF2B5EF4-FFF2-40B4-BE49-F238E27FC236}">
                    <a16:creationId xmlns:a16="http://schemas.microsoft.com/office/drawing/2014/main" id="{14172E29-6CE4-7D78-8F94-A58ECA8D0604}"/>
                  </a:ext>
                </a:extLst>
              </p:cNvPr>
              <p:cNvSpPr/>
              <p:nvPr/>
            </p:nvSpPr>
            <p:spPr>
              <a:xfrm rot="16200000">
                <a:off x="1347861" y="4379785"/>
                <a:ext cx="216024" cy="1112561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왼쪽 중괄호 34">
                <a:extLst>
                  <a:ext uri="{FF2B5EF4-FFF2-40B4-BE49-F238E27FC236}">
                    <a16:creationId xmlns:a16="http://schemas.microsoft.com/office/drawing/2014/main" id="{3628271D-1C0C-336A-1AB0-1DB8C155C63B}"/>
                  </a:ext>
                </a:extLst>
              </p:cNvPr>
              <p:cNvSpPr/>
              <p:nvPr/>
            </p:nvSpPr>
            <p:spPr>
              <a:xfrm rot="2761143">
                <a:off x="1328635" y="2077014"/>
                <a:ext cx="251979" cy="1792785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1F16D653-64B7-6872-0A5A-9980B565E1C3}"/>
                      </a:ext>
                    </a:extLst>
                  </p:cNvPr>
                  <p:cNvSpPr txBox="1"/>
                  <p:nvPr/>
                </p:nvSpPr>
                <p:spPr>
                  <a:xfrm>
                    <a:off x="444840" y="4179491"/>
                    <a:ext cx="163827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1F16D653-64B7-6872-0A5A-9980B565E1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840" y="4179491"/>
                    <a:ext cx="163827" cy="24622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92308" r="-130769" b="-104762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3428661A-C618-00CD-8A6A-F84D1E4B1E32}"/>
                      </a:ext>
                    </a:extLst>
                  </p:cNvPr>
                  <p:cNvSpPr txBox="1"/>
                  <p:nvPr/>
                </p:nvSpPr>
                <p:spPr>
                  <a:xfrm>
                    <a:off x="1353827" y="5085183"/>
                    <a:ext cx="20480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3428661A-C618-00CD-8A6A-F84D1E4B1E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53827" y="5085183"/>
                    <a:ext cx="204800" cy="24622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52941" r="-88235" b="-85714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F856551C-C8CC-42E7-25F8-B8212E209B68}"/>
                      </a:ext>
                    </a:extLst>
                  </p:cNvPr>
                  <p:cNvSpPr txBox="1"/>
                  <p:nvPr/>
                </p:nvSpPr>
                <p:spPr>
                  <a:xfrm>
                    <a:off x="-540775" y="2425971"/>
                    <a:ext cx="1917639" cy="4768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𝑑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=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𝐶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′×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F856551C-C8CC-42E7-25F8-B8212E209B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540775" y="2425971"/>
                    <a:ext cx="1917639" cy="4768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908" t="-2500" r="-3067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6454DF3-AA8C-FB7F-01E9-CB357C61A883}"/>
                </a:ext>
              </a:extLst>
            </p:cNvPr>
            <p:cNvSpPr txBox="1"/>
            <p:nvPr/>
          </p:nvSpPr>
          <p:spPr>
            <a:xfrm>
              <a:off x="195894" y="5383756"/>
              <a:ext cx="2374889" cy="509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Input Tensor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0A2F076-DD6A-FA95-88A9-3F2B4F3A4A0C}"/>
                  </a:ext>
                </a:extLst>
              </p:cNvPr>
              <p:cNvSpPr txBox="1"/>
              <p:nvPr/>
            </p:nvSpPr>
            <p:spPr>
              <a:xfrm>
                <a:off x="4046351" y="2717804"/>
                <a:ext cx="108100" cy="1600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08서울남산체 B" panose="02020603020101020101" pitchFamily="18" charset="-127"/>
                          <a:cs typeface="Times New Roman" pitchFamily="18" charset="0"/>
                        </a:rPr>
                        <m:t>𝑘</m:t>
                      </m:r>
                    </m:oMath>
                  </m:oMathPara>
                </a14:m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0A2F076-DD6A-FA95-88A9-3F2B4F3A4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351" y="2717804"/>
                <a:ext cx="108100" cy="160024"/>
              </a:xfrm>
              <a:prstGeom prst="rect">
                <a:avLst/>
              </a:prstGeom>
              <a:blipFill>
                <a:blip r:embed="rId11"/>
                <a:stretch>
                  <a:fillRect l="-66667" r="-66667" b="-6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5E3EB24-CF81-8FB4-0C16-E49ADD0E9364}"/>
                  </a:ext>
                </a:extLst>
              </p:cNvPr>
              <p:cNvSpPr txBox="1"/>
              <p:nvPr/>
            </p:nvSpPr>
            <p:spPr>
              <a:xfrm>
                <a:off x="3987909" y="2115523"/>
                <a:ext cx="22121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08서울남산체 B" panose="02020603020101020101" pitchFamily="18" charset="-127"/>
                          <a:cs typeface="Times New Roman" pitchFamily="18" charset="0"/>
                        </a:rPr>
                        <m:t>𝐶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08서울남산체 B" panose="02020603020101020101" pitchFamily="18" charset="-127"/>
                          <a:cs typeface="Times New Roman" pitchFamily="18" charset="0"/>
                        </a:rPr>
                        <m:t>′</m:t>
                      </m:r>
                    </m:oMath>
                  </m:oMathPara>
                </a14:m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5E3EB24-CF81-8FB4-0C16-E49ADD0E9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909" y="2115523"/>
                <a:ext cx="221214" cy="246221"/>
              </a:xfrm>
              <a:prstGeom prst="rect">
                <a:avLst/>
              </a:prstGeom>
              <a:blipFill>
                <a:blip r:embed="rId12"/>
                <a:stretch>
                  <a:fillRect l="-25000" t="-2500" r="-27778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F775D9D-9881-3C3E-8843-8C55B3E1B8AB}"/>
                  </a:ext>
                </a:extLst>
              </p:cNvPr>
              <p:cNvSpPr txBox="1"/>
              <p:nvPr/>
            </p:nvSpPr>
            <p:spPr>
              <a:xfrm>
                <a:off x="4334182" y="2976876"/>
                <a:ext cx="108100" cy="1600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08서울남산체 B" panose="02020603020101020101" pitchFamily="18" charset="-127"/>
                          <a:cs typeface="Times New Roman" pitchFamily="18" charset="0"/>
                        </a:rPr>
                        <m:t>𝑘</m:t>
                      </m:r>
                    </m:oMath>
                  </m:oMathPara>
                </a14:m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F775D9D-9881-3C3E-8843-8C55B3E1B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182" y="2976876"/>
                <a:ext cx="108100" cy="160024"/>
              </a:xfrm>
              <a:prstGeom prst="rect">
                <a:avLst/>
              </a:prstGeom>
              <a:blipFill>
                <a:blip r:embed="rId13"/>
                <a:stretch>
                  <a:fillRect l="-66667" r="-66667" b="-592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CD4BEBD3-B6F6-3AED-20B2-B7126EF8444C}"/>
              </a:ext>
            </a:extLst>
          </p:cNvPr>
          <p:cNvSpPr txBox="1"/>
          <p:nvPr/>
        </p:nvSpPr>
        <p:spPr>
          <a:xfrm>
            <a:off x="4300079" y="2830075"/>
            <a:ext cx="2200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Convolutional Kernel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88B6DE3-307E-51C1-7A30-DC73C1EB8D03}"/>
              </a:ext>
            </a:extLst>
          </p:cNvPr>
          <p:cNvGrpSpPr/>
          <p:nvPr/>
        </p:nvGrpSpPr>
        <p:grpSpPr>
          <a:xfrm>
            <a:off x="6940258" y="1558742"/>
            <a:ext cx="1618532" cy="1870258"/>
            <a:chOff x="5943587" y="2211967"/>
            <a:chExt cx="2867020" cy="3312920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74BB7869-4DB2-B5DE-89BB-7C7421036971}"/>
                </a:ext>
              </a:extLst>
            </p:cNvPr>
            <p:cNvGrpSpPr/>
            <p:nvPr/>
          </p:nvGrpSpPr>
          <p:grpSpPr>
            <a:xfrm>
              <a:off x="5943587" y="2211967"/>
              <a:ext cx="2867020" cy="2910517"/>
              <a:chOff x="444840" y="2420887"/>
              <a:chExt cx="2867020" cy="2910517"/>
            </a:xfrm>
          </p:grpSpPr>
          <p:sp>
            <p:nvSpPr>
              <p:cNvPr id="52" name="정육면체 51">
                <a:extLst>
                  <a:ext uri="{FF2B5EF4-FFF2-40B4-BE49-F238E27FC236}">
                    <a16:creationId xmlns:a16="http://schemas.microsoft.com/office/drawing/2014/main" id="{1EEEDF46-6E35-2ADE-FB33-71CF73090433}"/>
                  </a:ext>
                </a:extLst>
              </p:cNvPr>
              <p:cNvSpPr/>
              <p:nvPr/>
            </p:nvSpPr>
            <p:spPr>
              <a:xfrm>
                <a:off x="899592" y="2420887"/>
                <a:ext cx="2412268" cy="2408705"/>
              </a:xfrm>
              <a:prstGeom prst="cube">
                <a:avLst>
                  <a:gd name="adj" fmla="val 5372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왼쪽 중괄호 52">
                <a:extLst>
                  <a:ext uri="{FF2B5EF4-FFF2-40B4-BE49-F238E27FC236}">
                    <a16:creationId xmlns:a16="http://schemas.microsoft.com/office/drawing/2014/main" id="{4A2DB8ED-EC1F-CCB4-9A37-3D76B1728912}"/>
                  </a:ext>
                </a:extLst>
              </p:cNvPr>
              <p:cNvSpPr/>
              <p:nvPr/>
            </p:nvSpPr>
            <p:spPr>
              <a:xfrm>
                <a:off x="683568" y="3717032"/>
                <a:ext cx="216024" cy="1112561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왼쪽 중괄호 53">
                <a:extLst>
                  <a:ext uri="{FF2B5EF4-FFF2-40B4-BE49-F238E27FC236}">
                    <a16:creationId xmlns:a16="http://schemas.microsoft.com/office/drawing/2014/main" id="{F4A1CAF8-6222-9A98-09DD-DE211E13D700}"/>
                  </a:ext>
                </a:extLst>
              </p:cNvPr>
              <p:cNvSpPr/>
              <p:nvPr/>
            </p:nvSpPr>
            <p:spPr>
              <a:xfrm rot="16200000">
                <a:off x="1347861" y="4379785"/>
                <a:ext cx="216024" cy="1112561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왼쪽 중괄호 54">
                <a:extLst>
                  <a:ext uri="{FF2B5EF4-FFF2-40B4-BE49-F238E27FC236}">
                    <a16:creationId xmlns:a16="http://schemas.microsoft.com/office/drawing/2014/main" id="{C2AD2862-CB5A-6576-7984-EBE0B689450A}"/>
                  </a:ext>
                </a:extLst>
              </p:cNvPr>
              <p:cNvSpPr/>
              <p:nvPr/>
            </p:nvSpPr>
            <p:spPr>
              <a:xfrm rot="2761143">
                <a:off x="1328635" y="2077014"/>
                <a:ext cx="251979" cy="1792785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DE1D11EE-2565-90A5-A046-8EF2D9F1A4B6}"/>
                      </a:ext>
                    </a:extLst>
                  </p:cNvPr>
                  <p:cNvSpPr txBox="1"/>
                  <p:nvPr/>
                </p:nvSpPr>
                <p:spPr>
                  <a:xfrm>
                    <a:off x="444840" y="4179491"/>
                    <a:ext cx="201594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DE1D11EE-2565-90A5-A046-8EF2D9F1A4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840" y="4179491"/>
                    <a:ext cx="201594" cy="24622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57895" r="-89474" b="-9090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268E04B3-B0DF-6BE6-4255-459945CDD7A5}"/>
                      </a:ext>
                    </a:extLst>
                  </p:cNvPr>
                  <p:cNvSpPr txBox="1"/>
                  <p:nvPr/>
                </p:nvSpPr>
                <p:spPr>
                  <a:xfrm>
                    <a:off x="1353827" y="5085183"/>
                    <a:ext cx="250068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𝑊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268E04B3-B0DF-6BE6-4255-459945CDD7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53827" y="5085183"/>
                    <a:ext cx="250068" cy="24622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52174" r="-82609" b="-8695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7C618D03-2EB7-58C5-0F0F-0E1A7D408F46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344" y="2515705"/>
                    <a:ext cx="195182" cy="24622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𝐷</m:t>
                          </m:r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7C618D03-2EB7-58C5-0F0F-0E1A7D408F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344" y="2515705"/>
                    <a:ext cx="195182" cy="24622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66667" r="-88889" b="-8695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56F2FF1-CA89-3D50-76B0-EB784698EE23}"/>
                </a:ext>
              </a:extLst>
            </p:cNvPr>
            <p:cNvSpPr txBox="1"/>
            <p:nvPr/>
          </p:nvSpPr>
          <p:spPr>
            <a:xfrm>
              <a:off x="6044384" y="5186333"/>
              <a:ext cx="20017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Output Tensor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56AF445-7C2D-0003-87C2-893F3339C752}"/>
              </a:ext>
            </a:extLst>
          </p:cNvPr>
          <p:cNvCxnSpPr>
            <a:cxnSpLocks/>
          </p:cNvCxnSpPr>
          <p:nvPr/>
        </p:nvCxnSpPr>
        <p:spPr>
          <a:xfrm>
            <a:off x="2917198" y="2522657"/>
            <a:ext cx="652933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25201C62-1E4A-07E1-DB2E-62C3BB7E7053}"/>
              </a:ext>
            </a:extLst>
          </p:cNvPr>
          <p:cNvCxnSpPr>
            <a:cxnSpLocks/>
          </p:cNvCxnSpPr>
          <p:nvPr/>
        </p:nvCxnSpPr>
        <p:spPr>
          <a:xfrm>
            <a:off x="5998945" y="2532268"/>
            <a:ext cx="652933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A761E68-7191-BB65-7328-942998E875D4}"/>
              </a:ext>
            </a:extLst>
          </p:cNvPr>
          <p:cNvGrpSpPr/>
          <p:nvPr/>
        </p:nvGrpSpPr>
        <p:grpSpPr>
          <a:xfrm>
            <a:off x="674368" y="5514139"/>
            <a:ext cx="2312562" cy="1297383"/>
            <a:chOff x="2071888" y="5453540"/>
            <a:chExt cx="2312562" cy="1297383"/>
          </a:xfrm>
        </p:grpSpPr>
        <p:sp>
          <p:nvSpPr>
            <p:cNvPr id="19" name="정육면체 18">
              <a:extLst>
                <a:ext uri="{FF2B5EF4-FFF2-40B4-BE49-F238E27FC236}">
                  <a16:creationId xmlns:a16="http://schemas.microsoft.com/office/drawing/2014/main" id="{B7E2E1E9-DE33-8029-A9C4-2917593AABEB}"/>
                </a:ext>
              </a:extLst>
            </p:cNvPr>
            <p:cNvSpPr/>
            <p:nvPr/>
          </p:nvSpPr>
          <p:spPr>
            <a:xfrm>
              <a:off x="2794045" y="5453540"/>
              <a:ext cx="475617" cy="500100"/>
            </a:xfrm>
            <a:prstGeom prst="cube">
              <a:avLst>
                <a:gd name="adj" fmla="val 23783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0982505-C0F3-02B2-92AC-3B4A8B92806F}"/>
                    </a:ext>
                  </a:extLst>
                </p:cNvPr>
                <p:cNvSpPr txBox="1"/>
                <p:nvPr/>
              </p:nvSpPr>
              <p:spPr>
                <a:xfrm>
                  <a:off x="2511834" y="5601843"/>
                  <a:ext cx="16632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𝑘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0982505-C0F3-02B2-92AC-3B4A8B9280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1834" y="5601843"/>
                  <a:ext cx="166328" cy="246221"/>
                </a:xfrm>
                <a:prstGeom prst="rect">
                  <a:avLst/>
                </a:prstGeom>
                <a:blipFill>
                  <a:blip r:embed="rId17"/>
                  <a:stretch>
                    <a:fillRect l="-29630" r="-25926" b="-7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259F4DA-D494-584A-2B69-ABF7690A6170}"/>
                    </a:ext>
                  </a:extLst>
                </p:cNvPr>
                <p:cNvSpPr txBox="1"/>
                <p:nvPr/>
              </p:nvSpPr>
              <p:spPr>
                <a:xfrm>
                  <a:off x="3369813" y="5753509"/>
                  <a:ext cx="101463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259F4DA-D494-584A-2B69-ABF7690A61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9813" y="5753509"/>
                  <a:ext cx="1014637" cy="246221"/>
                </a:xfrm>
                <a:prstGeom prst="rect">
                  <a:avLst/>
                </a:prstGeom>
                <a:blipFill>
                  <a:blip r:embed="rId18"/>
                  <a:stretch>
                    <a:fillRect l="-4217" r="-6627" b="-3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4E7CDC8-9F4D-CB66-3D4B-19D793249DC2}"/>
                    </a:ext>
                  </a:extLst>
                </p:cNvPr>
                <p:cNvSpPr txBox="1"/>
                <p:nvPr/>
              </p:nvSpPr>
              <p:spPr>
                <a:xfrm>
                  <a:off x="2954706" y="6000464"/>
                  <a:ext cx="16632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𝑘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4E7CDC8-9F4D-CB66-3D4B-19D793249D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4706" y="6000464"/>
                  <a:ext cx="166328" cy="246221"/>
                </a:xfrm>
                <a:prstGeom prst="rect">
                  <a:avLst/>
                </a:prstGeom>
                <a:blipFill>
                  <a:blip r:embed="rId19"/>
                  <a:stretch>
                    <a:fillRect l="-28571" r="-21429" b="-48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2B72C2A-5C90-7BBA-3366-A14F68A45895}"/>
                </a:ext>
              </a:extLst>
            </p:cNvPr>
            <p:cNvSpPr txBox="1"/>
            <p:nvPr/>
          </p:nvSpPr>
          <p:spPr>
            <a:xfrm>
              <a:off x="2071888" y="6196925"/>
              <a:ext cx="210836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Modulation Layer</a:t>
              </a:r>
            </a:p>
            <a:p>
              <a:pPr algn="ctr"/>
              <a:r>
                <a:rPr lang="en-US" altLang="ko-KR" sz="14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(Convolutional Kernel*)</a:t>
              </a:r>
              <a:endParaRPr lang="ko-KR" altLang="en-US" sz="1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F27F34B-5258-6CF7-05D3-0B6E74677096}"/>
              </a:ext>
            </a:extLst>
          </p:cNvPr>
          <p:cNvGrpSpPr/>
          <p:nvPr/>
        </p:nvGrpSpPr>
        <p:grpSpPr>
          <a:xfrm>
            <a:off x="3987909" y="5514138"/>
            <a:ext cx="2816339" cy="1044937"/>
            <a:chOff x="2311108" y="3560829"/>
            <a:chExt cx="3606535" cy="1303381"/>
          </a:xfrm>
        </p:grpSpPr>
        <p:sp>
          <p:nvSpPr>
            <p:cNvPr id="64" name="정육면체 63">
              <a:extLst>
                <a:ext uri="{FF2B5EF4-FFF2-40B4-BE49-F238E27FC236}">
                  <a16:creationId xmlns:a16="http://schemas.microsoft.com/office/drawing/2014/main" id="{6E984A23-A97B-7D63-0D5C-4F27A61A11A2}"/>
                </a:ext>
              </a:extLst>
            </p:cNvPr>
            <p:cNvSpPr/>
            <p:nvPr/>
          </p:nvSpPr>
          <p:spPr>
            <a:xfrm>
              <a:off x="2641704" y="3560829"/>
              <a:ext cx="947419" cy="938573"/>
            </a:xfrm>
            <a:prstGeom prst="cube">
              <a:avLst>
                <a:gd name="adj" fmla="val 1369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왼쪽 중괄호 64">
              <a:extLst>
                <a:ext uri="{FF2B5EF4-FFF2-40B4-BE49-F238E27FC236}">
                  <a16:creationId xmlns:a16="http://schemas.microsoft.com/office/drawing/2014/main" id="{A0E3D3F1-99FD-3507-102F-8FDF3565713F}"/>
                </a:ext>
              </a:extLst>
            </p:cNvPr>
            <p:cNvSpPr/>
            <p:nvPr/>
          </p:nvSpPr>
          <p:spPr>
            <a:xfrm>
              <a:off x="2484659" y="3690593"/>
              <a:ext cx="157045" cy="80881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왼쪽 중괄호 65">
              <a:extLst>
                <a:ext uri="{FF2B5EF4-FFF2-40B4-BE49-F238E27FC236}">
                  <a16:creationId xmlns:a16="http://schemas.microsoft.com/office/drawing/2014/main" id="{E221AF6B-8A7D-AC5C-0F0D-C9F52BAE75FA}"/>
                </a:ext>
              </a:extLst>
            </p:cNvPr>
            <p:cNvSpPr/>
            <p:nvPr/>
          </p:nvSpPr>
          <p:spPr>
            <a:xfrm rot="16200000">
              <a:off x="2967586" y="4172402"/>
              <a:ext cx="157045" cy="80881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7159F60-EA8A-28DD-A3AD-1A1FB1C04F84}"/>
                    </a:ext>
                  </a:extLst>
                </p:cNvPr>
                <p:cNvSpPr txBox="1"/>
                <p:nvPr/>
              </p:nvSpPr>
              <p:spPr>
                <a:xfrm>
                  <a:off x="2311108" y="4026792"/>
                  <a:ext cx="146555" cy="178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𝐻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7159F60-EA8A-28DD-A3AD-1A1FB1C04F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108" y="4026792"/>
                  <a:ext cx="146555" cy="178998"/>
                </a:xfrm>
                <a:prstGeom prst="rect">
                  <a:avLst/>
                </a:prstGeom>
                <a:blipFill>
                  <a:blip r:embed="rId20"/>
                  <a:stretch>
                    <a:fillRect l="-57895" r="-89474" b="-8260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E79C88B-0421-884E-A577-5614E84D25B8}"/>
                    </a:ext>
                  </a:extLst>
                </p:cNvPr>
                <p:cNvSpPr txBox="1"/>
                <p:nvPr/>
              </p:nvSpPr>
              <p:spPr>
                <a:xfrm>
                  <a:off x="2971924" y="4685212"/>
                  <a:ext cx="181795" cy="178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𝑊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E79C88B-0421-884E-A577-5614E84D25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924" y="4685212"/>
                  <a:ext cx="181795" cy="178998"/>
                </a:xfrm>
                <a:prstGeom prst="rect">
                  <a:avLst/>
                </a:prstGeom>
                <a:blipFill>
                  <a:blip r:embed="rId21"/>
                  <a:stretch>
                    <a:fillRect l="-52174" r="-82609" b="-791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1A4B9D1-B758-2D8E-381E-D0B31445025B}"/>
                </a:ext>
              </a:extLst>
            </p:cNvPr>
            <p:cNvSpPr txBox="1"/>
            <p:nvPr/>
          </p:nvSpPr>
          <p:spPr>
            <a:xfrm>
              <a:off x="3696391" y="3723564"/>
              <a:ext cx="2221252" cy="422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Modulation map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CBB84DCD-C5FC-1D58-16CC-73492317178C}"/>
                    </a:ext>
                  </a:extLst>
                </p:cNvPr>
                <p:cNvSpPr txBox="1"/>
                <p:nvPr/>
              </p:nvSpPr>
              <p:spPr>
                <a:xfrm>
                  <a:off x="3589123" y="4373367"/>
                  <a:ext cx="1299319" cy="3071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08서울남산체 B" panose="02020603020101020101" pitchFamily="18" charset="-127"/>
                            <a:cs typeface="Times New Roman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CBB84DCD-C5FC-1D58-16CC-7349231717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123" y="4373367"/>
                  <a:ext cx="1299319" cy="307119"/>
                </a:xfrm>
                <a:prstGeom prst="rect">
                  <a:avLst/>
                </a:prstGeom>
                <a:blipFill>
                  <a:blip r:embed="rId22"/>
                  <a:stretch>
                    <a:fillRect l="-4217" r="-6627" b="-3170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625F01AB-B783-4A88-F691-38D93F8AB5BA}"/>
              </a:ext>
            </a:extLst>
          </p:cNvPr>
          <p:cNvCxnSpPr>
            <a:stCxn id="38" idx="1"/>
            <a:endCxn id="6" idx="1"/>
          </p:cNvCxnSpPr>
          <p:nvPr/>
        </p:nvCxnSpPr>
        <p:spPr>
          <a:xfrm rot="10800000" flipH="1" flipV="1">
            <a:off x="911872" y="2832025"/>
            <a:ext cx="144770" cy="1484550"/>
          </a:xfrm>
          <a:prstGeom prst="bentConnector3">
            <a:avLst>
              <a:gd name="adj1" fmla="val -157906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B82DD20A-7CE0-2565-C2B7-02B897288B2E}"/>
              </a:ext>
            </a:extLst>
          </p:cNvPr>
          <p:cNvCxnSpPr>
            <a:cxnSpLocks/>
            <a:stCxn id="38" idx="1"/>
            <a:endCxn id="22" idx="1"/>
          </p:cNvCxnSpPr>
          <p:nvPr/>
        </p:nvCxnSpPr>
        <p:spPr>
          <a:xfrm rot="10800000" flipH="1" flipV="1">
            <a:off x="911872" y="2832025"/>
            <a:ext cx="202442" cy="2953528"/>
          </a:xfrm>
          <a:prstGeom prst="bentConnector3">
            <a:avLst>
              <a:gd name="adj1" fmla="val -112921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0605EA17-83E5-A333-D9FE-7AC6B3671184}"/>
              </a:ext>
            </a:extLst>
          </p:cNvPr>
          <p:cNvCxnSpPr>
            <a:cxnSpLocks/>
          </p:cNvCxnSpPr>
          <p:nvPr/>
        </p:nvCxnSpPr>
        <p:spPr>
          <a:xfrm>
            <a:off x="2486649" y="4208813"/>
            <a:ext cx="1112843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8326335D-A1C8-C57C-5C99-461A9AF41BC2}"/>
              </a:ext>
            </a:extLst>
          </p:cNvPr>
          <p:cNvCxnSpPr>
            <a:cxnSpLocks/>
          </p:cNvCxnSpPr>
          <p:nvPr/>
        </p:nvCxnSpPr>
        <p:spPr>
          <a:xfrm>
            <a:off x="2486649" y="5670730"/>
            <a:ext cx="1112843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26EAFEB9-F390-D03F-1AED-C68562D9043F}"/>
              </a:ext>
            </a:extLst>
          </p:cNvPr>
          <p:cNvCxnSpPr>
            <a:cxnSpLocks/>
          </p:cNvCxnSpPr>
          <p:nvPr/>
        </p:nvCxnSpPr>
        <p:spPr>
          <a:xfrm flipV="1">
            <a:off x="4574292" y="3169958"/>
            <a:ext cx="0" cy="460328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8EC2BE4B-26DD-0B4E-3782-882F18AB88C4}"/>
              </a:ext>
            </a:extLst>
          </p:cNvPr>
          <p:cNvSpPr txBox="1"/>
          <p:nvPr/>
        </p:nvSpPr>
        <p:spPr>
          <a:xfrm>
            <a:off x="2067198" y="5115271"/>
            <a:ext cx="2001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>
                <a:solidFill>
                  <a:srgbClr val="FF0000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Softmax</a:t>
            </a:r>
            <a:r>
              <a:rPr lang="en-US" altLang="ko-KR" sz="1600" dirty="0">
                <a:solidFill>
                  <a:srgbClr val="FF0000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 </a:t>
            </a:r>
            <a:br>
              <a:rPr lang="en-US" altLang="ko-KR" sz="1600" dirty="0">
                <a:solidFill>
                  <a:srgbClr val="FF0000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1600" dirty="0">
                <a:solidFill>
                  <a:srgbClr val="FF0000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(Axis -&gt; Depth)</a:t>
            </a:r>
            <a:endParaRPr lang="ko-KR" altLang="en-US" sz="1600" dirty="0">
              <a:solidFill>
                <a:srgbClr val="FF0000"/>
              </a:solidFill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661E2C6-7530-245C-C5C4-AD277617CA30}"/>
              </a:ext>
            </a:extLst>
          </p:cNvPr>
          <p:cNvSpPr/>
          <p:nvPr/>
        </p:nvSpPr>
        <p:spPr>
          <a:xfrm>
            <a:off x="3779912" y="1880779"/>
            <a:ext cx="2669339" cy="48458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C9DD36F-89C4-C86E-A44E-ADC4700FB347}"/>
                  </a:ext>
                </a:extLst>
              </p:cNvPr>
              <p:cNvSpPr txBox="1"/>
              <p:nvPr/>
            </p:nvSpPr>
            <p:spPr>
              <a:xfrm>
                <a:off x="5367231" y="1383917"/>
                <a:ext cx="16314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×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08서울남산체 B" panose="02020603020101020101" pitchFamily="18" charset="-127"/>
                          <a:cs typeface="Times New Roman" pitchFamily="18" charset="0"/>
                        </a:rPr>
                        <m:t>𝐺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C9DD36F-89C4-C86E-A44E-ADC4700FB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231" y="1383917"/>
                <a:ext cx="1631475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정육면체 44">
            <a:extLst>
              <a:ext uri="{FF2B5EF4-FFF2-40B4-BE49-F238E27FC236}">
                <a16:creationId xmlns:a16="http://schemas.microsoft.com/office/drawing/2014/main" id="{87BB8FC4-A149-D9F5-F221-F6811DAF0723}"/>
              </a:ext>
            </a:extLst>
          </p:cNvPr>
          <p:cNvSpPr/>
          <p:nvPr/>
        </p:nvSpPr>
        <p:spPr>
          <a:xfrm>
            <a:off x="4359008" y="2594290"/>
            <a:ext cx="268442" cy="266852"/>
          </a:xfrm>
          <a:prstGeom prst="cube">
            <a:avLst>
              <a:gd name="adj" fmla="val 38926"/>
            </a:avLst>
          </a:prstGeom>
          <a:solidFill>
            <a:schemeClr val="accent1">
              <a:lumMod val="20000"/>
              <a:lumOff val="80000"/>
              <a:alpha val="52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정육면체 45">
            <a:extLst>
              <a:ext uri="{FF2B5EF4-FFF2-40B4-BE49-F238E27FC236}">
                <a16:creationId xmlns:a16="http://schemas.microsoft.com/office/drawing/2014/main" id="{ACAA191C-48AA-9FCE-E43F-21285E7D0B7B}"/>
              </a:ext>
            </a:extLst>
          </p:cNvPr>
          <p:cNvSpPr/>
          <p:nvPr/>
        </p:nvSpPr>
        <p:spPr>
          <a:xfrm>
            <a:off x="4186986" y="2603905"/>
            <a:ext cx="268442" cy="266852"/>
          </a:xfrm>
          <a:prstGeom prst="cube">
            <a:avLst>
              <a:gd name="adj" fmla="val 38926"/>
            </a:avLst>
          </a:prstGeom>
          <a:solidFill>
            <a:schemeClr val="accent1">
              <a:lumMod val="20000"/>
              <a:lumOff val="80000"/>
              <a:alpha val="52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정육면체 61">
            <a:extLst>
              <a:ext uri="{FF2B5EF4-FFF2-40B4-BE49-F238E27FC236}">
                <a16:creationId xmlns:a16="http://schemas.microsoft.com/office/drawing/2014/main" id="{4EE1BF34-3FBF-CE6F-A2A6-3F16AEE87A99}"/>
              </a:ext>
            </a:extLst>
          </p:cNvPr>
          <p:cNvSpPr/>
          <p:nvPr/>
        </p:nvSpPr>
        <p:spPr>
          <a:xfrm>
            <a:off x="4186986" y="2428492"/>
            <a:ext cx="268442" cy="266852"/>
          </a:xfrm>
          <a:prstGeom prst="cube">
            <a:avLst>
              <a:gd name="adj" fmla="val 38926"/>
            </a:avLst>
          </a:prstGeom>
          <a:solidFill>
            <a:schemeClr val="accent1">
              <a:lumMod val="20000"/>
              <a:lumOff val="80000"/>
              <a:alpha val="52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정육면체 74">
            <a:extLst>
              <a:ext uri="{FF2B5EF4-FFF2-40B4-BE49-F238E27FC236}">
                <a16:creationId xmlns:a16="http://schemas.microsoft.com/office/drawing/2014/main" id="{BF004DBD-9E75-B560-19DE-7E3F0153E231}"/>
              </a:ext>
            </a:extLst>
          </p:cNvPr>
          <p:cNvSpPr/>
          <p:nvPr/>
        </p:nvSpPr>
        <p:spPr>
          <a:xfrm>
            <a:off x="4186986" y="2251610"/>
            <a:ext cx="268442" cy="266852"/>
          </a:xfrm>
          <a:prstGeom prst="cube">
            <a:avLst>
              <a:gd name="adj" fmla="val 38926"/>
            </a:avLst>
          </a:prstGeom>
          <a:solidFill>
            <a:schemeClr val="accent1">
              <a:lumMod val="20000"/>
              <a:lumOff val="80000"/>
              <a:alpha val="52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정육면체 42">
            <a:extLst>
              <a:ext uri="{FF2B5EF4-FFF2-40B4-BE49-F238E27FC236}">
                <a16:creationId xmlns:a16="http://schemas.microsoft.com/office/drawing/2014/main" id="{7D7B62D6-5016-29C6-E9FF-877425A2A845}"/>
              </a:ext>
            </a:extLst>
          </p:cNvPr>
          <p:cNvSpPr/>
          <p:nvPr/>
        </p:nvSpPr>
        <p:spPr>
          <a:xfrm>
            <a:off x="4359310" y="2423684"/>
            <a:ext cx="268442" cy="266852"/>
          </a:xfrm>
          <a:prstGeom prst="cube">
            <a:avLst>
              <a:gd name="adj" fmla="val 3892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정육면체 70">
            <a:extLst>
              <a:ext uri="{FF2B5EF4-FFF2-40B4-BE49-F238E27FC236}">
                <a16:creationId xmlns:a16="http://schemas.microsoft.com/office/drawing/2014/main" id="{AD24EF0A-84DD-7970-AD32-715D5224004C}"/>
              </a:ext>
            </a:extLst>
          </p:cNvPr>
          <p:cNvSpPr/>
          <p:nvPr/>
        </p:nvSpPr>
        <p:spPr>
          <a:xfrm>
            <a:off x="4544428" y="2261617"/>
            <a:ext cx="268442" cy="266852"/>
          </a:xfrm>
          <a:prstGeom prst="cube">
            <a:avLst>
              <a:gd name="adj" fmla="val 38926"/>
            </a:avLst>
          </a:prstGeom>
          <a:solidFill>
            <a:schemeClr val="accent1">
              <a:lumMod val="20000"/>
              <a:lumOff val="80000"/>
              <a:alpha val="52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정육면체 41">
            <a:extLst>
              <a:ext uri="{FF2B5EF4-FFF2-40B4-BE49-F238E27FC236}">
                <a16:creationId xmlns:a16="http://schemas.microsoft.com/office/drawing/2014/main" id="{B16ACBE3-C68F-E38D-2F55-E407DFA7918A}"/>
              </a:ext>
            </a:extLst>
          </p:cNvPr>
          <p:cNvSpPr/>
          <p:nvPr/>
        </p:nvSpPr>
        <p:spPr>
          <a:xfrm>
            <a:off x="4537977" y="2591209"/>
            <a:ext cx="268442" cy="266852"/>
          </a:xfrm>
          <a:prstGeom prst="cube">
            <a:avLst>
              <a:gd name="adj" fmla="val 38926"/>
            </a:avLst>
          </a:prstGeom>
          <a:solidFill>
            <a:schemeClr val="accent1">
              <a:lumMod val="20000"/>
              <a:lumOff val="80000"/>
              <a:alpha val="52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정육면체 36">
            <a:extLst>
              <a:ext uri="{FF2B5EF4-FFF2-40B4-BE49-F238E27FC236}">
                <a16:creationId xmlns:a16="http://schemas.microsoft.com/office/drawing/2014/main" id="{80B20362-C55B-312F-3390-D35FF31E1871}"/>
              </a:ext>
            </a:extLst>
          </p:cNvPr>
          <p:cNvSpPr/>
          <p:nvPr/>
        </p:nvSpPr>
        <p:spPr>
          <a:xfrm>
            <a:off x="4537977" y="2423684"/>
            <a:ext cx="268442" cy="266852"/>
          </a:xfrm>
          <a:prstGeom prst="cube">
            <a:avLst>
              <a:gd name="adj" fmla="val 38926"/>
            </a:avLst>
          </a:prstGeom>
          <a:solidFill>
            <a:schemeClr val="accent1">
              <a:lumMod val="20000"/>
              <a:lumOff val="80000"/>
              <a:alpha val="52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정육면체 73">
            <a:extLst>
              <a:ext uri="{FF2B5EF4-FFF2-40B4-BE49-F238E27FC236}">
                <a16:creationId xmlns:a16="http://schemas.microsoft.com/office/drawing/2014/main" id="{BC4CA4FB-644C-3F81-B793-6F11587DD91E}"/>
              </a:ext>
            </a:extLst>
          </p:cNvPr>
          <p:cNvSpPr/>
          <p:nvPr/>
        </p:nvSpPr>
        <p:spPr>
          <a:xfrm>
            <a:off x="4362536" y="2255805"/>
            <a:ext cx="268442" cy="266852"/>
          </a:xfrm>
          <a:prstGeom prst="cube">
            <a:avLst>
              <a:gd name="adj" fmla="val 38926"/>
            </a:avLst>
          </a:prstGeom>
          <a:solidFill>
            <a:schemeClr val="accent1">
              <a:lumMod val="20000"/>
              <a:lumOff val="80000"/>
              <a:alpha val="52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81D206B-4E49-2F78-7944-F97928C66D46}"/>
              </a:ext>
            </a:extLst>
          </p:cNvPr>
          <p:cNvSpPr txBox="1"/>
          <p:nvPr/>
        </p:nvSpPr>
        <p:spPr>
          <a:xfrm>
            <a:off x="6629671" y="6242134"/>
            <a:ext cx="2654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*Details not found in the paper</a:t>
            </a:r>
            <a:endParaRPr lang="ko-KR" altLang="en-US" sz="14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E520F6D-3D03-58AC-1A88-577333099763}"/>
              </a:ext>
            </a:extLst>
          </p:cNvPr>
          <p:cNvSpPr txBox="1"/>
          <p:nvPr/>
        </p:nvSpPr>
        <p:spPr>
          <a:xfrm>
            <a:off x="4417120" y="1942008"/>
            <a:ext cx="2001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Shared Params </a:t>
            </a:r>
          </a:p>
          <a:p>
            <a:pPr algn="ctr"/>
            <a:r>
              <a:rPr lang="en-US" altLang="ko-KR" sz="1600" dirty="0">
                <a:solidFill>
                  <a:srgbClr val="FF0000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in Kernels</a:t>
            </a:r>
            <a:endParaRPr lang="ko-KR" altLang="en-US" sz="1600" dirty="0">
              <a:solidFill>
                <a:srgbClr val="FF0000"/>
              </a:solidFill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58011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D74A-6F69-241E-C60B-AFB7A377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InterImage Model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75E4-58C3-EFCA-D2A8-4A00CA469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5219F-3996-7BCB-9EFF-54B7B656D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8C5793BC-E7B5-1F77-5A80-EEBC57D971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458"/>
          <a:stretch/>
        </p:blipFill>
        <p:spPr>
          <a:xfrm>
            <a:off x="2231741" y="1106042"/>
            <a:ext cx="3816424" cy="551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6257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D74A-6F69-241E-C60B-AFB7A377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InterImage Model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75E4-58C3-EFCA-D2A8-4A00CA469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5219F-3996-7BCB-9EFF-54B7B656D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23</a:t>
            </a:fld>
            <a:endParaRPr lang="ko-KR" altLang="en-US" dirty="0"/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8C5793BC-E7B5-1F77-5A80-EEBC57D971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458"/>
          <a:stretch/>
        </p:blipFill>
        <p:spPr>
          <a:xfrm>
            <a:off x="2231741" y="1106042"/>
            <a:ext cx="3816424" cy="551488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541B24-FF6F-4CAB-B571-C8A59A49C0F9}"/>
              </a:ext>
            </a:extLst>
          </p:cNvPr>
          <p:cNvSpPr/>
          <p:nvPr/>
        </p:nvSpPr>
        <p:spPr>
          <a:xfrm>
            <a:off x="4756629" y="2960948"/>
            <a:ext cx="1296144" cy="22322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3D5AD-5350-4116-879D-00B970ED75A5}"/>
              </a:ext>
            </a:extLst>
          </p:cNvPr>
          <p:cNvSpPr txBox="1"/>
          <p:nvPr/>
        </p:nvSpPr>
        <p:spPr>
          <a:xfrm>
            <a:off x="6192180" y="3136612"/>
            <a:ext cx="2123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1. Basic Block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95233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D74A-6F69-241E-C60B-AFB7A377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InterImage Model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75E4-58C3-EFCA-D2A8-4A00CA469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5219F-3996-7BCB-9EFF-54B7B656D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8C5793BC-E7B5-1F77-5A80-EEBC57D971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458"/>
          <a:stretch/>
        </p:blipFill>
        <p:spPr>
          <a:xfrm>
            <a:off x="2231741" y="1106042"/>
            <a:ext cx="3816424" cy="551488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541B24-FF6F-4CAB-B571-C8A59A49C0F9}"/>
              </a:ext>
            </a:extLst>
          </p:cNvPr>
          <p:cNvSpPr/>
          <p:nvPr/>
        </p:nvSpPr>
        <p:spPr>
          <a:xfrm>
            <a:off x="3419872" y="1304764"/>
            <a:ext cx="2632901" cy="230425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3D5AD-5350-4116-879D-00B970ED75A5}"/>
              </a:ext>
            </a:extLst>
          </p:cNvPr>
          <p:cNvSpPr txBox="1"/>
          <p:nvPr/>
        </p:nvSpPr>
        <p:spPr>
          <a:xfrm>
            <a:off x="6141312" y="1700808"/>
            <a:ext cx="2788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2. Stem layer &amp; Downsampling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441177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D74A-6F69-241E-C60B-AFB7A377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InterImage Model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75E4-58C3-EFCA-D2A8-4A00CA469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5219F-3996-7BCB-9EFF-54B7B656D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8C5793BC-E7B5-1F77-5A80-EEBC57D971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458"/>
          <a:stretch/>
        </p:blipFill>
        <p:spPr>
          <a:xfrm>
            <a:off x="2231741" y="1106042"/>
            <a:ext cx="3816424" cy="551488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541B24-FF6F-4CAB-B571-C8A59A49C0F9}"/>
              </a:ext>
            </a:extLst>
          </p:cNvPr>
          <p:cNvSpPr/>
          <p:nvPr/>
        </p:nvSpPr>
        <p:spPr>
          <a:xfrm>
            <a:off x="4680013" y="5193196"/>
            <a:ext cx="1461300" cy="122413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3D5AD-5350-4116-879D-00B970ED75A5}"/>
              </a:ext>
            </a:extLst>
          </p:cNvPr>
          <p:cNvSpPr txBox="1"/>
          <p:nvPr/>
        </p:nvSpPr>
        <p:spPr>
          <a:xfrm>
            <a:off x="6183320" y="5301208"/>
            <a:ext cx="2788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3. Stacking Rules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733779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D74A-6F69-241E-C60B-AFB7A377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InterImage Model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75E4-58C3-EFCA-D2A8-4A00CA469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5219F-3996-7BCB-9EFF-54B7B656D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26</a:t>
            </a:fld>
            <a:endParaRPr lang="ko-KR" altLang="en-US" dirty="0"/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8C5793BC-E7B5-1F77-5A80-EEBC57D971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458"/>
          <a:stretch/>
        </p:blipFill>
        <p:spPr>
          <a:xfrm>
            <a:off x="332389" y="997185"/>
            <a:ext cx="3816424" cy="551488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541B24-FF6F-4CAB-B571-C8A59A49C0F9}"/>
              </a:ext>
            </a:extLst>
          </p:cNvPr>
          <p:cNvSpPr/>
          <p:nvPr/>
        </p:nvSpPr>
        <p:spPr>
          <a:xfrm>
            <a:off x="2773910" y="2816932"/>
            <a:ext cx="1461300" cy="23617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3D5AD-5350-4116-879D-00B970ED75A5}"/>
              </a:ext>
            </a:extLst>
          </p:cNvPr>
          <p:cNvSpPr txBox="1"/>
          <p:nvPr/>
        </p:nvSpPr>
        <p:spPr>
          <a:xfrm>
            <a:off x="4391980" y="1340768"/>
            <a:ext cx="2788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1. Basic Block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0DF190-C21B-4891-A518-89A851CC22AA}"/>
              </a:ext>
            </a:extLst>
          </p:cNvPr>
          <p:cNvCxnSpPr>
            <a:cxnSpLocks/>
          </p:cNvCxnSpPr>
          <p:nvPr/>
        </p:nvCxnSpPr>
        <p:spPr>
          <a:xfrm flipH="1">
            <a:off x="3455876" y="1934913"/>
            <a:ext cx="2016224" cy="867709"/>
          </a:xfrm>
          <a:prstGeom prst="lin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863121-A24F-4B11-D19A-811EB4694385}"/>
              </a:ext>
            </a:extLst>
          </p:cNvPr>
          <p:cNvCxnSpPr>
            <a:cxnSpLocks/>
          </p:cNvCxnSpPr>
          <p:nvPr/>
        </p:nvCxnSpPr>
        <p:spPr>
          <a:xfrm flipH="1" flipV="1">
            <a:off x="3455876" y="5192988"/>
            <a:ext cx="2340260" cy="1044324"/>
          </a:xfrm>
          <a:prstGeom prst="lin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EC3716E3-304E-456C-3EC0-427913157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043" y="1679322"/>
            <a:ext cx="2676397" cy="48175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749865446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D74A-6F69-241E-C60B-AFB7A377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InterImage Model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75E4-58C3-EFCA-D2A8-4A00CA469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5219F-3996-7BCB-9EFF-54B7B656D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27</a:t>
            </a:fld>
            <a:endParaRPr lang="ko-KR" altLang="en-US" dirty="0"/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8C5793BC-E7B5-1F77-5A80-EEBC57D971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458"/>
          <a:stretch/>
        </p:blipFill>
        <p:spPr>
          <a:xfrm>
            <a:off x="332389" y="997185"/>
            <a:ext cx="3816424" cy="551488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863121-A24F-4B11-D19A-811EB4694385}"/>
              </a:ext>
            </a:extLst>
          </p:cNvPr>
          <p:cNvCxnSpPr>
            <a:cxnSpLocks/>
          </p:cNvCxnSpPr>
          <p:nvPr/>
        </p:nvCxnSpPr>
        <p:spPr>
          <a:xfrm flipH="1" flipV="1">
            <a:off x="3455876" y="2780928"/>
            <a:ext cx="3024336" cy="2736304"/>
          </a:xfrm>
          <a:prstGeom prst="lin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58B33B-2195-2B5E-E64F-08FF7B0EEBDD}"/>
              </a:ext>
            </a:extLst>
          </p:cNvPr>
          <p:cNvSpPr/>
          <p:nvPr/>
        </p:nvSpPr>
        <p:spPr>
          <a:xfrm flipV="1">
            <a:off x="2773910" y="1160748"/>
            <a:ext cx="1461300" cy="16561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A578E9-E297-EAA6-3E47-CD4DC8BF5E1C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3455876" y="1149513"/>
            <a:ext cx="3132821" cy="789556"/>
          </a:xfrm>
          <a:prstGeom prst="lin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2920C6C-754A-80EC-035F-300550E14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493" y="1939069"/>
            <a:ext cx="2788407" cy="3714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23D5AD-5350-4116-879D-00B970ED75A5}"/>
              </a:ext>
            </a:extLst>
          </p:cNvPr>
          <p:cNvSpPr txBox="1"/>
          <p:nvPr/>
        </p:nvSpPr>
        <p:spPr>
          <a:xfrm>
            <a:off x="4391980" y="1340768"/>
            <a:ext cx="278840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2. Stem &amp; Downsampling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416748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D74A-6F69-241E-C60B-AFB7A377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InterImage Model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75E4-58C3-EFCA-D2A8-4A00CA469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5219F-3996-7BCB-9EFF-54B7B656D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28</a:t>
            </a:fld>
            <a:endParaRPr lang="ko-KR" altLang="en-US" dirty="0"/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8C5793BC-E7B5-1F77-5A80-EEBC57D971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458"/>
          <a:stretch/>
        </p:blipFill>
        <p:spPr>
          <a:xfrm>
            <a:off x="332389" y="997185"/>
            <a:ext cx="3816424" cy="551488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541B24-FF6F-4CAB-B571-C8A59A49C0F9}"/>
              </a:ext>
            </a:extLst>
          </p:cNvPr>
          <p:cNvSpPr/>
          <p:nvPr/>
        </p:nvSpPr>
        <p:spPr>
          <a:xfrm>
            <a:off x="2780661" y="5084339"/>
            <a:ext cx="1461300" cy="122413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3D5AD-5350-4116-879D-00B970ED75A5}"/>
              </a:ext>
            </a:extLst>
          </p:cNvPr>
          <p:cNvSpPr txBox="1"/>
          <p:nvPr/>
        </p:nvSpPr>
        <p:spPr>
          <a:xfrm>
            <a:off x="4391980" y="1340768"/>
            <a:ext cx="2788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3. Stacking Rules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0DF190-C21B-4891-A518-89A851CC22AA}"/>
              </a:ext>
            </a:extLst>
          </p:cNvPr>
          <p:cNvCxnSpPr>
            <a:cxnSpLocks/>
          </p:cNvCxnSpPr>
          <p:nvPr/>
        </p:nvCxnSpPr>
        <p:spPr>
          <a:xfrm flipH="1">
            <a:off x="2860307" y="1773661"/>
            <a:ext cx="2284750" cy="3310678"/>
          </a:xfrm>
          <a:prstGeom prst="lin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863121-A24F-4B11-D19A-811EB4694385}"/>
              </a:ext>
            </a:extLst>
          </p:cNvPr>
          <p:cNvCxnSpPr>
            <a:cxnSpLocks/>
          </p:cNvCxnSpPr>
          <p:nvPr/>
        </p:nvCxnSpPr>
        <p:spPr>
          <a:xfrm flipH="1">
            <a:off x="4148813" y="4026758"/>
            <a:ext cx="3706050" cy="2281717"/>
          </a:xfrm>
          <a:prstGeom prst="lin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31AE19B1-3280-015C-17FD-8B1D02EAE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057" y="1699354"/>
            <a:ext cx="2709806" cy="23939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141934-85EE-0174-92AA-AB3204EAA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868" y="4221087"/>
            <a:ext cx="4687726" cy="75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7449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D74A-6F69-241E-C60B-AFB7A377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InterImage Model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75E4-58C3-EFCA-D2A8-4A00CA469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5219F-3996-7BCB-9EFF-54B7B656D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29</a:t>
            </a:fld>
            <a:endParaRPr lang="ko-KR" altLang="en-US" dirty="0"/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8C5793BC-E7B5-1F77-5A80-EEBC57D971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458"/>
          <a:stretch/>
        </p:blipFill>
        <p:spPr>
          <a:xfrm>
            <a:off x="332389" y="997185"/>
            <a:ext cx="3816424" cy="55148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23D5AD-5350-4116-879D-00B970ED75A5}"/>
              </a:ext>
            </a:extLst>
          </p:cNvPr>
          <p:cNvSpPr txBox="1"/>
          <p:nvPr/>
        </p:nvSpPr>
        <p:spPr>
          <a:xfrm>
            <a:off x="4391980" y="1340768"/>
            <a:ext cx="2788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4. Scaling Rules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A74E0D-2752-CC53-B939-98359DEE4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574" y="1862459"/>
            <a:ext cx="4934858" cy="365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595216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D74A-6F69-241E-C60B-AFB7A377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InterImage Model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75E4-58C3-EFCA-D2A8-4A00CA469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5219F-3996-7BCB-9EFF-54B7B656D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30</a:t>
            </a:fld>
            <a:endParaRPr lang="ko-KR" altLang="en-US" dirty="0"/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8C5793BC-E7B5-1F77-5A80-EEBC57D971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458"/>
          <a:stretch/>
        </p:blipFill>
        <p:spPr>
          <a:xfrm>
            <a:off x="332389" y="997185"/>
            <a:ext cx="3816424" cy="55148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23D5AD-5350-4116-879D-00B970ED75A5}"/>
              </a:ext>
            </a:extLst>
          </p:cNvPr>
          <p:cNvSpPr txBox="1"/>
          <p:nvPr/>
        </p:nvSpPr>
        <p:spPr>
          <a:xfrm>
            <a:off x="4391980" y="1340768"/>
            <a:ext cx="4609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5. Hyper-parameters for models of different scales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BFC172-AD1B-9DBD-6D6C-5D7936BE4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72" y="1662554"/>
            <a:ext cx="4799291" cy="2358084"/>
          </a:xfrm>
          <a:prstGeom prst="rect">
            <a:avLst/>
          </a:prstGeom>
        </p:spPr>
      </p:pic>
      <p:pic>
        <p:nvPicPr>
          <p:cNvPr id="1026" name="Picture 2" descr="전구 - 무료 교육개 아이콘">
            <a:extLst>
              <a:ext uri="{FF2B5EF4-FFF2-40B4-BE49-F238E27FC236}">
                <a16:creationId xmlns:a16="http://schemas.microsoft.com/office/drawing/2014/main" id="{FEEFC326-12E3-9F6B-BFE2-DB6D08358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980" y="4840613"/>
            <a:ext cx="398133" cy="39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2F55BF-8F42-A796-AC9E-6037C44887D5}"/>
              </a:ext>
            </a:extLst>
          </p:cNvPr>
          <p:cNvSpPr txBox="1"/>
          <p:nvPr/>
        </p:nvSpPr>
        <p:spPr>
          <a:xfrm>
            <a:off x="4896766" y="4822862"/>
            <a:ext cx="37172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4 Stages Models are prevalent since DETR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Swin</a:t>
            </a: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 Transformer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MetaFormer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463300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89C0D98B-5CB9-6C65-7A50-1A5BA74E8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 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DC0007E-84D7-D290-D344-DAB225138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ko-KR" sz="8000" dirty="0"/>
          </a:p>
          <a:p>
            <a:pPr marL="0" indent="0" algn="ctr">
              <a:buNone/>
            </a:pPr>
            <a:r>
              <a:rPr lang="en-US" altLang="ko-KR" sz="13800" dirty="0"/>
              <a:t>Q &amp; A </a:t>
            </a:r>
            <a:endParaRPr lang="ko-KR" altLang="en-US" sz="13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746F64-692F-E93B-4955-7846437BE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7239587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5B9B8-6FEE-8936-AEED-C6909F53F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116FD5-9699-40B6-FB15-765AA6D0A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Image Classification (Tiny Model)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E5C1A-9875-3414-0389-1829BA13A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A9D456-030E-2688-204C-9693297CD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240868"/>
            <a:ext cx="6483332" cy="380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39862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5B9B8-6FEE-8936-AEED-C6909F53F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116FD5-9699-40B6-FB15-765AA6D0A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Image Classification (Large Model)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E5C1A-9875-3414-0389-1829BA13A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33</a:t>
            </a:fld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87FCC9F-CD17-C22E-F9DC-4BA147EEF157}"/>
              </a:ext>
            </a:extLst>
          </p:cNvPr>
          <p:cNvGrpSpPr/>
          <p:nvPr/>
        </p:nvGrpSpPr>
        <p:grpSpPr>
          <a:xfrm>
            <a:off x="1655676" y="1988840"/>
            <a:ext cx="6048672" cy="4428492"/>
            <a:chOff x="1043607" y="2132856"/>
            <a:chExt cx="7275752" cy="525658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D7C9B26-3A4D-78CB-A241-B4759065B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3607" y="2132856"/>
              <a:ext cx="7126859" cy="2772308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B404ED1-EB28-8011-0098-436362477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4765" y="4955948"/>
              <a:ext cx="7184594" cy="2433491"/>
            </a:xfrm>
            <a:prstGeom prst="rect">
              <a:avLst/>
            </a:prstGeom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17F5E151-A5F4-727A-2595-8A8D7B5EF2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0745"/>
          <a:stretch/>
        </p:blipFill>
        <p:spPr>
          <a:xfrm>
            <a:off x="1663385" y="1703121"/>
            <a:ext cx="5917181" cy="32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824917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2A02FE-5282-8EAA-0330-51DDE879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2E0550-7C36-CAAD-8537-546597004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Object Detection &amp; Instance Segmentation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F4EBE0-716C-657A-47DA-C05DDECED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40CA1C-D1CD-6E54-789B-653D1A4B1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41" y="1808820"/>
            <a:ext cx="8660192" cy="469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22665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D43D7D-8147-9D0A-50B5-A2681AE34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72DD4-0788-D62A-7817-020E456E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Object Detection &amp; Instance Segmentation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D58B4E-BDF6-C79F-0A9E-070522C05C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D4AF88-0176-201A-8B68-08BCF1EE9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480" y="1664804"/>
            <a:ext cx="6201640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264126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AF68C-3BC9-019A-6C46-C5EBEE12D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4CAA91-EE1F-CBB4-9995-155BD3A61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Semantic Segmentation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62B6BA-F11B-07E4-9D04-893D4EB630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CCC982-D043-A3F1-E64E-151082881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971" y="1736811"/>
            <a:ext cx="3765921" cy="486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028072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BACEBA-4794-477C-F1DA-F8C33D70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이미지처리팀 리뷰 의견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C89A93-4285-834D-0DF8-CD5A08038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Deformable Conv V3</a:t>
            </a:r>
            <a:r>
              <a:rPr lang="ko-KR" altLang="en-US" dirty="0"/>
              <a:t>에 대한 분석이 부재</a:t>
            </a:r>
            <a:endParaRPr lang="en-US" altLang="ko-KR" dirty="0"/>
          </a:p>
          <a:p>
            <a:pPr lvl="1"/>
            <a:r>
              <a:rPr lang="en-US" altLang="ko-KR" dirty="0"/>
              <a:t>Ablation Study </a:t>
            </a:r>
            <a:r>
              <a:rPr lang="ko-KR" altLang="en-US" dirty="0"/>
              <a:t>부재</a:t>
            </a:r>
            <a:endParaRPr lang="en-US" altLang="ko-KR" dirty="0"/>
          </a:p>
          <a:p>
            <a:pPr lvl="2"/>
            <a:r>
              <a:rPr lang="en-US" altLang="ko-KR" dirty="0" err="1"/>
              <a:t>ResNet</a:t>
            </a:r>
            <a:r>
              <a:rPr lang="en-US" altLang="ko-KR" dirty="0"/>
              <a:t> </a:t>
            </a:r>
            <a:r>
              <a:rPr lang="ko-KR" altLang="en-US" dirty="0"/>
              <a:t>등 기존 </a:t>
            </a:r>
            <a:r>
              <a:rPr lang="en-US" altLang="ko-KR" dirty="0"/>
              <a:t>Conv </a:t>
            </a:r>
            <a:r>
              <a:rPr lang="ko-KR" altLang="en-US" dirty="0"/>
              <a:t>기반 모델에서 성능향상을 가지는지 확인해줬으면 정말 좋았을 듯 </a:t>
            </a:r>
            <a:endParaRPr lang="en-US" altLang="ko-KR" dirty="0"/>
          </a:p>
          <a:p>
            <a:pPr lvl="1"/>
            <a:r>
              <a:rPr lang="en-US" altLang="ko-KR" dirty="0"/>
              <a:t>Deformable Conv V3</a:t>
            </a:r>
            <a:r>
              <a:rPr lang="ko-KR" altLang="en-US" dirty="0"/>
              <a:t>의 장점에 대한 정성적인 분석 부재</a:t>
            </a:r>
            <a:endParaRPr lang="en-US" altLang="ko-KR" dirty="0"/>
          </a:p>
          <a:p>
            <a:pPr lvl="2"/>
            <a:r>
              <a:rPr lang="en-US" altLang="ko-KR" dirty="0"/>
              <a:t>Convolution</a:t>
            </a:r>
            <a:r>
              <a:rPr lang="ko-KR" altLang="en-US" dirty="0"/>
              <a:t>을 </a:t>
            </a:r>
            <a:r>
              <a:rPr lang="en-US" altLang="ko-KR" dirty="0"/>
              <a:t>Group</a:t>
            </a:r>
            <a:r>
              <a:rPr lang="ko-KR" altLang="en-US" dirty="0"/>
              <a:t>으로 나누면서 생기는 단일 레이어의 다양한 </a:t>
            </a:r>
            <a:r>
              <a:rPr lang="en-US" altLang="ko-KR" dirty="0"/>
              <a:t>Offset Map</a:t>
            </a:r>
            <a:r>
              <a:rPr lang="ko-KR" altLang="en-US" dirty="0"/>
              <a:t>의 장점에 대한 시각화 자료가 있었으면 좋았을 듯 </a:t>
            </a:r>
            <a:endParaRPr lang="en-US" altLang="ko-KR" dirty="0"/>
          </a:p>
          <a:p>
            <a:pPr lvl="1"/>
            <a:r>
              <a:rPr lang="en-US" altLang="ko-KR" dirty="0"/>
              <a:t>Inductive</a:t>
            </a:r>
            <a:r>
              <a:rPr lang="ko-KR" altLang="en-US" dirty="0"/>
              <a:t> </a:t>
            </a:r>
            <a:r>
              <a:rPr lang="en-US" altLang="ko-KR" dirty="0"/>
              <a:t>Bias</a:t>
            </a:r>
            <a:r>
              <a:rPr lang="ko-KR" altLang="en-US" dirty="0"/>
              <a:t>를 줄일 수 있었다는 주장에 대한 근거자료 부재 </a:t>
            </a:r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코드가 아직 공개되지 않아 정확한 검증은 어려움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72A8BD-3480-314E-271A-EBBF3C8121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459482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89C0D98B-5CB9-6C65-7A50-1A5BA74E8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 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DC0007E-84D7-D290-D344-DAB225138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ko-KR" sz="8000" dirty="0"/>
          </a:p>
          <a:p>
            <a:pPr marL="0" indent="0" algn="ctr">
              <a:buNone/>
            </a:pPr>
            <a:r>
              <a:rPr lang="en-US" altLang="ko-KR" sz="13800" dirty="0"/>
              <a:t>Q &amp; A </a:t>
            </a:r>
            <a:endParaRPr lang="ko-KR" altLang="en-US" sz="13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746F64-692F-E93B-4955-7846437BE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355166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600" dirty="0" smtClean="0">
            <a:latin typeface="Calibri" panose="020F0502020204030204" pitchFamily="34" charset="0"/>
            <a:ea typeface="08서울남산체 B" panose="02020603020101020101" pitchFamily="18" charset="-127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60162</TotalTime>
  <Words>911</Words>
  <Application>Microsoft Office PowerPoint</Application>
  <PresentationFormat>화면 슬라이드 쇼(4:3)</PresentationFormat>
  <Paragraphs>266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5" baseType="lpstr">
      <vt:lpstr>굴림</vt:lpstr>
      <vt:lpstr>맑은 고딕</vt:lpstr>
      <vt:lpstr>Arial</vt:lpstr>
      <vt:lpstr>Calibri</vt:lpstr>
      <vt:lpstr>Cambria Math</vt:lpstr>
      <vt:lpstr>Wingdings</vt:lpstr>
      <vt:lpstr>Office 테마</vt:lpstr>
      <vt:lpstr>InternImage: Exploring Large-Scale Vision Foundation Models with Deformable Convolutions</vt:lpstr>
      <vt:lpstr>InterImage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Q &amp; A </vt:lpstr>
      <vt:lpstr>Overall Architecture</vt:lpstr>
      <vt:lpstr>Deformable Convolutional Layer v3</vt:lpstr>
      <vt:lpstr>Deformable Convolutional Layer v3</vt:lpstr>
      <vt:lpstr>Deformable Convolutional Layer v3</vt:lpstr>
      <vt:lpstr>Deformable Convolutional Layer v3</vt:lpstr>
      <vt:lpstr>Deformable Convolutional Layer v3</vt:lpstr>
      <vt:lpstr>Deformable Convolutional Layer v3</vt:lpstr>
      <vt:lpstr>Deformable Convolutional Layer v3</vt:lpstr>
      <vt:lpstr>Deformable Convolutional Layer v3</vt:lpstr>
      <vt:lpstr>Deformable Convolutional Layer v3</vt:lpstr>
      <vt:lpstr>InterImage Model </vt:lpstr>
      <vt:lpstr>InterImage Model </vt:lpstr>
      <vt:lpstr>InterImage Model </vt:lpstr>
      <vt:lpstr>InterImage Model </vt:lpstr>
      <vt:lpstr>InterImage Model </vt:lpstr>
      <vt:lpstr>InterImage Model </vt:lpstr>
      <vt:lpstr>InterImage Model </vt:lpstr>
      <vt:lpstr>InterImage Model </vt:lpstr>
      <vt:lpstr>InterImage Model </vt:lpstr>
      <vt:lpstr>Q &amp; A </vt:lpstr>
      <vt:lpstr>Experiments</vt:lpstr>
      <vt:lpstr>Experiments</vt:lpstr>
      <vt:lpstr>Experiments</vt:lpstr>
      <vt:lpstr>Experiments</vt:lpstr>
      <vt:lpstr>Experiments</vt:lpstr>
      <vt:lpstr>이미지처리팀 리뷰 의견 </vt:lpstr>
      <vt:lpstr>Q &amp; A </vt:lpstr>
    </vt:vector>
  </TitlesOfParts>
  <Company>U of 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zelos</dc:creator>
  <cp:lastModifiedBy>YOO YEEUN</cp:lastModifiedBy>
  <cp:revision>2971</cp:revision>
  <cp:lastPrinted>2016-03-04T01:44:28Z</cp:lastPrinted>
  <dcterms:created xsi:type="dcterms:W3CDTF">2008-03-01T21:32:25Z</dcterms:created>
  <dcterms:modified xsi:type="dcterms:W3CDTF">2023-02-05T08:09:07Z</dcterms:modified>
</cp:coreProperties>
</file>