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1" r:id="rId2"/>
  </p:sldMasterIdLst>
  <p:notesMasterIdLst>
    <p:notesMasterId r:id="rId34"/>
  </p:notesMasterIdLst>
  <p:handoutMasterIdLst>
    <p:handoutMasterId r:id="rId35"/>
  </p:handoutMasterIdLst>
  <p:sldIdLst>
    <p:sldId id="257" r:id="rId3"/>
    <p:sldId id="258" r:id="rId4"/>
    <p:sldId id="304" r:id="rId5"/>
    <p:sldId id="400" r:id="rId6"/>
    <p:sldId id="569" r:id="rId7"/>
    <p:sldId id="570" r:id="rId8"/>
    <p:sldId id="571" r:id="rId9"/>
    <p:sldId id="572" r:id="rId10"/>
    <p:sldId id="506" r:id="rId11"/>
    <p:sldId id="573" r:id="rId12"/>
    <p:sldId id="559" r:id="rId13"/>
    <p:sldId id="583" r:id="rId14"/>
    <p:sldId id="584" r:id="rId15"/>
    <p:sldId id="576" r:id="rId16"/>
    <p:sldId id="585" r:id="rId17"/>
    <p:sldId id="586" r:id="rId18"/>
    <p:sldId id="574" r:id="rId19"/>
    <p:sldId id="587" r:id="rId20"/>
    <p:sldId id="588" r:id="rId21"/>
    <p:sldId id="589" r:id="rId22"/>
    <p:sldId id="590" r:id="rId23"/>
    <p:sldId id="580" r:id="rId24"/>
    <p:sldId id="575" r:id="rId25"/>
    <p:sldId id="508" r:id="rId26"/>
    <p:sldId id="592" r:id="rId27"/>
    <p:sldId id="578" r:id="rId28"/>
    <p:sldId id="593" r:id="rId29"/>
    <p:sldId id="581" r:id="rId30"/>
    <p:sldId id="582" r:id="rId31"/>
    <p:sldId id="594" r:id="rId32"/>
    <p:sldId id="324" r:id="rId3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725B9"/>
    <a:srgbClr val="FFFFFF"/>
    <a:srgbClr val="FFC000"/>
    <a:srgbClr val="CC0000"/>
    <a:srgbClr val="C55A11"/>
    <a:srgbClr val="F4B183"/>
    <a:srgbClr val="FFD966"/>
    <a:srgbClr val="F4A6A6"/>
    <a:srgbClr val="951010"/>
    <a:srgbClr val="A0068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7" autoAdjust="0"/>
    <p:restoredTop sz="73765" autoAdjust="0"/>
  </p:normalViewPr>
  <p:slideViewPr>
    <p:cSldViewPr snapToGrid="0">
      <p:cViewPr varScale="1">
        <p:scale>
          <a:sx n="59" d="100"/>
          <a:sy n="59" d="100"/>
        </p:scale>
        <p:origin x="39" y="57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3864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tableStyles" Target="tableStyles.xml"/><Relationship Id="rId21" Type="http://schemas.openxmlformats.org/officeDocument/2006/relationships/slide" Target="slides/slide19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handoutMaster" Target="handoutMasters/handoutMaster1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93E5B2E0-9068-4E6A-BCEF-588B6DE31E5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631632F-81F4-4702-B0F8-09BF6BA93FF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31CD82-9E78-4F8B-9842-83D20966118F}" type="datetimeFigureOut">
              <a:rPr lang="ko-KR" altLang="en-US" smtClean="0"/>
              <a:t>2021-11-21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A012A35-F659-44D4-A333-E07337EA62D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41F7A1C-89E3-47CF-9E61-ED1E732F23E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0809E5-7C46-4FBD-9C1A-3C8EC1D8AE8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2678160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6668C1-7A4E-4732-82B1-5D7EFE83882E}" type="datetimeFigureOut">
              <a:rPr lang="ko-KR" altLang="en-US" smtClean="0"/>
              <a:t>2021-11-21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FA2A73-88C3-40DB-BB01-71C3483A7BA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436102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유튜브 주소 </a:t>
            </a:r>
            <a:r>
              <a:rPr lang="en-US" altLang="ko-KR"/>
              <a:t>: https://www.youtube.com/watch?v=dO-gD54OlO0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안녕하십니까 제가 이번에 발표할 논문은 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Facebook AI research</a:t>
            </a:r>
            <a:r>
              <a:rPr lang="ko-KR" altLang="en-US" dirty="0"/>
              <a:t>에서 </a:t>
            </a:r>
            <a:r>
              <a:rPr lang="en-US" altLang="ko-KR" dirty="0"/>
              <a:t>2022</a:t>
            </a:r>
            <a:r>
              <a:rPr lang="ko-KR" altLang="en-US" dirty="0"/>
              <a:t>년 </a:t>
            </a:r>
            <a:r>
              <a:rPr lang="en-US" altLang="ko-KR" dirty="0"/>
              <a:t>ICLR</a:t>
            </a:r>
            <a:r>
              <a:rPr lang="ko-KR" altLang="en-US" dirty="0"/>
              <a:t>에 제출한 논문인</a:t>
            </a:r>
            <a:endParaRPr lang="en-US" altLang="ko-KR" dirty="0"/>
          </a:p>
          <a:p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="1" i="1" dirty="0">
                <a:solidFill>
                  <a:srgbClr val="0E4A8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Understanding</a:t>
            </a:r>
            <a:r>
              <a:rPr lang="ko-KR" altLang="en-US" sz="1200" b="1" i="1" dirty="0">
                <a:solidFill>
                  <a:srgbClr val="0E4A8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200" b="1" i="1" dirty="0">
                <a:solidFill>
                  <a:srgbClr val="0E4A8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Dimensional</a:t>
            </a:r>
            <a:r>
              <a:rPr lang="ko-KR" altLang="en-US" sz="1200" b="1" i="1" dirty="0">
                <a:solidFill>
                  <a:srgbClr val="0E4A8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200" b="1" i="1" dirty="0">
                <a:solidFill>
                  <a:srgbClr val="0E4A8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Collapse</a:t>
            </a:r>
            <a:r>
              <a:rPr lang="ko-KR" altLang="en-US" sz="1200" b="1" i="1" dirty="0">
                <a:solidFill>
                  <a:srgbClr val="0E4A8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200" b="1" i="1" dirty="0">
                <a:solidFill>
                  <a:srgbClr val="0E4A8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</a:t>
            </a:r>
            <a:r>
              <a:rPr lang="ko-KR" altLang="en-US" sz="1200" b="1" i="1" dirty="0">
                <a:solidFill>
                  <a:srgbClr val="0E4A8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200" b="1" i="1" dirty="0">
                <a:solidFill>
                  <a:srgbClr val="0E4A8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Contrastive</a:t>
            </a:r>
            <a:r>
              <a:rPr lang="ko-KR" altLang="en-US" sz="1200" b="1" i="1" dirty="0">
                <a:solidFill>
                  <a:srgbClr val="0E4A8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200" b="1" i="1" dirty="0">
                <a:solidFill>
                  <a:srgbClr val="0E4A8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Self-Supervised Learning</a:t>
            </a:r>
            <a:endParaRPr lang="ko-KR" altLang="en-US" sz="1200" b="1" i="1" dirty="0">
              <a:solidFill>
                <a:srgbClr val="0E4A8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ko-KR" dirty="0"/>
          </a:p>
          <a:p>
            <a:r>
              <a:rPr lang="ko-KR" altLang="en-US" dirty="0"/>
              <a:t>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 err="1"/>
              <a:t>펀디멘탈팀원분들께서</a:t>
            </a:r>
            <a:r>
              <a:rPr lang="ko-KR" altLang="en-US" dirty="0"/>
              <a:t> 발표준비에 많은 도움을 주셨습니다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FA2A73-88C3-40DB-BB01-71C3483A7BA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96730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먼저 발표 순서를 알려드리겠습니다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첫번째 장에서는 이 논문이 전체적으로 어떤 논문인지 소개해 드리면서 이 논문의 </a:t>
            </a:r>
            <a:r>
              <a:rPr lang="en-US" altLang="ko-KR" dirty="0"/>
              <a:t>Motivation </a:t>
            </a:r>
            <a:r>
              <a:rPr lang="ko-KR" altLang="en-US" dirty="0"/>
              <a:t>에 대해 설명하고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두번째 장에서는 본 논문에서 기존의 문제점이 생기는 두가지 이유를 어떻게 수학적으로 설명하는지 소개해 드리고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세번째 장에서는 이러한 문제점을 회피하기 위해 제시하는 </a:t>
            </a:r>
            <a:r>
              <a:rPr lang="en-US" altLang="ko-KR" dirty="0" err="1"/>
              <a:t>DirectCLR</a:t>
            </a:r>
            <a:r>
              <a:rPr lang="ko-KR" altLang="en-US" dirty="0"/>
              <a:t>가 어떤 것인지 알려드리겠습니다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그리고</a:t>
            </a:r>
            <a:r>
              <a:rPr lang="en-US" altLang="ko-KR" dirty="0"/>
              <a:t> </a:t>
            </a:r>
            <a:r>
              <a:rPr lang="ko-KR" altLang="en-US" dirty="0"/>
              <a:t>마지막으로 결론을 말씀드리고 발표를 끝낼 예정입니다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FA2A73-88C3-40DB-BB01-71C3483A7BA8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71262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먼저 </a:t>
            </a:r>
            <a:r>
              <a:rPr lang="en-US" altLang="ko-KR" dirty="0"/>
              <a:t>Contrastive Learning </a:t>
            </a:r>
            <a:r>
              <a:rPr lang="ko-KR" altLang="en-US" dirty="0"/>
              <a:t>에 대해 간단하게 짚고 </a:t>
            </a:r>
            <a:r>
              <a:rPr lang="ko-KR" altLang="en-US" dirty="0" err="1"/>
              <a:t>넘어면서</a:t>
            </a:r>
            <a:r>
              <a:rPr lang="ko-KR" altLang="en-US" dirty="0"/>
              <a:t> 동시에 이 논문이 전체적으로 어떤 논문인지 소개해 드리겠습니다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FA2A73-88C3-40DB-BB01-71C3483A7BA8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55951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먼저 </a:t>
            </a:r>
            <a:endParaRPr lang="en-US" altLang="ko-KR" dirty="0"/>
          </a:p>
          <a:p>
            <a:r>
              <a:rPr lang="en-US" altLang="ko-KR" dirty="0"/>
              <a:t>Contrastive Learning </a:t>
            </a:r>
            <a:r>
              <a:rPr lang="ko-KR" altLang="en-US" dirty="0"/>
              <a:t>을 설명하려면 </a:t>
            </a:r>
            <a:r>
              <a:rPr lang="en-US" altLang="ko-KR" dirty="0"/>
              <a:t>Self-Supervision </a:t>
            </a:r>
            <a:r>
              <a:rPr lang="ko-KR" altLang="en-US" dirty="0"/>
              <a:t>을 알아야 하는데요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Self-supervision </a:t>
            </a:r>
            <a:r>
              <a:rPr lang="ko-KR" altLang="en-US" dirty="0"/>
              <a:t>은 </a:t>
            </a:r>
            <a:r>
              <a:rPr lang="en-US" altLang="ko-KR" dirty="0"/>
              <a:t>Label</a:t>
            </a:r>
            <a:r>
              <a:rPr lang="ko-KR" altLang="en-US" dirty="0"/>
              <a:t>이 없는 데이터셋에 대해 아래와 같이 다양한 </a:t>
            </a:r>
            <a:r>
              <a:rPr lang="en-US" altLang="ko-KR" dirty="0"/>
              <a:t>pretext task </a:t>
            </a:r>
            <a:r>
              <a:rPr lang="ko-KR" altLang="en-US" dirty="0"/>
              <a:t>를 정의를 하고 이를 풀도록 네트워크를 학습시키는 방식입니다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그러한 </a:t>
            </a:r>
            <a:r>
              <a:rPr lang="en-US" altLang="ko-KR" dirty="0"/>
              <a:t>pretext task </a:t>
            </a:r>
            <a:r>
              <a:rPr lang="ko-KR" altLang="en-US" dirty="0"/>
              <a:t>로는 첫번째 그림처럼 </a:t>
            </a:r>
            <a:r>
              <a:rPr lang="en-US" altLang="ko-KR" dirty="0"/>
              <a:t>Image</a:t>
            </a:r>
            <a:r>
              <a:rPr lang="ko-KR" altLang="en-US" dirty="0"/>
              <a:t> 의 각 </a:t>
            </a:r>
            <a:r>
              <a:rPr lang="en-US" altLang="ko-KR" dirty="0"/>
              <a:t>patch</a:t>
            </a:r>
            <a:r>
              <a:rPr lang="ko-KR" altLang="en-US" dirty="0"/>
              <a:t>간의 상대적인 위치를 예측하도록 하는 방법도 </a:t>
            </a:r>
            <a:r>
              <a:rPr lang="ko-KR" altLang="en-US" dirty="0" err="1"/>
              <a:t>있구요</a:t>
            </a:r>
            <a:endParaRPr lang="en-US" altLang="ko-KR" dirty="0"/>
          </a:p>
          <a:p>
            <a:r>
              <a:rPr lang="ko-KR" altLang="en-US" dirty="0"/>
              <a:t>두번째 그림처럼 </a:t>
            </a:r>
            <a:r>
              <a:rPr lang="en-US" altLang="ko-KR" dirty="0"/>
              <a:t>Image </a:t>
            </a:r>
            <a:r>
              <a:rPr lang="ko-KR" altLang="en-US" dirty="0"/>
              <a:t>의 각 </a:t>
            </a:r>
            <a:r>
              <a:rPr lang="en-US" altLang="ko-KR" dirty="0"/>
              <a:t>patch </a:t>
            </a:r>
            <a:r>
              <a:rPr lang="ko-KR" altLang="en-US" dirty="0"/>
              <a:t>를 섞어서 다시 원래대로 </a:t>
            </a:r>
            <a:r>
              <a:rPr lang="ko-KR" altLang="en-US" dirty="0" err="1"/>
              <a:t>복구시키도록</a:t>
            </a:r>
            <a:r>
              <a:rPr lang="ko-KR" altLang="en-US" dirty="0"/>
              <a:t> 하는 방법도 있고</a:t>
            </a:r>
            <a:endParaRPr lang="en-US" altLang="ko-KR" dirty="0"/>
          </a:p>
          <a:p>
            <a:r>
              <a:rPr lang="ko-KR" altLang="en-US" dirty="0"/>
              <a:t>마지막 그림처럼 한 </a:t>
            </a:r>
            <a:r>
              <a:rPr lang="en-US" altLang="ko-KR" dirty="0"/>
              <a:t>Image </a:t>
            </a:r>
            <a:r>
              <a:rPr lang="ko-KR" altLang="en-US" dirty="0"/>
              <a:t>를 서로 다르게 </a:t>
            </a:r>
            <a:r>
              <a:rPr lang="en-US" altLang="ko-KR" dirty="0"/>
              <a:t>Augment</a:t>
            </a:r>
            <a:r>
              <a:rPr lang="ko-KR" altLang="en-US" dirty="0"/>
              <a:t>시키고 이후 나오는 </a:t>
            </a:r>
            <a:r>
              <a:rPr lang="en-US" altLang="ko-KR" dirty="0"/>
              <a:t>embedding vector </a:t>
            </a:r>
            <a:r>
              <a:rPr lang="ko-KR" altLang="en-US" dirty="0"/>
              <a:t>들 간의 관계로 학습을 시키는 방법도 있습니다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그리고</a:t>
            </a:r>
            <a:r>
              <a:rPr lang="en-US" altLang="ko-KR" dirty="0"/>
              <a:t> </a:t>
            </a:r>
            <a:r>
              <a:rPr lang="ko-KR" altLang="en-US" dirty="0"/>
              <a:t>이 외에도 정말 많은 </a:t>
            </a:r>
            <a:r>
              <a:rPr lang="en-US" altLang="ko-KR" dirty="0"/>
              <a:t>self-supervision </a:t>
            </a:r>
            <a:r>
              <a:rPr lang="ko-KR" altLang="en-US" dirty="0"/>
              <a:t>방법들이 있습니다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FA2A73-88C3-40DB-BB01-71C3483A7BA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00691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그런데</a:t>
            </a:r>
            <a:r>
              <a:rPr lang="en-US" altLang="ko-KR" dirty="0"/>
              <a:t> </a:t>
            </a:r>
            <a:r>
              <a:rPr lang="ko-KR" altLang="en-US" dirty="0"/>
              <a:t>이 </a:t>
            </a:r>
            <a:r>
              <a:rPr lang="en-US" altLang="ko-KR" dirty="0"/>
              <a:t>self-supervision </a:t>
            </a:r>
            <a:r>
              <a:rPr lang="ko-KR" altLang="en-US" dirty="0"/>
              <a:t>에는 계속해서 제기되어 온 </a:t>
            </a:r>
            <a:r>
              <a:rPr lang="en-US" altLang="ko-KR" dirty="0"/>
              <a:t>self-supervision</a:t>
            </a:r>
            <a:r>
              <a:rPr lang="ko-KR" altLang="en-US" dirty="0"/>
              <a:t> 만의 단점이 있는데요 바로 </a:t>
            </a:r>
            <a:r>
              <a:rPr lang="en-US" altLang="ko-KR" dirty="0"/>
              <a:t>collapsing problem </a:t>
            </a:r>
            <a:r>
              <a:rPr lang="ko-KR" altLang="en-US" dirty="0"/>
              <a:t>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Collapse</a:t>
            </a:r>
            <a:r>
              <a:rPr lang="ko-KR" altLang="en-US" dirty="0"/>
              <a:t>에는 두가지 종류가 있는데요</a:t>
            </a:r>
            <a:r>
              <a:rPr lang="en-US" altLang="ko-KR" dirty="0"/>
              <a:t>, </a:t>
            </a:r>
            <a:r>
              <a:rPr lang="ko-KR" altLang="en-US" dirty="0"/>
              <a:t>첫번째는 모든 벡터가 하나의 벡터로 줄어들어버리는 </a:t>
            </a:r>
            <a:r>
              <a:rPr lang="en-US" altLang="ko-KR" dirty="0"/>
              <a:t>complete collapse</a:t>
            </a:r>
            <a:r>
              <a:rPr lang="ko-KR" altLang="en-US" dirty="0"/>
              <a:t>가 있고</a:t>
            </a:r>
            <a:endParaRPr lang="en-US" altLang="ko-KR" dirty="0"/>
          </a:p>
          <a:p>
            <a:r>
              <a:rPr lang="ko-KR" altLang="en-US" dirty="0"/>
              <a:t>두번째는 모든 차원에 분포하지 않고 특정 부분 차원으로만 학습이 되는 </a:t>
            </a:r>
            <a:r>
              <a:rPr lang="en-US" altLang="ko-KR" dirty="0"/>
              <a:t>dimensional collapse</a:t>
            </a:r>
            <a:r>
              <a:rPr lang="ko-KR" altLang="en-US" dirty="0"/>
              <a:t>가 있습니다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이때 </a:t>
            </a:r>
            <a:r>
              <a:rPr lang="en-US" altLang="ko-KR" dirty="0"/>
              <a:t>self-supervision</a:t>
            </a:r>
            <a:r>
              <a:rPr lang="ko-KR" altLang="en-US" dirty="0"/>
              <a:t>은 </a:t>
            </a:r>
            <a:r>
              <a:rPr lang="en-US" altLang="ko-KR" dirty="0"/>
              <a:t>complete collapse</a:t>
            </a:r>
            <a:r>
              <a:rPr lang="ko-KR" altLang="en-US" dirty="0"/>
              <a:t>가 일어나지는 않습니다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그런데 </a:t>
            </a:r>
            <a:r>
              <a:rPr lang="en-US" altLang="ko-KR" dirty="0"/>
              <a:t>self-supervision</a:t>
            </a:r>
            <a:r>
              <a:rPr lang="ko-KR" altLang="en-US" dirty="0"/>
              <a:t>의 고질적인 문제점으로서 </a:t>
            </a:r>
            <a:r>
              <a:rPr lang="en-US" altLang="ko-KR" dirty="0"/>
              <a:t>dimensional collapse</a:t>
            </a:r>
            <a:r>
              <a:rPr lang="ko-KR" altLang="en-US" dirty="0"/>
              <a:t>가 발생한다는 문제점이 있죠</a:t>
            </a:r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FA2A73-88C3-40DB-BB01-71C3483A7BA8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38316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Self-supervision </a:t>
            </a:r>
            <a:r>
              <a:rPr lang="ko-KR" altLang="en-US" dirty="0"/>
              <a:t>중 </a:t>
            </a:r>
            <a:r>
              <a:rPr lang="en-US" altLang="ko-KR" dirty="0"/>
              <a:t>positive</a:t>
            </a:r>
            <a:r>
              <a:rPr lang="ko-KR" altLang="en-US" dirty="0"/>
              <a:t> </a:t>
            </a:r>
            <a:r>
              <a:rPr lang="en-US" altLang="ko-KR" dirty="0"/>
              <a:t>pair</a:t>
            </a:r>
            <a:r>
              <a:rPr lang="ko-KR" altLang="en-US" dirty="0"/>
              <a:t>는 가깝게</a:t>
            </a:r>
            <a:r>
              <a:rPr lang="en-US" altLang="ko-KR" dirty="0"/>
              <a:t>, </a:t>
            </a:r>
            <a:r>
              <a:rPr lang="ko-KR" altLang="en-US" dirty="0"/>
              <a:t>그리고 </a:t>
            </a:r>
            <a:r>
              <a:rPr lang="en-US" altLang="ko-KR" dirty="0"/>
              <a:t>negative pair</a:t>
            </a:r>
            <a:r>
              <a:rPr lang="ko-KR" altLang="en-US" dirty="0"/>
              <a:t>는 서로 멀어지게 학습을 시키는 </a:t>
            </a:r>
            <a:r>
              <a:rPr lang="en-US" altLang="ko-KR" dirty="0"/>
              <a:t>Contrastive Learning </a:t>
            </a:r>
            <a:r>
              <a:rPr lang="ko-KR" altLang="en-US" dirty="0"/>
              <a:t>이 있습니다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이 방법은 </a:t>
            </a:r>
            <a:r>
              <a:rPr lang="en-US" altLang="ko-KR" dirty="0"/>
              <a:t>negative pair</a:t>
            </a:r>
            <a:r>
              <a:rPr lang="ko-KR" altLang="en-US" dirty="0"/>
              <a:t> 로 인해 앞에서 언급한 </a:t>
            </a:r>
            <a:r>
              <a:rPr lang="en-US" altLang="ko-KR" dirty="0"/>
              <a:t>dimensional collapse</a:t>
            </a:r>
            <a:r>
              <a:rPr lang="ko-KR" altLang="en-US" dirty="0"/>
              <a:t>에 강인할 것이라고 직관적인 생각이 드는데요</a:t>
            </a:r>
            <a:r>
              <a:rPr lang="en-US" altLang="ko-KR" dirty="0"/>
              <a:t>,</a:t>
            </a:r>
          </a:p>
          <a:p>
            <a:endParaRPr lang="en-US" altLang="ko-KR" dirty="0"/>
          </a:p>
          <a:p>
            <a:r>
              <a:rPr lang="ko-KR" altLang="en-US" dirty="0"/>
              <a:t>사실은 그렇지 않았습니다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FA2A73-88C3-40DB-BB01-71C3483A7BA8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992879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오른쪽</a:t>
            </a:r>
            <a:r>
              <a:rPr lang="en-US" altLang="ko-KR" dirty="0"/>
              <a:t> </a:t>
            </a:r>
            <a:r>
              <a:rPr lang="ko-KR" altLang="en-US" dirty="0"/>
              <a:t>그림은 </a:t>
            </a:r>
            <a:r>
              <a:rPr lang="en-US" altLang="ko-KR" dirty="0" err="1"/>
              <a:t>SimCLR</a:t>
            </a:r>
            <a:r>
              <a:rPr lang="ko-KR" altLang="en-US" dirty="0"/>
              <a:t>로 학습시킨 모델의 </a:t>
            </a:r>
            <a:r>
              <a:rPr lang="en-US" altLang="ko-KR" dirty="0"/>
              <a:t>embedding space</a:t>
            </a:r>
            <a:r>
              <a:rPr lang="ko-KR" altLang="en-US" dirty="0"/>
              <a:t>의 </a:t>
            </a:r>
            <a:r>
              <a:rPr lang="en-US" altLang="ko-KR" dirty="0"/>
              <a:t>singular value</a:t>
            </a:r>
            <a:r>
              <a:rPr lang="ko-KR" altLang="en-US" dirty="0"/>
              <a:t>의 스펙트럼인데요</a:t>
            </a:r>
            <a:endParaRPr lang="en-US" altLang="ko-KR" dirty="0"/>
          </a:p>
          <a:p>
            <a:r>
              <a:rPr lang="en-US" altLang="ko-KR" dirty="0"/>
              <a:t>embedding vector</a:t>
            </a:r>
            <a:r>
              <a:rPr lang="ko-KR" altLang="en-US" dirty="0"/>
              <a:t>가 총 </a:t>
            </a:r>
            <a:r>
              <a:rPr lang="en-US" altLang="ko-KR" dirty="0"/>
              <a:t>128</a:t>
            </a:r>
            <a:r>
              <a:rPr lang="ko-KR" altLang="en-US" dirty="0"/>
              <a:t>차원을 가질 때</a:t>
            </a:r>
            <a:r>
              <a:rPr lang="en-US" altLang="ko-KR" dirty="0"/>
              <a:t>, </a:t>
            </a:r>
            <a:r>
              <a:rPr lang="ko-KR" altLang="en-US" dirty="0"/>
              <a:t>각 차원들의</a:t>
            </a:r>
            <a:r>
              <a:rPr lang="en-US" altLang="ko-KR" dirty="0"/>
              <a:t> singular value</a:t>
            </a:r>
            <a:r>
              <a:rPr lang="ko-KR" altLang="en-US" dirty="0"/>
              <a:t>의 </a:t>
            </a:r>
            <a:r>
              <a:rPr lang="en-US" altLang="ko-KR" dirty="0"/>
              <a:t>log</a:t>
            </a:r>
            <a:r>
              <a:rPr lang="ko-KR" altLang="en-US" dirty="0"/>
              <a:t>값을 나타낸 그림입니다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그림을 보시면 가로축은 각 </a:t>
            </a:r>
            <a:r>
              <a:rPr lang="en-US" altLang="ko-KR" dirty="0"/>
              <a:t>singular value</a:t>
            </a:r>
            <a:r>
              <a:rPr lang="ko-KR" altLang="en-US" dirty="0"/>
              <a:t>들의 </a:t>
            </a:r>
            <a:r>
              <a:rPr lang="en-US" altLang="ko-KR" dirty="0"/>
              <a:t>index</a:t>
            </a:r>
            <a:r>
              <a:rPr lang="ko-KR" altLang="en-US" dirty="0"/>
              <a:t>구요</a:t>
            </a:r>
            <a:endParaRPr lang="en-US" altLang="ko-KR" dirty="0"/>
          </a:p>
          <a:p>
            <a:r>
              <a:rPr lang="ko-KR" altLang="en-US" dirty="0"/>
              <a:t>세로축은 </a:t>
            </a:r>
            <a:r>
              <a:rPr lang="en-US" altLang="ko-KR" dirty="0"/>
              <a:t>singular value</a:t>
            </a:r>
            <a:r>
              <a:rPr lang="ko-KR" altLang="en-US" dirty="0"/>
              <a:t>들의 </a:t>
            </a:r>
            <a:r>
              <a:rPr lang="en-US" altLang="ko-KR" dirty="0"/>
              <a:t>log</a:t>
            </a:r>
            <a:r>
              <a:rPr lang="ko-KR" altLang="en-US" dirty="0"/>
              <a:t>값이어서 </a:t>
            </a:r>
            <a:r>
              <a:rPr lang="en-US" altLang="ko-KR" dirty="0"/>
              <a:t>singular value</a:t>
            </a:r>
            <a:r>
              <a:rPr lang="ko-KR" altLang="en-US" dirty="0"/>
              <a:t>가 </a:t>
            </a:r>
            <a:r>
              <a:rPr lang="en-US" altLang="ko-KR" dirty="0"/>
              <a:t>0</a:t>
            </a:r>
            <a:r>
              <a:rPr lang="ko-KR" altLang="en-US" dirty="0"/>
              <a:t>에 가까울수록 그 값이 무한이 마이너스로 떨어지게 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그래서 보시면 </a:t>
            </a:r>
            <a:r>
              <a:rPr lang="en-US" altLang="ko-KR" dirty="0"/>
              <a:t>Contrastive Learning</a:t>
            </a:r>
            <a:r>
              <a:rPr lang="ko-KR" altLang="en-US" dirty="0"/>
              <a:t>으로 학습한 </a:t>
            </a:r>
            <a:r>
              <a:rPr lang="en-US" altLang="ko-KR" dirty="0" err="1"/>
              <a:t>SimCLR</a:t>
            </a:r>
            <a:r>
              <a:rPr lang="ko-KR" altLang="en-US" dirty="0"/>
              <a:t>의 경우에도 약 </a:t>
            </a:r>
            <a:r>
              <a:rPr lang="en-US" altLang="ko-KR" dirty="0"/>
              <a:t>30</a:t>
            </a:r>
            <a:r>
              <a:rPr lang="ko-KR" altLang="en-US" dirty="0"/>
              <a:t>개정도의 </a:t>
            </a:r>
            <a:r>
              <a:rPr lang="en-US" altLang="ko-KR" dirty="0"/>
              <a:t>singular value</a:t>
            </a:r>
            <a:r>
              <a:rPr lang="ko-KR" altLang="en-US" dirty="0"/>
              <a:t>가 </a:t>
            </a:r>
            <a:r>
              <a:rPr lang="en-US" altLang="ko-KR" dirty="0"/>
              <a:t>0</a:t>
            </a:r>
            <a:r>
              <a:rPr lang="ko-KR" altLang="en-US" dirty="0"/>
              <a:t>에 가까운 것을 볼 수 있습니다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그러면</a:t>
            </a:r>
            <a:r>
              <a:rPr lang="en-US" altLang="ko-KR" dirty="0"/>
              <a:t> </a:t>
            </a:r>
            <a:r>
              <a:rPr lang="ko-KR" altLang="en-US" dirty="0"/>
              <a:t>왜 이러한 </a:t>
            </a:r>
            <a:r>
              <a:rPr lang="en-US" altLang="ko-KR" dirty="0" err="1"/>
              <a:t>collaps</a:t>
            </a:r>
            <a:r>
              <a:rPr lang="ko-KR" altLang="en-US" dirty="0"/>
              <a:t>가 좋지 </a:t>
            </a:r>
            <a:r>
              <a:rPr lang="ko-KR" altLang="en-US" dirty="0" err="1"/>
              <a:t>않은걸까라고</a:t>
            </a:r>
            <a:r>
              <a:rPr lang="ko-KR" altLang="en-US" dirty="0"/>
              <a:t> 생각이 들 수 있는데요</a:t>
            </a:r>
            <a:endParaRPr lang="en-US" altLang="ko-KR" dirty="0"/>
          </a:p>
          <a:p>
            <a:r>
              <a:rPr lang="ko-KR" altLang="en-US" dirty="0"/>
              <a:t>이거는 제 생각이긴 한데 </a:t>
            </a:r>
            <a:r>
              <a:rPr lang="en-US" altLang="ko-KR" dirty="0"/>
              <a:t>dimensional collapse </a:t>
            </a:r>
            <a:r>
              <a:rPr lang="ko-KR" altLang="en-US" dirty="0"/>
              <a:t>가 일어나면 </a:t>
            </a:r>
            <a:r>
              <a:rPr lang="en-US" altLang="ko-KR" dirty="0"/>
              <a:t>representation </a:t>
            </a:r>
            <a:r>
              <a:rPr lang="ko-KR" altLang="en-US" dirty="0"/>
              <a:t>이 충분히 학습되지 않았을 것이고 이는 </a:t>
            </a:r>
            <a:r>
              <a:rPr lang="en-US" altLang="ko-KR" dirty="0"/>
              <a:t>classification </a:t>
            </a:r>
            <a:r>
              <a:rPr lang="ko-KR" altLang="en-US" dirty="0"/>
              <a:t>과 같은 </a:t>
            </a:r>
            <a:r>
              <a:rPr lang="en-US" altLang="ko-KR" dirty="0"/>
              <a:t>downstream task </a:t>
            </a:r>
            <a:r>
              <a:rPr lang="ko-KR" altLang="en-US" dirty="0"/>
              <a:t>에 악영향을 미치기 때문이 아닐까라고 생각합니다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FA2A73-88C3-40DB-BB01-71C3483A7BA8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581721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오른쪽</a:t>
            </a:r>
            <a:r>
              <a:rPr lang="en-US" altLang="ko-KR" dirty="0"/>
              <a:t> </a:t>
            </a:r>
            <a:r>
              <a:rPr lang="ko-KR" altLang="en-US" dirty="0"/>
              <a:t>그림은 </a:t>
            </a:r>
            <a:r>
              <a:rPr lang="en-US" altLang="ko-KR" dirty="0" err="1"/>
              <a:t>SimCLR</a:t>
            </a:r>
            <a:r>
              <a:rPr lang="ko-KR" altLang="en-US" dirty="0"/>
              <a:t>로 학습시킨 모델의 </a:t>
            </a:r>
            <a:r>
              <a:rPr lang="en-US" altLang="ko-KR" dirty="0"/>
              <a:t>embedding space</a:t>
            </a:r>
            <a:r>
              <a:rPr lang="ko-KR" altLang="en-US" dirty="0"/>
              <a:t>의 </a:t>
            </a:r>
            <a:r>
              <a:rPr lang="en-US" altLang="ko-KR" dirty="0"/>
              <a:t>singular value</a:t>
            </a:r>
            <a:r>
              <a:rPr lang="ko-KR" altLang="en-US" dirty="0"/>
              <a:t>의 스펙트럼인데요</a:t>
            </a:r>
            <a:endParaRPr lang="en-US" altLang="ko-KR" dirty="0"/>
          </a:p>
          <a:p>
            <a:r>
              <a:rPr lang="en-US" altLang="ko-KR" dirty="0"/>
              <a:t>embedding vector</a:t>
            </a:r>
            <a:r>
              <a:rPr lang="ko-KR" altLang="en-US" dirty="0"/>
              <a:t>가 총 </a:t>
            </a:r>
            <a:r>
              <a:rPr lang="en-US" altLang="ko-KR" dirty="0"/>
              <a:t>128</a:t>
            </a:r>
            <a:r>
              <a:rPr lang="ko-KR" altLang="en-US" dirty="0"/>
              <a:t>차원을 가질 때</a:t>
            </a:r>
            <a:r>
              <a:rPr lang="en-US" altLang="ko-KR" dirty="0"/>
              <a:t>, </a:t>
            </a:r>
            <a:r>
              <a:rPr lang="ko-KR" altLang="en-US" dirty="0"/>
              <a:t>각 차원들의</a:t>
            </a:r>
            <a:r>
              <a:rPr lang="en-US" altLang="ko-KR" dirty="0"/>
              <a:t> singular value</a:t>
            </a:r>
            <a:r>
              <a:rPr lang="ko-KR" altLang="en-US" dirty="0"/>
              <a:t>의 </a:t>
            </a:r>
            <a:r>
              <a:rPr lang="en-US" altLang="ko-KR" dirty="0"/>
              <a:t>log</a:t>
            </a:r>
            <a:r>
              <a:rPr lang="ko-KR" altLang="en-US" dirty="0"/>
              <a:t>값을 나타낸 그림입니다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그림을 보시면 가로축은 각 </a:t>
            </a:r>
            <a:r>
              <a:rPr lang="en-US" altLang="ko-KR" dirty="0"/>
              <a:t>singular value</a:t>
            </a:r>
            <a:r>
              <a:rPr lang="ko-KR" altLang="en-US" dirty="0"/>
              <a:t>들의 </a:t>
            </a:r>
            <a:r>
              <a:rPr lang="en-US" altLang="ko-KR" dirty="0"/>
              <a:t>index</a:t>
            </a:r>
            <a:r>
              <a:rPr lang="ko-KR" altLang="en-US" dirty="0"/>
              <a:t>구요</a:t>
            </a:r>
            <a:endParaRPr lang="en-US" altLang="ko-KR" dirty="0"/>
          </a:p>
          <a:p>
            <a:r>
              <a:rPr lang="ko-KR" altLang="en-US" dirty="0"/>
              <a:t>세로축은 </a:t>
            </a:r>
            <a:r>
              <a:rPr lang="en-US" altLang="ko-KR" dirty="0"/>
              <a:t>singular value</a:t>
            </a:r>
            <a:r>
              <a:rPr lang="ko-KR" altLang="en-US" dirty="0"/>
              <a:t>들의 </a:t>
            </a:r>
            <a:r>
              <a:rPr lang="en-US" altLang="ko-KR" dirty="0"/>
              <a:t>log</a:t>
            </a:r>
            <a:r>
              <a:rPr lang="ko-KR" altLang="en-US" dirty="0"/>
              <a:t>값이어서 </a:t>
            </a:r>
            <a:r>
              <a:rPr lang="en-US" altLang="ko-KR" dirty="0"/>
              <a:t>singular value</a:t>
            </a:r>
            <a:r>
              <a:rPr lang="ko-KR" altLang="en-US" dirty="0"/>
              <a:t>가 </a:t>
            </a:r>
            <a:r>
              <a:rPr lang="en-US" altLang="ko-KR" dirty="0"/>
              <a:t>0</a:t>
            </a:r>
            <a:r>
              <a:rPr lang="ko-KR" altLang="en-US" dirty="0"/>
              <a:t>에 가까울수록 그 값이 무한이 마이너스로 떨어지게 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그래서 보시면 </a:t>
            </a:r>
            <a:r>
              <a:rPr lang="en-US" altLang="ko-KR" dirty="0"/>
              <a:t>Contrastive Learning</a:t>
            </a:r>
            <a:r>
              <a:rPr lang="ko-KR" altLang="en-US" dirty="0"/>
              <a:t>으로 학습한 </a:t>
            </a:r>
            <a:r>
              <a:rPr lang="en-US" altLang="ko-KR" dirty="0" err="1"/>
              <a:t>SimCLR</a:t>
            </a:r>
            <a:r>
              <a:rPr lang="ko-KR" altLang="en-US" dirty="0"/>
              <a:t>의 경우에도 약 </a:t>
            </a:r>
            <a:r>
              <a:rPr lang="en-US" altLang="ko-KR" dirty="0"/>
              <a:t>30</a:t>
            </a:r>
            <a:r>
              <a:rPr lang="ko-KR" altLang="en-US" dirty="0"/>
              <a:t>개정도의 </a:t>
            </a:r>
            <a:r>
              <a:rPr lang="en-US" altLang="ko-KR" dirty="0"/>
              <a:t>singular value</a:t>
            </a:r>
            <a:r>
              <a:rPr lang="ko-KR" altLang="en-US" dirty="0"/>
              <a:t>가 </a:t>
            </a:r>
            <a:r>
              <a:rPr lang="en-US" altLang="ko-KR" dirty="0"/>
              <a:t>0</a:t>
            </a:r>
            <a:r>
              <a:rPr lang="ko-KR" altLang="en-US" dirty="0"/>
              <a:t>에 가까운 것을 볼 수 있습니다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그러면</a:t>
            </a:r>
            <a:r>
              <a:rPr lang="en-US" altLang="ko-KR" dirty="0"/>
              <a:t> </a:t>
            </a:r>
            <a:r>
              <a:rPr lang="ko-KR" altLang="en-US" dirty="0"/>
              <a:t>왜 이러한 </a:t>
            </a:r>
            <a:r>
              <a:rPr lang="en-US" altLang="ko-KR" dirty="0" err="1"/>
              <a:t>collaps</a:t>
            </a:r>
            <a:r>
              <a:rPr lang="ko-KR" altLang="en-US" dirty="0"/>
              <a:t>가 좋지 </a:t>
            </a:r>
            <a:r>
              <a:rPr lang="ko-KR" altLang="en-US" dirty="0" err="1"/>
              <a:t>않은걸까라고</a:t>
            </a:r>
            <a:r>
              <a:rPr lang="ko-KR" altLang="en-US" dirty="0"/>
              <a:t> 생각이 들 수 있는데요</a:t>
            </a:r>
            <a:endParaRPr lang="en-US" altLang="ko-KR" dirty="0"/>
          </a:p>
          <a:p>
            <a:r>
              <a:rPr lang="ko-KR" altLang="en-US" dirty="0"/>
              <a:t>이거는 제 생각이긴 한데 </a:t>
            </a:r>
            <a:r>
              <a:rPr lang="en-US" altLang="ko-KR" dirty="0"/>
              <a:t>dimensional collapse </a:t>
            </a:r>
            <a:r>
              <a:rPr lang="ko-KR" altLang="en-US" dirty="0"/>
              <a:t>가 일어나면 </a:t>
            </a:r>
            <a:r>
              <a:rPr lang="en-US" altLang="ko-KR" dirty="0"/>
              <a:t>representation </a:t>
            </a:r>
            <a:r>
              <a:rPr lang="ko-KR" altLang="en-US" dirty="0"/>
              <a:t>이 충분히 학습되지 않았을 것이고 이는 </a:t>
            </a:r>
            <a:r>
              <a:rPr lang="en-US" altLang="ko-KR" dirty="0"/>
              <a:t>classification </a:t>
            </a:r>
            <a:r>
              <a:rPr lang="ko-KR" altLang="en-US" dirty="0"/>
              <a:t>과 같은 </a:t>
            </a:r>
            <a:r>
              <a:rPr lang="en-US" altLang="ko-KR" dirty="0"/>
              <a:t>downstream task </a:t>
            </a:r>
            <a:r>
              <a:rPr lang="ko-KR" altLang="en-US" dirty="0"/>
              <a:t>에 악영향을 미치기 때문이 아닐까라고 생각합니다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FA2A73-88C3-40DB-BB01-71C3483A7BA8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015120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여기까지가</a:t>
            </a:r>
            <a:r>
              <a:rPr lang="ko-KR" altLang="en-US" dirty="0"/>
              <a:t> 이 논문의 </a:t>
            </a:r>
            <a:r>
              <a:rPr lang="en-US" altLang="ko-KR" dirty="0"/>
              <a:t>background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FA2A73-88C3-40DB-BB01-71C3483A7BA8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468157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다음에는</a:t>
            </a:r>
            <a:r>
              <a:rPr lang="en-US" altLang="ko-KR" dirty="0"/>
              <a:t> </a:t>
            </a:r>
            <a:r>
              <a:rPr lang="ko-KR" altLang="en-US" dirty="0"/>
              <a:t>이 논문에서 주장하는 </a:t>
            </a:r>
            <a:r>
              <a:rPr lang="en-US" altLang="ko-KR" dirty="0"/>
              <a:t>collapse</a:t>
            </a:r>
            <a:r>
              <a:rPr lang="ko-KR" altLang="en-US" dirty="0"/>
              <a:t>가 발생하는 두가지 </a:t>
            </a:r>
            <a:r>
              <a:rPr lang="ko-KR" altLang="en-US" dirty="0" err="1"/>
              <a:t>매커니즘에</a:t>
            </a:r>
            <a:r>
              <a:rPr lang="ko-KR" altLang="en-US" dirty="0"/>
              <a:t> 대해 설명해드리겠습니다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FA2A73-88C3-40DB-BB01-71C3483A7BA8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662814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첫번째는 </a:t>
            </a:r>
            <a:r>
              <a:rPr lang="en-US" altLang="ko-KR" dirty="0"/>
              <a:t>Data augmentation</a:t>
            </a:r>
            <a:r>
              <a:rPr lang="ko-KR" altLang="en-US" dirty="0"/>
              <a:t>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저자는 </a:t>
            </a:r>
            <a:r>
              <a:rPr lang="en-US" altLang="ko-KR" dirty="0"/>
              <a:t>augmentation </a:t>
            </a:r>
            <a:r>
              <a:rPr lang="ko-KR" altLang="en-US" dirty="0"/>
              <a:t>에 의한 </a:t>
            </a:r>
            <a:r>
              <a:rPr lang="en-US" altLang="ko-KR" dirty="0"/>
              <a:t>variance </a:t>
            </a:r>
            <a:r>
              <a:rPr lang="ko-KR" altLang="en-US" dirty="0"/>
              <a:t>가 데이터 자체의 </a:t>
            </a:r>
            <a:r>
              <a:rPr lang="en-US" altLang="ko-KR" dirty="0"/>
              <a:t>variance </a:t>
            </a:r>
            <a:r>
              <a:rPr lang="ko-KR" altLang="en-US" dirty="0"/>
              <a:t>보다 큰 경우에 </a:t>
            </a:r>
            <a:r>
              <a:rPr lang="en-US" altLang="ko-KR" dirty="0"/>
              <a:t>dimensional collapse </a:t>
            </a:r>
            <a:r>
              <a:rPr lang="ko-KR" altLang="en-US" dirty="0"/>
              <a:t>가 발생할 수 있다고 주장하는데요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이를 보여주기 위해 단일 </a:t>
            </a:r>
            <a:r>
              <a:rPr lang="en-US" altLang="ko-KR" dirty="0"/>
              <a:t>linear network </a:t>
            </a:r>
            <a:r>
              <a:rPr lang="ko-KR" altLang="en-US" dirty="0"/>
              <a:t>를 통해 식으로 증명했습니다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먼저</a:t>
            </a:r>
            <a:r>
              <a:rPr lang="en-US" altLang="ko-KR" dirty="0"/>
              <a:t> </a:t>
            </a:r>
            <a:r>
              <a:rPr lang="ko-KR" altLang="en-US" dirty="0"/>
              <a:t>단일 </a:t>
            </a:r>
            <a:r>
              <a:rPr lang="en-US" altLang="ko-KR" dirty="0"/>
              <a:t>linear network </a:t>
            </a:r>
            <a:r>
              <a:rPr lang="ko-KR" altLang="en-US" dirty="0" err="1"/>
              <a:t>학습시</a:t>
            </a:r>
            <a:r>
              <a:rPr lang="ko-KR" altLang="en-US" dirty="0"/>
              <a:t> 사용한 </a:t>
            </a:r>
            <a:r>
              <a:rPr lang="en-US" altLang="ko-KR" dirty="0"/>
              <a:t>loss </a:t>
            </a:r>
            <a:r>
              <a:rPr lang="ko-KR" altLang="en-US" dirty="0"/>
              <a:t>는 </a:t>
            </a:r>
            <a:r>
              <a:rPr lang="en-US" altLang="ko-KR" dirty="0"/>
              <a:t>contrastive learning </a:t>
            </a:r>
            <a:r>
              <a:rPr lang="ko-KR" altLang="en-US" dirty="0"/>
              <a:t>시 많이 보는</a:t>
            </a:r>
            <a:r>
              <a:rPr lang="en-US" altLang="ko-KR" dirty="0"/>
              <a:t> </a:t>
            </a:r>
            <a:r>
              <a:rPr lang="en-US" altLang="ko-KR" dirty="0" err="1"/>
              <a:t>InfoNCE</a:t>
            </a:r>
            <a:r>
              <a:rPr lang="en-US" altLang="ko-KR" dirty="0"/>
              <a:t> Loss</a:t>
            </a:r>
            <a:r>
              <a:rPr lang="ko-KR" altLang="en-US" dirty="0"/>
              <a:t>입니다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이거는 다들 많이 보셔서 알겠지만 위에는 </a:t>
            </a:r>
            <a:r>
              <a:rPr lang="en-US" altLang="ko-KR" dirty="0"/>
              <a:t>positive pair</a:t>
            </a:r>
            <a:r>
              <a:rPr lang="ko-KR" altLang="en-US" dirty="0"/>
              <a:t>가 </a:t>
            </a:r>
            <a:r>
              <a:rPr lang="ko-KR" altLang="en-US" dirty="0" err="1"/>
              <a:t>있구요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아래는 </a:t>
            </a:r>
            <a:r>
              <a:rPr lang="en-US" altLang="ko-KR" dirty="0"/>
              <a:t>negative</a:t>
            </a:r>
            <a:r>
              <a:rPr lang="ko-KR" altLang="en-US" dirty="0"/>
              <a:t>의 값입니다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FA2A73-88C3-40DB-BB01-71C3483A7BA8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41426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그렇게 계산된 </a:t>
            </a:r>
            <a:r>
              <a:rPr lang="en-US" altLang="ko-KR" dirty="0"/>
              <a:t>Loss</a:t>
            </a:r>
            <a:r>
              <a:rPr lang="ko-KR" altLang="en-US" dirty="0"/>
              <a:t>를 </a:t>
            </a:r>
            <a:r>
              <a:rPr lang="en-US" altLang="ko-KR" dirty="0"/>
              <a:t>Linear layer </a:t>
            </a:r>
            <a:r>
              <a:rPr lang="ko-KR" altLang="en-US" dirty="0"/>
              <a:t>의 </a:t>
            </a:r>
            <a:r>
              <a:rPr lang="en-US" altLang="ko-KR" dirty="0"/>
              <a:t>weight matrix </a:t>
            </a:r>
            <a:r>
              <a:rPr lang="ko-KR" altLang="en-US" dirty="0"/>
              <a:t>인 </a:t>
            </a:r>
            <a:r>
              <a:rPr lang="en-US" altLang="ko-KR" dirty="0"/>
              <a:t>W</a:t>
            </a:r>
            <a:r>
              <a:rPr lang="ko-KR" altLang="en-US" dirty="0"/>
              <a:t>에 대해 </a:t>
            </a:r>
            <a:r>
              <a:rPr lang="ko-KR" altLang="en-US" dirty="0" err="1"/>
              <a:t>편미분하여</a:t>
            </a:r>
            <a:r>
              <a:rPr lang="ko-KR" altLang="en-US" dirty="0"/>
              <a:t> </a:t>
            </a:r>
            <a:r>
              <a:rPr lang="en-US" altLang="ko-KR" dirty="0"/>
              <a:t>Gradient</a:t>
            </a:r>
            <a:r>
              <a:rPr lang="ko-KR" altLang="en-US" dirty="0"/>
              <a:t>를 </a:t>
            </a:r>
            <a:r>
              <a:rPr lang="en-US" altLang="ko-KR" dirty="0"/>
              <a:t>chain rule </a:t>
            </a:r>
            <a:r>
              <a:rPr lang="ko-KR" altLang="en-US" dirty="0"/>
              <a:t>을 이용하여 첫번째 </a:t>
            </a:r>
            <a:r>
              <a:rPr lang="en-US" altLang="ko-KR" dirty="0"/>
              <a:t>equation </a:t>
            </a:r>
            <a:r>
              <a:rPr lang="ko-KR" altLang="en-US" dirty="0"/>
              <a:t>과 같이 </a:t>
            </a:r>
            <a:r>
              <a:rPr lang="ko-KR" altLang="en-US" dirty="0" err="1"/>
              <a:t>나타내구요</a:t>
            </a:r>
            <a:r>
              <a:rPr lang="en-US" altLang="ko-KR" dirty="0"/>
              <a:t>,</a:t>
            </a:r>
          </a:p>
          <a:p>
            <a:endParaRPr lang="en-US" altLang="ko-KR" dirty="0"/>
          </a:p>
          <a:p>
            <a:r>
              <a:rPr lang="ko-KR" altLang="en-US" dirty="0"/>
              <a:t>이때 </a:t>
            </a:r>
            <a:r>
              <a:rPr lang="en-US" altLang="ko-KR" dirty="0" err="1"/>
              <a:t>g_z</a:t>
            </a:r>
            <a:r>
              <a:rPr lang="en-US" altLang="ko-KR" dirty="0"/>
              <a:t>  embedding vector z </a:t>
            </a:r>
            <a:r>
              <a:rPr lang="ko-KR" altLang="en-US" dirty="0"/>
              <a:t>를 </a:t>
            </a:r>
            <a:r>
              <a:rPr lang="en-US" altLang="ko-KR" dirty="0"/>
              <a:t>W</a:t>
            </a:r>
            <a:r>
              <a:rPr lang="ko-KR" altLang="en-US" dirty="0"/>
              <a:t>로 편미분한 값은 두번째 </a:t>
            </a:r>
            <a:r>
              <a:rPr lang="en-US" altLang="ko-KR" dirty="0"/>
              <a:t>equation </a:t>
            </a:r>
            <a:r>
              <a:rPr lang="ko-KR" altLang="en-US" dirty="0"/>
              <a:t>처럼 나타납니다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여기는 따로 설명하지 않을 것이 수식이 </a:t>
            </a:r>
            <a:r>
              <a:rPr lang="ko-KR" altLang="en-US" dirty="0" err="1"/>
              <a:t>복잡해보이기는</a:t>
            </a:r>
            <a:r>
              <a:rPr lang="ko-KR" altLang="en-US" dirty="0"/>
              <a:t> 해도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전 페이지의 </a:t>
            </a:r>
            <a:r>
              <a:rPr lang="en-US" altLang="ko-KR" dirty="0" err="1"/>
              <a:t>InfoNCE</a:t>
            </a:r>
            <a:r>
              <a:rPr lang="en-US" altLang="ko-KR" dirty="0"/>
              <a:t> Loss </a:t>
            </a:r>
            <a:r>
              <a:rPr lang="ko-KR" altLang="en-US" dirty="0"/>
              <a:t>를 기본적인 </a:t>
            </a:r>
            <a:r>
              <a:rPr lang="ko-KR" altLang="en-US" dirty="0" err="1"/>
              <a:t>편미분</a:t>
            </a:r>
            <a:r>
              <a:rPr lang="ko-KR" altLang="en-US" dirty="0"/>
              <a:t> 지식으로 직접 미분해보시면 똑같이 </a:t>
            </a:r>
            <a:r>
              <a:rPr lang="ko-KR" altLang="en-US" dirty="0" err="1"/>
              <a:t>나오는것을</a:t>
            </a:r>
            <a:r>
              <a:rPr lang="ko-KR" altLang="en-US" dirty="0"/>
              <a:t> 알 수 있습니다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FA2A73-88C3-40DB-BB01-71C3483A7BA8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458366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대신 여기서 중요한 것은 </a:t>
            </a:r>
            <a:r>
              <a:rPr lang="en-US" altLang="ko-KR" dirty="0"/>
              <a:t>Gradient G</a:t>
            </a:r>
            <a:r>
              <a:rPr lang="ko-KR" altLang="en-US" dirty="0"/>
              <a:t>는 공통적으로 모든 항에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Embedding</a:t>
            </a:r>
            <a:r>
              <a:rPr lang="ko-KR" altLang="en-US" dirty="0"/>
              <a:t> </a:t>
            </a:r>
            <a:r>
              <a:rPr lang="en-US" altLang="ko-KR" dirty="0"/>
              <a:t>vector z</a:t>
            </a:r>
            <a:r>
              <a:rPr lang="ko-KR" altLang="en-US" dirty="0"/>
              <a:t>들로 이루어져 있다는 것을 알 수 있습니다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그리고 이 </a:t>
            </a:r>
            <a:r>
              <a:rPr lang="en-US" altLang="ko-KR" dirty="0"/>
              <a:t>embedding vector z</a:t>
            </a:r>
            <a:r>
              <a:rPr lang="ko-KR" altLang="en-US" dirty="0"/>
              <a:t>는 </a:t>
            </a:r>
            <a:r>
              <a:rPr lang="ko-KR" altLang="en-US" dirty="0" err="1"/>
              <a:t>입력값에</a:t>
            </a:r>
            <a:r>
              <a:rPr lang="ko-KR" altLang="en-US" dirty="0"/>
              <a:t> 공통적으로 </a:t>
            </a:r>
            <a:r>
              <a:rPr lang="en-US" altLang="ko-KR" dirty="0"/>
              <a:t>weight matrix W</a:t>
            </a:r>
            <a:r>
              <a:rPr lang="ko-KR" altLang="en-US" dirty="0"/>
              <a:t> 가 곱해진 값입니다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FA2A73-88C3-40DB-BB01-71C3483A7BA8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365381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그래서</a:t>
            </a:r>
            <a:r>
              <a:rPr lang="en-US" altLang="ko-KR" dirty="0"/>
              <a:t> Gradient G</a:t>
            </a:r>
            <a:r>
              <a:rPr lang="ko-KR" altLang="en-US" dirty="0"/>
              <a:t>는 </a:t>
            </a:r>
            <a:r>
              <a:rPr lang="en-US" altLang="ko-KR" dirty="0"/>
              <a:t>weight matrix </a:t>
            </a:r>
            <a:r>
              <a:rPr lang="ko-KR" altLang="en-US" dirty="0"/>
              <a:t>와 어떤 행렬 </a:t>
            </a:r>
            <a:r>
              <a:rPr lang="en-US" altLang="ko-KR" dirty="0"/>
              <a:t>X </a:t>
            </a:r>
            <a:r>
              <a:rPr lang="ko-KR" altLang="en-US" dirty="0"/>
              <a:t>의 곱이라고 표현할 수 있고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X</a:t>
            </a:r>
            <a:r>
              <a:rPr lang="ko-KR" altLang="en-US" dirty="0"/>
              <a:t>는 정리하면 다음과 같이 나타납니다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여기서</a:t>
            </a:r>
            <a:r>
              <a:rPr lang="en-US" altLang="ko-KR" dirty="0"/>
              <a:t> </a:t>
            </a:r>
            <a:r>
              <a:rPr lang="ko-KR" altLang="en-US" dirty="0"/>
              <a:t>첫번째 항을 보면 </a:t>
            </a:r>
            <a:r>
              <a:rPr lang="en-US" altLang="ko-KR" dirty="0" err="1"/>
              <a:t>x_i</a:t>
            </a:r>
            <a:r>
              <a:rPr lang="en-US" altLang="ko-KR" dirty="0"/>
              <a:t> – x-j </a:t>
            </a:r>
            <a:r>
              <a:rPr lang="ko-KR" altLang="en-US" dirty="0"/>
              <a:t>의 </a:t>
            </a:r>
            <a:r>
              <a:rPr lang="en-US" altLang="ko-KR" dirty="0"/>
              <a:t>covariance </a:t>
            </a:r>
            <a:r>
              <a:rPr lang="ko-KR" altLang="en-US" dirty="0"/>
              <a:t>항입니다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즉 데이터 간의 </a:t>
            </a:r>
            <a:r>
              <a:rPr lang="en-US" altLang="ko-KR" dirty="0"/>
              <a:t>covariance </a:t>
            </a:r>
            <a:r>
              <a:rPr lang="ko-KR" altLang="en-US" dirty="0" err="1"/>
              <a:t>항이구요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두번째 항은 </a:t>
            </a:r>
            <a:r>
              <a:rPr lang="en-US" altLang="ko-KR" dirty="0" err="1"/>
              <a:t>x_i</a:t>
            </a:r>
            <a:r>
              <a:rPr lang="en-US" altLang="ko-KR" dirty="0"/>
              <a:t> </a:t>
            </a:r>
            <a:r>
              <a:rPr lang="ko-KR" altLang="en-US" dirty="0"/>
              <a:t>와 </a:t>
            </a:r>
            <a:r>
              <a:rPr lang="en-US" altLang="ko-KR" dirty="0" err="1"/>
              <a:t>x_i</a:t>
            </a:r>
            <a:r>
              <a:rPr lang="en-US" altLang="ko-KR" dirty="0"/>
              <a:t> prime </a:t>
            </a:r>
            <a:r>
              <a:rPr lang="ko-KR" altLang="en-US" dirty="0"/>
              <a:t>간의 </a:t>
            </a:r>
            <a:r>
              <a:rPr lang="en-US" altLang="ko-KR" dirty="0"/>
              <a:t>covariance </a:t>
            </a:r>
            <a:r>
              <a:rPr lang="ko-KR" altLang="en-US" dirty="0"/>
              <a:t>항 즉</a:t>
            </a:r>
            <a:r>
              <a:rPr lang="en-US" altLang="ko-KR" dirty="0"/>
              <a:t>, Augmentation </a:t>
            </a:r>
            <a:r>
              <a:rPr lang="ko-KR" altLang="en-US" dirty="0"/>
              <a:t>한 데이터 간의 </a:t>
            </a:r>
            <a:r>
              <a:rPr lang="en-US" altLang="ko-KR" dirty="0"/>
              <a:t>covariance </a:t>
            </a:r>
            <a:r>
              <a:rPr lang="ko-KR" altLang="en-US" dirty="0"/>
              <a:t>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즉</a:t>
            </a:r>
            <a:r>
              <a:rPr lang="en-US" altLang="ko-KR" dirty="0"/>
              <a:t> X</a:t>
            </a:r>
            <a:r>
              <a:rPr lang="ko-KR" altLang="en-US" dirty="0"/>
              <a:t>는 두 </a:t>
            </a:r>
            <a:r>
              <a:rPr lang="en-US" altLang="ko-KR" dirty="0"/>
              <a:t>Positive semi definite </a:t>
            </a:r>
            <a:r>
              <a:rPr lang="ko-KR" altLang="en-US" dirty="0"/>
              <a:t>행렬의 차이입니다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FA2A73-88C3-40DB-BB01-71C3483A7BA8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577591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일단</a:t>
            </a:r>
            <a:r>
              <a:rPr lang="en-US" altLang="ko-KR" dirty="0"/>
              <a:t> </a:t>
            </a:r>
            <a:r>
              <a:rPr lang="ko-KR" altLang="en-US" dirty="0"/>
              <a:t>여기까지 어떻게 보면 복잡한 식들이 전개되었는데요 결국 여기서 중요한 것은 </a:t>
            </a:r>
            <a:r>
              <a:rPr lang="en-US" altLang="ko-KR" dirty="0"/>
              <a:t>X </a:t>
            </a:r>
            <a:r>
              <a:rPr lang="ko-KR" altLang="en-US" dirty="0"/>
              <a:t>의 </a:t>
            </a:r>
            <a:r>
              <a:rPr lang="en-US" altLang="ko-KR" dirty="0"/>
              <a:t>eigen value </a:t>
            </a:r>
            <a:r>
              <a:rPr lang="ko-KR" altLang="en-US" dirty="0"/>
              <a:t>의 부호입니다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먼저 </a:t>
            </a:r>
            <a:r>
              <a:rPr lang="en-US" altLang="ko-KR" dirty="0"/>
              <a:t>Weight</a:t>
            </a:r>
            <a:r>
              <a:rPr lang="ko-KR" altLang="en-US" dirty="0"/>
              <a:t> </a:t>
            </a:r>
            <a:r>
              <a:rPr lang="en-US" altLang="ko-KR" dirty="0"/>
              <a:t>matrix</a:t>
            </a:r>
            <a:r>
              <a:rPr lang="ko-KR" altLang="en-US" dirty="0"/>
              <a:t> 를</a:t>
            </a:r>
            <a:r>
              <a:rPr lang="en-US" altLang="ko-KR" dirty="0"/>
              <a:t> t </a:t>
            </a:r>
            <a:r>
              <a:rPr lang="ko-KR" altLang="en-US" dirty="0"/>
              <a:t>번 업데이트 했을 때</a:t>
            </a:r>
            <a:r>
              <a:rPr lang="en-US" altLang="ko-KR" dirty="0"/>
              <a:t> </a:t>
            </a:r>
            <a:r>
              <a:rPr lang="ko-KR" altLang="en-US" dirty="0"/>
              <a:t>값을 미분방정식을 풀고</a:t>
            </a:r>
            <a:r>
              <a:rPr lang="en-US" altLang="ko-KR" dirty="0"/>
              <a:t> X</a:t>
            </a:r>
            <a:r>
              <a:rPr lang="ko-KR" altLang="en-US" dirty="0"/>
              <a:t>를 </a:t>
            </a:r>
            <a:r>
              <a:rPr lang="en-US" altLang="ko-KR" dirty="0"/>
              <a:t>eigen decomposition </a:t>
            </a:r>
            <a:r>
              <a:rPr lang="ko-KR" altLang="en-US" dirty="0"/>
              <a:t>해서 대체하면 다음과 같이 나타납니다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이때 학습이 진행되면서 </a:t>
            </a:r>
            <a:r>
              <a:rPr lang="en-US" altLang="ko-KR" dirty="0"/>
              <a:t>t </a:t>
            </a:r>
            <a:r>
              <a:rPr lang="ko-KR" altLang="en-US" dirty="0"/>
              <a:t>가 무한대에 </a:t>
            </a:r>
            <a:r>
              <a:rPr lang="ko-KR" altLang="en-US" dirty="0" err="1"/>
              <a:t>가까워질때</a:t>
            </a:r>
            <a:r>
              <a:rPr lang="en-US" altLang="ko-KR" dirty="0"/>
              <a:t>, X </a:t>
            </a:r>
            <a:r>
              <a:rPr lang="ko-KR" altLang="en-US" dirty="0"/>
              <a:t>의 </a:t>
            </a:r>
            <a:r>
              <a:rPr lang="en-US" altLang="ko-KR" dirty="0"/>
              <a:t>eigen value </a:t>
            </a:r>
            <a:r>
              <a:rPr lang="ko-KR" altLang="en-US" dirty="0"/>
              <a:t>에 음수 값이 있으면 </a:t>
            </a:r>
            <a:r>
              <a:rPr lang="en-US" altLang="ko-KR" dirty="0"/>
              <a:t>X</a:t>
            </a:r>
            <a:r>
              <a:rPr lang="ko-KR" altLang="en-US" dirty="0"/>
              <a:t>값은 </a:t>
            </a:r>
            <a:r>
              <a:rPr lang="en-US" altLang="ko-KR" dirty="0"/>
              <a:t>rank-deficient </a:t>
            </a:r>
            <a:r>
              <a:rPr lang="ko-KR" altLang="en-US" dirty="0"/>
              <a:t>즉 </a:t>
            </a:r>
            <a:r>
              <a:rPr lang="en-US" altLang="ko-KR" dirty="0"/>
              <a:t>rank </a:t>
            </a:r>
            <a:r>
              <a:rPr lang="ko-KR" altLang="en-US" dirty="0"/>
              <a:t>값이 낮아지게 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그리고 낮은 </a:t>
            </a:r>
            <a:r>
              <a:rPr lang="en-US" altLang="ko-KR" dirty="0"/>
              <a:t>rank</a:t>
            </a:r>
            <a:r>
              <a:rPr lang="ko-KR" altLang="en-US" dirty="0"/>
              <a:t>값과 </a:t>
            </a:r>
            <a:r>
              <a:rPr lang="en-US" altLang="ko-KR" dirty="0"/>
              <a:t>W-zero</a:t>
            </a:r>
            <a:r>
              <a:rPr lang="ko-KR" altLang="en-US" dirty="0"/>
              <a:t>와 곱해진 </a:t>
            </a:r>
            <a:r>
              <a:rPr lang="en-US" altLang="ko-KR" dirty="0"/>
              <a:t>W-t </a:t>
            </a:r>
            <a:r>
              <a:rPr lang="ko-KR" altLang="en-US" dirty="0"/>
              <a:t>또한 </a:t>
            </a:r>
            <a:r>
              <a:rPr lang="en-US" altLang="ko-KR" dirty="0"/>
              <a:t>low-rank </a:t>
            </a:r>
            <a:r>
              <a:rPr lang="ko-KR" altLang="en-US" dirty="0"/>
              <a:t>이며 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최종적으로 </a:t>
            </a:r>
            <a:r>
              <a:rPr lang="en-US" altLang="ko-KR" dirty="0"/>
              <a:t>W </a:t>
            </a:r>
            <a:r>
              <a:rPr lang="ko-KR" altLang="en-US" dirty="0"/>
              <a:t>가 들어간 </a:t>
            </a:r>
            <a:r>
              <a:rPr lang="en-US" altLang="ko-KR" dirty="0"/>
              <a:t>covariance matrix C </a:t>
            </a:r>
            <a:r>
              <a:rPr lang="ko-KR" altLang="en-US" dirty="0"/>
              <a:t>또한 </a:t>
            </a:r>
            <a:r>
              <a:rPr lang="en-US" altLang="ko-KR" dirty="0"/>
              <a:t>low-rank </a:t>
            </a:r>
            <a:r>
              <a:rPr lang="ko-KR" altLang="en-US" dirty="0"/>
              <a:t>가 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즉</a:t>
            </a:r>
            <a:r>
              <a:rPr lang="en-US" altLang="ko-KR" dirty="0"/>
              <a:t> dimension collapse </a:t>
            </a:r>
            <a:r>
              <a:rPr lang="ko-KR" altLang="en-US" dirty="0"/>
              <a:t>가 발생하는 것이죠</a:t>
            </a:r>
            <a:r>
              <a:rPr lang="en-US" altLang="ko-KR" dirty="0"/>
              <a:t>,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FA2A73-88C3-40DB-BB01-71C3483A7BA8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064278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두번째 </a:t>
            </a:r>
            <a:r>
              <a:rPr lang="ko-KR" altLang="en-US" dirty="0" err="1"/>
              <a:t>매커니즘</a:t>
            </a:r>
            <a:r>
              <a:rPr lang="ko-KR" altLang="en-US" dirty="0"/>
              <a:t> 설명하기 전에 혹시 질문 있으시면 질문 받도록 하겠습니다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FA2A73-88C3-40DB-BB01-71C3483A7BA8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513765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다음은 </a:t>
            </a:r>
            <a:r>
              <a:rPr lang="en-US" altLang="ko-KR" dirty="0"/>
              <a:t>dimensional collapse </a:t>
            </a:r>
            <a:r>
              <a:rPr lang="ko-KR" altLang="en-US" dirty="0"/>
              <a:t>가 발생하는 두번째 메커니즘인 </a:t>
            </a:r>
            <a:r>
              <a:rPr lang="en-US" altLang="ko-KR" dirty="0"/>
              <a:t>implicit regularization </a:t>
            </a:r>
            <a:r>
              <a:rPr lang="ko-KR" altLang="en-US" dirty="0"/>
              <a:t>에 대해 설명해드리겠습니다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앞에서</a:t>
            </a:r>
            <a:r>
              <a:rPr lang="en-US" altLang="ko-KR" dirty="0"/>
              <a:t> </a:t>
            </a:r>
            <a:r>
              <a:rPr lang="ko-KR" altLang="en-US" dirty="0"/>
              <a:t>말한 시나리오는 사실 일어나기 어렵습니다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첫번째로 강한 </a:t>
            </a:r>
            <a:r>
              <a:rPr lang="en-US" altLang="ko-KR" dirty="0"/>
              <a:t>augmentation </a:t>
            </a:r>
            <a:r>
              <a:rPr lang="ko-KR" altLang="en-US" dirty="0"/>
              <a:t>을 </a:t>
            </a:r>
            <a:r>
              <a:rPr lang="ko-KR" altLang="en-US" dirty="0" err="1"/>
              <a:t>가정해야하고</a:t>
            </a:r>
            <a:r>
              <a:rPr lang="ko-KR" altLang="en-US" dirty="0"/>
              <a:t> 또한 단일 층의 인공신경망을 가정했을 때이기 때문입니다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그렇다면 과연 </a:t>
            </a:r>
            <a:r>
              <a:rPr lang="en-US" altLang="ko-KR" dirty="0"/>
              <a:t>augmentation </a:t>
            </a:r>
            <a:r>
              <a:rPr lang="ko-KR" altLang="en-US" dirty="0"/>
              <a:t>이 적은 상황에서 </a:t>
            </a:r>
            <a:r>
              <a:rPr lang="en-US" altLang="ko-KR" dirty="0"/>
              <a:t>deep network</a:t>
            </a:r>
            <a:r>
              <a:rPr lang="ko-KR" altLang="en-US" dirty="0"/>
              <a:t> 에서는 </a:t>
            </a:r>
            <a:r>
              <a:rPr lang="en-US" altLang="ko-KR" dirty="0"/>
              <a:t>dimensional collapse </a:t>
            </a:r>
            <a:r>
              <a:rPr lang="ko-KR" altLang="en-US" dirty="0"/>
              <a:t>가 안 일어나는가 하면 그것은 또 아닙니다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이 논문에서 가정하는 또 다른 이유로는 </a:t>
            </a:r>
            <a:r>
              <a:rPr lang="en-US" altLang="ko-KR" dirty="0"/>
              <a:t>implicit regularization </a:t>
            </a:r>
            <a:r>
              <a:rPr lang="ko-KR" altLang="en-US" dirty="0"/>
              <a:t>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즉 </a:t>
            </a:r>
            <a:r>
              <a:rPr lang="en-US" altLang="ko-KR" dirty="0"/>
              <a:t>over-parametrized linear network </a:t>
            </a:r>
            <a:r>
              <a:rPr lang="ko-KR" altLang="en-US" dirty="0"/>
              <a:t>가 </a:t>
            </a:r>
            <a:r>
              <a:rPr lang="en-US" altLang="ko-KR" dirty="0"/>
              <a:t>low-rank covariance </a:t>
            </a:r>
            <a:r>
              <a:rPr lang="ko-KR" altLang="en-US" dirty="0"/>
              <a:t>를 도출한다는 것입니다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FA2A73-88C3-40DB-BB01-71C3483A7BA8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290714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이를</a:t>
            </a:r>
            <a:r>
              <a:rPr lang="en-US" altLang="ko-KR" dirty="0"/>
              <a:t> </a:t>
            </a:r>
            <a:r>
              <a:rPr lang="ko-KR" altLang="en-US" dirty="0"/>
              <a:t>수학적으로 증명하기 위해 이번엔 </a:t>
            </a:r>
            <a:r>
              <a:rPr lang="en-US" altLang="ko-KR" dirty="0"/>
              <a:t>2</a:t>
            </a:r>
            <a:r>
              <a:rPr lang="ko-KR" altLang="en-US" dirty="0"/>
              <a:t>개 층의 </a:t>
            </a:r>
            <a:r>
              <a:rPr lang="en-US" altLang="ko-KR" dirty="0"/>
              <a:t>MLP</a:t>
            </a:r>
            <a:r>
              <a:rPr lang="ko-KR" altLang="en-US" dirty="0"/>
              <a:t>를 가정합니다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이때 </a:t>
            </a:r>
            <a:r>
              <a:rPr lang="en-US" altLang="ko-KR" dirty="0"/>
              <a:t>Weight matrix W-one </a:t>
            </a:r>
            <a:r>
              <a:rPr lang="ko-KR" altLang="en-US" dirty="0"/>
              <a:t>과 </a:t>
            </a:r>
            <a:r>
              <a:rPr lang="en-US" altLang="ko-KR" dirty="0"/>
              <a:t>W-two </a:t>
            </a:r>
            <a:r>
              <a:rPr lang="ko-KR" altLang="en-US" dirty="0"/>
              <a:t>를 업데이트 시키는 </a:t>
            </a:r>
            <a:r>
              <a:rPr lang="en-US" altLang="ko-KR" dirty="0"/>
              <a:t>gradient </a:t>
            </a:r>
            <a:r>
              <a:rPr lang="ko-KR" altLang="en-US" dirty="0"/>
              <a:t>값은 다음</a:t>
            </a:r>
            <a:r>
              <a:rPr lang="en-US" altLang="ko-KR" dirty="0"/>
              <a:t> </a:t>
            </a:r>
            <a:r>
              <a:rPr lang="ko-KR" altLang="en-US" dirty="0"/>
              <a:t>두 식과 같이 나오고 이때</a:t>
            </a:r>
            <a:r>
              <a:rPr lang="en-US" altLang="ko-KR" dirty="0"/>
              <a:t> G</a:t>
            </a:r>
            <a:r>
              <a:rPr lang="ko-KR" altLang="en-US" dirty="0"/>
              <a:t>값은 앞에 </a:t>
            </a:r>
            <a:r>
              <a:rPr lang="en-US" altLang="ko-KR" dirty="0"/>
              <a:t>data augmentation </a:t>
            </a:r>
            <a:r>
              <a:rPr lang="ko-KR" altLang="en-US" dirty="0"/>
              <a:t>했을 때와 마찬가지로 밑에 두 식과 같이 구성되어 있습니다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다만 다른 것은 이번에는 </a:t>
            </a:r>
            <a:r>
              <a:rPr lang="en-US" altLang="ko-KR" dirty="0"/>
              <a:t>Weight matrix 1</a:t>
            </a:r>
            <a:r>
              <a:rPr lang="ko-KR" altLang="en-US" dirty="0"/>
              <a:t>개가 아니라 </a:t>
            </a:r>
            <a:r>
              <a:rPr lang="en-US" altLang="ko-KR" dirty="0"/>
              <a:t>2</a:t>
            </a:r>
            <a:r>
              <a:rPr lang="ko-KR" altLang="en-US" dirty="0"/>
              <a:t>개가 곱해져 있는 형태입니다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이제</a:t>
            </a:r>
            <a:r>
              <a:rPr lang="en-US" altLang="ko-KR" dirty="0"/>
              <a:t> </a:t>
            </a:r>
            <a:r>
              <a:rPr lang="ko-KR" altLang="en-US" dirty="0"/>
              <a:t>이를 해석하기 위해서는 이 두 </a:t>
            </a:r>
            <a:r>
              <a:rPr lang="en-US" altLang="ko-KR" dirty="0"/>
              <a:t>weight matrix </a:t>
            </a:r>
            <a:r>
              <a:rPr lang="ko-KR" altLang="en-US" dirty="0"/>
              <a:t>두개 사이의 상호작용이 어떻게 되는지가 중요한데요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두 행렬을 </a:t>
            </a:r>
            <a:r>
              <a:rPr lang="en-US" altLang="ko-KR" dirty="0" err="1"/>
              <a:t>svd</a:t>
            </a:r>
            <a:r>
              <a:rPr lang="en-US" altLang="ko-KR" dirty="0"/>
              <a:t> </a:t>
            </a:r>
            <a:r>
              <a:rPr lang="ko-KR" altLang="en-US" dirty="0"/>
              <a:t>분해 해서 그 사이의 두 직교함수 </a:t>
            </a:r>
            <a:r>
              <a:rPr lang="en-US" altLang="ko-KR" dirty="0"/>
              <a:t>V2</a:t>
            </a:r>
            <a:r>
              <a:rPr lang="ko-KR" altLang="en-US" dirty="0"/>
              <a:t>와 </a:t>
            </a:r>
            <a:r>
              <a:rPr lang="en-US" altLang="ko-KR" dirty="0"/>
              <a:t>U1</a:t>
            </a:r>
            <a:r>
              <a:rPr lang="ko-KR" altLang="en-US" dirty="0"/>
              <a:t>의 곱에 의해 결정되는 것을 알 수 있습니다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이때 선형대수 이론 중에 만약 </a:t>
            </a:r>
            <a:r>
              <a:rPr lang="en-US" altLang="ko-KR" dirty="0"/>
              <a:t>X</a:t>
            </a:r>
            <a:r>
              <a:rPr lang="ko-KR" altLang="en-US" dirty="0"/>
              <a:t>가 </a:t>
            </a:r>
            <a:r>
              <a:rPr lang="en-US" altLang="ko-KR" dirty="0"/>
              <a:t>positive-definite</a:t>
            </a:r>
            <a:r>
              <a:rPr lang="ko-KR" altLang="en-US" dirty="0"/>
              <a:t>하고 모든 </a:t>
            </a:r>
            <a:r>
              <a:rPr lang="en-US" altLang="ko-KR" dirty="0"/>
              <a:t>t </a:t>
            </a:r>
            <a:r>
              <a:rPr lang="ko-KR" altLang="en-US" dirty="0"/>
              <a:t>에 대해 </a:t>
            </a:r>
            <a:r>
              <a:rPr lang="en-US" altLang="ko-KR" dirty="0"/>
              <a:t>W2W1 </a:t>
            </a:r>
            <a:r>
              <a:rPr lang="ko-KR" altLang="en-US" dirty="0"/>
              <a:t>이 </a:t>
            </a:r>
            <a:r>
              <a:rPr lang="en-US" altLang="ko-KR" dirty="0"/>
              <a:t>0</a:t>
            </a:r>
            <a:r>
              <a:rPr lang="ko-KR" altLang="en-US" dirty="0"/>
              <a:t>이 아니며 그리고 무한대로 갔을 때 </a:t>
            </a:r>
            <a:r>
              <a:rPr lang="en-US" altLang="ko-KR" dirty="0"/>
              <a:t>W1</a:t>
            </a:r>
            <a:r>
              <a:rPr lang="ko-KR" altLang="en-US" dirty="0"/>
              <a:t>과 </a:t>
            </a:r>
            <a:r>
              <a:rPr lang="en-US" altLang="ko-KR" dirty="0"/>
              <a:t>W2</a:t>
            </a:r>
            <a:r>
              <a:rPr lang="ko-KR" altLang="en-US" dirty="0"/>
              <a:t>가 </a:t>
            </a:r>
            <a:r>
              <a:rPr lang="en-US" altLang="ko-KR" dirty="0"/>
              <a:t>distinctive singular value </a:t>
            </a:r>
            <a:r>
              <a:rPr lang="ko-KR" altLang="en-US" dirty="0"/>
              <a:t>를 가진다면 행렬 </a:t>
            </a:r>
            <a:r>
              <a:rPr lang="en-US" altLang="ko-KR" dirty="0"/>
              <a:t>A,(V2 transpose </a:t>
            </a:r>
            <a:r>
              <a:rPr lang="ko-KR" altLang="en-US" dirty="0"/>
              <a:t>곱하기 </a:t>
            </a:r>
            <a:r>
              <a:rPr lang="en-US" altLang="ko-KR" dirty="0"/>
              <a:t>U one)</a:t>
            </a:r>
            <a:r>
              <a:rPr lang="ko-KR" altLang="en-US" dirty="0"/>
              <a:t>은 단위행렬로 수렴하게 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본 논문에서는 이게 실제 상황에서도 그런지 행렬 </a:t>
            </a:r>
            <a:r>
              <a:rPr lang="en-US" altLang="ko-KR" dirty="0"/>
              <a:t>A</a:t>
            </a:r>
            <a:r>
              <a:rPr lang="ko-KR" altLang="en-US" dirty="0"/>
              <a:t>의 절대값을 </a:t>
            </a:r>
            <a:r>
              <a:rPr lang="ko-KR" altLang="en-US" dirty="0" err="1"/>
              <a:t>시각화해봤는데요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오른쪽</a:t>
            </a:r>
            <a:r>
              <a:rPr lang="en-US" altLang="ko-KR" dirty="0"/>
              <a:t> </a:t>
            </a:r>
            <a:r>
              <a:rPr lang="ko-KR" altLang="en-US" dirty="0" err="1"/>
              <a:t>그림에서와</a:t>
            </a:r>
            <a:r>
              <a:rPr lang="ko-KR" altLang="en-US" dirty="0"/>
              <a:t> 같이 단위행렬 </a:t>
            </a:r>
            <a:r>
              <a:rPr lang="en-US" altLang="ko-KR" dirty="0"/>
              <a:t>I</a:t>
            </a:r>
            <a:r>
              <a:rPr lang="ko-KR" altLang="en-US" dirty="0"/>
              <a:t>와 비슷하게 나오는 것을 확인하였습니다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FA2A73-88C3-40DB-BB01-71C3483A7BA8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936904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그런데</a:t>
            </a:r>
            <a:r>
              <a:rPr lang="en-US" altLang="ko-KR" dirty="0"/>
              <a:t> </a:t>
            </a:r>
            <a:r>
              <a:rPr lang="ko-KR" altLang="en-US" dirty="0" err="1"/>
              <a:t>방금과</a:t>
            </a:r>
            <a:r>
              <a:rPr lang="ko-KR" altLang="en-US" dirty="0"/>
              <a:t> 같은 경우는 이 행렬 </a:t>
            </a:r>
            <a:r>
              <a:rPr lang="en-US" altLang="ko-KR" dirty="0"/>
              <a:t>A</a:t>
            </a:r>
            <a:r>
              <a:rPr lang="ko-KR" altLang="en-US" dirty="0"/>
              <a:t>는 아무리 학습이 진행되어도 단위행렬 </a:t>
            </a:r>
            <a:r>
              <a:rPr lang="en-US" altLang="ko-KR" dirty="0"/>
              <a:t>I</a:t>
            </a:r>
            <a:r>
              <a:rPr lang="ko-KR" altLang="en-US" dirty="0"/>
              <a:t>가 유지되도록 퇴화하지 않는 </a:t>
            </a:r>
            <a:r>
              <a:rPr lang="en-US" altLang="ko-KR" dirty="0"/>
              <a:t>singular value </a:t>
            </a:r>
            <a:r>
              <a:rPr lang="ko-KR" altLang="en-US" dirty="0"/>
              <a:t>들로 초기화 한 경우에 만족을 하구요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실제 시나리오 같이 랜덤하게 </a:t>
            </a:r>
            <a:r>
              <a:rPr lang="en-US" altLang="ko-KR" dirty="0"/>
              <a:t>singular value </a:t>
            </a:r>
            <a:r>
              <a:rPr lang="ko-KR" altLang="en-US" dirty="0"/>
              <a:t>가 초기화 되는 경우에는 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이 </a:t>
            </a:r>
            <a:r>
              <a:rPr lang="en-US" altLang="ko-KR" dirty="0"/>
              <a:t>alignment </a:t>
            </a:r>
            <a:r>
              <a:rPr lang="ko-KR" altLang="en-US" dirty="0"/>
              <a:t>가 완벽하지 않고 따라서 단위 행렬이 아니라 학습이</a:t>
            </a:r>
            <a:r>
              <a:rPr lang="en-US" altLang="ko-KR" dirty="0"/>
              <a:t> </a:t>
            </a:r>
            <a:r>
              <a:rPr lang="ko-KR" altLang="en-US" dirty="0"/>
              <a:t>진행됨에 따라 </a:t>
            </a:r>
            <a:r>
              <a:rPr lang="en-US" altLang="ko-KR" dirty="0"/>
              <a:t>degenerate </a:t>
            </a:r>
            <a:r>
              <a:rPr lang="ko-KR" altLang="en-US" dirty="0"/>
              <a:t>하는 </a:t>
            </a:r>
            <a:r>
              <a:rPr lang="en-US" altLang="ko-KR" dirty="0"/>
              <a:t>singular value </a:t>
            </a:r>
            <a:r>
              <a:rPr lang="ko-KR" altLang="en-US" dirty="0"/>
              <a:t>들로 이루어진 </a:t>
            </a:r>
            <a:r>
              <a:rPr lang="en-US" altLang="ko-KR" dirty="0"/>
              <a:t>block-diagonal </a:t>
            </a:r>
            <a:r>
              <a:rPr lang="ko-KR" altLang="en-US" dirty="0"/>
              <a:t>행렬로 이루어지게 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이 경우 각 </a:t>
            </a:r>
            <a:r>
              <a:rPr lang="en-US" altLang="ko-KR" dirty="0"/>
              <a:t>weight matrix </a:t>
            </a:r>
            <a:r>
              <a:rPr lang="ko-KR" altLang="en-US" dirty="0"/>
              <a:t>의 </a:t>
            </a:r>
            <a:r>
              <a:rPr lang="en-US" altLang="ko-KR" dirty="0"/>
              <a:t>singular value </a:t>
            </a:r>
            <a:r>
              <a:rPr lang="ko-KR" altLang="en-US" dirty="0"/>
              <a:t>들은 아래 두 값에 따라 업데이트 됩니다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FA2A73-88C3-40DB-BB01-71C3483A7BA8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703731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즉 식에서 보듯이 각 </a:t>
            </a:r>
            <a:r>
              <a:rPr lang="en-US" altLang="ko-KR" dirty="0"/>
              <a:t>singular value </a:t>
            </a:r>
            <a:r>
              <a:rPr lang="ko-KR" altLang="en-US" dirty="0"/>
              <a:t>들을 </a:t>
            </a:r>
            <a:r>
              <a:rPr lang="en-US" altLang="ko-KR" dirty="0"/>
              <a:t>update </a:t>
            </a:r>
            <a:r>
              <a:rPr lang="ko-KR" altLang="en-US" dirty="0"/>
              <a:t>하는 값들이 원래 자기 자신의 값에 비례하기 때문에 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작은 </a:t>
            </a:r>
            <a:r>
              <a:rPr lang="en-US" altLang="ko-KR" dirty="0"/>
              <a:t>singular value </a:t>
            </a:r>
            <a:r>
              <a:rPr lang="ko-KR" altLang="en-US" dirty="0"/>
              <a:t>들은 더욱 느리게</a:t>
            </a:r>
            <a:r>
              <a:rPr lang="en-US" altLang="ko-KR" dirty="0"/>
              <a:t>, </a:t>
            </a:r>
            <a:r>
              <a:rPr lang="ko-KR" altLang="en-US" dirty="0"/>
              <a:t>큰 </a:t>
            </a:r>
            <a:r>
              <a:rPr lang="en-US" altLang="ko-KR" dirty="0"/>
              <a:t>singular value </a:t>
            </a:r>
            <a:r>
              <a:rPr lang="ko-KR" altLang="en-US" dirty="0"/>
              <a:t>들은 더욱 빠르게 값이 변합니다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이를 실제 실험에서 측정해보면 아래의 그림과 같이 나오는데요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W1, </a:t>
            </a:r>
            <a:r>
              <a:rPr lang="ko-KR" altLang="en-US" dirty="0"/>
              <a:t>그리고</a:t>
            </a:r>
            <a:r>
              <a:rPr lang="en-US" altLang="ko-KR" dirty="0"/>
              <a:t> W2</a:t>
            </a:r>
            <a:r>
              <a:rPr lang="ko-KR" altLang="en-US" dirty="0"/>
              <a:t>에서 보면 초기에 작은 값을 가졌던 </a:t>
            </a:r>
            <a:r>
              <a:rPr lang="en-US" altLang="ko-KR" dirty="0"/>
              <a:t>singular value </a:t>
            </a:r>
            <a:r>
              <a:rPr lang="ko-KR" altLang="en-US" dirty="0"/>
              <a:t>들은 학습이 진행되면서 오히려 줄어들거나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증가하더라도 더 큰 값에서 시작한 </a:t>
            </a:r>
            <a:r>
              <a:rPr lang="en-US" altLang="ko-KR" dirty="0"/>
              <a:t>singular value </a:t>
            </a:r>
            <a:r>
              <a:rPr lang="ko-KR" altLang="en-US" dirty="0"/>
              <a:t>보다는 느리게 커지는 모습을 보여줍니다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따라서</a:t>
            </a:r>
            <a:r>
              <a:rPr lang="en-US" altLang="ko-KR" dirty="0"/>
              <a:t> covariance </a:t>
            </a:r>
            <a:r>
              <a:rPr lang="ko-KR" altLang="en-US" dirty="0"/>
              <a:t>행렬의 </a:t>
            </a:r>
            <a:r>
              <a:rPr lang="en-US" altLang="ko-KR" dirty="0"/>
              <a:t>singular value </a:t>
            </a:r>
            <a:r>
              <a:rPr lang="ko-KR" altLang="en-US" dirty="0"/>
              <a:t>에 따라 </a:t>
            </a:r>
            <a:r>
              <a:rPr lang="en-US" altLang="ko-KR" dirty="0"/>
              <a:t>embedding space </a:t>
            </a:r>
            <a:r>
              <a:rPr lang="ko-KR" altLang="en-US" dirty="0"/>
              <a:t>가</a:t>
            </a:r>
            <a:r>
              <a:rPr lang="en-US" altLang="ko-KR" dirty="0"/>
              <a:t> </a:t>
            </a:r>
            <a:r>
              <a:rPr lang="ko-KR" altLang="en-US" dirty="0"/>
              <a:t>결정되는데요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이 </a:t>
            </a:r>
            <a:r>
              <a:rPr lang="en-US" altLang="ko-KR" dirty="0"/>
              <a:t>covariance </a:t>
            </a:r>
            <a:r>
              <a:rPr lang="ko-KR" altLang="en-US" dirty="0"/>
              <a:t>행렬은 </a:t>
            </a:r>
            <a:r>
              <a:rPr lang="en-US" altLang="ko-KR" dirty="0"/>
              <a:t>low rank </a:t>
            </a:r>
            <a:r>
              <a:rPr lang="ko-KR" altLang="en-US" dirty="0"/>
              <a:t>인 </a:t>
            </a:r>
            <a:r>
              <a:rPr lang="en-US" altLang="ko-KR" dirty="0"/>
              <a:t>W1W2</a:t>
            </a:r>
            <a:r>
              <a:rPr lang="ko-KR" altLang="en-US" dirty="0"/>
              <a:t>가 </a:t>
            </a:r>
            <a:r>
              <a:rPr lang="ko-KR" altLang="en-US" dirty="0" err="1"/>
              <a:t>곱해져있고</a:t>
            </a:r>
            <a:r>
              <a:rPr lang="ko-KR" altLang="en-US" dirty="0"/>
              <a:t> 따라서 </a:t>
            </a:r>
            <a:r>
              <a:rPr lang="en-US" altLang="ko-KR" dirty="0"/>
              <a:t>Covariance matrix C</a:t>
            </a:r>
            <a:r>
              <a:rPr lang="ko-KR" altLang="en-US" dirty="0"/>
              <a:t>도한 </a:t>
            </a:r>
            <a:r>
              <a:rPr lang="en-US" altLang="ko-KR" dirty="0"/>
              <a:t>low rank </a:t>
            </a:r>
            <a:r>
              <a:rPr lang="ko-KR" altLang="en-US" dirty="0"/>
              <a:t>가 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 err="1"/>
              <a:t>이로인해</a:t>
            </a:r>
            <a:r>
              <a:rPr lang="ko-KR" altLang="en-US" dirty="0"/>
              <a:t> 아래의 맨 오른쪽 그림을 보면 </a:t>
            </a:r>
            <a:r>
              <a:rPr lang="en-US" altLang="ko-KR" dirty="0"/>
              <a:t>embedding space </a:t>
            </a:r>
            <a:r>
              <a:rPr lang="ko-KR" altLang="en-US" dirty="0"/>
              <a:t>또한 학습이 진행되어도 몇몇 </a:t>
            </a:r>
            <a:r>
              <a:rPr lang="en-US" altLang="ko-KR" dirty="0"/>
              <a:t>singular value </a:t>
            </a:r>
            <a:r>
              <a:rPr lang="ko-KR" altLang="en-US" dirty="0"/>
              <a:t>들은 </a:t>
            </a:r>
            <a:r>
              <a:rPr lang="en-US" altLang="ko-KR" dirty="0"/>
              <a:t>0</a:t>
            </a:r>
            <a:r>
              <a:rPr lang="ko-KR" altLang="en-US" dirty="0"/>
              <a:t>에 가까운 값을 가지는</a:t>
            </a:r>
            <a:r>
              <a:rPr lang="en-US" altLang="ko-KR" dirty="0"/>
              <a:t>, dimensional collapse </a:t>
            </a:r>
            <a:r>
              <a:rPr lang="ko-KR" altLang="en-US" dirty="0"/>
              <a:t>가 발생하게 됩니다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FA2A73-88C3-40DB-BB01-71C3483A7BA8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27204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이제 이를 두개 층의 네트워크에서 더 많은 층의 네트워크로 확장함으로써 </a:t>
            </a:r>
            <a:r>
              <a:rPr lang="en-US" altLang="ko-KR" dirty="0"/>
              <a:t>over-parameter </a:t>
            </a:r>
            <a:r>
              <a:rPr lang="ko-KR" altLang="en-US" dirty="0"/>
              <a:t>화된 경우는 </a:t>
            </a:r>
            <a:r>
              <a:rPr lang="ko-KR" altLang="en-US" dirty="0" err="1"/>
              <a:t>어떤지</a:t>
            </a:r>
            <a:r>
              <a:rPr lang="ko-KR" altLang="en-US" dirty="0"/>
              <a:t> 실험적으로 살펴보겠습니다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결과적으로는</a:t>
            </a:r>
            <a:r>
              <a:rPr lang="en-US" altLang="ko-KR" dirty="0"/>
              <a:t> </a:t>
            </a:r>
            <a:r>
              <a:rPr lang="ko-KR" altLang="en-US" dirty="0"/>
              <a:t>층이 더 깊어질수록 </a:t>
            </a:r>
            <a:r>
              <a:rPr lang="en-US" altLang="ko-KR" dirty="0"/>
              <a:t>collapse </a:t>
            </a:r>
            <a:r>
              <a:rPr lang="ko-KR" altLang="en-US" dirty="0"/>
              <a:t>현상은 더욱 심해집니다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아래의</a:t>
            </a:r>
            <a:r>
              <a:rPr lang="en-US" altLang="ko-KR" dirty="0"/>
              <a:t> </a:t>
            </a:r>
            <a:r>
              <a:rPr lang="ko-KR" altLang="en-US" dirty="0"/>
              <a:t>왼쪽 그림을 보시면 층 개수인 </a:t>
            </a:r>
            <a:r>
              <a:rPr lang="en-US" altLang="ko-KR" dirty="0"/>
              <a:t>L </a:t>
            </a:r>
            <a:r>
              <a:rPr lang="ko-KR" altLang="en-US" dirty="0"/>
              <a:t>이 </a:t>
            </a:r>
            <a:r>
              <a:rPr lang="en-US" altLang="ko-KR" dirty="0"/>
              <a:t>1</a:t>
            </a:r>
            <a:r>
              <a:rPr lang="ko-KR" altLang="en-US" dirty="0"/>
              <a:t>에서 </a:t>
            </a:r>
            <a:r>
              <a:rPr lang="en-US" altLang="ko-KR" dirty="0"/>
              <a:t>4</a:t>
            </a:r>
            <a:r>
              <a:rPr lang="ko-KR" altLang="en-US" dirty="0"/>
              <a:t>로 커지면 커질수록 </a:t>
            </a:r>
            <a:r>
              <a:rPr lang="en-US" altLang="ko-KR" dirty="0"/>
              <a:t>0</a:t>
            </a:r>
            <a:r>
              <a:rPr lang="ko-KR" altLang="en-US" dirty="0"/>
              <a:t>에 가까운 </a:t>
            </a:r>
            <a:r>
              <a:rPr lang="en-US" altLang="ko-KR" dirty="0"/>
              <a:t>singular value </a:t>
            </a:r>
            <a:r>
              <a:rPr lang="ko-KR" altLang="en-US" dirty="0"/>
              <a:t>의 개수가 점점 늘어나는 것을 볼 수 있습니다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이는 더 많은 행렬들이 곱해질수록 그 붕괴가 점점 증폭되기 때문입니다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그리고</a:t>
            </a:r>
            <a:r>
              <a:rPr lang="en-US" altLang="ko-KR" dirty="0"/>
              <a:t> </a:t>
            </a:r>
            <a:r>
              <a:rPr lang="en-US" altLang="ko-KR" dirty="0" err="1"/>
              <a:t>ReLU</a:t>
            </a:r>
            <a:r>
              <a:rPr lang="ko-KR" altLang="en-US" dirty="0"/>
              <a:t>함수를 </a:t>
            </a:r>
            <a:r>
              <a:rPr lang="en-US" altLang="ko-KR" dirty="0"/>
              <a:t>2</a:t>
            </a:r>
            <a:r>
              <a:rPr lang="ko-KR" altLang="en-US" dirty="0"/>
              <a:t>개 층 사이에 </a:t>
            </a:r>
            <a:r>
              <a:rPr lang="ko-KR" altLang="en-US" dirty="0" err="1"/>
              <a:t>끼워넣었을때도</a:t>
            </a:r>
            <a:r>
              <a:rPr lang="ko-KR" altLang="en-US" dirty="0"/>
              <a:t> 똑같이 </a:t>
            </a:r>
            <a:r>
              <a:rPr lang="en-US" altLang="ko-KR" dirty="0"/>
              <a:t>dimensional collapse </a:t>
            </a:r>
            <a:r>
              <a:rPr lang="ko-KR" altLang="en-US" dirty="0"/>
              <a:t>가 </a:t>
            </a:r>
            <a:r>
              <a:rPr lang="en-US" altLang="ko-KR" dirty="0" err="1"/>
              <a:t>ReLU</a:t>
            </a:r>
            <a:r>
              <a:rPr lang="ko-KR" altLang="en-US" dirty="0"/>
              <a:t>함수가 </a:t>
            </a:r>
            <a:r>
              <a:rPr lang="ko-KR" altLang="en-US" dirty="0" err="1"/>
              <a:t>없을때와</a:t>
            </a:r>
            <a:r>
              <a:rPr lang="ko-KR" altLang="en-US" dirty="0"/>
              <a:t> 비슷하게 발생하는 것을 오른쪽 그림에서 볼 수 있습니다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FA2A73-88C3-40DB-BB01-71C3483A7BA8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72750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여기까지가</a:t>
            </a:r>
            <a:r>
              <a:rPr lang="ko-KR" altLang="en-US" dirty="0"/>
              <a:t> 이 논문의 </a:t>
            </a:r>
            <a:r>
              <a:rPr lang="en-US" altLang="ko-KR" dirty="0"/>
              <a:t>background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FA2A73-88C3-40DB-BB01-71C3483A7BA8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759468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이번</a:t>
            </a:r>
            <a:r>
              <a:rPr lang="en-US" altLang="ko-KR" dirty="0"/>
              <a:t> </a:t>
            </a:r>
            <a:r>
              <a:rPr lang="ko-KR" altLang="en-US" dirty="0"/>
              <a:t>방에서는 </a:t>
            </a:r>
            <a:r>
              <a:rPr lang="en-US" altLang="ko-KR" dirty="0"/>
              <a:t>contrastive learning </a:t>
            </a:r>
            <a:r>
              <a:rPr lang="ko-KR" altLang="en-US" dirty="0"/>
              <a:t>에서 사용했던 </a:t>
            </a:r>
            <a:r>
              <a:rPr lang="en-US" altLang="ko-KR" dirty="0"/>
              <a:t>projector </a:t>
            </a:r>
            <a:r>
              <a:rPr lang="ko-KR" altLang="en-US" dirty="0"/>
              <a:t>의 역할을 소개해드리고 </a:t>
            </a: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이 논문에서 </a:t>
            </a:r>
            <a:r>
              <a:rPr lang="en-US" altLang="ko-KR" dirty="0"/>
              <a:t>projector </a:t>
            </a:r>
            <a:r>
              <a:rPr lang="ko-KR" altLang="en-US" dirty="0"/>
              <a:t>없이도 </a:t>
            </a:r>
            <a:r>
              <a:rPr lang="en-US" altLang="ko-KR" dirty="0"/>
              <a:t>projector </a:t>
            </a:r>
            <a:r>
              <a:rPr lang="ko-KR" altLang="en-US" dirty="0"/>
              <a:t>의 효과를 내는 새로운 </a:t>
            </a:r>
            <a:r>
              <a:rPr lang="en-US" altLang="ko-KR" dirty="0"/>
              <a:t>contrastive learning</a:t>
            </a:r>
            <a:r>
              <a:rPr lang="ko-KR" altLang="en-US" dirty="0"/>
              <a:t> 방법인 </a:t>
            </a:r>
            <a:r>
              <a:rPr lang="en-US" altLang="ko-KR" dirty="0" err="1"/>
              <a:t>DirectCLR</a:t>
            </a:r>
            <a:r>
              <a:rPr lang="ko-KR" altLang="en-US" dirty="0"/>
              <a:t>을 소개해드리겠습니다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FA2A73-88C3-40DB-BB01-71C3483A7BA8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080054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앞에서도 언급했듯이 </a:t>
            </a:r>
            <a:r>
              <a:rPr lang="en-US" altLang="ko-KR" dirty="0" err="1"/>
              <a:t>SimCLR</a:t>
            </a:r>
            <a:r>
              <a:rPr lang="ko-KR" altLang="en-US" dirty="0"/>
              <a:t>로 학습했을 때</a:t>
            </a:r>
            <a:r>
              <a:rPr lang="en-US" altLang="ko-KR" dirty="0"/>
              <a:t>, 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아래의 왼쪽 그림에서 </a:t>
            </a:r>
            <a:r>
              <a:rPr lang="en-US" altLang="ko-KR" dirty="0"/>
              <a:t>projector </a:t>
            </a:r>
            <a:r>
              <a:rPr lang="ko-KR" altLang="en-US" dirty="0"/>
              <a:t>이후의 </a:t>
            </a:r>
            <a:r>
              <a:rPr lang="en-US" altLang="ko-KR" dirty="0"/>
              <a:t>embedding vector </a:t>
            </a:r>
            <a:r>
              <a:rPr lang="ko-KR" altLang="en-US" dirty="0"/>
              <a:t>들은 </a:t>
            </a:r>
            <a:r>
              <a:rPr lang="en-US" altLang="ko-KR" dirty="0"/>
              <a:t>dimensional collapse </a:t>
            </a:r>
            <a:r>
              <a:rPr lang="ko-KR" altLang="en-US" dirty="0"/>
              <a:t>를 겪습니다</a:t>
            </a:r>
            <a:r>
              <a:rPr lang="en-US" altLang="ko-KR" dirty="0"/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그런데 대신 </a:t>
            </a:r>
            <a:r>
              <a:rPr lang="en-US" altLang="ko-KR" dirty="0"/>
              <a:t>projector </a:t>
            </a:r>
            <a:r>
              <a:rPr lang="ko-KR" altLang="en-US" dirty="0"/>
              <a:t>이전에 </a:t>
            </a:r>
            <a:r>
              <a:rPr lang="en-US" altLang="ko-KR" dirty="0"/>
              <a:t>encoder </a:t>
            </a:r>
            <a:r>
              <a:rPr lang="ko-KR" altLang="en-US" dirty="0"/>
              <a:t>만 통과한 </a:t>
            </a:r>
            <a:r>
              <a:rPr lang="en-US" altLang="ko-KR" dirty="0"/>
              <a:t>representation </a:t>
            </a:r>
            <a:r>
              <a:rPr lang="ko-KR" altLang="en-US" dirty="0"/>
              <a:t>같은 경우에는 오른쪽 그림과 같이 </a:t>
            </a:r>
            <a:r>
              <a:rPr lang="en-US" altLang="ko-KR" dirty="0"/>
              <a:t>dimensional collapse </a:t>
            </a:r>
            <a:r>
              <a:rPr lang="ko-KR" altLang="en-US" dirty="0"/>
              <a:t>가 덜 심한 것을 알 수 있습니다</a:t>
            </a:r>
            <a:r>
              <a:rPr lang="en-US" altLang="ko-KR" dirty="0"/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만약</a:t>
            </a:r>
            <a:r>
              <a:rPr lang="en-US" altLang="ko-KR" dirty="0"/>
              <a:t> projector </a:t>
            </a:r>
            <a:r>
              <a:rPr lang="ko-KR" altLang="en-US" dirty="0"/>
              <a:t>가 없이 학습된 </a:t>
            </a:r>
            <a:r>
              <a:rPr lang="en-US" altLang="ko-KR" dirty="0"/>
              <a:t>representation </a:t>
            </a:r>
            <a:r>
              <a:rPr lang="ko-KR" altLang="en-US" dirty="0"/>
              <a:t>이라면 또 </a:t>
            </a:r>
            <a:r>
              <a:rPr lang="en-US" altLang="ko-KR" dirty="0"/>
              <a:t>dimensional collapse </a:t>
            </a:r>
            <a:r>
              <a:rPr lang="ko-KR" altLang="en-US" dirty="0"/>
              <a:t>를 겪게 됩니다</a:t>
            </a:r>
            <a:r>
              <a:rPr lang="en-US" altLang="ko-KR" dirty="0"/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이를 나타낸 것이 오른쪽 그림인데요</a:t>
            </a: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 err="1"/>
              <a:t>노랜색은</a:t>
            </a:r>
            <a:r>
              <a:rPr lang="en-US" altLang="ko-KR" dirty="0"/>
              <a:t> projector </a:t>
            </a:r>
            <a:r>
              <a:rPr lang="ko-KR" altLang="en-US" dirty="0"/>
              <a:t>없이 학습한 </a:t>
            </a:r>
            <a:r>
              <a:rPr lang="en-US" altLang="ko-KR" dirty="0"/>
              <a:t>representation </a:t>
            </a:r>
            <a:r>
              <a:rPr lang="ko-KR" altLang="en-US" dirty="0"/>
              <a:t>의 </a:t>
            </a:r>
            <a:r>
              <a:rPr lang="en-US" altLang="ko-KR" dirty="0"/>
              <a:t>singular value </a:t>
            </a:r>
            <a:r>
              <a:rPr lang="ko-KR" altLang="en-US" dirty="0"/>
              <a:t>들이고</a:t>
            </a: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파란색은 </a:t>
            </a:r>
            <a:r>
              <a:rPr lang="en-US" altLang="ko-KR" dirty="0"/>
              <a:t>projector </a:t>
            </a:r>
            <a:r>
              <a:rPr lang="ko-KR" altLang="en-US" dirty="0"/>
              <a:t>사용하여 학습한 </a:t>
            </a:r>
            <a:r>
              <a:rPr lang="en-US" altLang="ko-KR" dirty="0"/>
              <a:t>representation </a:t>
            </a:r>
            <a:r>
              <a:rPr lang="ko-KR" altLang="en-US" dirty="0"/>
              <a:t>의 </a:t>
            </a:r>
            <a:r>
              <a:rPr lang="en-US" altLang="ko-KR" dirty="0"/>
              <a:t>singular value </a:t>
            </a:r>
            <a:r>
              <a:rPr lang="ko-KR" altLang="en-US" dirty="0"/>
              <a:t>들입니다</a:t>
            </a:r>
            <a:r>
              <a:rPr lang="en-US" altLang="ko-KR" dirty="0"/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그리고 다들 아시겠지만 </a:t>
            </a:r>
            <a:r>
              <a:rPr lang="en-US" altLang="ko-KR" dirty="0" err="1"/>
              <a:t>SimCLR</a:t>
            </a:r>
            <a:r>
              <a:rPr lang="ko-KR" altLang="en-US" dirty="0"/>
              <a:t>같은 경우 </a:t>
            </a:r>
            <a:r>
              <a:rPr lang="en-US" altLang="ko-KR" dirty="0"/>
              <a:t>projector </a:t>
            </a:r>
            <a:r>
              <a:rPr lang="ko-KR" altLang="en-US" dirty="0"/>
              <a:t>들은 </a:t>
            </a:r>
            <a:r>
              <a:rPr lang="en-US" altLang="ko-KR" dirty="0"/>
              <a:t>downstream task </a:t>
            </a:r>
            <a:r>
              <a:rPr lang="ko-KR" altLang="en-US" dirty="0"/>
              <a:t>를 수행할 때는 버려지고 </a:t>
            </a:r>
            <a:r>
              <a:rPr lang="en-US" altLang="ko-KR" dirty="0"/>
              <a:t>representation </a:t>
            </a:r>
            <a:r>
              <a:rPr lang="ko-KR" altLang="en-US" dirty="0"/>
              <a:t>만이 사용됩니다</a:t>
            </a:r>
            <a:r>
              <a:rPr lang="en-US" altLang="ko-KR" dirty="0"/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FA2A73-88C3-40DB-BB01-71C3483A7BA8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946802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그러면</a:t>
            </a:r>
            <a:r>
              <a:rPr lang="en-US" altLang="ko-KR" dirty="0"/>
              <a:t> </a:t>
            </a:r>
            <a:r>
              <a:rPr lang="ko-KR" altLang="en-US" dirty="0"/>
              <a:t>여기서 </a:t>
            </a:r>
            <a:r>
              <a:rPr lang="en-US" altLang="ko-KR" dirty="0"/>
              <a:t>projector </a:t>
            </a:r>
            <a:r>
              <a:rPr lang="ko-KR" altLang="en-US" dirty="0"/>
              <a:t>는 어떤 형태를 가지고 그리고</a:t>
            </a:r>
            <a:r>
              <a:rPr lang="en-US" altLang="ko-KR" dirty="0"/>
              <a:t> </a:t>
            </a:r>
            <a:r>
              <a:rPr lang="ko-KR" altLang="en-US" dirty="0"/>
              <a:t>어떤 영향을 미치는지 생각해보면</a:t>
            </a: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먼저 </a:t>
            </a:r>
            <a:r>
              <a:rPr lang="en-US" altLang="ko-KR" dirty="0"/>
              <a:t>projector </a:t>
            </a:r>
            <a:r>
              <a:rPr lang="ko-KR" altLang="en-US" dirty="0"/>
              <a:t>의 </a:t>
            </a:r>
            <a:r>
              <a:rPr lang="en-US" altLang="ko-KR" dirty="0"/>
              <a:t>weight matrix </a:t>
            </a:r>
            <a:r>
              <a:rPr lang="ko-KR" altLang="en-US" dirty="0"/>
              <a:t>는 </a:t>
            </a:r>
            <a:r>
              <a:rPr lang="en-US" altLang="ko-KR" dirty="0"/>
              <a:t>diagonal </a:t>
            </a:r>
            <a:r>
              <a:rPr lang="ko-KR" altLang="en-US" dirty="0"/>
              <a:t>할 겁니다</a:t>
            </a:r>
            <a:r>
              <a:rPr lang="en-US" altLang="ko-KR" dirty="0"/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즉 </a:t>
            </a:r>
            <a:r>
              <a:rPr lang="en-US" altLang="ko-KR" dirty="0"/>
              <a:t>projector </a:t>
            </a:r>
            <a:r>
              <a:rPr lang="ko-KR" altLang="en-US" dirty="0"/>
              <a:t>의 </a:t>
            </a:r>
            <a:r>
              <a:rPr lang="en-US" altLang="ko-KR" dirty="0"/>
              <a:t>weight matrix </a:t>
            </a:r>
            <a:r>
              <a:rPr lang="ko-KR" altLang="en-US" dirty="0"/>
              <a:t>가 </a:t>
            </a:r>
            <a:r>
              <a:rPr lang="en-US" altLang="ko-KR" dirty="0"/>
              <a:t>encoder </a:t>
            </a:r>
            <a:r>
              <a:rPr lang="ko-KR" altLang="en-US" dirty="0"/>
              <a:t>의 </a:t>
            </a:r>
            <a:r>
              <a:rPr lang="en-US" altLang="ko-KR" dirty="0"/>
              <a:t>weight matrix </a:t>
            </a:r>
            <a:r>
              <a:rPr lang="ko-KR" altLang="en-US" dirty="0"/>
              <a:t>와도 정렬이 발생하면서 </a:t>
            </a: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Projector </a:t>
            </a:r>
            <a:r>
              <a:rPr lang="ko-KR" altLang="en-US" dirty="0"/>
              <a:t>의 두 직교함수가 서로 합쳐지면서 단위행렬이 되고 이는 즉 단순히 </a:t>
            </a:r>
            <a:r>
              <a:rPr lang="en-US" altLang="ko-KR" dirty="0"/>
              <a:t>projector </a:t>
            </a:r>
            <a:r>
              <a:rPr lang="ko-KR" altLang="en-US" dirty="0"/>
              <a:t>는 대각행렬의 형대만 되는 것입니다</a:t>
            </a:r>
            <a:r>
              <a:rPr lang="en-US" altLang="ko-KR" dirty="0"/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그리고 이러한 </a:t>
            </a:r>
            <a:r>
              <a:rPr lang="en-US" altLang="ko-KR" dirty="0"/>
              <a:t>projector </a:t>
            </a:r>
            <a:r>
              <a:rPr lang="ko-KR" altLang="en-US" dirty="0"/>
              <a:t>는 </a:t>
            </a:r>
            <a:r>
              <a:rPr lang="en-US" altLang="ko-KR" dirty="0"/>
              <a:t>low-rank </a:t>
            </a:r>
            <a:r>
              <a:rPr lang="ko-KR" altLang="en-US" dirty="0"/>
              <a:t>이기 때문에 </a:t>
            </a:r>
            <a:r>
              <a:rPr lang="en-US" altLang="ko-KR" dirty="0"/>
              <a:t>projector </a:t>
            </a:r>
            <a:r>
              <a:rPr lang="ko-KR" altLang="en-US" dirty="0"/>
              <a:t>이전의 </a:t>
            </a:r>
            <a:r>
              <a:rPr lang="en-US" altLang="ko-KR" dirty="0"/>
              <a:t>representation </a:t>
            </a:r>
            <a:r>
              <a:rPr lang="ko-KR" altLang="en-US" dirty="0"/>
              <a:t>에 또한 </a:t>
            </a:r>
            <a:r>
              <a:rPr lang="en-US" altLang="ko-KR" dirty="0"/>
              <a:t>low-rank </a:t>
            </a:r>
            <a:r>
              <a:rPr lang="ko-KR" altLang="en-US" dirty="0"/>
              <a:t>에만 </a:t>
            </a:r>
            <a:r>
              <a:rPr lang="en-US" altLang="ko-KR" dirty="0"/>
              <a:t>gradient </a:t>
            </a:r>
            <a:r>
              <a:rPr lang="ko-KR" altLang="en-US" dirty="0"/>
              <a:t>를 전달하게 됩니다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FA2A73-88C3-40DB-BB01-71C3483A7BA8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052295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그러면 저자는 여기서 다음과 같이 생각합니다</a:t>
            </a:r>
            <a:r>
              <a:rPr lang="en-US" altLang="ko-KR" dirty="0"/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어차피 </a:t>
            </a:r>
            <a:r>
              <a:rPr lang="en-US" altLang="ko-KR" dirty="0"/>
              <a:t>projector </a:t>
            </a:r>
            <a:r>
              <a:rPr lang="ko-KR" altLang="en-US" dirty="0"/>
              <a:t>가 </a:t>
            </a:r>
            <a:r>
              <a:rPr lang="en-US" altLang="ko-KR" dirty="0"/>
              <a:t>low rank </a:t>
            </a:r>
            <a:r>
              <a:rPr lang="ko-KR" altLang="en-US" dirty="0"/>
              <a:t>의 </a:t>
            </a:r>
            <a:r>
              <a:rPr lang="en-US" altLang="ko-KR" dirty="0"/>
              <a:t>representation </a:t>
            </a:r>
            <a:r>
              <a:rPr lang="ko-KR" altLang="en-US" dirty="0"/>
              <a:t>에만 영향을 미치는 거라면</a:t>
            </a: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아예 </a:t>
            </a:r>
            <a:r>
              <a:rPr lang="en-US" altLang="ko-KR" dirty="0"/>
              <a:t>projector </a:t>
            </a:r>
            <a:r>
              <a:rPr lang="ko-KR" altLang="en-US" dirty="0"/>
              <a:t>를 없애고 </a:t>
            </a:r>
            <a:r>
              <a:rPr lang="ko-KR" altLang="en-US" dirty="0" err="1"/>
              <a:t>다이렉트하게</a:t>
            </a:r>
            <a:r>
              <a:rPr lang="en-US" altLang="ko-KR" dirty="0"/>
              <a:t> representation </a:t>
            </a:r>
            <a:r>
              <a:rPr lang="ko-KR" altLang="en-US" dirty="0"/>
              <a:t>의 </a:t>
            </a:r>
            <a:r>
              <a:rPr lang="en-US" altLang="ko-KR" dirty="0"/>
              <a:t>low-rank </a:t>
            </a:r>
            <a:r>
              <a:rPr lang="ko-KR" altLang="en-US" dirty="0"/>
              <a:t>만 가지고 </a:t>
            </a:r>
            <a:r>
              <a:rPr lang="en-US" altLang="ko-KR" dirty="0"/>
              <a:t>Loss </a:t>
            </a:r>
            <a:r>
              <a:rPr lang="ko-KR" altLang="en-US" dirty="0"/>
              <a:t>를 계산하면 비슷한 효과를 내면서</a:t>
            </a: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 err="1"/>
              <a:t>SimCLR</a:t>
            </a:r>
            <a:r>
              <a:rPr lang="en-US" altLang="ko-KR" dirty="0"/>
              <a:t> </a:t>
            </a:r>
            <a:r>
              <a:rPr lang="ko-KR" altLang="en-US" dirty="0"/>
              <a:t>의 학습방법이 좀더 간소화 될 수 있지 않을까</a:t>
            </a:r>
            <a:r>
              <a:rPr lang="en-US" altLang="ko-KR" dirty="0"/>
              <a:t>…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그렇게</a:t>
            </a:r>
            <a:r>
              <a:rPr lang="en-US" altLang="ko-KR" dirty="0"/>
              <a:t> </a:t>
            </a:r>
            <a:r>
              <a:rPr lang="ko-KR" altLang="en-US" dirty="0"/>
              <a:t>해서 나온 것이 </a:t>
            </a:r>
            <a:r>
              <a:rPr lang="en-US" altLang="ko-KR" dirty="0" err="1"/>
              <a:t>DirectCLR</a:t>
            </a:r>
            <a:r>
              <a:rPr lang="en-US" altLang="ko-KR" dirty="0"/>
              <a:t> </a:t>
            </a:r>
            <a:r>
              <a:rPr lang="ko-KR" altLang="en-US" dirty="0"/>
              <a:t>입니다</a:t>
            </a:r>
            <a:r>
              <a:rPr lang="en-US" altLang="ko-KR" dirty="0"/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 err="1"/>
              <a:t>DirectCLR</a:t>
            </a:r>
            <a:r>
              <a:rPr lang="en-US" altLang="ko-KR" dirty="0"/>
              <a:t> </a:t>
            </a:r>
            <a:r>
              <a:rPr lang="ko-KR" altLang="en-US" dirty="0"/>
              <a:t>는 오른쪽 그림과 같이 </a:t>
            </a:r>
            <a:r>
              <a:rPr lang="en-US" altLang="ko-KR" dirty="0"/>
              <a:t>representation vector r</a:t>
            </a:r>
            <a:r>
              <a:rPr lang="ko-KR" altLang="en-US" dirty="0"/>
              <a:t>에서 오직 </a:t>
            </a:r>
            <a:r>
              <a:rPr lang="en-US" altLang="ko-KR" dirty="0"/>
              <a:t>sub vector </a:t>
            </a:r>
            <a:r>
              <a:rPr lang="ko-KR" altLang="en-US" dirty="0"/>
              <a:t>만으로</a:t>
            </a:r>
            <a:r>
              <a:rPr lang="en-US" altLang="ko-KR" dirty="0"/>
              <a:t> loss </a:t>
            </a:r>
            <a:r>
              <a:rPr lang="ko-KR" altLang="en-US" dirty="0"/>
              <a:t>가 계산되어 학습됩니다</a:t>
            </a:r>
            <a:r>
              <a:rPr lang="en-US" altLang="ko-KR" dirty="0"/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 err="1"/>
              <a:t>DirectCLR</a:t>
            </a:r>
            <a:r>
              <a:rPr lang="ko-KR" altLang="en-US" dirty="0"/>
              <a:t>의 성능을 </a:t>
            </a:r>
            <a:r>
              <a:rPr lang="en-US" altLang="ko-KR" dirty="0" err="1"/>
              <a:t>SimCLR</a:t>
            </a:r>
            <a:r>
              <a:rPr lang="ko-KR" altLang="en-US" dirty="0"/>
              <a:t>와 비교하기 위해 </a:t>
            </a:r>
            <a:r>
              <a:rPr lang="en-US" altLang="ko-KR" dirty="0" err="1"/>
              <a:t>SimCLR</a:t>
            </a:r>
            <a:r>
              <a:rPr lang="ko-KR" altLang="en-US" dirty="0"/>
              <a:t>의 표준 학습방식으로</a:t>
            </a:r>
            <a:r>
              <a:rPr lang="en-US" altLang="ko-KR" dirty="0"/>
              <a:t>100 epoch </a:t>
            </a:r>
            <a:r>
              <a:rPr lang="ko-KR" altLang="en-US" dirty="0"/>
              <a:t>동안</a:t>
            </a:r>
            <a:r>
              <a:rPr lang="en-US" altLang="ko-KR" dirty="0"/>
              <a:t> ResNet50</a:t>
            </a:r>
            <a:r>
              <a:rPr lang="ko-KR" altLang="en-US" dirty="0"/>
              <a:t>을 베이스로 하여 학습을 </a:t>
            </a:r>
            <a:r>
              <a:rPr lang="ko-KR" altLang="en-US" dirty="0" err="1"/>
              <a:t>시켰구요</a:t>
            </a: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이후 </a:t>
            </a:r>
            <a:r>
              <a:rPr lang="en-US" altLang="ko-KR" dirty="0"/>
              <a:t>ImageNet</a:t>
            </a:r>
            <a:r>
              <a:rPr lang="ko-KR" altLang="en-US" dirty="0"/>
              <a:t>에 대한 성능을 비교하면 아래 표와 같습니다</a:t>
            </a:r>
            <a:r>
              <a:rPr lang="en-US" altLang="ko-KR" dirty="0"/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보시면 </a:t>
            </a:r>
            <a:r>
              <a:rPr lang="en-US" altLang="ko-KR" dirty="0"/>
              <a:t>2</a:t>
            </a:r>
            <a:r>
              <a:rPr lang="ko-KR" altLang="en-US" dirty="0"/>
              <a:t>개 </a:t>
            </a:r>
            <a:r>
              <a:rPr lang="en-US" altLang="ko-KR" dirty="0"/>
              <a:t>layer </a:t>
            </a:r>
            <a:r>
              <a:rPr lang="ko-KR" altLang="en-US" dirty="0"/>
              <a:t>의 </a:t>
            </a:r>
            <a:r>
              <a:rPr lang="en-US" altLang="ko-KR" dirty="0"/>
              <a:t>projector </a:t>
            </a:r>
            <a:r>
              <a:rPr lang="ko-KR" altLang="en-US" dirty="0"/>
              <a:t>를 </a:t>
            </a:r>
            <a:r>
              <a:rPr lang="ko-KR" altLang="en-US" dirty="0" err="1"/>
              <a:t>사용한것</a:t>
            </a:r>
            <a:r>
              <a:rPr lang="ko-KR" altLang="en-US" dirty="0"/>
              <a:t> 만큼은 아니지만 </a:t>
            </a:r>
            <a:r>
              <a:rPr lang="en-US" altLang="ko-KR" dirty="0"/>
              <a:t>1</a:t>
            </a:r>
            <a:r>
              <a:rPr lang="ko-KR" altLang="en-US" dirty="0" err="1"/>
              <a:t>개층의</a:t>
            </a:r>
            <a:r>
              <a:rPr lang="ko-KR" altLang="en-US" dirty="0"/>
              <a:t> </a:t>
            </a:r>
            <a:r>
              <a:rPr lang="en-US" altLang="ko-KR" dirty="0"/>
              <a:t>projector </a:t>
            </a:r>
            <a:r>
              <a:rPr lang="ko-KR" altLang="en-US" dirty="0"/>
              <a:t>를 사용했을 때보다 더 높은 성능을 보여줍니다</a:t>
            </a:r>
            <a:r>
              <a:rPr lang="en-US" altLang="ko-KR" dirty="0"/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그리고 각 경우에 대해 </a:t>
            </a:r>
            <a:r>
              <a:rPr lang="en-US" altLang="ko-KR" dirty="0"/>
              <a:t>representation </a:t>
            </a:r>
            <a:r>
              <a:rPr lang="ko-KR" altLang="en-US" dirty="0"/>
              <a:t>의 </a:t>
            </a:r>
            <a:r>
              <a:rPr lang="en-US" altLang="ko-KR" dirty="0"/>
              <a:t>singular value </a:t>
            </a:r>
            <a:r>
              <a:rPr lang="ko-KR" altLang="en-US" dirty="0"/>
              <a:t>를 시각화 </a:t>
            </a:r>
            <a:r>
              <a:rPr lang="ko-KR" altLang="en-US" dirty="0" err="1"/>
              <a:t>한것이</a:t>
            </a:r>
            <a:r>
              <a:rPr lang="ko-KR" altLang="en-US" dirty="0"/>
              <a:t> 오른쪽 그림인데요</a:t>
            </a: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보시면 </a:t>
            </a:r>
            <a:r>
              <a:rPr lang="en-US" altLang="ko-KR" dirty="0" err="1"/>
              <a:t>DirectCLR</a:t>
            </a:r>
            <a:r>
              <a:rPr lang="en-US" altLang="ko-KR" dirty="0"/>
              <a:t> </a:t>
            </a:r>
            <a:r>
              <a:rPr lang="ko-KR" altLang="en-US" dirty="0"/>
              <a:t>가 </a:t>
            </a:r>
            <a:r>
              <a:rPr lang="en-US" altLang="ko-KR" dirty="0"/>
              <a:t>projector </a:t>
            </a:r>
            <a:r>
              <a:rPr lang="ko-KR" altLang="en-US" dirty="0"/>
              <a:t>없이 학습했음에도 불구하고 </a:t>
            </a:r>
            <a:r>
              <a:rPr lang="en-US" altLang="ko-KR" dirty="0"/>
              <a:t>projector</a:t>
            </a:r>
            <a:r>
              <a:rPr lang="ko-KR" altLang="en-US" dirty="0"/>
              <a:t>를 써서 </a:t>
            </a:r>
            <a:r>
              <a:rPr lang="en-US" altLang="ko-KR" dirty="0"/>
              <a:t>dimensional collapse </a:t>
            </a:r>
            <a:r>
              <a:rPr lang="ko-KR" altLang="en-US" dirty="0"/>
              <a:t>를 예방한 </a:t>
            </a:r>
            <a:r>
              <a:rPr lang="en-US" altLang="ko-KR" dirty="0" err="1"/>
              <a:t>SimCLR</a:t>
            </a:r>
            <a:r>
              <a:rPr lang="ko-KR" altLang="en-US" dirty="0"/>
              <a:t>만큼 </a:t>
            </a:r>
            <a:r>
              <a:rPr lang="en-US" altLang="ko-KR" dirty="0"/>
              <a:t>singular value </a:t>
            </a:r>
            <a:r>
              <a:rPr lang="ko-KR" altLang="en-US" dirty="0"/>
              <a:t>값들이 존재하는 것을 볼 수 있습니다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FA2A73-88C3-40DB-BB01-71C3483A7BA8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616066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그런데 이때 의문이 들 수 있는 점이 있습니다</a:t>
            </a:r>
            <a:r>
              <a:rPr lang="en-US" altLang="ko-KR" dirty="0"/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Gradient </a:t>
            </a:r>
            <a:r>
              <a:rPr lang="ko-KR" altLang="en-US" dirty="0"/>
              <a:t>는 오직 </a:t>
            </a:r>
            <a:r>
              <a:rPr lang="en-US" altLang="ko-KR" dirty="0"/>
              <a:t>representation </a:t>
            </a:r>
            <a:r>
              <a:rPr lang="ko-KR" altLang="en-US" dirty="0"/>
              <a:t>의 일부분만 사용했는데 왜 정확도 측정은 전체 </a:t>
            </a:r>
            <a:r>
              <a:rPr lang="en-US" altLang="ko-KR" dirty="0"/>
              <a:t>representation </a:t>
            </a:r>
            <a:r>
              <a:rPr lang="ko-KR" altLang="en-US" dirty="0"/>
              <a:t>을 이용해서 측정하는가</a:t>
            </a:r>
            <a:r>
              <a:rPr lang="en-US" altLang="ko-KR" dirty="0"/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나머지 부분에도 유용한 정보가 있기는 </a:t>
            </a:r>
            <a:r>
              <a:rPr lang="ko-KR" altLang="en-US" dirty="0" err="1"/>
              <a:t>한건가</a:t>
            </a:r>
            <a:r>
              <a:rPr lang="en-US" altLang="ko-KR" dirty="0"/>
              <a:t>? </a:t>
            </a:r>
            <a:r>
              <a:rPr lang="ko-KR" altLang="en-US" dirty="0"/>
              <a:t>라고 생각이 들 수 있는데요</a:t>
            </a: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일단은 </a:t>
            </a:r>
            <a:r>
              <a:rPr lang="en-US" altLang="ko-KR" dirty="0"/>
              <a:t>representation </a:t>
            </a:r>
            <a:r>
              <a:rPr lang="ko-KR" altLang="en-US" dirty="0"/>
              <a:t>의 나머지 부분에도 유용한 정보가 들어있기는 합니다</a:t>
            </a:r>
            <a:r>
              <a:rPr lang="en-US" altLang="ko-KR" dirty="0"/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왜냐하면 나머지 부분 </a:t>
            </a:r>
            <a:r>
              <a:rPr lang="en-US" altLang="ko-KR" dirty="0"/>
              <a:t>r[d_0</a:t>
            </a:r>
            <a:r>
              <a:rPr lang="ko-KR" altLang="en-US" dirty="0"/>
              <a:t>부터 나머지</a:t>
            </a:r>
            <a:r>
              <a:rPr lang="en-US" altLang="ko-KR" dirty="0"/>
              <a:t>]</a:t>
            </a:r>
            <a:r>
              <a:rPr lang="ko-KR" altLang="en-US" dirty="0"/>
              <a:t>는 사실 </a:t>
            </a:r>
            <a:r>
              <a:rPr lang="en-US" altLang="ko-KR" dirty="0" err="1"/>
              <a:t>ResNet</a:t>
            </a:r>
            <a:r>
              <a:rPr lang="en-US" altLang="ko-KR" dirty="0"/>
              <a:t> </a:t>
            </a:r>
            <a:r>
              <a:rPr lang="ko-KR" altLang="en-US" dirty="0"/>
              <a:t>의 마지막 층에서 </a:t>
            </a:r>
            <a:r>
              <a:rPr lang="en-US" altLang="ko-KR" dirty="0"/>
              <a:t>residual connection </a:t>
            </a:r>
            <a:r>
              <a:rPr lang="ko-KR" altLang="en-US" dirty="0"/>
              <a:t>을 통해 </a:t>
            </a:r>
            <a:r>
              <a:rPr lang="en-US" altLang="ko-KR" dirty="0"/>
              <a:t>copy </a:t>
            </a:r>
            <a:r>
              <a:rPr lang="ko-KR" altLang="en-US" dirty="0"/>
              <a:t>된 값들이기 때문입니다</a:t>
            </a:r>
            <a:r>
              <a:rPr lang="en-US" altLang="ko-KR" dirty="0"/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물론 이 </a:t>
            </a:r>
            <a:r>
              <a:rPr lang="en-US" altLang="ko-KR" dirty="0"/>
              <a:t>copy </a:t>
            </a:r>
            <a:r>
              <a:rPr lang="ko-KR" altLang="en-US" dirty="0"/>
              <a:t>된 값들도 직접적인 </a:t>
            </a:r>
            <a:r>
              <a:rPr lang="en-US" altLang="ko-KR" dirty="0"/>
              <a:t>gradient </a:t>
            </a:r>
            <a:r>
              <a:rPr lang="ko-KR" altLang="en-US" dirty="0"/>
              <a:t>가 전달되지는 않지만 그래도 </a:t>
            </a:r>
            <a:r>
              <a:rPr lang="en-US" altLang="ko-KR" dirty="0"/>
              <a:t>convolution block </a:t>
            </a:r>
            <a:r>
              <a:rPr lang="ko-KR" altLang="en-US" dirty="0"/>
              <a:t>이 업데이트되기 때문에 유용한 정보를 담고 있게 되는 것입니다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FA2A73-88C3-40DB-BB01-71C3483A7BA8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271203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여기까지가</a:t>
            </a:r>
            <a:r>
              <a:rPr lang="ko-KR" altLang="en-US" dirty="0"/>
              <a:t> 이 논문의 </a:t>
            </a:r>
            <a:r>
              <a:rPr lang="en-US" altLang="ko-KR" dirty="0"/>
              <a:t>background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FA2A73-88C3-40DB-BB01-71C3483A7BA8}" type="slidenum">
              <a:rPr lang="ko-KR" altLang="en-US" smtClean="0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203964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다음에는</a:t>
            </a:r>
            <a:r>
              <a:rPr lang="en-US" altLang="ko-KR" dirty="0"/>
              <a:t> </a:t>
            </a:r>
            <a:r>
              <a:rPr lang="ko-KR" altLang="en-US" dirty="0"/>
              <a:t>이 논문에서 주장하는 </a:t>
            </a:r>
            <a:r>
              <a:rPr lang="en-US" altLang="ko-KR" dirty="0"/>
              <a:t>collapse</a:t>
            </a:r>
            <a:r>
              <a:rPr lang="ko-KR" altLang="en-US" dirty="0"/>
              <a:t>가 발생하는 두가지 </a:t>
            </a:r>
            <a:r>
              <a:rPr lang="ko-KR" altLang="en-US" dirty="0" err="1"/>
              <a:t>매커니즘에</a:t>
            </a:r>
            <a:r>
              <a:rPr lang="ko-KR" altLang="en-US" dirty="0"/>
              <a:t> 대해 설명해드리겠습니다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FA2A73-88C3-40DB-BB01-71C3483A7BA8}" type="slidenum">
              <a:rPr lang="ko-KR" altLang="en-US" smtClean="0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420656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FA2A73-88C3-40DB-BB01-71C3483A7BA8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220050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FA2A73-88C3-40DB-BB01-71C3483A7BA8}" type="slidenum">
              <a:rPr lang="ko-KR" altLang="en-US" smtClean="0"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46740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A74CFD-CDB8-43BC-9EE0-6E4466F33F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D78DDED-3432-40A8-B005-B5C4BB7D2B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5B111A0-7B93-4E28-B925-3BC3B66BFC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3613A7-F7EB-4BEE-9B46-FE6EE0E850B0}" type="datetime1">
              <a:rPr lang="ko-KR" altLang="en-US" smtClean="0"/>
              <a:t>2021-11-21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D66FBFB-9964-4C38-AE17-742D3C5AB1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8F8422D-FA66-4C8B-8B98-1CA234E60E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1C0072-4DC1-48CC-BEBD-0B21D41EF3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49176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F552C17-92FA-44A6-B0EA-38F76E92A9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A17007E-4540-401D-B2E6-D73FED2046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EB047F9-2F6D-4504-A56A-7CF2400AB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47404-AC49-40B3-B060-C6D1BDCAB375}" type="datetime1">
              <a:rPr lang="ko-KR" altLang="en-US" smtClean="0"/>
              <a:t>2021-11-21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3925124-3DA9-4FCE-BC2B-B98A7D3C87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180489B-8570-4881-A2C1-60D2F4871F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1C0072-4DC1-48CC-BEBD-0B21D41EF3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35320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AA340B-BC7F-443A-8301-F649CC724A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A8F6134-BF12-4C25-9F04-A476A6678A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020A4D2-AAFE-4179-9163-7BDD168C4D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A3CB1F-3E7F-4955-91BB-77936A2DB5D6}" type="datetime1">
              <a:rPr lang="ko-KR" altLang="en-US" smtClean="0"/>
              <a:t>2021-11-21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511BE9B-F424-40A6-B224-4EE3E8E25B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45FE285-577F-4131-9FDE-8C6AA98E8A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1C0072-4DC1-48CC-BEBD-0B21D41EF3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22100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A94342-7671-46F5-B8F4-75EA3AB239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9A14D5B-EB55-4E24-ADA2-64AD15AC689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1C31036-0B6E-4226-A8C3-42F9A7D2B6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7064D52-B06E-41D8-A37F-EC3417A37B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AFA4F-6CD2-42DF-8DF3-41AB10F23A43}" type="datetime1">
              <a:rPr lang="ko-KR" altLang="en-US" smtClean="0"/>
              <a:t>2021-11-21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CAA3CD9-3A17-4CFF-B787-A6D4381E24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D328E95-C7D5-4154-AAB5-EAB13590A5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1C0072-4DC1-48CC-BEBD-0B21D41EF3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14443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68F127-24CD-42E4-BFBD-FBF70C775A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F76D71B-41B3-4650-8FD4-C68C50A447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BB04A5F-A00C-4525-8068-988FEF0F3D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E49C783-6DF4-441E-B4B0-B620031F951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7FE161D-1B17-43F1-B78C-1C401A8DE0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03C36F1C-8603-4F80-BDD3-DB3C1A54BF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A4A46-72B1-4699-9378-DC262A5A6DF0}" type="datetime1">
              <a:rPr lang="ko-KR" altLang="en-US" smtClean="0"/>
              <a:t>2021-11-21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035803F-A92B-468C-BC8C-FBB813747A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6461F6A6-D44E-4A84-8932-2F9D466214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1C0072-4DC1-48CC-BEBD-0B21D41EF3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06849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7C1C560-2496-4C0C-8687-52C639BEE1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5F45001-C5D1-46EB-906D-819FCFB56B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49CE5-C45D-4684-A62C-E9E16B8FC1E9}" type="datetime1">
              <a:rPr lang="ko-KR" altLang="en-US" smtClean="0"/>
              <a:t>2021-11-21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8DA6772-CC0A-475B-B147-DE9E46136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DF502FD-DB04-442B-9630-214281B032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1C0072-4DC1-48CC-BEBD-0B21D41EF3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80808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D7FD3403-16B7-411B-8D5A-1B464A5584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D2673-1C3A-4613-B5FE-B3E3D6599F37}" type="datetime1">
              <a:rPr lang="ko-KR" altLang="en-US" smtClean="0"/>
              <a:t>2021-11-21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675F42E-39ED-447E-BA18-AA043A0D1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2CA4AE2-75F9-41D2-9C7D-80FAEFD934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1C0072-4DC1-48CC-BEBD-0B21D41EF3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32298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5DF1F7A1-5B1C-49AB-86D4-B0D1C4AB476D}"/>
              </a:ext>
            </a:extLst>
          </p:cNvPr>
          <p:cNvSpPr/>
          <p:nvPr userDrawn="1"/>
        </p:nvSpPr>
        <p:spPr>
          <a:xfrm>
            <a:off x="696000" y="3384550"/>
            <a:ext cx="10800000" cy="88900"/>
          </a:xfrm>
          <a:prstGeom prst="rect">
            <a:avLst/>
          </a:prstGeom>
          <a:gradFill flip="none" rotWithShape="1">
            <a:gsLst>
              <a:gs pos="0">
                <a:srgbClr val="0E4A84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60D396EB-9D68-400B-B0B7-02BD94039D3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D018D9-188E-4F61-9493-E51ECA8E56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57494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1D5BA9-6C8C-44BC-BE71-82F6094494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6A8F1AB-9D62-4CFF-8B63-6D542CB81A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F8D4A74-57BB-456C-8691-9F7CEA7959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FDCD024-D431-4541-8A37-2CC1363CF2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249ED-A85E-4290-9F1E-ACB3253E6A84}" type="datetime1">
              <a:rPr lang="ko-KR" altLang="en-US" smtClean="0"/>
              <a:t>2021-11-21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47E3B10-9EF8-4647-9F05-67BBD80354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BE438E4-C738-4C19-9CD4-B7DFC383F1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1C0072-4DC1-48CC-BEBD-0B21D41EF3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35636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70954D-40A1-4A69-A7DB-E01A04BBAB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FE56ACA-C8EE-4D03-9298-D0200C83FF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047C2C8-7E4E-478C-9196-4A45E26E49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FFF6DF0-82F5-4C75-964E-23B43E4BD5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5A4779-688F-4791-8771-98A2E65F6DAD}" type="datetime1">
              <a:rPr lang="ko-KR" altLang="en-US" smtClean="0"/>
              <a:t>2021-11-21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5D4768D-53E1-4B8C-ABF0-44C6283373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7077FAD-B676-45FF-9F47-5A8F4DC1D2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1C0072-4DC1-48CC-BEBD-0B21D41EF3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06966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EE2FFED-6AF7-4B6E-89DA-20673CAE7D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46BF164-001D-4266-96A6-3D3635B4E5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0B890C2-FE77-4415-BFE8-015B94D0C4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0B3B4-5B06-4946-AF86-125F83FA10EE}" type="datetime1">
              <a:rPr lang="ko-KR" altLang="en-US" smtClean="0"/>
              <a:t>2021-11-21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72078E3-1F9D-4F3D-809B-CC791BF043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2858FC9-FC20-4862-BB25-1B9C3B0B28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1C0072-4DC1-48CC-BEBD-0B21D41EF3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77077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A9C0102-0F4C-4A56-98AD-55219B0BD5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3DC80E5-F795-481D-B606-940E5519DC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ACD7143-DF62-4E01-810A-C7A69B205E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375B04-BFDB-40AF-B3AA-8E16D58F4950}" type="datetime1">
              <a:rPr lang="ko-KR" altLang="en-US" smtClean="0"/>
              <a:t>2021-11-21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FED85AF-20FD-462A-9DFA-097957A906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425AF77-7301-4B62-8B78-97D1F737A4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1C0072-4DC1-48CC-BEBD-0B21D41EF3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270643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내용_eso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직사각형 21"/>
          <p:cNvSpPr/>
          <p:nvPr userDrawn="1"/>
        </p:nvSpPr>
        <p:spPr>
          <a:xfrm>
            <a:off x="10592575" y="0"/>
            <a:ext cx="289735" cy="1757361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직사각형 22"/>
          <p:cNvSpPr/>
          <p:nvPr userDrawn="1"/>
        </p:nvSpPr>
        <p:spPr>
          <a:xfrm>
            <a:off x="10872785" y="1757361"/>
            <a:ext cx="289738" cy="5100639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사다리꼴 16"/>
          <p:cNvSpPr/>
          <p:nvPr userDrawn="1"/>
        </p:nvSpPr>
        <p:spPr>
          <a:xfrm rot="16200000" flipV="1">
            <a:off x="10520535" y="1611279"/>
            <a:ext cx="414764" cy="289735"/>
          </a:xfrm>
          <a:prstGeom prst="trapezoid">
            <a:avLst>
              <a:gd name="adj" fmla="val 7117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j-lt"/>
            </a:endParaRPr>
          </a:p>
        </p:txBody>
      </p:sp>
      <p:sp>
        <p:nvSpPr>
          <p:cNvPr id="11" name="사다리꼴 10"/>
          <p:cNvSpPr/>
          <p:nvPr userDrawn="1"/>
        </p:nvSpPr>
        <p:spPr>
          <a:xfrm rot="5400000" flipV="1">
            <a:off x="10810271" y="1611278"/>
            <a:ext cx="414764" cy="289735"/>
          </a:xfrm>
          <a:prstGeom prst="trapezoid">
            <a:avLst>
              <a:gd name="adj" fmla="val 7117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j-lt"/>
            </a:endParaRPr>
          </a:p>
        </p:txBody>
      </p:sp>
      <p:sp>
        <p:nvSpPr>
          <p:cNvPr id="16" name="내용 개체 틀 2"/>
          <p:cNvSpPr>
            <a:spLocks noGrp="1"/>
          </p:cNvSpPr>
          <p:nvPr>
            <p:ph sz="quarter" idx="10"/>
          </p:nvPr>
        </p:nvSpPr>
        <p:spPr>
          <a:xfrm>
            <a:off x="665513" y="643997"/>
            <a:ext cx="9000000" cy="59778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1">
                <a:solidFill>
                  <a:srgbClr val="0E4A84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8" name="텍스트 개체 틀 2">
            <a:extLst>
              <a:ext uri="{FF2B5EF4-FFF2-40B4-BE49-F238E27FC236}">
                <a16:creationId xmlns:a16="http://schemas.microsoft.com/office/drawing/2014/main" id="{FB93D3BD-C604-4499-9DCD-61155B2692C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5163" y="1551996"/>
            <a:ext cx="6634162" cy="314801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6189849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6A347D-DDF5-4DA8-8934-534A71844C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FA28EB6-CFA2-4CB8-A8B5-BDE62EC897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453043D-EE07-46D0-8757-D76090FBBB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2BD5B-9426-450F-AFE9-FA96E445B648}" type="datetime1">
              <a:rPr lang="ko-KR" altLang="en-US" smtClean="0"/>
              <a:t>2021-11-21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9247854-016E-4E4B-B680-A611A29A7A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1AA35BA-2075-46FE-9188-AED046BF78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BA01D4-C4AA-45FA-8462-DC1BB956BD8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54502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8C2C4A-ACC2-4361-B6F9-757C64AF7B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CDF6C4D-C321-454D-866C-C4930CEDC7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72DD8EF-B47D-4F82-8B36-1127726A4A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B50879-CAAD-45C3-8FD0-308A9D917757}" type="datetime1">
              <a:rPr lang="ko-KR" altLang="en-US" smtClean="0"/>
              <a:t>2021-11-21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3EDED42-F68D-441B-B99D-72353E66DE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7795560-971C-4FDB-8EA9-443740714C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BA01D4-C4AA-45FA-8462-DC1BB956BD8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13342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EE53CC-8A1C-4C4D-A7FB-46F19A1DE0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FBA460E-E696-46A2-9A1B-0912F75C0E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2AC615A-6373-408C-9D5D-5380B028C7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DF6D7-7F9B-4669-8B10-914960F10773}" type="datetime1">
              <a:rPr lang="ko-KR" altLang="en-US" smtClean="0"/>
              <a:t>2021-11-21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B14E771-C87C-41B3-B0A3-C587DA24C8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269DFC1-849E-41A5-95EE-180467ADD4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BA01D4-C4AA-45FA-8462-DC1BB956BD8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209286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0EDF5D-ED84-4811-A3E3-03C78C3448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4CDC2E4-DBDE-4D02-9249-EE613BA21EB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78FC823-8E20-4E8F-AB37-5C0E927426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A71A255-EDE5-4E0F-8B98-CE8C045A3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F328E-E6C0-4244-8A2A-60ACFA42B722}" type="datetime1">
              <a:rPr lang="ko-KR" altLang="en-US" smtClean="0"/>
              <a:t>2021-11-21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132F30A-795E-408A-B522-1322C6A7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0997A0A-CD17-45D5-8F09-8E17953039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BA01D4-C4AA-45FA-8462-DC1BB956BD8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929876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1992AFF-265E-4685-8F9A-A510AD485D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CA4C8DC-B941-4ECA-BD1F-9954B8FF7A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39DA3A4-D0DD-4CAA-8B14-4C371C1B23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1080384-ED7F-41FD-8CC3-7BFC876802C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4C54C08-D83A-454C-9C11-C49A3FCA7C2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76655CE-236C-4130-A447-B83F51EB26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2809D-ABFB-4A9C-94DC-96B82EBB3422}" type="datetime1">
              <a:rPr lang="ko-KR" altLang="en-US" smtClean="0"/>
              <a:t>2021-11-21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457EA4C-55CD-4388-99D5-7099CFB37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A1C24E3-33EE-4948-8DF4-721C05CB9A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BA01D4-C4AA-45FA-8462-DC1BB956BD8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092144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FF5EBB-8749-45C2-A51F-7E1928802D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19640CB-C56C-400D-80D7-D021ED3403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566FA-64B9-4D68-AE38-97E7AA52CD7A}" type="datetime1">
              <a:rPr lang="ko-KR" altLang="en-US" smtClean="0"/>
              <a:t>2021-11-21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27AD93D-C27F-4B2A-AC2F-A4C0325D27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FC9B995-4F64-4D44-BF76-1946CA83F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BA01D4-C4AA-45FA-8462-DC1BB956BD8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406578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D1A19DED-078A-47B9-B91F-4D805CBB9C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DFBF2-36BA-4945-81DE-50EBC18037B7}" type="datetime1">
              <a:rPr lang="ko-KR" altLang="en-US" smtClean="0"/>
              <a:t>2021-11-21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21B7845-6981-4B6F-B212-F34D50F9D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DFA19F4-C14A-41D6-81E4-378469D782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BA01D4-C4AA-45FA-8462-DC1BB956BD8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182046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A11E0A-71ED-41B2-8B1B-DF020A64ED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ED745D1-1AE1-4050-A5DE-EC075106C0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BA6C532-FC26-4552-A8C5-D39F115A23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9EAFE2A-69CF-4DC7-8AB3-E79B62E37B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38B61C-99EF-41CA-9CF4-61FC4DCBEE01}" type="datetime1">
              <a:rPr lang="ko-KR" altLang="en-US" smtClean="0"/>
              <a:t>2021-11-21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5A70919-94AC-4B23-9979-E8A9E8955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59DD468-2363-4D7C-B6E1-EFFD48596F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BA01D4-C4AA-45FA-8462-DC1BB956BD8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599816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8F4588-49D0-4E22-B94A-44D33A2F75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2DB4901-CDB6-4F80-8BB3-7ECBCA846C7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BCC6F37-D74C-4839-B341-52F051B0C0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D9FE079-BFE9-4DCD-ABA0-3AC10A6ED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831D0-B70F-4065-A794-EA9BB13E1A5E}" type="datetime1">
              <a:rPr lang="ko-KR" altLang="en-US" smtClean="0"/>
              <a:t>2021-11-21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650F075-A2B9-4DCA-BCD3-B588E0AE6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2283D07-D2EA-4881-A889-5C23E0B9BE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BA01D4-C4AA-45FA-8462-DC1BB956BD8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499067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E6A515-90E4-46BF-ABEF-5C62F23CD6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525ADF4-CA15-4AD0-B408-EDBE770372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B6754B1-E780-4C51-89BF-C869AB6353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716AF-5B31-4194-909D-A952F8B09FA4}" type="datetime1">
              <a:rPr lang="ko-KR" altLang="en-US" smtClean="0"/>
              <a:t>2021-11-21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B1D35E9-44DB-46A0-80C9-5919F11C79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5A4427C-3105-4539-A7F9-65F5BEBF2F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BA01D4-C4AA-45FA-8462-DC1BB956BD8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723905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D7B33790-D9B2-4574-976A-446F95BDB08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18826A8-EBC4-443F-9F5F-EE79FDE227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B15BFD0-6F3F-44FC-A31A-4217EBA2E7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AAE1-169F-4D49-B911-58FEA6610551}" type="datetime1">
              <a:rPr lang="ko-KR" altLang="en-US" smtClean="0"/>
              <a:t>2021-11-21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2630E34-0D4D-47AF-B800-49A1E90DF1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F1F6B80-769C-4DE9-BE48-B1C6EAC807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BA01D4-C4AA-45FA-8462-DC1BB956BD8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20138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3517976-5697-4C30-A1A1-F01AA336EA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FF8EC0A-12ED-4E4A-B73C-8CB2B1BFE0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17E7A49-D0FA-442D-896D-71EA6168353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8FD53B-CDAD-4A04-B468-EBF54108516A}" type="datetime1">
              <a:rPr lang="ko-KR" altLang="en-US" smtClean="0"/>
              <a:t>2021-11-21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79515F-8009-40B8-9E9B-59651854A5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5D437E1-4BFC-4F61-BB23-127A20C846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1C0072-4DC1-48CC-BEBD-0B21D41EF3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15826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73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236CC03F-195A-43E0-834A-90A747CEAA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C0D4E1A-C087-4202-A699-AEBD48FB5C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9CC32B8-3123-450E-A494-0B135B051CF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8AD422-3283-4F67-A46A-8FDB013F01BB}" type="datetime1">
              <a:rPr lang="ko-KR" altLang="en-US" smtClean="0"/>
              <a:t>2021-11-21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2196BF1-511C-47A7-878F-49C065CF6B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9A46363-E6CB-4C2F-9C35-D31CD157CF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BA01D4-C4AA-45FA-8462-DC1BB956BD8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34298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18" Type="http://schemas.openxmlformats.org/officeDocument/2006/relationships/image" Target="../media/image15.png"/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microsoft.com/office/2007/relationships/hdphoto" Target="../media/hdphoto1.wdp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14.png"/><Relationship Id="rId20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19" Type="http://schemas.openxmlformats.org/officeDocument/2006/relationships/image" Target="../media/image16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jpeg"/><Relationship Id="rId3" Type="http://schemas.openxmlformats.org/officeDocument/2006/relationships/image" Target="../media/image1.jpe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microsoft.com/office/2007/relationships/hdphoto" Target="../media/hdphoto1.wdp"/><Relationship Id="rId10" Type="http://schemas.microsoft.com/office/2007/relationships/hdphoto" Target="../media/hdphoto2.wdp"/><Relationship Id="rId4" Type="http://schemas.openxmlformats.org/officeDocument/2006/relationships/image" Target="../media/image14.png"/><Relationship Id="rId9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29.png"/><Relationship Id="rId4" Type="http://schemas.openxmlformats.org/officeDocument/2006/relationships/image" Target="../media/image3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41.png"/><Relationship Id="rId7" Type="http://schemas.openxmlformats.org/officeDocument/2006/relationships/image" Target="../media/image4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Relationship Id="rId9" Type="http://schemas.openxmlformats.org/officeDocument/2006/relationships/image" Target="../media/image4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9.png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1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8567986-C6B0-42B3-B105-905035AE4E48}"/>
              </a:ext>
            </a:extLst>
          </p:cNvPr>
          <p:cNvSpPr txBox="1"/>
          <p:nvPr/>
        </p:nvSpPr>
        <p:spPr>
          <a:xfrm>
            <a:off x="746793" y="1942282"/>
            <a:ext cx="1069841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b="1" i="1" dirty="0">
                <a:solidFill>
                  <a:srgbClr val="0E4A8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Understanding</a:t>
            </a:r>
            <a:r>
              <a:rPr lang="ko-KR" altLang="en-US" sz="3600" b="1" i="1" dirty="0">
                <a:solidFill>
                  <a:srgbClr val="0E4A8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3600" b="1" i="1" dirty="0">
                <a:solidFill>
                  <a:srgbClr val="0E4A8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Dimensional</a:t>
            </a:r>
            <a:r>
              <a:rPr lang="ko-KR" altLang="en-US" sz="3600" b="1" i="1" dirty="0">
                <a:solidFill>
                  <a:srgbClr val="0E4A8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3600" b="1" i="1" dirty="0">
                <a:solidFill>
                  <a:srgbClr val="0E4A8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Collapse</a:t>
            </a:r>
            <a:r>
              <a:rPr lang="ko-KR" altLang="en-US" sz="3600" b="1" i="1" dirty="0">
                <a:solidFill>
                  <a:srgbClr val="0E4A8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3600" b="1" i="1" dirty="0">
                <a:solidFill>
                  <a:srgbClr val="0E4A8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</a:t>
            </a:r>
            <a:r>
              <a:rPr lang="ko-KR" altLang="en-US" sz="3600" b="1" i="1" dirty="0">
                <a:solidFill>
                  <a:srgbClr val="0E4A8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3600" b="1" i="1" dirty="0">
                <a:solidFill>
                  <a:srgbClr val="0E4A8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Contrastive</a:t>
            </a:r>
            <a:r>
              <a:rPr lang="ko-KR" altLang="en-US" sz="3600" b="1" i="1" dirty="0">
                <a:solidFill>
                  <a:srgbClr val="0E4A8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3600" b="1" i="1" dirty="0">
                <a:solidFill>
                  <a:srgbClr val="0E4A8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Self-Supervised Learning</a:t>
            </a:r>
            <a:endParaRPr lang="ko-KR" altLang="en-US" sz="3600" b="1" i="1" dirty="0">
              <a:solidFill>
                <a:srgbClr val="0E4A8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6F00C185-D106-447C-9697-3B2054BCF24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F4757A-1C45-4ADF-B3DE-55C6BD1DE0EA}" type="slidenum">
              <a:rPr lang="ko-KR" altLang="en-US" smtClean="0"/>
              <a:t>1</a:t>
            </a:fld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FC90D9C-58E2-4FF4-9CF5-EB126F7DBA97}"/>
              </a:ext>
            </a:extLst>
          </p:cNvPr>
          <p:cNvSpPr txBox="1"/>
          <p:nvPr/>
        </p:nvSpPr>
        <p:spPr>
          <a:xfrm>
            <a:off x="3339061" y="3594033"/>
            <a:ext cx="5513876" cy="958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2000" b="1" i="1" dirty="0">
                <a:solidFill>
                  <a:srgbClr val="0E4A8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 Jing et al.</a:t>
            </a:r>
          </a:p>
          <a:p>
            <a:pPr algn="ctr">
              <a:lnSpc>
                <a:spcPct val="150000"/>
              </a:lnSpc>
            </a:pPr>
            <a:r>
              <a:rPr lang="en-US" altLang="ko-KR" sz="2000" b="1" i="1" dirty="0">
                <a:solidFill>
                  <a:srgbClr val="0E4A8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Facebook AI research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D1B2FB6-33C7-467E-8B86-F613459CB92D}"/>
              </a:ext>
            </a:extLst>
          </p:cNvPr>
          <p:cNvSpPr txBox="1"/>
          <p:nvPr/>
        </p:nvSpPr>
        <p:spPr>
          <a:xfrm>
            <a:off x="5107360" y="4866345"/>
            <a:ext cx="197727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i="1" dirty="0">
                <a:latin typeface="Arial" panose="020B0604020202020204" pitchFamily="34" charset="0"/>
                <a:cs typeface="Arial" panose="020B0604020202020204" pitchFamily="34" charset="0"/>
              </a:rPr>
              <a:t>Presenter </a:t>
            </a:r>
          </a:p>
          <a:p>
            <a:pPr algn="ctr"/>
            <a:r>
              <a:rPr lang="ko-KR" alt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이재윤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BD864CD-A028-496B-BE23-15F3265000DC}"/>
              </a:ext>
            </a:extLst>
          </p:cNvPr>
          <p:cNvSpPr txBox="1"/>
          <p:nvPr/>
        </p:nvSpPr>
        <p:spPr>
          <a:xfrm>
            <a:off x="2746057" y="5529551"/>
            <a:ext cx="669988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i="1" dirty="0">
                <a:latin typeface="Arial" panose="020B0604020202020204" pitchFamily="34" charset="0"/>
                <a:cs typeface="Arial" panose="020B0604020202020204" pitchFamily="34" charset="0"/>
              </a:rPr>
              <a:t>Fundamental Team</a:t>
            </a:r>
          </a:p>
          <a:p>
            <a:pPr algn="ctr"/>
            <a:r>
              <a:rPr lang="ko-KR" alt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김동희</a:t>
            </a:r>
            <a:r>
              <a:rPr lang="en-US" altLang="ko-KR" sz="2000" i="1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ko-KR" alt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김지연</a:t>
            </a:r>
            <a:r>
              <a:rPr lang="en-US" altLang="ko-KR" sz="2000" i="1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ko-KR" altLang="en-US" sz="2000" i="1" dirty="0" err="1">
                <a:latin typeface="Arial" panose="020B0604020202020204" pitchFamily="34" charset="0"/>
                <a:cs typeface="Arial" panose="020B0604020202020204" pitchFamily="34" charset="0"/>
              </a:rPr>
              <a:t>김창연</a:t>
            </a:r>
            <a:r>
              <a:rPr lang="en-US" altLang="ko-KR" sz="2000" i="1" dirty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lang="ko-KR" alt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en-US" sz="2000" i="1" dirty="0" err="1">
                <a:latin typeface="Arial" panose="020B0604020202020204" pitchFamily="34" charset="0"/>
                <a:cs typeface="Arial" panose="020B0604020202020204" pitchFamily="34" charset="0"/>
              </a:rPr>
              <a:t>송헌</a:t>
            </a:r>
            <a:r>
              <a:rPr lang="en-US" altLang="ko-KR" sz="2000" i="1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ko-KR" altLang="en-US" sz="2000" i="1" dirty="0" err="1">
                <a:latin typeface="Arial" panose="020B0604020202020204" pitchFamily="34" charset="0"/>
                <a:cs typeface="Arial" panose="020B0604020202020204" pitchFamily="34" charset="0"/>
              </a:rPr>
              <a:t>이근배</a:t>
            </a:r>
            <a:endParaRPr lang="ko-KR" altLang="en-US" sz="20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07070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723669-DA45-4D4A-AB6D-A76535F97D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i="1" dirty="0">
                <a:solidFill>
                  <a:srgbClr val="0E4A8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Contents</a:t>
            </a:r>
            <a:endParaRPr lang="ko-KR" altLang="en-US" b="1" i="1" dirty="0">
              <a:solidFill>
                <a:srgbClr val="0E4A8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9314D7A-8E86-49DA-892C-73021FA91D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8457" y="1771195"/>
            <a:ext cx="10515600" cy="4879975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altLang="ko-KR" b="1" i="1" dirty="0">
                <a:solidFill>
                  <a:srgbClr val="0E4A8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Motivation</a:t>
            </a:r>
          </a:p>
          <a:p>
            <a:pPr marL="0" indent="0">
              <a:buNone/>
            </a:pPr>
            <a:endParaRPr lang="en-US" altLang="ko-KR" b="1" i="1" dirty="0">
              <a:solidFill>
                <a:srgbClr val="0E4A8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indent="-514350">
              <a:buFont typeface="+mj-lt"/>
              <a:buAutoNum type="arabicPeriod" startAt="2"/>
            </a:pPr>
            <a:r>
              <a:rPr lang="en-US" altLang="ko-KR" b="1" i="1" dirty="0">
                <a:solidFill>
                  <a:srgbClr val="0E4A8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Two Mechanisms of collapse</a:t>
            </a:r>
          </a:p>
          <a:p>
            <a:pPr marL="514350" indent="-514350">
              <a:buFont typeface="+mj-lt"/>
              <a:buAutoNum type="arabicPeriod" startAt="2"/>
            </a:pPr>
            <a:endParaRPr lang="en-US" altLang="ko-KR" b="1" i="1" dirty="0">
              <a:solidFill>
                <a:srgbClr val="0E4A8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indent="-514350">
              <a:buFont typeface="+mj-lt"/>
              <a:buAutoNum type="arabicPeriod" startAt="2"/>
            </a:pPr>
            <a:r>
              <a:rPr lang="en-US" altLang="ko-KR" b="1" i="1" dirty="0" err="1">
                <a:solidFill>
                  <a:srgbClr val="0E4A8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DirectCLR</a:t>
            </a:r>
            <a:endParaRPr lang="en-US" altLang="ko-KR" b="1" i="1" dirty="0">
              <a:solidFill>
                <a:srgbClr val="0E4A8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indent="-514350">
              <a:buFont typeface="+mj-lt"/>
              <a:buAutoNum type="arabicPeriod" startAt="2"/>
            </a:pPr>
            <a:endParaRPr lang="en-US" altLang="ko-KR" b="1" i="1" dirty="0">
              <a:solidFill>
                <a:srgbClr val="0E4A8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indent="-514350">
              <a:buFont typeface="+mj-lt"/>
              <a:buAutoNum type="arabicPeriod" startAt="2"/>
            </a:pPr>
            <a:r>
              <a:rPr lang="en-US" altLang="ko-KR" b="1" i="1" dirty="0">
                <a:solidFill>
                  <a:srgbClr val="0E4A8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32379228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FA50FC13-916C-4251-9CCC-910D36FC7A05}"/>
              </a:ext>
            </a:extLst>
          </p:cNvPr>
          <p:cNvSpPr/>
          <p:nvPr/>
        </p:nvSpPr>
        <p:spPr>
          <a:xfrm>
            <a:off x="238535" y="3429000"/>
            <a:ext cx="10323443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altLang="ko-KR" sz="4000" b="1" i="1" dirty="0">
                <a:solidFill>
                  <a:srgbClr val="0E4A8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Motivation</a:t>
            </a:r>
          </a:p>
        </p:txBody>
      </p:sp>
    </p:spTree>
    <p:extLst>
      <p:ext uri="{BB962C8B-B14F-4D97-AF65-F5344CB8AC3E}">
        <p14:creationId xmlns:p14="http://schemas.microsoft.com/office/powerpoint/2010/main" val="41782021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F30525C1-0D03-4474-80BE-E4F7439B89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1C0072-4DC1-48CC-BEBD-0B21D41EF312}" type="slidenum">
              <a:rPr lang="ko-KR" altLang="en-US" smtClean="0"/>
              <a:t>4</a:t>
            </a:fld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6FF3EF0-EED7-42B1-A3E1-EAE35BE4FF63}"/>
              </a:ext>
            </a:extLst>
          </p:cNvPr>
          <p:cNvSpPr txBox="1"/>
          <p:nvPr/>
        </p:nvSpPr>
        <p:spPr>
          <a:xfrm>
            <a:off x="243442" y="497349"/>
            <a:ext cx="1008927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i="1" dirty="0">
                <a:solidFill>
                  <a:srgbClr val="0E4A8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Self-Supervision</a:t>
            </a:r>
            <a:endParaRPr lang="ko-KR" altLang="en-US" sz="3200" b="1" i="1" dirty="0">
              <a:solidFill>
                <a:srgbClr val="0E4A8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5D69A54-CA14-44B8-8506-B75A094B5A58}"/>
              </a:ext>
            </a:extLst>
          </p:cNvPr>
          <p:cNvSpPr txBox="1"/>
          <p:nvPr/>
        </p:nvSpPr>
        <p:spPr>
          <a:xfrm>
            <a:off x="211424" y="1444371"/>
            <a:ext cx="10477597" cy="2343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>
                <a:latin typeface="Arial" panose="020B0604020202020204" pitchFamily="34" charset="0"/>
                <a:cs typeface="Arial" panose="020B0604020202020204" pitchFamily="34" charset="0"/>
              </a:rPr>
              <a:t>Define pretext task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2000" b="1" i="1" dirty="0">
                <a:latin typeface="Arial" panose="020B0604020202020204" pitchFamily="34" charset="0"/>
                <a:cs typeface="Arial" panose="020B0604020202020204" pitchFamily="34" charset="0"/>
              </a:rPr>
              <a:t>Context Prediction</a:t>
            </a:r>
            <a:r>
              <a:rPr lang="en-US" altLang="ko-KR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2000" dirty="0">
                <a:latin typeface="Arial" panose="020B0604020202020204" pitchFamily="34" charset="0"/>
                <a:cs typeface="Arial" panose="020B0604020202020204" pitchFamily="34" charset="0"/>
              </a:rPr>
              <a:t>: Learn to recognize spatial relationships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2000" b="1" i="1" dirty="0">
                <a:latin typeface="Arial" panose="020B0604020202020204" pitchFamily="34" charset="0"/>
                <a:cs typeface="Arial" panose="020B0604020202020204" pitchFamily="34" charset="0"/>
              </a:rPr>
              <a:t>Jigsaw Puzzle</a:t>
            </a:r>
            <a:r>
              <a:rPr lang="en-US" altLang="ko-KR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2000" dirty="0">
                <a:latin typeface="Arial" panose="020B0604020202020204" pitchFamily="34" charset="0"/>
                <a:cs typeface="Arial" panose="020B0604020202020204" pitchFamily="34" charset="0"/>
              </a:rPr>
              <a:t>: Restore the puzzle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2000" b="1" i="1" dirty="0">
                <a:latin typeface="Arial" panose="020B0604020202020204" pitchFamily="34" charset="0"/>
                <a:cs typeface="Arial" panose="020B0604020202020204" pitchFamily="34" charset="0"/>
              </a:rPr>
              <a:t>Joint Embedding Vector</a:t>
            </a:r>
            <a:r>
              <a:rPr lang="en-US" altLang="ko-KR" sz="2000" dirty="0">
                <a:latin typeface="Arial" panose="020B0604020202020204" pitchFamily="34" charset="0"/>
                <a:cs typeface="Arial" panose="020B0604020202020204" pitchFamily="34" charset="0"/>
              </a:rPr>
              <a:t> : Match the embedding vector of augmented views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6C8B349-FDD4-4908-A3C8-745877643A1D}"/>
              </a:ext>
            </a:extLst>
          </p:cNvPr>
          <p:cNvSpPr txBox="1"/>
          <p:nvPr/>
        </p:nvSpPr>
        <p:spPr>
          <a:xfrm>
            <a:off x="2173859" y="5517306"/>
            <a:ext cx="25140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/>
              <a:t>(        ) </a:t>
            </a:r>
            <a:r>
              <a:rPr lang="en-US" altLang="ko-KR" sz="2500" dirty="0"/>
              <a:t>= 6</a:t>
            </a:r>
            <a:endParaRPr lang="ko-KR" altLang="en-US" sz="2500" dirty="0"/>
          </a:p>
        </p:txBody>
      </p:sp>
      <p:pic>
        <p:nvPicPr>
          <p:cNvPr id="24" name="Picture 6" descr="Canines (Canids) Facts">
            <a:extLst>
              <a:ext uri="{FF2B5EF4-FFF2-40B4-BE49-F238E27FC236}">
                <a16:creationId xmlns:a16="http://schemas.microsoft.com/office/drawing/2014/main" id="{03142BAD-17D0-4343-95BC-A2A2E64731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286" y="4468742"/>
            <a:ext cx="1631216" cy="16312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직사각형 24">
            <a:extLst>
              <a:ext uri="{FF2B5EF4-FFF2-40B4-BE49-F238E27FC236}">
                <a16:creationId xmlns:a16="http://schemas.microsoft.com/office/drawing/2014/main" id="{ECF200A3-AB3E-48B0-ABE5-0DD310CBF33A}"/>
              </a:ext>
            </a:extLst>
          </p:cNvPr>
          <p:cNvSpPr/>
          <p:nvPr/>
        </p:nvSpPr>
        <p:spPr>
          <a:xfrm>
            <a:off x="1149744" y="5043916"/>
            <a:ext cx="475641" cy="480868"/>
          </a:xfrm>
          <a:prstGeom prst="rect">
            <a:avLst/>
          </a:prstGeom>
          <a:noFill/>
          <a:ln w="28575">
            <a:solidFill>
              <a:srgbClr val="00B0F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F1A91E48-A3F4-497F-86E6-4A2A4E43E03E}"/>
              </a:ext>
            </a:extLst>
          </p:cNvPr>
          <p:cNvSpPr/>
          <p:nvPr/>
        </p:nvSpPr>
        <p:spPr>
          <a:xfrm>
            <a:off x="1672238" y="5043915"/>
            <a:ext cx="475641" cy="480868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rgbClr val="FF0000"/>
                </a:solidFill>
              </a:rPr>
              <a:t>5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31324953-6C42-45A9-9E5E-B64E005855CD}"/>
              </a:ext>
            </a:extLst>
          </p:cNvPr>
          <p:cNvSpPr/>
          <p:nvPr/>
        </p:nvSpPr>
        <p:spPr>
          <a:xfrm>
            <a:off x="611722" y="5043915"/>
            <a:ext cx="475641" cy="480868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rgbClr val="FF0000"/>
                </a:solidFill>
              </a:rPr>
              <a:t>4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35ED36DE-3437-48B6-8A41-744CAABF1694}"/>
              </a:ext>
            </a:extLst>
          </p:cNvPr>
          <p:cNvSpPr/>
          <p:nvPr/>
        </p:nvSpPr>
        <p:spPr>
          <a:xfrm>
            <a:off x="1139926" y="4515895"/>
            <a:ext cx="475641" cy="480868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rgbClr val="FF0000"/>
                </a:solidFill>
              </a:rPr>
              <a:t>2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2D378293-5373-4F41-B740-E3A7B5A8866F}"/>
              </a:ext>
            </a:extLst>
          </p:cNvPr>
          <p:cNvSpPr/>
          <p:nvPr/>
        </p:nvSpPr>
        <p:spPr>
          <a:xfrm>
            <a:off x="607461" y="4515895"/>
            <a:ext cx="475641" cy="480868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rgbClr val="FF0000"/>
                </a:solidFill>
              </a:rPr>
              <a:t>1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A1B5C7F3-597B-4AD2-A3C8-C0F38BEAB501}"/>
              </a:ext>
            </a:extLst>
          </p:cNvPr>
          <p:cNvSpPr/>
          <p:nvPr/>
        </p:nvSpPr>
        <p:spPr>
          <a:xfrm>
            <a:off x="1671850" y="4515895"/>
            <a:ext cx="475641" cy="480868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rgbClr val="FF0000"/>
                </a:solidFill>
              </a:rPr>
              <a:t>3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E017054F-C40B-4AC9-9459-E967F2BF4093}"/>
              </a:ext>
            </a:extLst>
          </p:cNvPr>
          <p:cNvSpPr/>
          <p:nvPr/>
        </p:nvSpPr>
        <p:spPr>
          <a:xfrm>
            <a:off x="607461" y="5571935"/>
            <a:ext cx="475641" cy="480868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5B1627FA-8D18-4507-9B9C-2B123D8156C7}"/>
              </a:ext>
            </a:extLst>
          </p:cNvPr>
          <p:cNvSpPr/>
          <p:nvPr/>
        </p:nvSpPr>
        <p:spPr>
          <a:xfrm>
            <a:off x="1151015" y="5571935"/>
            <a:ext cx="475641" cy="480868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rgbClr val="FF0000"/>
                </a:solidFill>
              </a:rPr>
              <a:t>7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C1FD7B4C-BE0D-4F60-BB45-1D6B13FF520A}"/>
              </a:ext>
            </a:extLst>
          </p:cNvPr>
          <p:cNvSpPr/>
          <p:nvPr/>
        </p:nvSpPr>
        <p:spPr>
          <a:xfrm>
            <a:off x="1678888" y="5571935"/>
            <a:ext cx="475641" cy="480868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rgbClr val="FF0000"/>
                </a:solidFill>
              </a:rPr>
              <a:t>8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7E4A3038-64BA-43D8-8754-192DC6D70E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89467" y="5063880"/>
            <a:ext cx="423373" cy="427783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98A86343-B37F-42E1-9D46-A1EEC137C21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59392" y="5063880"/>
            <a:ext cx="423373" cy="427783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2F0E3C66-0F23-41D8-ABE2-3B781C0D18F0}"/>
              </a:ext>
            </a:extLst>
          </p:cNvPr>
          <p:cNvSpPr txBox="1"/>
          <p:nvPr/>
        </p:nvSpPr>
        <p:spPr>
          <a:xfrm>
            <a:off x="2173859" y="4977105"/>
            <a:ext cx="25140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/>
              <a:t>(        ) </a:t>
            </a:r>
            <a:r>
              <a:rPr lang="en-US" altLang="ko-KR" sz="2500" dirty="0"/>
              <a:t>= 1</a:t>
            </a:r>
            <a:endParaRPr lang="ko-KR" altLang="en-US" sz="2500" dirty="0"/>
          </a:p>
        </p:txBody>
      </p:sp>
      <p:pic>
        <p:nvPicPr>
          <p:cNvPr id="37" name="그림 36">
            <a:extLst>
              <a:ext uri="{FF2B5EF4-FFF2-40B4-BE49-F238E27FC236}">
                <a16:creationId xmlns:a16="http://schemas.microsoft.com/office/drawing/2014/main" id="{C19E326A-A223-4083-B39B-C475D3DC16F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59392" y="5604081"/>
            <a:ext cx="423373" cy="427783"/>
          </a:xfrm>
          <a:prstGeom prst="rect">
            <a:avLst/>
          </a:prstGeom>
        </p:spPr>
      </p:pic>
      <p:pic>
        <p:nvPicPr>
          <p:cNvPr id="38" name="그림 37">
            <a:extLst>
              <a:ext uri="{FF2B5EF4-FFF2-40B4-BE49-F238E27FC236}">
                <a16:creationId xmlns:a16="http://schemas.microsoft.com/office/drawing/2014/main" id="{BEBD02D4-F472-4C21-8094-3ABCC73116E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89467" y="5604081"/>
            <a:ext cx="423373" cy="427783"/>
          </a:xfrm>
          <a:prstGeom prst="rect">
            <a:avLst/>
          </a:prstGeom>
        </p:spPr>
      </p:pic>
      <p:grpSp>
        <p:nvGrpSpPr>
          <p:cNvPr id="6" name="그룹 5">
            <a:extLst>
              <a:ext uri="{FF2B5EF4-FFF2-40B4-BE49-F238E27FC236}">
                <a16:creationId xmlns:a16="http://schemas.microsoft.com/office/drawing/2014/main" id="{A2DEC5A3-9DAD-4D8B-9BA1-321431FD9135}"/>
              </a:ext>
            </a:extLst>
          </p:cNvPr>
          <p:cNvGrpSpPr/>
          <p:nvPr/>
        </p:nvGrpSpPr>
        <p:grpSpPr>
          <a:xfrm>
            <a:off x="5120116" y="4416898"/>
            <a:ext cx="1631216" cy="1636917"/>
            <a:chOff x="3742738" y="3529011"/>
            <a:chExt cx="1631216" cy="1636917"/>
          </a:xfrm>
        </p:grpSpPr>
        <p:pic>
          <p:nvPicPr>
            <p:cNvPr id="40" name="그림 39">
              <a:extLst>
                <a:ext uri="{FF2B5EF4-FFF2-40B4-BE49-F238E27FC236}">
                  <a16:creationId xmlns:a16="http://schemas.microsoft.com/office/drawing/2014/main" id="{7DF7CD59-8AE6-44D5-B27A-C406CBEE050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847762" y="4089488"/>
              <a:ext cx="526192" cy="531673"/>
            </a:xfrm>
            <a:prstGeom prst="rect">
              <a:avLst/>
            </a:prstGeom>
          </p:spPr>
        </p:pic>
        <p:pic>
          <p:nvPicPr>
            <p:cNvPr id="41" name="그림 40">
              <a:extLst>
                <a:ext uri="{FF2B5EF4-FFF2-40B4-BE49-F238E27FC236}">
                  <a16:creationId xmlns:a16="http://schemas.microsoft.com/office/drawing/2014/main" id="{2A89BFA2-9A68-4571-ABAB-43EDBEDB97B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4847762" y="3535432"/>
              <a:ext cx="526192" cy="531673"/>
            </a:xfrm>
            <a:prstGeom prst="rect">
              <a:avLst/>
            </a:prstGeom>
          </p:spPr>
        </p:pic>
        <p:pic>
          <p:nvPicPr>
            <p:cNvPr id="56" name="그림 55">
              <a:extLst>
                <a:ext uri="{FF2B5EF4-FFF2-40B4-BE49-F238E27FC236}">
                  <a16:creationId xmlns:a16="http://schemas.microsoft.com/office/drawing/2014/main" id="{37991DF5-B695-4BD5-979E-A5E1C1D6EE89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3742738" y="4081288"/>
              <a:ext cx="526192" cy="531673"/>
            </a:xfrm>
            <a:prstGeom prst="rect">
              <a:avLst/>
            </a:prstGeom>
          </p:spPr>
        </p:pic>
        <p:pic>
          <p:nvPicPr>
            <p:cNvPr id="59" name="그림 58">
              <a:extLst>
                <a:ext uri="{FF2B5EF4-FFF2-40B4-BE49-F238E27FC236}">
                  <a16:creationId xmlns:a16="http://schemas.microsoft.com/office/drawing/2014/main" id="{725511DF-36B8-4592-B416-C987520CAE3E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3742738" y="4634255"/>
              <a:ext cx="526192" cy="531673"/>
            </a:xfrm>
            <a:prstGeom prst="rect">
              <a:avLst/>
            </a:prstGeom>
          </p:spPr>
        </p:pic>
        <p:pic>
          <p:nvPicPr>
            <p:cNvPr id="60" name="그림 59">
              <a:extLst>
                <a:ext uri="{FF2B5EF4-FFF2-40B4-BE49-F238E27FC236}">
                  <a16:creationId xmlns:a16="http://schemas.microsoft.com/office/drawing/2014/main" id="{D05AD147-0860-498F-A445-B82A25D678E5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4295250" y="3529011"/>
              <a:ext cx="526192" cy="531673"/>
            </a:xfrm>
            <a:prstGeom prst="rect">
              <a:avLst/>
            </a:prstGeom>
          </p:spPr>
        </p:pic>
        <p:pic>
          <p:nvPicPr>
            <p:cNvPr id="61" name="그림 60">
              <a:extLst>
                <a:ext uri="{FF2B5EF4-FFF2-40B4-BE49-F238E27FC236}">
                  <a16:creationId xmlns:a16="http://schemas.microsoft.com/office/drawing/2014/main" id="{DB80ACA7-1E62-43B4-BE10-207E1B062049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3742738" y="3535432"/>
              <a:ext cx="526192" cy="531673"/>
            </a:xfrm>
            <a:prstGeom prst="rect">
              <a:avLst/>
            </a:prstGeom>
          </p:spPr>
        </p:pic>
        <p:pic>
          <p:nvPicPr>
            <p:cNvPr id="62" name="그림 61">
              <a:extLst>
                <a:ext uri="{FF2B5EF4-FFF2-40B4-BE49-F238E27FC236}">
                  <a16:creationId xmlns:a16="http://schemas.microsoft.com/office/drawing/2014/main" id="{5714F32F-256A-4A11-9645-2F272A97C4C7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4847762" y="4633566"/>
              <a:ext cx="526192" cy="531673"/>
            </a:xfrm>
            <a:prstGeom prst="rect">
              <a:avLst/>
            </a:prstGeom>
          </p:spPr>
        </p:pic>
        <p:pic>
          <p:nvPicPr>
            <p:cNvPr id="63" name="그림 62">
              <a:extLst>
                <a:ext uri="{FF2B5EF4-FFF2-40B4-BE49-F238E27FC236}">
                  <a16:creationId xmlns:a16="http://schemas.microsoft.com/office/drawing/2014/main" id="{4826B191-4AAD-44FA-BF13-B0C11A3B2F3B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4295250" y="4633567"/>
              <a:ext cx="526192" cy="531673"/>
            </a:xfrm>
            <a:prstGeom prst="rect">
              <a:avLst/>
            </a:prstGeom>
          </p:spPr>
        </p:pic>
        <p:pic>
          <p:nvPicPr>
            <p:cNvPr id="64" name="그림 63">
              <a:extLst>
                <a:ext uri="{FF2B5EF4-FFF2-40B4-BE49-F238E27FC236}">
                  <a16:creationId xmlns:a16="http://schemas.microsoft.com/office/drawing/2014/main" id="{9EABFDF7-E596-496D-8191-97D6BD10F093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4295250" y="4081288"/>
              <a:ext cx="526192" cy="531673"/>
            </a:xfrm>
            <a:prstGeom prst="rect">
              <a:avLst/>
            </a:prstGeom>
          </p:spPr>
        </p:pic>
      </p:grpSp>
      <p:grpSp>
        <p:nvGrpSpPr>
          <p:cNvPr id="7" name="그룹 6">
            <a:extLst>
              <a:ext uri="{FF2B5EF4-FFF2-40B4-BE49-F238E27FC236}">
                <a16:creationId xmlns:a16="http://schemas.microsoft.com/office/drawing/2014/main" id="{A59F05A3-2604-4D85-843C-C8EF6F5C5020}"/>
              </a:ext>
            </a:extLst>
          </p:cNvPr>
          <p:cNvGrpSpPr>
            <a:grpSpLocks noChangeAspect="1"/>
          </p:cNvGrpSpPr>
          <p:nvPr/>
        </p:nvGrpSpPr>
        <p:grpSpPr>
          <a:xfrm>
            <a:off x="7191264" y="3535680"/>
            <a:ext cx="4022538" cy="2629486"/>
            <a:chOff x="185986" y="582298"/>
            <a:chExt cx="8709658" cy="5693401"/>
          </a:xfrm>
        </p:grpSpPr>
        <p:pic>
          <p:nvPicPr>
            <p:cNvPr id="65" name="Picture 6" descr="Canines (Canids) Facts">
              <a:extLst>
                <a:ext uri="{FF2B5EF4-FFF2-40B4-BE49-F238E27FC236}">
                  <a16:creationId xmlns:a16="http://schemas.microsoft.com/office/drawing/2014/main" id="{CBB97146-DEAB-4CBD-AF11-1DADEC389A1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5986" y="2570904"/>
              <a:ext cx="1710547" cy="171054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6" name="Picture 6" descr="Canines (Canids) Facts">
              <a:extLst>
                <a:ext uri="{FF2B5EF4-FFF2-40B4-BE49-F238E27FC236}">
                  <a16:creationId xmlns:a16="http://schemas.microsoft.com/office/drawing/2014/main" id="{FAA7D6E8-B711-4A2B-B5A5-6DD496F8C7D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6">
              <a:extLst>
                <a:ext uri="{BEBA8EAE-BF5A-486C-A8C5-ECC9F3942E4B}">
                  <a14:imgProps xmlns:a14="http://schemas.microsoft.com/office/drawing/2010/main">
                    <a14:imgLayer r:embed="rId17">
                      <a14:imgEffect>
                        <a14:artisticPhotocopy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89676" y="860357"/>
              <a:ext cx="1710547" cy="1710547"/>
            </a:xfrm>
            <a:prstGeom prst="rect">
              <a:avLst/>
            </a:prstGeom>
            <a:noFill/>
            <a:effectLst>
              <a:glow>
                <a:schemeClr val="accent1">
                  <a:alpha val="41000"/>
                </a:schemeClr>
              </a:glow>
              <a:reflection stA="45000" endPos="0" dist="50800" dir="5400000" sy="-100000" algn="bl" rotWithShape="0"/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7" name="Picture 6" descr="Canines (Canids) Facts">
              <a:extLst>
                <a:ext uri="{FF2B5EF4-FFF2-40B4-BE49-F238E27FC236}">
                  <a16:creationId xmlns:a16="http://schemas.microsoft.com/office/drawing/2014/main" id="{7B1F9EFC-FAD4-4658-8DB8-59F479A0603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>
              <a:extLst>
                <a:ext uri="{BEBA8EAE-BF5A-486C-A8C5-ECC9F3942E4B}">
                  <a14:imgProps xmlns:a14="http://schemas.microsoft.com/office/drawing/2010/main">
                    <a14:imgLayer r:embed="rId17">
                      <a14:imgEffect>
                        <a14:brightnessContrast bright="4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89675" y="4287095"/>
              <a:ext cx="1710548" cy="171054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68" name="직선 화살표 연결선 67">
              <a:extLst>
                <a:ext uri="{FF2B5EF4-FFF2-40B4-BE49-F238E27FC236}">
                  <a16:creationId xmlns:a16="http://schemas.microsoft.com/office/drawing/2014/main" id="{DCB4D013-09D0-4366-A253-C13981FF3761}"/>
                </a:ext>
              </a:extLst>
            </p:cNvPr>
            <p:cNvCxnSpPr>
              <a:stCxn id="65" idx="3"/>
              <a:endCxn id="66" idx="1"/>
            </p:cNvCxnSpPr>
            <p:nvPr/>
          </p:nvCxnSpPr>
          <p:spPr>
            <a:xfrm flipV="1">
              <a:off x="1896533" y="1715631"/>
              <a:ext cx="993143" cy="1710547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직선 화살표 연결선 68">
              <a:extLst>
                <a:ext uri="{FF2B5EF4-FFF2-40B4-BE49-F238E27FC236}">
                  <a16:creationId xmlns:a16="http://schemas.microsoft.com/office/drawing/2014/main" id="{17970658-1101-48F7-A1E0-27630BBA4E02}"/>
                </a:ext>
              </a:extLst>
            </p:cNvPr>
            <p:cNvCxnSpPr>
              <a:cxnSpLocks/>
              <a:stCxn id="65" idx="3"/>
              <a:endCxn id="67" idx="1"/>
            </p:cNvCxnSpPr>
            <p:nvPr/>
          </p:nvCxnSpPr>
          <p:spPr>
            <a:xfrm>
              <a:off x="1896533" y="3426178"/>
              <a:ext cx="993142" cy="1716191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사각형: 둥근 모서리 69">
              <a:extLst>
                <a:ext uri="{FF2B5EF4-FFF2-40B4-BE49-F238E27FC236}">
                  <a16:creationId xmlns:a16="http://schemas.microsoft.com/office/drawing/2014/main" id="{2E6401E9-9602-4F97-821E-0E45FC345B64}"/>
                </a:ext>
              </a:extLst>
            </p:cNvPr>
            <p:cNvSpPr/>
            <p:nvPr/>
          </p:nvSpPr>
          <p:spPr>
            <a:xfrm>
              <a:off x="5249332" y="860357"/>
              <a:ext cx="2630311" cy="1710547"/>
            </a:xfrm>
            <a:prstGeom prst="round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CNN</a:t>
              </a:r>
              <a:endParaRPr lang="ko-KR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1" name="사각형: 둥근 모서리 70">
              <a:extLst>
                <a:ext uri="{FF2B5EF4-FFF2-40B4-BE49-F238E27FC236}">
                  <a16:creationId xmlns:a16="http://schemas.microsoft.com/office/drawing/2014/main" id="{04C346FB-EBA8-48FB-8C3D-273ABF7D6E71}"/>
                </a:ext>
              </a:extLst>
            </p:cNvPr>
            <p:cNvSpPr/>
            <p:nvPr/>
          </p:nvSpPr>
          <p:spPr>
            <a:xfrm>
              <a:off x="5249333" y="4287096"/>
              <a:ext cx="2630311" cy="1710547"/>
            </a:xfrm>
            <a:prstGeom prst="round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CNN</a:t>
              </a:r>
              <a:endParaRPr lang="ko-KR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72" name="직선 화살표 연결선 71">
              <a:extLst>
                <a:ext uri="{FF2B5EF4-FFF2-40B4-BE49-F238E27FC236}">
                  <a16:creationId xmlns:a16="http://schemas.microsoft.com/office/drawing/2014/main" id="{FACAB2CB-B2F5-489E-B185-65CA81E31A6E}"/>
                </a:ext>
              </a:extLst>
            </p:cNvPr>
            <p:cNvCxnSpPr>
              <a:cxnSpLocks/>
              <a:stCxn id="66" idx="3"/>
              <a:endCxn id="70" idx="1"/>
            </p:cNvCxnSpPr>
            <p:nvPr/>
          </p:nvCxnSpPr>
          <p:spPr>
            <a:xfrm>
              <a:off x="4600223" y="1715631"/>
              <a:ext cx="649109" cy="0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직선 화살표 연결선 72">
              <a:extLst>
                <a:ext uri="{FF2B5EF4-FFF2-40B4-BE49-F238E27FC236}">
                  <a16:creationId xmlns:a16="http://schemas.microsoft.com/office/drawing/2014/main" id="{4CA34C28-A2A7-4604-A151-D0B5F32A162A}"/>
                </a:ext>
              </a:extLst>
            </p:cNvPr>
            <p:cNvCxnSpPr>
              <a:cxnSpLocks/>
              <a:stCxn id="67" idx="3"/>
              <a:endCxn id="71" idx="1"/>
            </p:cNvCxnSpPr>
            <p:nvPr/>
          </p:nvCxnSpPr>
          <p:spPr>
            <a:xfrm>
              <a:off x="4600223" y="5142369"/>
              <a:ext cx="649110" cy="1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직선 화살표 연결선 73">
              <a:extLst>
                <a:ext uri="{FF2B5EF4-FFF2-40B4-BE49-F238E27FC236}">
                  <a16:creationId xmlns:a16="http://schemas.microsoft.com/office/drawing/2014/main" id="{7F4FD372-6C0C-4064-9CC1-D6D89B48D65A}"/>
                </a:ext>
              </a:extLst>
            </p:cNvPr>
            <p:cNvCxnSpPr>
              <a:cxnSpLocks/>
              <a:stCxn id="70" idx="3"/>
            </p:cNvCxnSpPr>
            <p:nvPr/>
          </p:nvCxnSpPr>
          <p:spPr>
            <a:xfrm flipV="1">
              <a:off x="7879643" y="1715630"/>
              <a:ext cx="649109" cy="1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직선 화살표 연결선 74">
              <a:extLst>
                <a:ext uri="{FF2B5EF4-FFF2-40B4-BE49-F238E27FC236}">
                  <a16:creationId xmlns:a16="http://schemas.microsoft.com/office/drawing/2014/main" id="{21E123ED-57C4-4D39-8C70-7565C911E82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879643" y="5142368"/>
              <a:ext cx="649109" cy="1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6" name="직사각형 75">
                  <a:extLst>
                    <a:ext uri="{FF2B5EF4-FFF2-40B4-BE49-F238E27FC236}">
                      <a16:creationId xmlns:a16="http://schemas.microsoft.com/office/drawing/2014/main" id="{C8443C80-F44B-4FC4-8BB6-D184C63C607E}"/>
                    </a:ext>
                  </a:extLst>
                </p:cNvPr>
                <p:cNvSpPr/>
                <p:nvPr/>
              </p:nvSpPr>
              <p:spPr>
                <a:xfrm>
                  <a:off x="8528752" y="582298"/>
                  <a:ext cx="366892" cy="2266663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2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altLang="ko-KR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altLang="ko-KR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ko-KR" alt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76" name="직사각형 75">
                  <a:extLst>
                    <a:ext uri="{FF2B5EF4-FFF2-40B4-BE49-F238E27FC236}">
                      <a16:creationId xmlns:a16="http://schemas.microsoft.com/office/drawing/2014/main" id="{C8443C80-F44B-4FC4-8BB6-D184C63C607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28752" y="582298"/>
                  <a:ext cx="366892" cy="2266663"/>
                </a:xfrm>
                <a:prstGeom prst="rect">
                  <a:avLst/>
                </a:prstGeom>
                <a:blipFill>
                  <a:blip r:embed="rId19"/>
                  <a:stretch>
                    <a:fillRect l="-32258"/>
                  </a:stretch>
                </a:blipFill>
                <a:ln w="1905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7" name="직사각형 76">
                  <a:extLst>
                    <a:ext uri="{FF2B5EF4-FFF2-40B4-BE49-F238E27FC236}">
                      <a16:creationId xmlns:a16="http://schemas.microsoft.com/office/drawing/2014/main" id="{AC1D7E9A-1AE8-4129-9E76-024485534527}"/>
                    </a:ext>
                  </a:extLst>
                </p:cNvPr>
                <p:cNvSpPr/>
                <p:nvPr/>
              </p:nvSpPr>
              <p:spPr>
                <a:xfrm>
                  <a:off x="8528752" y="4009036"/>
                  <a:ext cx="366892" cy="2266663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2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altLang="ko-KR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altLang="ko-KR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𝑗</m:t>
                            </m:r>
                          </m:sub>
                        </m:sSub>
                      </m:oMath>
                    </m:oMathPara>
                  </a14:m>
                  <a:endParaRPr lang="ko-KR" alt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77" name="직사각형 76">
                  <a:extLst>
                    <a:ext uri="{FF2B5EF4-FFF2-40B4-BE49-F238E27FC236}">
                      <a16:creationId xmlns:a16="http://schemas.microsoft.com/office/drawing/2014/main" id="{AC1D7E9A-1AE8-4129-9E76-02448553452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28752" y="4009036"/>
                  <a:ext cx="366892" cy="2266663"/>
                </a:xfrm>
                <a:prstGeom prst="rect">
                  <a:avLst/>
                </a:prstGeom>
                <a:blipFill>
                  <a:blip r:embed="rId20"/>
                  <a:stretch>
                    <a:fillRect l="-32258"/>
                  </a:stretch>
                </a:blipFill>
                <a:ln w="1905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0ED48166-6533-4FE2-9F9D-14CC11E10839}"/>
              </a:ext>
            </a:extLst>
          </p:cNvPr>
          <p:cNvSpPr txBox="1"/>
          <p:nvPr/>
        </p:nvSpPr>
        <p:spPr>
          <a:xfrm>
            <a:off x="1055332" y="6171306"/>
            <a:ext cx="28296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/>
              <a:t>&lt;Context Prediction&gt;</a:t>
            </a:r>
            <a:endParaRPr lang="ko-KR" altLang="en-US" b="1" dirty="0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030C2DE7-1228-44C1-95DB-6C406E7474FF}"/>
              </a:ext>
            </a:extLst>
          </p:cNvPr>
          <p:cNvSpPr txBox="1"/>
          <p:nvPr/>
        </p:nvSpPr>
        <p:spPr>
          <a:xfrm>
            <a:off x="4777406" y="6171306"/>
            <a:ext cx="23202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/>
              <a:t>&lt;Jigsaw Puzzle&gt;</a:t>
            </a:r>
            <a:endParaRPr lang="ko-KR" altLang="en-US" b="1" dirty="0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F41685C0-47E1-4E69-BAEE-BCE7D4A87329}"/>
              </a:ext>
            </a:extLst>
          </p:cNvPr>
          <p:cNvSpPr txBox="1"/>
          <p:nvPr/>
        </p:nvSpPr>
        <p:spPr>
          <a:xfrm>
            <a:off x="7718153" y="6164279"/>
            <a:ext cx="34185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/>
              <a:t>&lt;Joint</a:t>
            </a:r>
            <a:r>
              <a:rPr lang="ko-KR" altLang="en-US" b="1" dirty="0"/>
              <a:t> </a:t>
            </a:r>
            <a:r>
              <a:rPr lang="en-US" altLang="ko-KR" b="1" dirty="0"/>
              <a:t>Embedding vector&gt;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18403434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F30525C1-0D03-4474-80BE-E4F7439B89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1C0072-4DC1-48CC-BEBD-0B21D41EF312}" type="slidenum">
              <a:rPr lang="ko-KR" altLang="en-US" smtClean="0"/>
              <a:t>5</a:t>
            </a:fld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6FF3EF0-EED7-42B1-A3E1-EAE35BE4FF63}"/>
              </a:ext>
            </a:extLst>
          </p:cNvPr>
          <p:cNvSpPr txBox="1"/>
          <p:nvPr/>
        </p:nvSpPr>
        <p:spPr>
          <a:xfrm>
            <a:off x="243442" y="497349"/>
            <a:ext cx="1008927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i="1" dirty="0">
                <a:solidFill>
                  <a:srgbClr val="0E4A8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Collapsing Problem</a:t>
            </a:r>
            <a:endParaRPr lang="ko-KR" altLang="en-US" sz="3200" b="1" i="1" dirty="0">
              <a:solidFill>
                <a:srgbClr val="0E4A8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5D69A54-CA14-44B8-8506-B75A094B5A58}"/>
              </a:ext>
            </a:extLst>
          </p:cNvPr>
          <p:cNvSpPr txBox="1"/>
          <p:nvPr/>
        </p:nvSpPr>
        <p:spPr>
          <a:xfrm>
            <a:off x="211424" y="1444371"/>
            <a:ext cx="10761376" cy="2805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>
                <a:latin typeface="Arial" panose="020B0604020202020204" pitchFamily="34" charset="0"/>
                <a:cs typeface="Arial" panose="020B0604020202020204" pitchFamily="34" charset="0"/>
              </a:rPr>
              <a:t>2 types of collapse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2000" b="1" i="1" dirty="0">
                <a:latin typeface="Arial" panose="020B0604020202020204" pitchFamily="34" charset="0"/>
                <a:cs typeface="Arial" panose="020B0604020202020204" pitchFamily="34" charset="0"/>
              </a:rPr>
              <a:t>complete</a:t>
            </a:r>
            <a:r>
              <a:rPr lang="ko-KR" altLang="en-US" sz="2000" b="1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2000" b="1" i="1" dirty="0">
                <a:latin typeface="Arial" panose="020B0604020202020204" pitchFamily="34" charset="0"/>
                <a:cs typeface="Arial" panose="020B0604020202020204" pitchFamily="34" charset="0"/>
              </a:rPr>
              <a:t>collapse</a:t>
            </a:r>
            <a:r>
              <a:rPr lang="en-US" altLang="ko-KR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2000" dirty="0">
                <a:latin typeface="Arial" panose="020B0604020202020204" pitchFamily="34" charset="0"/>
                <a:cs typeface="Arial" panose="020B0604020202020204" pitchFamily="34" charset="0"/>
              </a:rPr>
              <a:t>: all vector shrinks to one vector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2000" b="1" i="1" dirty="0">
                <a:latin typeface="Arial" panose="020B0604020202020204" pitchFamily="34" charset="0"/>
                <a:cs typeface="Arial" panose="020B0604020202020204" pitchFamily="34" charset="0"/>
              </a:rPr>
              <a:t>dimensional collapse </a:t>
            </a:r>
            <a:r>
              <a:rPr lang="en-US" altLang="ko-KR" sz="2000" dirty="0">
                <a:latin typeface="Arial" panose="020B0604020202020204" pitchFamily="34" charset="0"/>
                <a:cs typeface="Arial" panose="020B0604020202020204" pitchFamily="34" charset="0"/>
              </a:rPr>
              <a:t>: embedding vectors only span a lower-dimensional subspace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>
                <a:latin typeface="Arial" panose="020B0604020202020204" pitchFamily="34" charset="0"/>
                <a:cs typeface="Arial" panose="020B0604020202020204" pitchFamily="34" charset="0"/>
              </a:rPr>
              <a:t>Self-Supervision prevents </a:t>
            </a:r>
            <a:r>
              <a:rPr lang="en-US" altLang="ko-KR" sz="2000" b="1" i="1" dirty="0">
                <a:latin typeface="Arial" panose="020B0604020202020204" pitchFamily="34" charset="0"/>
                <a:cs typeface="Arial" panose="020B0604020202020204" pitchFamily="34" charset="0"/>
              </a:rPr>
              <a:t>complete collapse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2000" b="1" i="1" dirty="0">
                <a:latin typeface="Arial" panose="020B0604020202020204" pitchFamily="34" charset="0"/>
                <a:cs typeface="Arial" panose="020B0604020202020204" pitchFamily="34" charset="0"/>
              </a:rPr>
              <a:t>dimensional collapse </a:t>
            </a:r>
            <a:r>
              <a:rPr lang="en-US" altLang="ko-KR" sz="2000" dirty="0">
                <a:latin typeface="Arial" panose="020B0604020202020204" pitchFamily="34" charset="0"/>
                <a:cs typeface="Arial" panose="020B0604020202020204" pitchFamily="34" charset="0"/>
              </a:rPr>
              <a:t>still occurs</a:t>
            </a:r>
            <a:endParaRPr lang="en-US" altLang="ko-KR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401DFF93-818F-433E-AF61-FAE1D5EBE2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3316" y="3931668"/>
            <a:ext cx="4845367" cy="2721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18863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F30525C1-0D03-4474-80BE-E4F7439B89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1C0072-4DC1-48CC-BEBD-0B21D41EF312}" type="slidenum">
              <a:rPr lang="ko-KR" altLang="en-US" smtClean="0"/>
              <a:t>6</a:t>
            </a:fld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6FF3EF0-EED7-42B1-A3E1-EAE35BE4FF63}"/>
              </a:ext>
            </a:extLst>
          </p:cNvPr>
          <p:cNvSpPr txBox="1"/>
          <p:nvPr/>
        </p:nvSpPr>
        <p:spPr>
          <a:xfrm>
            <a:off x="243442" y="497349"/>
            <a:ext cx="1008927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i="1" dirty="0">
                <a:solidFill>
                  <a:srgbClr val="0E4A8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Contrastive Learning</a:t>
            </a:r>
            <a:endParaRPr lang="ko-KR" altLang="en-US" sz="3200" b="1" i="1" dirty="0">
              <a:solidFill>
                <a:srgbClr val="0E4A8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5D69A54-CA14-44B8-8506-B75A094B5A58}"/>
              </a:ext>
            </a:extLst>
          </p:cNvPr>
          <p:cNvSpPr txBox="1"/>
          <p:nvPr/>
        </p:nvSpPr>
        <p:spPr>
          <a:xfrm>
            <a:off x="211424" y="1444371"/>
            <a:ext cx="5482116" cy="4190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>
                <a:latin typeface="Arial" panose="020B0604020202020204" pitchFamily="34" charset="0"/>
                <a:cs typeface="Arial" panose="020B0604020202020204" pitchFamily="34" charset="0"/>
              </a:rPr>
              <a:t>Compare training samples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2000" dirty="0">
                <a:latin typeface="Arial" panose="020B0604020202020204" pitchFamily="34" charset="0"/>
                <a:cs typeface="Arial" panose="020B0604020202020204" pitchFamily="34" charset="0"/>
              </a:rPr>
              <a:t>Encourage </a:t>
            </a:r>
            <a:r>
              <a:rPr lang="en-US" altLang="ko-KR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positive pairs </a:t>
            </a:r>
            <a:r>
              <a:rPr lang="en-US" altLang="ko-KR" sz="2000" dirty="0">
                <a:latin typeface="Arial" panose="020B0604020202020204" pitchFamily="34" charset="0"/>
                <a:cs typeface="Arial" panose="020B0604020202020204" pitchFamily="34" charset="0"/>
              </a:rPr>
              <a:t>to be close</a:t>
            </a:r>
          </a:p>
          <a:p>
            <a:pPr marL="800100" lvl="1" indent="-342900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ü"/>
            </a:pPr>
            <a:r>
              <a:rPr lang="en-US" altLang="ko-KR" sz="2000" dirty="0">
                <a:solidFill>
                  <a:srgbClr val="0725B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Negative pairs</a:t>
            </a:r>
            <a:r>
              <a:rPr lang="en-US" altLang="ko-KR" sz="2000" dirty="0">
                <a:latin typeface="Arial" panose="020B0604020202020204" pitchFamily="34" charset="0"/>
                <a:cs typeface="Arial" panose="020B0604020202020204" pitchFamily="34" charset="0"/>
              </a:rPr>
              <a:t> are pushed away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>
                <a:latin typeface="Arial" panose="020B0604020202020204" pitchFamily="34" charset="0"/>
                <a:cs typeface="Arial" panose="020B0604020202020204" pitchFamily="34" charset="0"/>
              </a:rPr>
              <a:t>It seems intuitive to speculate that </a:t>
            </a:r>
            <a:r>
              <a:rPr lang="en-US" altLang="ko-KR" sz="2000" b="1" dirty="0">
                <a:solidFill>
                  <a:srgbClr val="0725B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negative pairs</a:t>
            </a:r>
            <a:r>
              <a:rPr lang="en-US" altLang="ko-KR" sz="20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2000" dirty="0">
                <a:latin typeface="Arial" panose="020B0604020202020204" pitchFamily="34" charset="0"/>
                <a:cs typeface="Arial" panose="020B0604020202020204" pitchFamily="34" charset="0"/>
              </a:rPr>
              <a:t>prevent </a:t>
            </a:r>
            <a:r>
              <a:rPr lang="en-US" altLang="ko-KR" sz="2000" i="1" dirty="0">
                <a:latin typeface="Arial" panose="020B0604020202020204" pitchFamily="34" charset="0"/>
                <a:cs typeface="Arial" panose="020B0604020202020204" pitchFamily="34" charset="0"/>
              </a:rPr>
              <a:t>dimensional collapse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>
                <a:latin typeface="Arial" panose="020B0604020202020204" pitchFamily="34" charset="0"/>
                <a:cs typeface="Arial" panose="020B0604020202020204" pitchFamily="34" charset="0"/>
              </a:rPr>
              <a:t>Contrary to the intuition, contrastive learning stills suffers from dimensional collapse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802FBDFD-BE9A-427D-9CF8-ACE59FB4C753}"/>
              </a:ext>
            </a:extLst>
          </p:cNvPr>
          <p:cNvGrpSpPr>
            <a:grpSpLocks noChangeAspect="1"/>
          </p:cNvGrpSpPr>
          <p:nvPr/>
        </p:nvGrpSpPr>
        <p:grpSpPr>
          <a:xfrm>
            <a:off x="6384182" y="1223010"/>
            <a:ext cx="5982101" cy="2736410"/>
            <a:chOff x="70137" y="582298"/>
            <a:chExt cx="12446418" cy="5693401"/>
          </a:xfrm>
        </p:grpSpPr>
        <p:pic>
          <p:nvPicPr>
            <p:cNvPr id="6" name="Picture 6" descr="Canines (Canids) Facts">
              <a:extLst>
                <a:ext uri="{FF2B5EF4-FFF2-40B4-BE49-F238E27FC236}">
                  <a16:creationId xmlns:a16="http://schemas.microsoft.com/office/drawing/2014/main" id="{95D97015-0FF2-49FC-B0F8-1EEFD238430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138" y="860355"/>
              <a:ext cx="1710547" cy="171054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" name="Picture 6" descr="Canines (Canids) Facts">
              <a:extLst>
                <a:ext uri="{FF2B5EF4-FFF2-40B4-BE49-F238E27FC236}">
                  <a16:creationId xmlns:a16="http://schemas.microsoft.com/office/drawing/2014/main" id="{0C0099DA-19A4-40B5-8ECF-379E978251C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artisticPhotocopy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89676" y="860357"/>
              <a:ext cx="1710547" cy="1710547"/>
            </a:xfrm>
            <a:prstGeom prst="rect">
              <a:avLst/>
            </a:prstGeom>
            <a:noFill/>
            <a:effectLst>
              <a:glow>
                <a:schemeClr val="accent1">
                  <a:alpha val="41000"/>
                </a:schemeClr>
              </a:glow>
              <a:reflection stA="45000" endPos="0" dist="50800" dir="5400000" sy="-100000" algn="bl" rotWithShape="0"/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8" name="직선 화살표 연결선 7">
              <a:extLst>
                <a:ext uri="{FF2B5EF4-FFF2-40B4-BE49-F238E27FC236}">
                  <a16:creationId xmlns:a16="http://schemas.microsoft.com/office/drawing/2014/main" id="{46F1A18D-8838-44D8-AD2B-125ABEC5D4A7}"/>
                </a:ext>
              </a:extLst>
            </p:cNvPr>
            <p:cNvCxnSpPr>
              <a:stCxn id="6" idx="3"/>
              <a:endCxn id="7" idx="1"/>
            </p:cNvCxnSpPr>
            <p:nvPr/>
          </p:nvCxnSpPr>
          <p:spPr>
            <a:xfrm>
              <a:off x="1780685" y="1715629"/>
              <a:ext cx="1108991" cy="2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화살표 연결선 9">
              <a:extLst>
                <a:ext uri="{FF2B5EF4-FFF2-40B4-BE49-F238E27FC236}">
                  <a16:creationId xmlns:a16="http://schemas.microsoft.com/office/drawing/2014/main" id="{A4304DF7-E144-40A7-9E6D-5245DDC79AC9}"/>
                </a:ext>
              </a:extLst>
            </p:cNvPr>
            <p:cNvCxnSpPr>
              <a:cxnSpLocks/>
            </p:cNvCxnSpPr>
            <p:nvPr/>
          </p:nvCxnSpPr>
          <p:spPr>
            <a:xfrm>
              <a:off x="1780685" y="5142367"/>
              <a:ext cx="1108990" cy="2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사각형: 둥근 모서리 10">
              <a:extLst>
                <a:ext uri="{FF2B5EF4-FFF2-40B4-BE49-F238E27FC236}">
                  <a16:creationId xmlns:a16="http://schemas.microsoft.com/office/drawing/2014/main" id="{A4F0FF3A-06C1-432F-8EA1-71FBED8F9A7E}"/>
                </a:ext>
              </a:extLst>
            </p:cNvPr>
            <p:cNvSpPr/>
            <p:nvPr/>
          </p:nvSpPr>
          <p:spPr>
            <a:xfrm>
              <a:off x="5249332" y="860357"/>
              <a:ext cx="2630311" cy="1710547"/>
            </a:xfrm>
            <a:prstGeom prst="round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CNN</a:t>
              </a:r>
              <a:endParaRPr lang="ko-KR" alt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" name="사각형: 둥근 모서리 11">
              <a:extLst>
                <a:ext uri="{FF2B5EF4-FFF2-40B4-BE49-F238E27FC236}">
                  <a16:creationId xmlns:a16="http://schemas.microsoft.com/office/drawing/2014/main" id="{6B7D4794-7C3A-45B9-AEC7-E7897B7FDA50}"/>
                </a:ext>
              </a:extLst>
            </p:cNvPr>
            <p:cNvSpPr/>
            <p:nvPr/>
          </p:nvSpPr>
          <p:spPr>
            <a:xfrm>
              <a:off x="5249333" y="4287096"/>
              <a:ext cx="2630311" cy="1710547"/>
            </a:xfrm>
            <a:prstGeom prst="round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CNN</a:t>
              </a:r>
              <a:endParaRPr lang="ko-KR" alt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3" name="직선 화살표 연결선 12">
              <a:extLst>
                <a:ext uri="{FF2B5EF4-FFF2-40B4-BE49-F238E27FC236}">
                  <a16:creationId xmlns:a16="http://schemas.microsoft.com/office/drawing/2014/main" id="{D35433CA-C7BF-412F-97EA-5DEAC385D9B4}"/>
                </a:ext>
              </a:extLst>
            </p:cNvPr>
            <p:cNvCxnSpPr>
              <a:cxnSpLocks/>
              <a:stCxn id="7" idx="3"/>
              <a:endCxn id="11" idx="1"/>
            </p:cNvCxnSpPr>
            <p:nvPr/>
          </p:nvCxnSpPr>
          <p:spPr>
            <a:xfrm>
              <a:off x="4600223" y="1715631"/>
              <a:ext cx="649109" cy="0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화살표 연결선 13">
              <a:extLst>
                <a:ext uri="{FF2B5EF4-FFF2-40B4-BE49-F238E27FC236}">
                  <a16:creationId xmlns:a16="http://schemas.microsoft.com/office/drawing/2014/main" id="{4A581E9F-3029-4C4B-A582-6C019EC788FD}"/>
                </a:ext>
              </a:extLst>
            </p:cNvPr>
            <p:cNvCxnSpPr>
              <a:cxnSpLocks/>
              <a:endCxn id="12" idx="1"/>
            </p:cNvCxnSpPr>
            <p:nvPr/>
          </p:nvCxnSpPr>
          <p:spPr>
            <a:xfrm>
              <a:off x="4600223" y="5142369"/>
              <a:ext cx="649110" cy="1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화살표 연결선 14">
              <a:extLst>
                <a:ext uri="{FF2B5EF4-FFF2-40B4-BE49-F238E27FC236}">
                  <a16:creationId xmlns:a16="http://schemas.microsoft.com/office/drawing/2014/main" id="{4F0499AF-3AA8-4187-BF27-7ADB8D714D60}"/>
                </a:ext>
              </a:extLst>
            </p:cNvPr>
            <p:cNvCxnSpPr>
              <a:cxnSpLocks/>
              <a:stCxn id="11" idx="3"/>
            </p:cNvCxnSpPr>
            <p:nvPr/>
          </p:nvCxnSpPr>
          <p:spPr>
            <a:xfrm flipV="1">
              <a:off x="7879643" y="1715630"/>
              <a:ext cx="649109" cy="1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화살표 연결선 15">
              <a:extLst>
                <a:ext uri="{FF2B5EF4-FFF2-40B4-BE49-F238E27FC236}">
                  <a16:creationId xmlns:a16="http://schemas.microsoft.com/office/drawing/2014/main" id="{91FF68F3-1F88-45E4-A8B7-739B74C94BB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879643" y="5142368"/>
              <a:ext cx="649109" cy="1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직사각형 16">
                  <a:extLst>
                    <a:ext uri="{FF2B5EF4-FFF2-40B4-BE49-F238E27FC236}">
                      <a16:creationId xmlns:a16="http://schemas.microsoft.com/office/drawing/2014/main" id="{FC308CBB-D68E-45A2-8434-C630C0C64BE8}"/>
                    </a:ext>
                  </a:extLst>
                </p:cNvPr>
                <p:cNvSpPr/>
                <p:nvPr/>
              </p:nvSpPr>
              <p:spPr>
                <a:xfrm>
                  <a:off x="8528752" y="582298"/>
                  <a:ext cx="366892" cy="2266663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05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altLang="ko-KR" sz="105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altLang="ko-KR" sz="105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ko-KR" altLang="en-US" sz="105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17" name="직사각형 16">
                  <a:extLst>
                    <a:ext uri="{FF2B5EF4-FFF2-40B4-BE49-F238E27FC236}">
                      <a16:creationId xmlns:a16="http://schemas.microsoft.com/office/drawing/2014/main" id="{FC308CBB-D68E-45A2-8434-C630C0C64BE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28752" y="582298"/>
                  <a:ext cx="366892" cy="2266663"/>
                </a:xfrm>
                <a:prstGeom prst="rect">
                  <a:avLst/>
                </a:prstGeom>
                <a:blipFill>
                  <a:blip r:embed="rId6"/>
                  <a:stretch>
                    <a:fillRect l="-18750"/>
                  </a:stretch>
                </a:blipFill>
                <a:ln w="1905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직사각형 17">
                  <a:extLst>
                    <a:ext uri="{FF2B5EF4-FFF2-40B4-BE49-F238E27FC236}">
                      <a16:creationId xmlns:a16="http://schemas.microsoft.com/office/drawing/2014/main" id="{49603C95-F8B4-41CE-A4E3-BCB10F132B75}"/>
                    </a:ext>
                  </a:extLst>
                </p:cNvPr>
                <p:cNvSpPr/>
                <p:nvPr/>
              </p:nvSpPr>
              <p:spPr>
                <a:xfrm>
                  <a:off x="8528752" y="4009036"/>
                  <a:ext cx="366892" cy="2266663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05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altLang="ko-KR" sz="105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altLang="ko-KR" sz="105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𝑗</m:t>
                            </m:r>
                          </m:sub>
                        </m:sSub>
                      </m:oMath>
                    </m:oMathPara>
                  </a14:m>
                  <a:endParaRPr lang="ko-KR" altLang="en-US" sz="105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18" name="직사각형 17">
                  <a:extLst>
                    <a:ext uri="{FF2B5EF4-FFF2-40B4-BE49-F238E27FC236}">
                      <a16:creationId xmlns:a16="http://schemas.microsoft.com/office/drawing/2014/main" id="{49603C95-F8B4-41CE-A4E3-BCB10F132B7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28752" y="4009036"/>
                  <a:ext cx="366892" cy="2266663"/>
                </a:xfrm>
                <a:prstGeom prst="rect">
                  <a:avLst/>
                </a:prstGeom>
                <a:blipFill>
                  <a:blip r:embed="rId7"/>
                  <a:stretch>
                    <a:fillRect l="-21875"/>
                  </a:stretch>
                </a:blipFill>
                <a:ln w="1905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D3855E47-21CD-4C78-8198-24910FFB054F}"/>
                </a:ext>
              </a:extLst>
            </p:cNvPr>
            <p:cNvSpPr txBox="1"/>
            <p:nvPr/>
          </p:nvSpPr>
          <p:spPr>
            <a:xfrm>
              <a:off x="8528752" y="3112802"/>
              <a:ext cx="3987803" cy="5443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100" b="1" dirty="0">
                  <a:solidFill>
                    <a:srgbClr val="0725B9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“Negative” Pairs</a:t>
              </a:r>
              <a:endParaRPr lang="ko-KR" altLang="en-US" sz="1100" b="1" dirty="0">
                <a:solidFill>
                  <a:srgbClr val="0725B9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20" name="Picture 10" descr="Cat intelligence - Wikiwand">
              <a:extLst>
                <a:ext uri="{FF2B5EF4-FFF2-40B4-BE49-F238E27FC236}">
                  <a16:creationId xmlns:a16="http://schemas.microsoft.com/office/drawing/2014/main" id="{C2701DF8-53B4-4CCB-B52C-843E05B8778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137" y="4287093"/>
              <a:ext cx="1710547" cy="171054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1" name="Picture 10" descr="Cat intelligence - Wikiwand">
              <a:extLst>
                <a:ext uri="{FF2B5EF4-FFF2-40B4-BE49-F238E27FC236}">
                  <a16:creationId xmlns:a16="http://schemas.microsoft.com/office/drawing/2014/main" id="{19F9A040-2F39-4F2A-A6BC-153492BA0F1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BEBA8EAE-BF5A-486C-A8C5-ECC9F3942E4B}">
                  <a14:imgProps xmlns:a14="http://schemas.microsoft.com/office/drawing/2010/main">
                    <a14:imgLayer r:embed="rId10">
                      <a14:imgEffect>
                        <a14:colorTemperature colorTemp="6365"/>
                      </a14:imgEffect>
                      <a14:imgEffect>
                        <a14:saturation sat="103000"/>
                      </a14:imgEffect>
                      <a14:imgEffect>
                        <a14:brightnessContrast bright="4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89675" y="4287092"/>
              <a:ext cx="1710547" cy="171054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22" name="직선 화살표 연결선 21">
              <a:extLst>
                <a:ext uri="{FF2B5EF4-FFF2-40B4-BE49-F238E27FC236}">
                  <a16:creationId xmlns:a16="http://schemas.microsoft.com/office/drawing/2014/main" id="{6F97A13F-84AE-4C73-BD15-53DAC714112A}"/>
                </a:ext>
              </a:extLst>
            </p:cNvPr>
            <p:cNvCxnSpPr>
              <a:stCxn id="17" idx="2"/>
              <a:endCxn id="18" idx="0"/>
            </p:cNvCxnSpPr>
            <p:nvPr/>
          </p:nvCxnSpPr>
          <p:spPr>
            <a:xfrm>
              <a:off x="8712198" y="2848961"/>
              <a:ext cx="0" cy="1160075"/>
            </a:xfrm>
            <a:prstGeom prst="straightConnector1">
              <a:avLst/>
            </a:prstGeom>
            <a:ln w="76200">
              <a:solidFill>
                <a:srgbClr val="0725B9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6398611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F30525C1-0D03-4474-80BE-E4F7439B89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1C0072-4DC1-48CC-BEBD-0B21D41EF312}" type="slidenum">
              <a:rPr lang="ko-KR" altLang="en-US" smtClean="0"/>
              <a:t>7</a:t>
            </a:fld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6FF3EF0-EED7-42B1-A3E1-EAE35BE4FF63}"/>
              </a:ext>
            </a:extLst>
          </p:cNvPr>
          <p:cNvSpPr txBox="1"/>
          <p:nvPr/>
        </p:nvSpPr>
        <p:spPr>
          <a:xfrm>
            <a:off x="243442" y="497349"/>
            <a:ext cx="1008927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i="1" dirty="0">
                <a:solidFill>
                  <a:srgbClr val="0E4A8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Contrastive Learning</a:t>
            </a:r>
            <a:endParaRPr lang="ko-KR" altLang="en-US" sz="3200" b="1" i="1" dirty="0">
              <a:solidFill>
                <a:srgbClr val="0E4A8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4" name="그림 23">
            <a:extLst>
              <a:ext uri="{FF2B5EF4-FFF2-40B4-BE49-F238E27FC236}">
                <a16:creationId xmlns:a16="http://schemas.microsoft.com/office/drawing/2014/main" id="{50AC02AD-2D76-4F76-BBB5-AF5F43C82E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3820" y="1444371"/>
            <a:ext cx="4488180" cy="335008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7AF8BA87-2D6D-4884-9E93-516581A55E4C}"/>
                  </a:ext>
                </a:extLst>
              </p:cNvPr>
              <p:cNvSpPr txBox="1"/>
              <p:nvPr/>
            </p:nvSpPr>
            <p:spPr>
              <a:xfrm>
                <a:off x="211424" y="1444371"/>
                <a:ext cx="7572406" cy="32769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Singular</a:t>
                </a:r>
                <a:r>
                  <a:rPr lang="ko-KR" alt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ko-KR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value</a:t>
                </a:r>
                <a:r>
                  <a:rPr lang="ko-KR" alt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ko-KR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spectrum</a:t>
                </a:r>
                <a:r>
                  <a:rPr lang="ko-KR" alt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ko-KR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of embedding space of</a:t>
                </a:r>
                <a:r>
                  <a:rPr lang="ko-KR" alt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ko-KR" sz="20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SimCLR</a:t>
                </a:r>
                <a:endParaRPr lang="en-US" altLang="ko-KR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800100" lvl="1" indent="-34290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r>
                      <a:rPr lang="en-US" altLang="ko-KR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𝐶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nary>
                      <m:naryPr>
                        <m:chr m:val="∑"/>
                        <m:limLoc m:val="subSup"/>
                        <m:supHide m:val="on"/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naryPr>
                      <m:sub>
                        <m:r>
                          <m:rPr>
                            <m:brk m:alnAt="9"/>
                          </m:rPr>
                          <a:rPr lang="en-US" altLang="ko-KR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𝑖</m:t>
                        </m:r>
                      </m:sub>
                      <m:sup/>
                      <m:e>
                        <m:d>
                          <m:dPr>
                            <m:ctrlPr>
                              <a:rPr lang="en-US" altLang="ko-KR" sz="20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sz="20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−</m:t>
                            </m:r>
                            <m:acc>
                              <m:accPr>
                                <m:chr m:val="̅"/>
                                <m:ctrlPr>
                                  <a:rPr lang="en-US" altLang="ko-KR" sz="20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𝑧</m:t>
                                </m:r>
                              </m:e>
                            </m:acc>
                          </m:e>
                        </m:d>
                        <m:sSup>
                          <m:sSupPr>
                            <m:ctrlPr>
                              <a:rPr lang="en-US" altLang="ko-KR" sz="20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ko-KR" sz="20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ko-KR" sz="2000" i="1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2000" i="1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lang="en-US" altLang="ko-KR" sz="2000" i="1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ko-KR" sz="2000" i="1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altLang="ko-KR" sz="2000" i="1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ko-KR" sz="2000" i="1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𝑧</m:t>
                                    </m:r>
                                  </m:e>
                                </m:acc>
                              </m:e>
                            </m:d>
                          </m:e>
                          <m:sup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𝑇</m:t>
                            </m:r>
                          </m:sup>
                        </m:sSup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/</m:t>
                        </m:r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𝑁</m:t>
                        </m:r>
                      </m:e>
                    </m:nary>
                    <m:r>
                      <a:rPr lang="en-US" altLang="ko-KR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nary>
                      <m:naryPr>
                        <m:chr m:val="∑"/>
                        <m:limLoc m:val="subSup"/>
                        <m:supHide m:val="on"/>
                        <m:ctrlPr>
                          <a:rPr lang="en-US" altLang="ko-KR" sz="20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naryPr>
                      <m:sub>
                        <m:r>
                          <m:rPr>
                            <m:brk m:alnAt="9"/>
                          </m:rPr>
                          <a:rPr lang="en-US" altLang="ko-KR" sz="20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𝑖</m:t>
                        </m:r>
                      </m:sub>
                      <m:sup/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𝑊</m:t>
                        </m:r>
                        <m:d>
                          <m:d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sz="2000" i="1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ko-KR" sz="2000" i="1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altLang="ko-KR" sz="2000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−</m:t>
                            </m:r>
                            <m:acc>
                              <m:accPr>
                                <m:chr m:val="̅"/>
                                <m:ctrlPr>
                                  <a:rPr lang="en-US" altLang="ko-KR" sz="2000" i="1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𝑥</m:t>
                                </m:r>
                              </m:e>
                            </m:acc>
                          </m:e>
                        </m:d>
                        <m:sSup>
                          <m:sSup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ko-KR" sz="2000" i="1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ko-KR" sz="200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ko-KR" sz="2000" i="1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ko-KR" sz="2000" i="1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altLang="ko-KR" sz="2000" i="1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𝑥</m:t>
                                    </m:r>
                                  </m:e>
                                </m:acc>
                              </m:e>
                            </m:d>
                          </m:e>
                          <m:sup>
                            <m:r>
                              <a:rPr lang="en-US" altLang="ko-KR" sz="2000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𝑇</m:t>
                            </m:r>
                          </m:sup>
                        </m:sSup>
                        <m:sSup>
                          <m:sSupPr>
                            <m:ctrlPr>
                              <a:rPr lang="en-US" altLang="ko-KR" sz="20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pPr>
                          <m:e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𝑊</m:t>
                            </m:r>
                          </m:e>
                          <m:sup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𝑇</m:t>
                            </m:r>
                          </m:sup>
                        </m:sSup>
                        <m:r>
                          <a:rPr lang="en-US" altLang="ko-KR" sz="20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/</m:t>
                        </m:r>
                        <m:r>
                          <a:rPr lang="en-US" altLang="ko-KR" sz="20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𝑁</m:t>
                        </m:r>
                      </m:e>
                    </m:nary>
                  </m:oMath>
                </a14:m>
                <a:endParaRPr lang="en-US" altLang="ko-KR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800100" lvl="1" indent="-34290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en-US" altLang="ko-KR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Covariance matrix </a:t>
                </a:r>
                <a14:m>
                  <m:oMath xmlns:m="http://schemas.openxmlformats.org/officeDocument/2006/math">
                    <m:r>
                      <a:rPr lang="en-US" altLang="ko-KR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𝐶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𝑈𝑆</m:t>
                    </m:r>
                    <m:sSup>
                      <m:sSup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𝑉</m:t>
                        </m:r>
                      </m:e>
                      <m:sup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en-US" altLang="ko-KR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Embedding vectors only span a lower-dimensional subspace</a:t>
                </a:r>
              </a:p>
              <a:p>
                <a:pPr marL="800100" lvl="1" indent="-34290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en-US" altLang="ko-KR" sz="20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About 30 singular values drop to zero</a:t>
                </a:r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Bad</a:t>
                </a:r>
                <a:r>
                  <a:rPr lang="ko-KR" alt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ko-KR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influence</a:t>
                </a:r>
                <a:r>
                  <a:rPr lang="ko-KR" alt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ko-KR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on</a:t>
                </a:r>
                <a:r>
                  <a:rPr lang="ko-KR" alt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ko-KR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downstream</a:t>
                </a:r>
                <a:r>
                  <a:rPr lang="ko-KR" alt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ko-KR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task (</a:t>
                </a:r>
                <a:r>
                  <a:rPr lang="en-US" altLang="ko-KR" sz="20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e.g</a:t>
                </a:r>
                <a:r>
                  <a:rPr lang="en-US" altLang="ko-KR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classification)</a:t>
                </a:r>
              </a:p>
              <a:p>
                <a:pPr marL="342900" indent="-34290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endParaRPr lang="en-US" altLang="ko-KR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7AF8BA87-2D6D-4884-9E93-516581A55E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424" y="1444371"/>
                <a:ext cx="7572406" cy="3276923"/>
              </a:xfrm>
              <a:prstGeom prst="rect">
                <a:avLst/>
              </a:prstGeom>
              <a:blipFill>
                <a:blip r:embed="rId4"/>
                <a:stretch>
                  <a:fillRect l="-72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860214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F30525C1-0D03-4474-80BE-E4F7439B89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1C0072-4DC1-48CC-BEBD-0B21D41EF312}" type="slidenum">
              <a:rPr lang="ko-KR" altLang="en-US" smtClean="0"/>
              <a:t>8</a:t>
            </a:fld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6FF3EF0-EED7-42B1-A3E1-EAE35BE4FF63}"/>
              </a:ext>
            </a:extLst>
          </p:cNvPr>
          <p:cNvSpPr txBox="1"/>
          <p:nvPr/>
        </p:nvSpPr>
        <p:spPr>
          <a:xfrm>
            <a:off x="243442" y="497349"/>
            <a:ext cx="1008927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i="1" dirty="0" err="1">
                <a:solidFill>
                  <a:srgbClr val="0E4A8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DirectCLR</a:t>
            </a:r>
            <a:endParaRPr lang="ko-KR" altLang="en-US" sz="3200" b="1" i="1" dirty="0">
              <a:solidFill>
                <a:srgbClr val="0E4A8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AF8BA87-2D6D-4884-9E93-516581A55E4C}"/>
              </a:ext>
            </a:extLst>
          </p:cNvPr>
          <p:cNvSpPr txBox="1"/>
          <p:nvPr/>
        </p:nvSpPr>
        <p:spPr>
          <a:xfrm>
            <a:off x="211424" y="1444371"/>
            <a:ext cx="8521096" cy="32669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>
                <a:latin typeface="Arial" panose="020B0604020202020204" pitchFamily="34" charset="0"/>
                <a:cs typeface="Arial" panose="020B0604020202020204" pitchFamily="34" charset="0"/>
              </a:rPr>
              <a:t>Show contrastive learning also suffers from dimensional collapse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>
                <a:latin typeface="Arial" panose="020B0604020202020204" pitchFamily="34" charset="0"/>
                <a:cs typeface="Arial" panose="020B0604020202020204" pitchFamily="34" charset="0"/>
              </a:rPr>
              <a:t>Explain why dimensional collapse also occur in contrastive learning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2000" dirty="0">
                <a:latin typeface="Arial" panose="020B0604020202020204" pitchFamily="34" charset="0"/>
                <a:cs typeface="Arial" panose="020B0604020202020204" pitchFamily="34" charset="0"/>
              </a:rPr>
              <a:t>Data augmentation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2000" dirty="0">
                <a:latin typeface="Arial" panose="020B0604020202020204" pitchFamily="34" charset="0"/>
                <a:cs typeface="Arial" panose="020B0604020202020204" pitchFamily="34" charset="0"/>
              </a:rPr>
              <a:t>Implicit regularization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>
                <a:latin typeface="Arial" panose="020B0604020202020204" pitchFamily="34" charset="0"/>
                <a:cs typeface="Arial" panose="020B0604020202020204" pitchFamily="34" charset="0"/>
              </a:rPr>
              <a:t>Propose novel contrastive learning method, called </a:t>
            </a:r>
            <a:r>
              <a:rPr lang="en-US" altLang="ko-KR" sz="2000" i="1" dirty="0" err="1">
                <a:latin typeface="Arial" panose="020B0604020202020204" pitchFamily="34" charset="0"/>
                <a:cs typeface="Arial" panose="020B0604020202020204" pitchFamily="34" charset="0"/>
              </a:rPr>
              <a:t>DirectCLR</a:t>
            </a:r>
            <a:endParaRPr lang="en-US" altLang="ko-KR" sz="20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23767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Box 32">
            <a:extLst>
              <a:ext uri="{FF2B5EF4-FFF2-40B4-BE49-F238E27FC236}">
                <a16:creationId xmlns:a16="http://schemas.microsoft.com/office/drawing/2014/main" id="{2D2463F9-0C95-4C21-8506-281686CFFD15}"/>
              </a:ext>
            </a:extLst>
          </p:cNvPr>
          <p:cNvSpPr txBox="1"/>
          <p:nvPr/>
        </p:nvSpPr>
        <p:spPr>
          <a:xfrm>
            <a:off x="678485" y="2769348"/>
            <a:ext cx="10835029" cy="10016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4500" b="1" i="1" dirty="0">
                <a:latin typeface="Arial" panose="020B0604020202020204" pitchFamily="34" charset="0"/>
                <a:cs typeface="Arial" panose="020B0604020202020204" pitchFamily="34" charset="0"/>
              </a:rPr>
              <a:t>Question</a:t>
            </a:r>
          </a:p>
        </p:txBody>
      </p:sp>
    </p:spTree>
    <p:extLst>
      <p:ext uri="{BB962C8B-B14F-4D97-AF65-F5344CB8AC3E}">
        <p14:creationId xmlns:p14="http://schemas.microsoft.com/office/powerpoint/2010/main" val="6876475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FA50FC13-916C-4251-9CCC-910D36FC7A05}"/>
              </a:ext>
            </a:extLst>
          </p:cNvPr>
          <p:cNvSpPr/>
          <p:nvPr/>
        </p:nvSpPr>
        <p:spPr>
          <a:xfrm>
            <a:off x="238535" y="3429000"/>
            <a:ext cx="10323443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42950" indent="-742950">
              <a:buFont typeface="+mj-lt"/>
              <a:buAutoNum type="arabicPeriod" startAt="2"/>
            </a:pPr>
            <a:r>
              <a:rPr lang="en-US" altLang="ko-KR" sz="4000" b="1" i="1" dirty="0">
                <a:solidFill>
                  <a:srgbClr val="0E4A8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Two mechanisms of collapse</a:t>
            </a:r>
          </a:p>
        </p:txBody>
      </p:sp>
    </p:spTree>
    <p:extLst>
      <p:ext uri="{BB962C8B-B14F-4D97-AF65-F5344CB8AC3E}">
        <p14:creationId xmlns:p14="http://schemas.microsoft.com/office/powerpoint/2010/main" val="5019646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>
            <a:extLst>
              <a:ext uri="{FF2B5EF4-FFF2-40B4-BE49-F238E27FC236}">
                <a16:creationId xmlns:a16="http://schemas.microsoft.com/office/drawing/2014/main" id="{27E24DCE-D15E-451A-95AD-AFF3A0E82E25}"/>
              </a:ext>
            </a:extLst>
          </p:cNvPr>
          <p:cNvSpPr txBox="1"/>
          <p:nvPr/>
        </p:nvSpPr>
        <p:spPr>
          <a:xfrm>
            <a:off x="243442" y="497349"/>
            <a:ext cx="1008927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i="1" dirty="0">
                <a:solidFill>
                  <a:srgbClr val="0E4A8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Augmentation</a:t>
            </a:r>
            <a:endParaRPr lang="ko-KR" altLang="en-US" sz="3200" b="1" i="1" dirty="0">
              <a:solidFill>
                <a:srgbClr val="0E4A8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1E30014-0A9F-494B-8160-F852844B49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1C0072-4DC1-48CC-BEBD-0B21D41EF312}" type="slidenum">
              <a:rPr lang="ko-KR" altLang="en-US" smtClean="0"/>
              <a:t>11</a:t>
            </a:fld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7AB312-0417-4A1F-8E7B-0C59AC241248}"/>
              </a:ext>
            </a:extLst>
          </p:cNvPr>
          <p:cNvSpPr txBox="1"/>
          <p:nvPr/>
        </p:nvSpPr>
        <p:spPr>
          <a:xfrm>
            <a:off x="211424" y="1444371"/>
            <a:ext cx="11698878" cy="4074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>
                <a:latin typeface="Arial" panose="020B0604020202020204" pitchFamily="34" charset="0"/>
                <a:cs typeface="Arial" panose="020B0604020202020204" pitchFamily="34" charset="0"/>
              </a:rPr>
              <a:t>Assume a simple linear network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2000" dirty="0">
                <a:latin typeface="Arial" panose="020B0604020202020204" pitchFamily="34" charset="0"/>
                <a:cs typeface="Arial" panose="020B0604020202020204" pitchFamily="34" charset="0"/>
              </a:rPr>
              <a:t>Trained with contrastive learning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InfoNCE</a:t>
            </a:r>
            <a:r>
              <a:rPr lang="en-US" altLang="ko-KR" sz="2000" b="1" dirty="0">
                <a:latin typeface="Arial" panose="020B0604020202020204" pitchFamily="34" charset="0"/>
                <a:cs typeface="Arial" panose="020B0604020202020204" pitchFamily="34" charset="0"/>
              </a:rPr>
              <a:t> Loss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>
              <a:lnSpc>
                <a:spcPct val="150000"/>
              </a:lnSpc>
            </a:pPr>
            <a:endParaRPr lang="en-US" altLang="ko-KR" sz="1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en-US" altLang="ko-KR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en-US" altLang="ko-KR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ko-KR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2686B6C3-EEA4-4FBE-8613-BC978FE2786C}"/>
              </a:ext>
            </a:extLst>
          </p:cNvPr>
          <p:cNvGrpSpPr/>
          <p:nvPr/>
        </p:nvGrpSpPr>
        <p:grpSpPr>
          <a:xfrm>
            <a:off x="5728335" y="4241598"/>
            <a:ext cx="5764530" cy="1921690"/>
            <a:chOff x="5655813" y="4264459"/>
            <a:chExt cx="5764530" cy="184883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TextBox 2">
                  <a:extLst>
                    <a:ext uri="{FF2B5EF4-FFF2-40B4-BE49-F238E27FC236}">
                      <a16:creationId xmlns:a16="http://schemas.microsoft.com/office/drawing/2014/main" id="{04CB09A1-7DD2-40E5-9502-344D54C924E4}"/>
                    </a:ext>
                  </a:extLst>
                </p:cNvPr>
                <p:cNvSpPr txBox="1"/>
                <p:nvPr/>
              </p:nvSpPr>
              <p:spPr>
                <a:xfrm>
                  <a:off x="5655813" y="4264459"/>
                  <a:ext cx="5764530" cy="90319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8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𝐿</m:t>
                        </m:r>
                        <m:r>
                          <a:rPr lang="en-US" altLang="ko-KR" sz="18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=−</m:t>
                        </m:r>
                        <m:nary>
                          <m:naryPr>
                            <m:chr m:val="∑"/>
                            <m:ctrlPr>
                              <a:rPr lang="en-US" altLang="ko-KR" sz="18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altLang="ko-KR" sz="18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𝑖</m:t>
                            </m:r>
                            <m:r>
                              <a:rPr lang="en-US" altLang="ko-KR" sz="18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altLang="ko-KR" sz="18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𝑁</m:t>
                            </m:r>
                          </m:sup>
                          <m:e>
                            <m:func>
                              <m:funcPr>
                                <m:ctrlPr>
                                  <a:rPr lang="en-US" altLang="ko-KR" sz="18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altLang="ko-KR" sz="1800" b="0" i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log</m:t>
                                </m:r>
                              </m:fName>
                              <m:e>
                                <m:f>
                                  <m:fPr>
                                    <m:ctrlPr>
                                      <a:rPr lang="en-US" altLang="ko-KR" sz="1800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fPr>
                                  <m:num>
                                    <m:func>
                                      <m:funcPr>
                                        <m:ctrlPr>
                                          <a:rPr lang="en-US" altLang="ko-KR" sz="1800" i="1"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ko-KR" sz="1800"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  <m:t>exp</m:t>
                                        </m:r>
                                      </m:fName>
                                      <m:e>
                                        <m:sSup>
                                          <m:sSupPr>
                                            <m:ctrlPr>
                                              <a:rPr lang="en-US" altLang="ko-KR" sz="1800" i="1">
                                                <a:latin typeface="Cambria Math" panose="02040503050406030204" pitchFamily="18" charset="0"/>
                                                <a:cs typeface="Arial" panose="020B0604020202020204" pitchFamily="34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altLang="ko-KR" sz="1800" i="1">
                                                <a:latin typeface="Cambria Math" panose="02040503050406030204" pitchFamily="18" charset="0"/>
                                                <a:cs typeface="Arial" panose="020B0604020202020204" pitchFamily="34" charset="0"/>
                                              </a:rPr>
                                              <m:t>(</m:t>
                                            </m:r>
                                            <m:d>
                                              <m:dPr>
                                                <m:begChr m:val="|"/>
                                                <m:endChr m:val="|"/>
                                                <m:ctrlPr>
                                                  <a:rPr lang="en-US" altLang="ko-KR" sz="1800" i="1">
                                                    <a:latin typeface="Cambria Math" panose="02040503050406030204" pitchFamily="18" charset="0"/>
                                                    <a:cs typeface="Arial" panose="020B0604020202020204" pitchFamily="34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sSub>
                                                  <m:sSubPr>
                                                    <m:ctrlPr>
                                                      <a:rPr lang="en-US" altLang="ko-KR" sz="1800" i="1">
                                                        <a:latin typeface="Cambria Math" panose="02040503050406030204" pitchFamily="18" charset="0"/>
                                                        <a:cs typeface="Arial" panose="020B0604020202020204" pitchFamily="34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en-US" altLang="ko-KR" sz="1800" i="1">
                                                        <a:latin typeface="Cambria Math" panose="02040503050406030204" pitchFamily="18" charset="0"/>
                                                        <a:cs typeface="Arial" panose="020B0604020202020204" pitchFamily="34" charset="0"/>
                                                      </a:rPr>
                                                      <m:t>𝑧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n-US" altLang="ko-KR" sz="1800" i="1">
                                                        <a:latin typeface="Cambria Math" panose="02040503050406030204" pitchFamily="18" charset="0"/>
                                                        <a:cs typeface="Arial" panose="020B0604020202020204" pitchFamily="34" charset="0"/>
                                                      </a:rPr>
                                                      <m:t>𝑖</m:t>
                                                    </m:r>
                                                  </m:sub>
                                                </m:sSub>
                                                <m:r>
                                                  <a:rPr lang="en-US" altLang="ko-KR" sz="1800" i="1">
                                                    <a:latin typeface="Cambria Math" panose="02040503050406030204" pitchFamily="18" charset="0"/>
                                                    <a:cs typeface="Arial" panose="020B0604020202020204" pitchFamily="34" charset="0"/>
                                                  </a:rPr>
                                                  <m:t>−</m:t>
                                                </m:r>
                                                <m:sSub>
                                                  <m:sSubPr>
                                                    <m:ctrlPr>
                                                      <a:rPr lang="en-US" altLang="ko-KR" sz="1800" i="1">
                                                        <a:latin typeface="Cambria Math" panose="02040503050406030204" pitchFamily="18" charset="0"/>
                                                        <a:cs typeface="Arial" panose="020B0604020202020204" pitchFamily="34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en-US" altLang="ko-KR" sz="1800" i="1">
                                                        <a:latin typeface="Cambria Math" panose="02040503050406030204" pitchFamily="18" charset="0"/>
                                                        <a:cs typeface="Arial" panose="020B0604020202020204" pitchFamily="34" charset="0"/>
                                                      </a:rPr>
                                                      <m:t>𝑧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n-US" altLang="ko-KR" sz="1800" i="1">
                                                        <a:latin typeface="Cambria Math" panose="02040503050406030204" pitchFamily="18" charset="0"/>
                                                        <a:cs typeface="Arial" panose="020B0604020202020204" pitchFamily="34" charset="0"/>
                                                      </a:rPr>
                                                      <m:t>𝑗</m:t>
                                                    </m:r>
                                                  </m:sub>
                                                </m:sSub>
                                              </m:e>
                                            </m:d>
                                          </m:e>
                                          <m:sup>
                                            <m:r>
                                              <a:rPr lang="en-US" altLang="ko-KR" sz="1800" i="1">
                                                <a:latin typeface="Cambria Math" panose="02040503050406030204" pitchFamily="18" charset="0"/>
                                                <a:cs typeface="Arial" panose="020B0604020202020204" pitchFamily="34" charset="0"/>
                                              </a:rPr>
                                              <m:t>2</m:t>
                                            </m:r>
                                          </m:sup>
                                        </m:sSup>
                                        <m:r>
                                          <a:rPr lang="en-US" altLang="ko-KR" sz="1800" i="1"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  <m:t>)/2</m:t>
                                        </m:r>
                                      </m:e>
                                    </m:func>
                                  </m:num>
                                  <m:den>
                                    <m:nary>
                                      <m:naryPr>
                                        <m:chr m:val="∑"/>
                                        <m:limLoc m:val="subSup"/>
                                        <m:supHide m:val="on"/>
                                        <m:ctrlPr>
                                          <a:rPr lang="en-US" altLang="ko-KR" sz="1800" b="0" i="1" smtClean="0"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</m:ctrlPr>
                                      </m:naryPr>
                                      <m:sub>
                                        <m:r>
                                          <m:rPr>
                                            <m:brk m:alnAt="9"/>
                                          </m:rPr>
                                          <a:rPr lang="en-US" altLang="ko-KR" sz="1800" b="0" i="1" smtClean="0"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  <m:t>𝑗</m:t>
                                        </m:r>
                                        <m:r>
                                          <a:rPr lang="en-US" altLang="ko-KR" sz="18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  <m:t>≠</m:t>
                                        </m:r>
                                        <m:r>
                                          <a:rPr lang="en-US" altLang="ko-KR" sz="18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  <m:t>𝑖</m:t>
                                        </m:r>
                                      </m:sub>
                                      <m:sup/>
                                      <m:e>
                                        <m:func>
                                          <m:funcPr>
                                            <m:ctrlPr>
                                              <a:rPr lang="en-US" altLang="ko-KR" sz="1800" b="0" i="1" smtClean="0">
                                                <a:latin typeface="Cambria Math" panose="02040503050406030204" pitchFamily="18" charset="0"/>
                                                <a:cs typeface="Arial" panose="020B0604020202020204" pitchFamily="34" charset="0"/>
                                              </a:rPr>
                                            </m:ctrlPr>
                                          </m:funcPr>
                                          <m:fNam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altLang="ko-KR" sz="1800" b="0" i="0" smtClean="0">
                                                <a:latin typeface="Cambria Math" panose="02040503050406030204" pitchFamily="18" charset="0"/>
                                                <a:cs typeface="Arial" panose="020B0604020202020204" pitchFamily="34" charset="0"/>
                                              </a:rPr>
                                              <m:t>exp</m:t>
                                            </m:r>
                                          </m:fName>
                                          <m:e>
                                            <m:sSup>
                                              <m:sSupPr>
                                                <m:ctrlPr>
                                                  <a:rPr lang="en-US" altLang="ko-KR" sz="1800" i="1">
                                                    <a:latin typeface="Cambria Math" panose="02040503050406030204" pitchFamily="18" charset="0"/>
                                                    <a:cs typeface="Arial" panose="020B0604020202020204" pitchFamily="34" charset="0"/>
                                                  </a:rPr>
                                                </m:ctrlPr>
                                              </m:sSupPr>
                                              <m:e>
                                                <m:r>
                                                  <a:rPr lang="en-US" altLang="ko-KR" sz="1800" b="0" i="1" smtClean="0">
                                                    <a:latin typeface="Cambria Math" panose="02040503050406030204" pitchFamily="18" charset="0"/>
                                                    <a:cs typeface="Arial" panose="020B0604020202020204" pitchFamily="34" charset="0"/>
                                                  </a:rPr>
                                                  <m:t>(</m:t>
                                                </m:r>
                                                <m:d>
                                                  <m:dPr>
                                                    <m:begChr m:val="|"/>
                                                    <m:endChr m:val="|"/>
                                                    <m:ctrlPr>
                                                      <a:rPr lang="en-US" altLang="ko-KR" sz="1800" i="1">
                                                        <a:latin typeface="Cambria Math" panose="02040503050406030204" pitchFamily="18" charset="0"/>
                                                        <a:cs typeface="Arial" panose="020B0604020202020204" pitchFamily="34" charset="0"/>
                                                      </a:rPr>
                                                    </m:ctrlPr>
                                                  </m:dPr>
                                                  <m:e>
                                                    <m:sSub>
                                                      <m:sSubPr>
                                                        <m:ctrlPr>
                                                          <a:rPr lang="en-US" altLang="ko-KR" sz="1800" i="1">
                                                            <a:latin typeface="Cambria Math" panose="02040503050406030204" pitchFamily="18" charset="0"/>
                                                            <a:cs typeface="Arial" panose="020B0604020202020204" pitchFamily="34" charset="0"/>
                                                          </a:rPr>
                                                        </m:ctrlPr>
                                                      </m:sSubPr>
                                                      <m:e>
                                                        <m:r>
                                                          <a:rPr lang="en-US" altLang="ko-KR" sz="1800" i="1">
                                                            <a:latin typeface="Cambria Math" panose="02040503050406030204" pitchFamily="18" charset="0"/>
                                                            <a:cs typeface="Arial" panose="020B0604020202020204" pitchFamily="34" charset="0"/>
                                                          </a:rPr>
                                                          <m:t>𝑧</m:t>
                                                        </m:r>
                                                      </m:e>
                                                      <m:sub>
                                                        <m:r>
                                                          <a:rPr lang="en-US" altLang="ko-KR" sz="1800" i="1">
                                                            <a:latin typeface="Cambria Math" panose="02040503050406030204" pitchFamily="18" charset="0"/>
                                                            <a:cs typeface="Arial" panose="020B0604020202020204" pitchFamily="34" charset="0"/>
                                                          </a:rPr>
                                                          <m:t>𝑖</m:t>
                                                        </m:r>
                                                      </m:sub>
                                                    </m:sSub>
                                                    <m:r>
                                                      <a:rPr lang="en-US" altLang="ko-KR" sz="1800" i="1">
                                                        <a:latin typeface="Cambria Math" panose="02040503050406030204" pitchFamily="18" charset="0"/>
                                                        <a:cs typeface="Arial" panose="020B0604020202020204" pitchFamily="34" charset="0"/>
                                                      </a:rPr>
                                                      <m:t>−</m:t>
                                                    </m:r>
                                                    <m:sSub>
                                                      <m:sSubPr>
                                                        <m:ctrlPr>
                                                          <a:rPr lang="en-US" altLang="ko-KR" sz="1800" i="1">
                                                            <a:latin typeface="Cambria Math" panose="02040503050406030204" pitchFamily="18" charset="0"/>
                                                            <a:cs typeface="Arial" panose="020B0604020202020204" pitchFamily="34" charset="0"/>
                                                          </a:rPr>
                                                        </m:ctrlPr>
                                                      </m:sSubPr>
                                                      <m:e>
                                                        <m:r>
                                                          <a:rPr lang="en-US" altLang="ko-KR" sz="1800" b="0" i="1" smtClean="0">
                                                            <a:latin typeface="Cambria Math" panose="02040503050406030204" pitchFamily="18" charset="0"/>
                                                            <a:cs typeface="Arial" panose="020B0604020202020204" pitchFamily="34" charset="0"/>
                                                          </a:rPr>
                                                          <m:t>𝑧</m:t>
                                                        </m:r>
                                                      </m:e>
                                                      <m:sub>
                                                        <m:r>
                                                          <a:rPr lang="en-US" altLang="ko-KR" sz="1800" b="0" i="1" smtClean="0">
                                                            <a:latin typeface="Cambria Math" panose="02040503050406030204" pitchFamily="18" charset="0"/>
                                                            <a:cs typeface="Arial" panose="020B0604020202020204" pitchFamily="34" charset="0"/>
                                                          </a:rPr>
                                                          <m:t>𝑗</m:t>
                                                        </m:r>
                                                      </m:sub>
                                                    </m:sSub>
                                                  </m:e>
                                                </m:d>
                                              </m:e>
                                              <m:sup>
                                                <m:r>
                                                  <a:rPr lang="en-US" altLang="ko-KR" sz="1800" i="1">
                                                    <a:latin typeface="Cambria Math" panose="02040503050406030204" pitchFamily="18" charset="0"/>
                                                    <a:cs typeface="Arial" panose="020B0604020202020204" pitchFamily="34" charset="0"/>
                                                  </a:rPr>
                                                  <m:t>2</m:t>
                                                </m:r>
                                              </m:sup>
                                            </m:sSup>
                                            <m:r>
                                              <a:rPr lang="en-US" altLang="ko-KR" sz="1800" b="0" i="1" smtClean="0">
                                                <a:latin typeface="Cambria Math" panose="02040503050406030204" pitchFamily="18" charset="0"/>
                                                <a:cs typeface="Arial" panose="020B0604020202020204" pitchFamily="34" charset="0"/>
                                              </a:rPr>
                                              <m:t>)/2</m:t>
                                            </m:r>
                                          </m:e>
                                        </m:func>
                                        <m:r>
                                          <a:rPr lang="en-US" altLang="ko-KR" sz="1800" b="0" i="1" smtClean="0"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  <m:t>+</m:t>
                                        </m:r>
                                        <m:func>
                                          <m:funcPr>
                                            <m:ctrlPr>
                                              <a:rPr lang="en-US" altLang="ko-KR" sz="1800" i="1">
                                                <a:latin typeface="Cambria Math" panose="02040503050406030204" pitchFamily="18" charset="0"/>
                                                <a:cs typeface="Arial" panose="020B0604020202020204" pitchFamily="34" charset="0"/>
                                              </a:rPr>
                                            </m:ctrlPr>
                                          </m:funcPr>
                                          <m:fNam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altLang="ko-KR" sz="1800">
                                                <a:latin typeface="Cambria Math" panose="02040503050406030204" pitchFamily="18" charset="0"/>
                                                <a:cs typeface="Arial" panose="020B0604020202020204" pitchFamily="34" charset="0"/>
                                              </a:rPr>
                                              <m:t>exp</m:t>
                                            </m:r>
                                          </m:fName>
                                          <m:e>
                                            <m:sSup>
                                              <m:sSupPr>
                                                <m:ctrlPr>
                                                  <a:rPr lang="en-US" altLang="ko-KR" sz="1800" i="1">
                                                    <a:latin typeface="Cambria Math" panose="02040503050406030204" pitchFamily="18" charset="0"/>
                                                    <a:cs typeface="Arial" panose="020B0604020202020204" pitchFamily="34" charset="0"/>
                                                  </a:rPr>
                                                </m:ctrlPr>
                                              </m:sSupPr>
                                              <m:e>
                                                <m:r>
                                                  <a:rPr lang="en-US" altLang="ko-KR" sz="1800" i="1">
                                                    <a:latin typeface="Cambria Math" panose="02040503050406030204" pitchFamily="18" charset="0"/>
                                                    <a:cs typeface="Arial" panose="020B0604020202020204" pitchFamily="34" charset="0"/>
                                                  </a:rPr>
                                                  <m:t>(</m:t>
                                                </m:r>
                                                <m:d>
                                                  <m:dPr>
                                                    <m:begChr m:val="|"/>
                                                    <m:endChr m:val="|"/>
                                                    <m:ctrlPr>
                                                      <a:rPr lang="en-US" altLang="ko-KR" sz="1800" i="1">
                                                        <a:latin typeface="Cambria Math" panose="02040503050406030204" pitchFamily="18" charset="0"/>
                                                        <a:cs typeface="Arial" panose="020B0604020202020204" pitchFamily="34" charset="0"/>
                                                      </a:rPr>
                                                    </m:ctrlPr>
                                                  </m:dPr>
                                                  <m:e>
                                                    <m:sSub>
                                                      <m:sSubPr>
                                                        <m:ctrlPr>
                                                          <a:rPr lang="en-US" altLang="ko-KR" sz="1800" i="1">
                                                            <a:latin typeface="Cambria Math" panose="02040503050406030204" pitchFamily="18" charset="0"/>
                                                            <a:cs typeface="Arial" panose="020B0604020202020204" pitchFamily="34" charset="0"/>
                                                          </a:rPr>
                                                        </m:ctrlPr>
                                                      </m:sSubPr>
                                                      <m:e>
                                                        <m:r>
                                                          <a:rPr lang="en-US" altLang="ko-KR" sz="1800" i="1">
                                                            <a:latin typeface="Cambria Math" panose="02040503050406030204" pitchFamily="18" charset="0"/>
                                                            <a:cs typeface="Arial" panose="020B0604020202020204" pitchFamily="34" charset="0"/>
                                                          </a:rPr>
                                                          <m:t>𝑧</m:t>
                                                        </m:r>
                                                      </m:e>
                                                      <m:sub>
                                                        <m:r>
                                                          <a:rPr lang="en-US" altLang="ko-KR" sz="1800" i="1">
                                                            <a:latin typeface="Cambria Math" panose="02040503050406030204" pitchFamily="18" charset="0"/>
                                                            <a:cs typeface="Arial" panose="020B0604020202020204" pitchFamily="34" charset="0"/>
                                                          </a:rPr>
                                                          <m:t>𝑖</m:t>
                                                        </m:r>
                                                      </m:sub>
                                                    </m:sSub>
                                                    <m:r>
                                                      <a:rPr lang="en-US" altLang="ko-KR" sz="1800" i="1">
                                                        <a:latin typeface="Cambria Math" panose="02040503050406030204" pitchFamily="18" charset="0"/>
                                                        <a:cs typeface="Arial" panose="020B0604020202020204" pitchFamily="34" charset="0"/>
                                                      </a:rPr>
                                                      <m:t>−</m:t>
                                                    </m:r>
                                                    <m:sSub>
                                                      <m:sSubPr>
                                                        <m:ctrlPr>
                                                          <a:rPr lang="en-US" altLang="ko-KR" sz="1800" i="1">
                                                            <a:latin typeface="Cambria Math" panose="02040503050406030204" pitchFamily="18" charset="0"/>
                                                            <a:cs typeface="Arial" panose="020B0604020202020204" pitchFamily="34" charset="0"/>
                                                          </a:rPr>
                                                        </m:ctrlPr>
                                                      </m:sSubPr>
                                                      <m:e>
                                                        <m:sSup>
                                                          <m:sSupPr>
                                                            <m:ctrlPr>
                                                              <a:rPr lang="en-US" altLang="ko-KR" sz="1800" i="1">
                                                                <a:latin typeface="Cambria Math" panose="02040503050406030204" pitchFamily="18" charset="0"/>
                                                                <a:cs typeface="Arial" panose="020B0604020202020204" pitchFamily="34" charset="0"/>
                                                              </a:rPr>
                                                            </m:ctrlPr>
                                                          </m:sSupPr>
                                                          <m:e>
                                                            <m:r>
                                                              <a:rPr lang="en-US" altLang="ko-KR" sz="1800" i="1">
                                                                <a:latin typeface="Cambria Math" panose="02040503050406030204" pitchFamily="18" charset="0"/>
                                                                <a:cs typeface="Arial" panose="020B0604020202020204" pitchFamily="34" charset="0"/>
                                                              </a:rPr>
                                                              <m:t>𝑧</m:t>
                                                            </m:r>
                                                          </m:e>
                                                          <m:sup>
                                                            <m:r>
                                                              <a:rPr lang="en-US" altLang="ko-KR" sz="1800" i="1">
                                                                <a:latin typeface="Cambria Math" panose="02040503050406030204" pitchFamily="18" charset="0"/>
                                                                <a:cs typeface="Arial" panose="020B0604020202020204" pitchFamily="34" charset="0"/>
                                                              </a:rPr>
                                                              <m:t>′</m:t>
                                                            </m:r>
                                                          </m:sup>
                                                        </m:sSup>
                                                      </m:e>
                                                      <m:sub>
                                                        <m:r>
                                                          <a:rPr lang="en-US" altLang="ko-KR" sz="1800" i="1">
                                                            <a:latin typeface="Cambria Math" panose="02040503050406030204" pitchFamily="18" charset="0"/>
                                                            <a:cs typeface="Arial" panose="020B0604020202020204" pitchFamily="34" charset="0"/>
                                                          </a:rPr>
                                                          <m:t>𝑖</m:t>
                                                        </m:r>
                                                      </m:sub>
                                                    </m:sSub>
                                                  </m:e>
                                                </m:d>
                                              </m:e>
                                              <m:sup>
                                                <m:r>
                                                  <a:rPr lang="en-US" altLang="ko-KR" sz="1800" i="1">
                                                    <a:latin typeface="Cambria Math" panose="02040503050406030204" pitchFamily="18" charset="0"/>
                                                    <a:cs typeface="Arial" panose="020B0604020202020204" pitchFamily="34" charset="0"/>
                                                  </a:rPr>
                                                  <m:t>2</m:t>
                                                </m:r>
                                              </m:sup>
                                            </m:sSup>
                                            <m:r>
                                              <a:rPr lang="en-US" altLang="ko-KR" sz="1800" i="1">
                                                <a:latin typeface="Cambria Math" panose="02040503050406030204" pitchFamily="18" charset="0"/>
                                                <a:cs typeface="Arial" panose="020B0604020202020204" pitchFamily="34" charset="0"/>
                                              </a:rPr>
                                              <m:t>)/2</m:t>
                                            </m:r>
                                          </m:e>
                                        </m:func>
                                      </m:e>
                                    </m:nary>
                                  </m:den>
                                </m:f>
                              </m:e>
                            </m:func>
                          </m:e>
                        </m:nary>
                      </m:oMath>
                    </m:oMathPara>
                  </a14:m>
                  <a:endParaRPr lang="ko-KR" altLang="en-US" dirty="0"/>
                </a:p>
              </p:txBody>
            </p:sp>
          </mc:Choice>
          <mc:Fallback xmlns="">
            <p:sp>
              <p:nvSpPr>
                <p:cNvPr id="3" name="TextBox 2">
                  <a:extLst>
                    <a:ext uri="{FF2B5EF4-FFF2-40B4-BE49-F238E27FC236}">
                      <a16:creationId xmlns:a16="http://schemas.microsoft.com/office/drawing/2014/main" id="{04CB09A1-7DD2-40E5-9502-344D54C924E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55813" y="4264459"/>
                  <a:ext cx="5764530" cy="903196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7EAD2B61-0E12-4F74-822B-7BC2094F479A}"/>
                    </a:ext>
                  </a:extLst>
                </p:cNvPr>
                <p:cNvSpPr txBox="1"/>
                <p:nvPr/>
              </p:nvSpPr>
              <p:spPr>
                <a:xfrm>
                  <a:off x="5655813" y="5167655"/>
                  <a:ext cx="5648567" cy="94564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285750" indent="-285750">
                    <a:buFont typeface="Wingdings" panose="05000000000000000000" pitchFamily="2" charset="2"/>
                    <a:buChar char="§"/>
                  </a:pP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  <m:sub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𝑝𝑎𝑖𝑟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𝑜𝑓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𝑒𝑚𝑏𝑒𝑑𝑑𝑖𝑛𝑔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𝑣𝑒𝑐𝑡𝑜𝑟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𝑓𝑟𝑜𝑚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𝑡𝑤𝑜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𝑏𝑟𝑎𝑛𝑐h</m:t>
                      </m:r>
                    </m:oMath>
                  </a14:m>
                  <a:endParaRPr lang="en-US" altLang="ko-KR" b="0" dirty="0"/>
                </a:p>
                <a:p>
                  <a:pPr marL="285750" indent="-285750">
                    <a:buFont typeface="Wingdings" panose="05000000000000000000" pitchFamily="2" charset="2"/>
                    <a:buChar char="§"/>
                  </a:pP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: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𝑛𝑒𝑔𝑎𝑡𝑖𝑣𝑒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𝑝𝑎𝑖𝑟</m:t>
                      </m:r>
                    </m:oMath>
                  </a14:m>
                  <a:endParaRPr lang="en-US" altLang="ko-KR" b="0" dirty="0"/>
                </a:p>
                <a:p>
                  <a:endParaRPr lang="ko-KR" altLang="en-US" dirty="0"/>
                </a:p>
              </p:txBody>
            </p:sp>
          </mc:Choice>
          <mc:Fallback xmlns="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7EAD2B61-0E12-4F74-822B-7BC2094F479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55813" y="5167655"/>
                  <a:ext cx="5648567" cy="945643"/>
                </a:xfrm>
                <a:prstGeom prst="rect">
                  <a:avLst/>
                </a:prstGeom>
                <a:blipFill>
                  <a:blip r:embed="rId4"/>
                  <a:stretch>
                    <a:fillRect l="-756" t="-621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15" name="그림 14">
            <a:extLst>
              <a:ext uri="{FF2B5EF4-FFF2-40B4-BE49-F238E27FC236}">
                <a16:creationId xmlns:a16="http://schemas.microsoft.com/office/drawing/2014/main" id="{DD9F3535-41BE-41FC-98BF-0E26E38208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5099" y="3485695"/>
            <a:ext cx="4117431" cy="2450589"/>
          </a:xfrm>
          <a:prstGeom prst="rect">
            <a:avLst/>
          </a:prstGeom>
        </p:spPr>
      </p:pic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D151E2B9-4797-4ABE-B1A8-9FB94720F832}"/>
              </a:ext>
            </a:extLst>
          </p:cNvPr>
          <p:cNvSpPr/>
          <p:nvPr/>
        </p:nvSpPr>
        <p:spPr>
          <a:xfrm>
            <a:off x="4652010" y="4408096"/>
            <a:ext cx="740520" cy="582930"/>
          </a:xfrm>
          <a:prstGeom prst="round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62999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>
            <a:extLst>
              <a:ext uri="{FF2B5EF4-FFF2-40B4-BE49-F238E27FC236}">
                <a16:creationId xmlns:a16="http://schemas.microsoft.com/office/drawing/2014/main" id="{27E24DCE-D15E-451A-95AD-AFF3A0E82E25}"/>
              </a:ext>
            </a:extLst>
          </p:cNvPr>
          <p:cNvSpPr txBox="1"/>
          <p:nvPr/>
        </p:nvSpPr>
        <p:spPr>
          <a:xfrm>
            <a:off x="243442" y="497349"/>
            <a:ext cx="1008927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i="1" dirty="0">
                <a:solidFill>
                  <a:srgbClr val="0E4A8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Augmentation</a:t>
            </a:r>
            <a:endParaRPr lang="ko-KR" altLang="en-US" sz="3200" b="1" i="1" dirty="0">
              <a:solidFill>
                <a:srgbClr val="0E4A8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1E30014-0A9F-494B-8160-F852844B49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1C0072-4DC1-48CC-BEBD-0B21D41EF312}" type="slidenum">
              <a:rPr lang="ko-KR" altLang="en-US" smtClean="0"/>
              <a:t>12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F7AB312-0417-4A1F-8E7B-0C59AC241248}"/>
                  </a:ext>
                </a:extLst>
              </p:cNvPr>
              <p:cNvSpPr txBox="1"/>
              <p:nvPr/>
            </p:nvSpPr>
            <p:spPr>
              <a:xfrm>
                <a:off x="211424" y="1444371"/>
                <a:ext cx="11698878" cy="54598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Calculate the gradient </a:t>
                </a:r>
                <a14:m>
                  <m:oMath xmlns:m="http://schemas.openxmlformats.org/officeDocument/2006/math">
                    <m:r>
                      <a:rPr lang="en-US" altLang="ko-KR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𝑮</m:t>
                    </m:r>
                  </m:oMath>
                </a14:m>
                <a:r>
                  <a:rPr lang="en-US" altLang="ko-KR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which evolves the weight matrix </a:t>
                </a:r>
                <a14:m>
                  <m:oMath xmlns:m="http://schemas.openxmlformats.org/officeDocument/2006/math">
                    <m:r>
                      <a:rPr lang="en-US" altLang="ko-KR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𝑊</m:t>
                    </m:r>
                  </m:oMath>
                </a14:m>
                <a:endParaRPr lang="en-US" altLang="ko-KR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US" altLang="ko-KR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US" altLang="ko-KR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US" altLang="ko-KR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US" altLang="ko-KR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US" altLang="ko-KR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For specifically,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altLang="ko-KR" sz="2000" b="1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altLang="ko-KR" sz="2000" b="1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𝒈</m:t>
                            </m:r>
                          </m:e>
                          <m:sub>
                            <m:r>
                              <a:rPr lang="en-US" altLang="ko-KR" sz="2000" b="1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𝒛</m:t>
                            </m:r>
                          </m:sub>
                        </m:sSub>
                      </m:e>
                      <m:sub>
                        <m:r>
                          <a:rPr lang="en-US" altLang="ko-KR" sz="20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altLang="ko-KR" sz="2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ko-KR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altLang="ko-KR" sz="2000" b="1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altLang="ko-KR" sz="2000" b="1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𝒈</m:t>
                            </m:r>
                          </m:e>
                          <m:sub>
                            <m:r>
                              <a:rPr lang="en-US" altLang="ko-KR" sz="2000" b="1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𝒛</m:t>
                            </m:r>
                          </m:sub>
                        </m:sSub>
                        <m:r>
                          <a:rPr lang="en-US" altLang="ko-KR" sz="20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′</m:t>
                        </m:r>
                      </m:e>
                      <m:sub>
                        <m:r>
                          <a:rPr lang="en-US" altLang="ko-KR" sz="20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altLang="ko-KR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is written as:</a:t>
                </a:r>
              </a:p>
              <a:p>
                <a:pPr lvl="2">
                  <a:lnSpc>
                    <a:spcPct val="150000"/>
                  </a:lnSpc>
                </a:pPr>
                <a:endParaRPr lang="en-US" altLang="ko-KR" sz="15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US" altLang="ko-KR" sz="20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lnSpc>
                    <a:spcPct val="150000"/>
                  </a:lnSpc>
                </a:pPr>
                <a:endParaRPr lang="en-US" altLang="ko-KR" sz="20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lnSpc>
                    <a:spcPct val="150000"/>
                  </a:lnSpc>
                </a:pPr>
                <a:endParaRPr lang="en-US" altLang="ko-KR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ko-KR" altLang="en-US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F7AB312-0417-4A1F-8E7B-0C59AC2412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424" y="1444371"/>
                <a:ext cx="11698878" cy="5459893"/>
              </a:xfrm>
              <a:prstGeom prst="rect">
                <a:avLst/>
              </a:prstGeom>
              <a:blipFill>
                <a:blip r:embed="rId3"/>
                <a:stretch>
                  <a:fillRect l="-46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" name="그룹 6">
            <a:extLst>
              <a:ext uri="{FF2B5EF4-FFF2-40B4-BE49-F238E27FC236}">
                <a16:creationId xmlns:a16="http://schemas.microsoft.com/office/drawing/2014/main" id="{A10111DB-BACC-4F8D-9A2A-112CCF2926C0}"/>
              </a:ext>
            </a:extLst>
          </p:cNvPr>
          <p:cNvGrpSpPr/>
          <p:nvPr/>
        </p:nvGrpSpPr>
        <p:grpSpPr>
          <a:xfrm>
            <a:off x="756285" y="2216973"/>
            <a:ext cx="7519035" cy="2008319"/>
            <a:chOff x="756285" y="2125533"/>
            <a:chExt cx="7519035" cy="200831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80B0491D-2EF7-4C99-8E0F-E5ECE01865D8}"/>
                    </a:ext>
                  </a:extLst>
                </p:cNvPr>
                <p:cNvSpPr txBox="1"/>
                <p:nvPr/>
              </p:nvSpPr>
              <p:spPr>
                <a:xfrm>
                  <a:off x="756285" y="2125533"/>
                  <a:ext cx="7519035" cy="105907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altLang="ko-KR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𝐺</m:t>
                        </m:r>
                        <m:r>
                          <a:rPr lang="en-US" altLang="ko-KR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=−</m:t>
                        </m:r>
                        <m:f>
                          <m:fPr>
                            <m:ctrlPr>
                              <a:rPr lang="en-US" altLang="ko-KR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fPr>
                          <m:num>
                            <m:r>
                              <a:rPr lang="en-US" altLang="ko-KR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𝜕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𝐿</m:t>
                            </m:r>
                          </m:num>
                          <m:den>
                            <m:r>
                              <a:rPr lang="en-US" altLang="ko-KR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𝜕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𝑊</m:t>
                            </m:r>
                          </m:den>
                        </m:f>
                        <m:r>
                          <a:rPr lang="en-US" altLang="ko-KR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=</m:t>
                        </m:r>
                        <m:nary>
                          <m:naryPr>
                            <m:chr m:val="∑"/>
                            <m:supHide m:val="on"/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7"/>
                              </m:rPr>
                              <a:rPr lang="en-US" altLang="ko-KR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𝑖</m:t>
                            </m:r>
                          </m:sub>
                          <m:sup/>
                          <m:e>
                            <m:d>
                              <m:dPr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𝜕</m:t>
                                    </m:r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𝐿</m:t>
                                    </m:r>
                                  </m:num>
                                  <m:den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  <m:t>𝑧</m:t>
                                        </m:r>
                                      </m:e>
                                      <m:sub>
                                        <m: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den>
                                </m:f>
                                <m:f>
                                  <m:f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  <m:t>𝑧</m:t>
                                        </m:r>
                                      </m:e>
                                      <m:sub>
                                        <m: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𝜕</m:t>
                                    </m:r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𝑊</m:t>
                                    </m:r>
                                  </m:den>
                                </m:f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+</m:t>
                                </m:r>
                                <m:f>
                                  <m:f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𝜕</m:t>
                                    </m:r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𝐿</m:t>
                                    </m:r>
                                  </m:num>
                                  <m:den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US" altLang="ko-KR" i="1"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</m:ctrlPr>
                                      </m:sSubPr>
                                      <m:e>
                                        <m:sSup>
                                          <m:sSupPr>
                                            <m:ctrlPr>
                                              <a:rPr lang="en-US" altLang="ko-KR" b="0" i="1" smtClean="0">
                                                <a:latin typeface="Cambria Math" panose="02040503050406030204" pitchFamily="18" charset="0"/>
                                                <a:cs typeface="Arial" panose="020B0604020202020204" pitchFamily="34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altLang="ko-KR" i="1">
                                                <a:latin typeface="Cambria Math" panose="02040503050406030204" pitchFamily="18" charset="0"/>
                                                <a:cs typeface="Arial" panose="020B0604020202020204" pitchFamily="34" charset="0"/>
                                              </a:rPr>
                                              <m:t>𝑧</m:t>
                                            </m:r>
                                          </m:e>
                                          <m:sup>
                                            <m:r>
                                              <a:rPr lang="en-US" altLang="ko-KR" b="0" i="1" smtClean="0">
                                                <a:latin typeface="Cambria Math" panose="02040503050406030204" pitchFamily="18" charset="0"/>
                                                <a:cs typeface="Arial" panose="020B0604020202020204" pitchFamily="34" charset="0"/>
                                              </a:rPr>
                                              <m:t>′</m:t>
                                            </m:r>
                                          </m:sup>
                                        </m:sSup>
                                      </m:e>
                                      <m:sub>
                                        <m:r>
                                          <a:rPr lang="en-US" altLang="ko-KR" i="1"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den>
                                </m:f>
                                <m:f>
                                  <m:f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</m:ctrlPr>
                                      </m:sSubPr>
                                      <m:e>
                                        <m:sSup>
                                          <m:sSupPr>
                                            <m:ctrlPr>
                                              <a:rPr lang="en-US" altLang="ko-KR" b="0" i="1" smtClean="0">
                                                <a:latin typeface="Cambria Math" panose="02040503050406030204" pitchFamily="18" charset="0"/>
                                                <a:cs typeface="Arial" panose="020B0604020202020204" pitchFamily="34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altLang="ko-KR" b="0" i="1" smtClean="0">
                                                <a:latin typeface="Cambria Math" panose="02040503050406030204" pitchFamily="18" charset="0"/>
                                                <a:cs typeface="Arial" panose="020B0604020202020204" pitchFamily="34" charset="0"/>
                                              </a:rPr>
                                              <m:t>𝑧</m:t>
                                            </m:r>
                                          </m:e>
                                          <m:sup>
                                            <m:r>
                                              <a:rPr lang="en-US" altLang="ko-KR" b="0" i="1" smtClean="0">
                                                <a:latin typeface="Cambria Math" panose="02040503050406030204" pitchFamily="18" charset="0"/>
                                                <a:cs typeface="Arial" panose="020B0604020202020204" pitchFamily="34" charset="0"/>
                                              </a:rPr>
                                              <m:t>′</m:t>
                                            </m:r>
                                          </m:sup>
                                        </m:sSup>
                                      </m:e>
                                      <m:sub>
                                        <m: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𝜕</m:t>
                                    </m:r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𝑊</m:t>
                                    </m:r>
                                  </m:den>
                                </m:f>
                              </m:e>
                            </m:d>
                          </m:e>
                        </m:nary>
                        <m:r>
                          <a:rPr lang="en-US" altLang="ko-KR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=</m:t>
                        </m:r>
                        <m:r>
                          <a:rPr lang="en-US" altLang="ko-KR" sz="18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−</m:t>
                        </m:r>
                        <m:nary>
                          <m:naryPr>
                            <m:chr m:val="∑"/>
                            <m:limLoc m:val="subSup"/>
                            <m:supHide m:val="on"/>
                            <m:ctrlPr>
                              <a:rPr lang="en-US" altLang="ko-KR" sz="18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9"/>
                              </m:rPr>
                              <a:rPr lang="en-US" altLang="ko-KR" sz="18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𝑖</m:t>
                            </m:r>
                          </m:sub>
                          <m:sup/>
                          <m:e>
                            <m:d>
                              <m:dPr>
                                <m:ctrlPr>
                                  <a:rPr lang="en-US" altLang="ko-KR" sz="18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ko-KR" sz="1800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800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𝑔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n-US" altLang="ko-KR" sz="1800" b="0" i="1" smtClean="0"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800" b="0" i="1" smtClean="0"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  <m:t>𝑧</m:t>
                                        </m:r>
                                      </m:e>
                                      <m:sub>
                                        <m:r>
                                          <a:rPr lang="en-US" altLang="ko-KR" sz="1800" b="0" i="1" smtClean="0"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sub>
                                </m:sSub>
                                <m:sSubSup>
                                  <m:sSubSupPr>
                                    <m:ctrlPr>
                                      <a:rPr lang="en-US" altLang="ko-KR" sz="1800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ko-KR" sz="1800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ko-KR" sz="1800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𝑖</m:t>
                                    </m:r>
                                  </m:sub>
                                  <m:sup>
                                    <m:r>
                                      <a:rPr lang="en-US" altLang="ko-KR" sz="1800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𝑇</m:t>
                                    </m:r>
                                  </m:sup>
                                </m:sSubSup>
                                <m:r>
                                  <a:rPr lang="en-US" altLang="ko-KR" sz="18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sSup>
                                      <m:sSupPr>
                                        <m:ctrlP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ko-KR" i="1"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  <m:t>𝑔</m:t>
                                        </m:r>
                                      </m:e>
                                      <m:sup>
                                        <m: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  <m:t>′</m:t>
                                        </m:r>
                                      </m:sup>
                                    </m:sSup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n-US" altLang="ko-KR" i="1"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i="1"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  <m:t>𝑧</m:t>
                                        </m:r>
                                      </m:e>
                                      <m:sub>
                                        <m:r>
                                          <a:rPr lang="en-US" altLang="ko-KR" i="1"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sub>
                                </m:sSub>
                                <m:sSubSup>
                                  <m:sSubSup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sSubSupPr>
                                  <m:e>
                                    <m:sSup>
                                      <m:sSupPr>
                                        <m:ctrlP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ko-KR" i="1"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  <m:t>𝑥</m:t>
                                        </m:r>
                                      </m:e>
                                      <m:sup>
                                        <m: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  <m:t>′</m:t>
                                        </m:r>
                                      </m:sup>
                                    </m:sSup>
                                  </m:e>
                                  <m:sub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𝑖</m:t>
                                    </m:r>
                                  </m:sub>
                                  <m:sup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𝑇</m:t>
                                    </m:r>
                                  </m:sup>
                                </m:sSubSup>
                              </m:e>
                            </m:d>
                          </m:e>
                        </m:nary>
                      </m:oMath>
                    </m:oMathPara>
                  </a14:m>
                  <a:endParaRPr lang="en-US" altLang="ko-KR" sz="1800" b="0" dirty="0">
                    <a:cs typeface="Arial" panose="020B0604020202020204" pitchFamily="34" charset="0"/>
                  </a:endParaRPr>
                </a:p>
                <a:p>
                  <a:pPr marL="285750" indent="-285750">
                    <a:buFont typeface="Wingdings" panose="05000000000000000000" pitchFamily="2" charset="2"/>
                    <a:buChar char="§"/>
                  </a:pPr>
                  <a:endParaRPr lang="ko-KR" altLang="en-US" dirty="0"/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80B0491D-2EF7-4C99-8E0F-E5ECE01865D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6285" y="2125533"/>
                  <a:ext cx="7519035" cy="105907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BFDEF02F-6C83-4FB1-B83A-41BFF9CC5E0E}"/>
                    </a:ext>
                  </a:extLst>
                </p:cNvPr>
                <p:cNvSpPr txBox="1"/>
                <p:nvPr/>
              </p:nvSpPr>
              <p:spPr>
                <a:xfrm>
                  <a:off x="756285" y="3183335"/>
                  <a:ext cx="4754880" cy="95051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285750" indent="-285750">
                    <a:buFont typeface="Wingdings" panose="05000000000000000000" pitchFamily="2" charset="2"/>
                    <a:buChar char="§"/>
                  </a:pPr>
                  <a14:m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: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𝐼𝑛𝑓𝑜𝑁𝐶𝐸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𝑙𝑜𝑠𝑠</m:t>
                      </m:r>
                    </m:oMath>
                  </a14:m>
                  <a:endParaRPr lang="en-US" altLang="ko-KR" b="0" i="1" dirty="0">
                    <a:latin typeface="Cambria Math" panose="02040503050406030204" pitchFamily="18" charset="0"/>
                  </a:endParaRPr>
                </a:p>
                <a:p>
                  <a:pPr marL="285750" indent="-285750">
                    <a:buFont typeface="Wingdings" panose="05000000000000000000" pitchFamily="2" charset="2"/>
                    <a:buChar char="§"/>
                  </a:pPr>
                  <a14:m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: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𝑤𝑒𝑖𝑔h𝑡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𝑚𝑎𝑡𝑟𝑖𝑥</m:t>
                      </m:r>
                    </m:oMath>
                  </a14:m>
                  <a:endParaRPr lang="en-US" altLang="ko-KR" b="0" i="1" dirty="0">
                    <a:latin typeface="Cambria Math" panose="02040503050406030204" pitchFamily="18" charset="0"/>
                  </a:endParaRPr>
                </a:p>
                <a:p>
                  <a:pPr marL="285750" indent="-285750">
                    <a:buFont typeface="Wingdings" panose="05000000000000000000" pitchFamily="2" charset="2"/>
                    <a:buChar char="§"/>
                  </a:pP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ko-KR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1" i="1" smtClean="0">
                              <a:latin typeface="Cambria Math" panose="02040503050406030204" pitchFamily="18" charset="0"/>
                            </a:rPr>
                            <m:t>𝒈</m:t>
                          </m:r>
                        </m:e>
                        <m:sub>
                          <m:sSub>
                            <m:sSubPr>
                              <m:ctrlPr>
                                <a:rPr lang="en-US" altLang="ko-KR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1" i="1" smtClean="0">
                                  <a:latin typeface="Cambria Math" panose="02040503050406030204" pitchFamily="18" charset="0"/>
                                </a:rPr>
                                <m:t>𝒛</m:t>
                              </m:r>
                            </m:e>
                            <m:sub>
                              <m:r>
                                <a:rPr lang="en-US" altLang="ko-KR" b="1" i="1" smtClean="0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: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𝑔𝑟𝑎𝑑𝑖𝑒𝑛𝑡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𝑜𝑛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𝑡h𝑒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𝑒𝑚𝑏𝑒𝑑𝑑𝑖𝑛𝑔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𝑣𝑒𝑐𝑡𝑜𝑟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a14:m>
                  <a:r>
                    <a:rPr lang="ko-KR" altLang="en-US" dirty="0"/>
                    <a:t> </a:t>
                  </a:r>
                </a:p>
              </p:txBody>
            </p:sp>
          </mc:Choice>
          <mc:Fallback xmlns=""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BFDEF02F-6C83-4FB1-B83A-41BFF9CC5E0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6285" y="3183335"/>
                  <a:ext cx="4754880" cy="950517"/>
                </a:xfrm>
                <a:prstGeom prst="rect">
                  <a:avLst/>
                </a:prstGeom>
                <a:blipFill>
                  <a:blip r:embed="rId5"/>
                  <a:stretch>
                    <a:fillRect l="-769" t="-641" b="-4487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91AC6F4-D3F4-4B37-BD3E-3ACC19763659}"/>
                  </a:ext>
                </a:extLst>
              </p:cNvPr>
              <p:cNvSpPr txBox="1"/>
              <p:nvPr/>
            </p:nvSpPr>
            <p:spPr>
              <a:xfrm>
                <a:off x="756285" y="4877200"/>
                <a:ext cx="7519035" cy="10728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8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altLang="ko-KR" sz="18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𝑧</m:t>
                              </m:r>
                            </m:sub>
                          </m:sSub>
                        </m:e>
                        <m:sub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𝑖</m:t>
                          </m:r>
                        </m:sub>
                      </m:sSub>
                      <m:r>
                        <a:rPr lang="en-US" altLang="ko-KR" sz="18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ko-KR" sz="18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ko-KR" sz="18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𝑗</m:t>
                          </m:r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≠</m:t>
                          </m:r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altLang="ko-KR" sz="18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𝑖𝑗</m:t>
                              </m:r>
                            </m:sub>
                          </m:sSub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ko-KR" sz="18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ko-KR" sz="18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𝑧</m:t>
                              </m:r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′</m:t>
                              </m:r>
                            </m:e>
                            <m:sub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)</m:t>
                          </m:r>
                        </m:e>
                      </m:nary>
                      <m:r>
                        <a:rPr lang="en-US" altLang="ko-KR" sz="18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ko-KR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ko-KR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𝑗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≠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𝑗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ko-KR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altLang="ko-KR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ko-KR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)</m:t>
                          </m:r>
                        </m:e>
                      </m:nary>
                      <m:r>
                        <a:rPr lang="en-US" altLang="ko-KR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, </m:t>
                      </m:r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     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𝑧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′</m:t>
                              </m:r>
                            </m:sub>
                          </m:sSub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𝑖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ko-KR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ko-KR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𝑗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≠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𝑖𝑗</m:t>
                              </m:r>
                            </m:sub>
                          </m:sSub>
                          <m:r>
                            <a:rPr lang="en-US" altLang="ko-KR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𝑧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′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ko-KR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ko-KR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altLang="ko-KR" sz="1800" b="0" dirty="0">
                  <a:cs typeface="Arial" panose="020B0604020202020204" pitchFamily="34" charset="0"/>
                </a:endParaRPr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endParaRPr lang="ko-KR" alt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91AC6F4-D3F4-4B37-BD3E-3ACC197636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6285" y="4877200"/>
                <a:ext cx="7519035" cy="107285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D8CDC829-6F46-48B9-9F62-16017E433D15}"/>
                  </a:ext>
                </a:extLst>
              </p:cNvPr>
              <p:cNvSpPr txBox="1"/>
              <p:nvPr/>
            </p:nvSpPr>
            <p:spPr>
              <a:xfrm>
                <a:off x="756284" y="5651449"/>
                <a:ext cx="9062086" cy="8491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 b="0" i="0" smtClean="0">
                            <a:latin typeface="Cambria Math" panose="02040503050406030204" pitchFamily="18" charset="0"/>
                          </a:rPr>
                          <m:t>exp</m:t>
                        </m:r>
                      </m:fName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(−|</m:t>
                        </m:r>
                        <m:sSup>
                          <m:sSup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"/>
                                <m:endChr m:val="|"/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ko-KR" altLang="en-US">
                                    <a:latin typeface="Cambria Math" panose="02040503050406030204" pitchFamily="18" charset="0"/>
                                  </a:rPr>
                                  <m:t>​</m:t>
                                </m:r>
                                <m:sSub>
                                  <m:sSub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/2)</m:t>
                        </m:r>
                      </m:e>
                    </m:func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 , 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𝑖𝑖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>
                            <a:latin typeface="Cambria Math" panose="02040503050406030204" pitchFamily="18" charset="0"/>
                          </a:rPr>
                          <m:t>exp</m:t>
                        </m:r>
                      </m:fName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(−|</m:t>
                        </m:r>
                        <m:sSup>
                          <m:sSup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"/>
                                <m:endChr m:val="|"/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ko-KR" altLang="en-US">
                                    <a:latin typeface="Cambria Math" panose="02040503050406030204" pitchFamily="18" charset="0"/>
                                  </a:rPr>
                                  <m:t>​</m:t>
                                </m:r>
                                <m:sSub>
                                  <m:sSub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/2)</m:t>
                        </m:r>
                      </m:e>
                    </m:func>
                  </m:oMath>
                </a14:m>
                <a:endParaRPr lang="en-US" altLang="ko-KR" dirty="0"/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subSup"/>
                        <m:supHide m:val="on"/>
                        <m:ctrlPr>
                          <a:rPr lang="en-US" altLang="ko-KR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naryPr>
                      <m:sub>
                        <m:r>
                          <m:rPr>
                            <m:brk m:alnAt="9"/>
                          </m:rPr>
                          <a:rPr lang="en-US" altLang="ko-KR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𝑗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≠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𝑖</m:t>
                        </m:r>
                      </m:sub>
                      <m:sup/>
                      <m:e>
                        <m:func>
                          <m:funcPr>
                            <m:ctrlPr>
                              <a:rPr lang="en-US" altLang="ko-KR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ko-KR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exp</m:t>
                            </m:r>
                          </m:fName>
                          <m:e>
                            <m:sSup>
                              <m:sSup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(</m:t>
                                </m:r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ko-KR" i="1"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i="1"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  <m:t>𝑧</m:t>
                                        </m:r>
                                      </m:e>
                                      <m:sub>
                                        <m:r>
                                          <a:rPr lang="en-US" altLang="ko-KR" i="1"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altLang="ko-KR" i="1"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i="1"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  <m:t>𝑧</m:t>
                                        </m:r>
                                      </m:e>
                                      <m:sub>
                                        <m:r>
                                          <a:rPr lang="en-US" altLang="ko-KR" i="1"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  <m:t>𝑗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sup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ko-KR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)/2</m:t>
                            </m:r>
                          </m:e>
                        </m:func>
                        <m:r>
                          <a:rPr lang="en-US" altLang="ko-KR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+</m:t>
                        </m:r>
                        <m:func>
                          <m:funcPr>
                            <m:ctrlPr>
                              <a:rPr lang="en-US" altLang="ko-KR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ko-KR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exp</m:t>
                            </m:r>
                          </m:fName>
                          <m:e>
                            <m:sSup>
                              <m:sSup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(</m:t>
                                </m:r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ko-KR" i="1"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i="1"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  <m:t>𝑧</m:t>
                                        </m:r>
                                      </m:e>
                                      <m:sub>
                                        <m:r>
                                          <a:rPr lang="en-US" altLang="ko-KR" i="1"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altLang="ko-KR" i="1"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</m:ctrlPr>
                                      </m:sSubPr>
                                      <m:e>
                                        <m:sSup>
                                          <m:sSupPr>
                                            <m:ctrlPr>
                                              <a:rPr lang="en-US" altLang="ko-KR" i="1">
                                                <a:latin typeface="Cambria Math" panose="02040503050406030204" pitchFamily="18" charset="0"/>
                                                <a:cs typeface="Arial" panose="020B0604020202020204" pitchFamily="34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altLang="ko-KR" i="1">
                                                <a:latin typeface="Cambria Math" panose="02040503050406030204" pitchFamily="18" charset="0"/>
                                                <a:cs typeface="Arial" panose="020B0604020202020204" pitchFamily="34" charset="0"/>
                                              </a:rPr>
                                              <m:t>𝑧</m:t>
                                            </m:r>
                                          </m:e>
                                          <m:sup>
                                            <m:r>
                                              <a:rPr lang="en-US" altLang="ko-KR" i="1">
                                                <a:latin typeface="Cambria Math" panose="02040503050406030204" pitchFamily="18" charset="0"/>
                                                <a:cs typeface="Arial" panose="020B0604020202020204" pitchFamily="34" charset="0"/>
                                              </a:rPr>
                                              <m:t>′</m:t>
                                            </m:r>
                                          </m:sup>
                                        </m:sSup>
                                      </m:e>
                                      <m:sub>
                                        <m:r>
                                          <a:rPr lang="en-US" altLang="ko-KR" i="1"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sup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ko-KR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)/2</m:t>
                            </m:r>
                          </m:e>
                        </m:func>
                      </m:e>
                    </m:nary>
                  </m:oMath>
                </a14:m>
                <a:r>
                  <a:rPr lang="en-US" altLang="ko-KR" dirty="0"/>
                  <a:t>	(denominator of </a:t>
                </a:r>
                <a:r>
                  <a:rPr lang="en-US" altLang="ko-KR" dirty="0" err="1"/>
                  <a:t>InfoNCE</a:t>
                </a:r>
                <a:r>
                  <a:rPr lang="en-US" altLang="ko-KR" dirty="0"/>
                  <a:t> Loss)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D8CDC829-6F46-48B9-9F62-16017E433D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6284" y="5651449"/>
                <a:ext cx="9062086" cy="849143"/>
              </a:xfrm>
              <a:prstGeom prst="rect">
                <a:avLst/>
              </a:prstGeom>
              <a:blipFill>
                <a:blip r:embed="rId7"/>
                <a:stretch>
                  <a:fillRect l="-403" t="-67626" b="-7697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458154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>
            <a:extLst>
              <a:ext uri="{FF2B5EF4-FFF2-40B4-BE49-F238E27FC236}">
                <a16:creationId xmlns:a16="http://schemas.microsoft.com/office/drawing/2014/main" id="{27E24DCE-D15E-451A-95AD-AFF3A0E82E25}"/>
              </a:ext>
            </a:extLst>
          </p:cNvPr>
          <p:cNvSpPr txBox="1"/>
          <p:nvPr/>
        </p:nvSpPr>
        <p:spPr>
          <a:xfrm>
            <a:off x="243442" y="497349"/>
            <a:ext cx="1008927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i="1" dirty="0">
                <a:solidFill>
                  <a:srgbClr val="0E4A8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Augmentation</a:t>
            </a:r>
            <a:endParaRPr lang="ko-KR" altLang="en-US" sz="3200" b="1" i="1" dirty="0">
              <a:solidFill>
                <a:srgbClr val="0E4A8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1E30014-0A9F-494B-8160-F852844B49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1C0072-4DC1-48CC-BEBD-0B21D41EF312}" type="slidenum">
              <a:rPr lang="ko-KR" altLang="en-US" smtClean="0"/>
              <a:t>13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F7AB312-0417-4A1F-8E7B-0C59AC241248}"/>
                  </a:ext>
                </a:extLst>
              </p:cNvPr>
              <p:cNvSpPr txBox="1"/>
              <p:nvPr/>
            </p:nvSpPr>
            <p:spPr>
              <a:xfrm>
                <a:off x="211424" y="1444371"/>
                <a:ext cx="11698878" cy="54598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Calculate the gradient </a:t>
                </a:r>
                <a14:m>
                  <m:oMath xmlns:m="http://schemas.openxmlformats.org/officeDocument/2006/math">
                    <m:r>
                      <a:rPr lang="en-US" altLang="ko-KR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𝑮</m:t>
                    </m:r>
                  </m:oMath>
                </a14:m>
                <a:r>
                  <a:rPr lang="en-US" altLang="ko-KR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which evolves the weight matrix </a:t>
                </a:r>
                <a14:m>
                  <m:oMath xmlns:m="http://schemas.openxmlformats.org/officeDocument/2006/math">
                    <m:r>
                      <a:rPr lang="en-US" altLang="ko-KR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𝑊</m:t>
                    </m:r>
                  </m:oMath>
                </a14:m>
                <a:endParaRPr lang="en-US" altLang="ko-KR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US" altLang="ko-KR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US" altLang="ko-KR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US" altLang="ko-KR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US" altLang="ko-KR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US" altLang="ko-KR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For specifically,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altLang="ko-KR" sz="2000" b="1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altLang="ko-KR" sz="2000" b="1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𝒈</m:t>
                            </m:r>
                          </m:e>
                          <m:sub>
                            <m:r>
                              <a:rPr lang="en-US" altLang="ko-KR" sz="2000" b="1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𝒛</m:t>
                            </m:r>
                          </m:sub>
                        </m:sSub>
                      </m:e>
                      <m:sub>
                        <m:r>
                          <a:rPr lang="en-US" altLang="ko-KR" sz="20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altLang="ko-KR" sz="2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ko-KR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altLang="ko-KR" sz="2000" b="1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altLang="ko-KR" sz="2000" b="1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𝒈</m:t>
                            </m:r>
                          </m:e>
                          <m:sub>
                            <m:r>
                              <a:rPr lang="en-US" altLang="ko-KR" sz="2000" b="1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𝒛</m:t>
                            </m:r>
                          </m:sub>
                        </m:sSub>
                        <m:r>
                          <a:rPr lang="en-US" altLang="ko-KR" sz="20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′</m:t>
                        </m:r>
                      </m:e>
                      <m:sub>
                        <m:r>
                          <a:rPr lang="en-US" altLang="ko-KR" sz="20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altLang="ko-KR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is written as:</a:t>
                </a:r>
              </a:p>
              <a:p>
                <a:pPr lvl="2">
                  <a:lnSpc>
                    <a:spcPct val="150000"/>
                  </a:lnSpc>
                </a:pPr>
                <a:endParaRPr lang="en-US" altLang="ko-KR" sz="15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US" altLang="ko-KR" sz="20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lnSpc>
                    <a:spcPct val="150000"/>
                  </a:lnSpc>
                </a:pPr>
                <a:endParaRPr lang="en-US" altLang="ko-KR" sz="20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lnSpc>
                    <a:spcPct val="150000"/>
                  </a:lnSpc>
                </a:pPr>
                <a:endParaRPr lang="en-US" altLang="ko-KR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ko-KR" altLang="en-US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F7AB312-0417-4A1F-8E7B-0C59AC2412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424" y="1444371"/>
                <a:ext cx="11698878" cy="5459893"/>
              </a:xfrm>
              <a:prstGeom prst="rect">
                <a:avLst/>
              </a:prstGeom>
              <a:blipFill>
                <a:blip r:embed="rId3"/>
                <a:stretch>
                  <a:fillRect l="-46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" name="그룹 6">
            <a:extLst>
              <a:ext uri="{FF2B5EF4-FFF2-40B4-BE49-F238E27FC236}">
                <a16:creationId xmlns:a16="http://schemas.microsoft.com/office/drawing/2014/main" id="{A10111DB-BACC-4F8D-9A2A-112CCF2926C0}"/>
              </a:ext>
            </a:extLst>
          </p:cNvPr>
          <p:cNvGrpSpPr/>
          <p:nvPr/>
        </p:nvGrpSpPr>
        <p:grpSpPr>
          <a:xfrm>
            <a:off x="756285" y="2216973"/>
            <a:ext cx="7519035" cy="2008319"/>
            <a:chOff x="756285" y="2125533"/>
            <a:chExt cx="7519035" cy="200831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80B0491D-2EF7-4C99-8E0F-E5ECE01865D8}"/>
                    </a:ext>
                  </a:extLst>
                </p:cNvPr>
                <p:cNvSpPr txBox="1"/>
                <p:nvPr/>
              </p:nvSpPr>
              <p:spPr>
                <a:xfrm>
                  <a:off x="756285" y="2125533"/>
                  <a:ext cx="7519035" cy="105907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altLang="ko-KR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𝑮</m:t>
                        </m:r>
                        <m:r>
                          <a:rPr lang="en-US" altLang="ko-KR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=−</m:t>
                        </m:r>
                        <m:f>
                          <m:fPr>
                            <m:ctrlPr>
                              <a:rPr lang="en-US" altLang="ko-KR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fPr>
                          <m:num>
                            <m:r>
                              <a:rPr lang="en-US" altLang="ko-KR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𝜕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𝐿</m:t>
                            </m:r>
                          </m:num>
                          <m:den>
                            <m:r>
                              <a:rPr lang="en-US" altLang="ko-KR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𝜕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𝑊</m:t>
                            </m:r>
                          </m:den>
                        </m:f>
                        <m:r>
                          <a:rPr lang="en-US" altLang="ko-KR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=</m:t>
                        </m:r>
                        <m:nary>
                          <m:naryPr>
                            <m:chr m:val="∑"/>
                            <m:supHide m:val="on"/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7"/>
                              </m:rPr>
                              <a:rPr lang="en-US" altLang="ko-KR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𝑖</m:t>
                            </m:r>
                          </m:sub>
                          <m:sup/>
                          <m:e>
                            <m:d>
                              <m:dPr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𝜕</m:t>
                                    </m:r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𝐿</m:t>
                                    </m:r>
                                  </m:num>
                                  <m:den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  <m:t>𝑧</m:t>
                                        </m:r>
                                      </m:e>
                                      <m:sub>
                                        <m: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den>
                                </m:f>
                                <m:f>
                                  <m:f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  <m:t>𝑧</m:t>
                                        </m:r>
                                      </m:e>
                                      <m:sub>
                                        <m: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𝜕</m:t>
                                    </m:r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𝑊</m:t>
                                    </m:r>
                                  </m:den>
                                </m:f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+</m:t>
                                </m:r>
                                <m:f>
                                  <m:f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𝜕</m:t>
                                    </m:r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𝐿</m:t>
                                    </m:r>
                                  </m:num>
                                  <m:den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US" altLang="ko-KR" i="1"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</m:ctrlPr>
                                      </m:sSubPr>
                                      <m:e>
                                        <m:sSup>
                                          <m:sSupPr>
                                            <m:ctrlPr>
                                              <a:rPr lang="en-US" altLang="ko-KR" b="0" i="1" smtClean="0">
                                                <a:latin typeface="Cambria Math" panose="02040503050406030204" pitchFamily="18" charset="0"/>
                                                <a:cs typeface="Arial" panose="020B0604020202020204" pitchFamily="34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altLang="ko-KR" i="1">
                                                <a:latin typeface="Cambria Math" panose="02040503050406030204" pitchFamily="18" charset="0"/>
                                                <a:cs typeface="Arial" panose="020B0604020202020204" pitchFamily="34" charset="0"/>
                                              </a:rPr>
                                              <m:t>𝑧</m:t>
                                            </m:r>
                                          </m:e>
                                          <m:sup>
                                            <m:r>
                                              <a:rPr lang="en-US" altLang="ko-KR" b="0" i="1" smtClean="0">
                                                <a:latin typeface="Cambria Math" panose="02040503050406030204" pitchFamily="18" charset="0"/>
                                                <a:cs typeface="Arial" panose="020B0604020202020204" pitchFamily="34" charset="0"/>
                                              </a:rPr>
                                              <m:t>′</m:t>
                                            </m:r>
                                          </m:sup>
                                        </m:sSup>
                                      </m:e>
                                      <m:sub>
                                        <m:r>
                                          <a:rPr lang="en-US" altLang="ko-KR" i="1"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den>
                                </m:f>
                                <m:f>
                                  <m:f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</m:ctrlPr>
                                      </m:sSubPr>
                                      <m:e>
                                        <m:sSup>
                                          <m:sSupPr>
                                            <m:ctrlPr>
                                              <a:rPr lang="en-US" altLang="ko-KR" b="0" i="1" smtClean="0">
                                                <a:latin typeface="Cambria Math" panose="02040503050406030204" pitchFamily="18" charset="0"/>
                                                <a:cs typeface="Arial" panose="020B0604020202020204" pitchFamily="34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altLang="ko-KR" b="0" i="1" smtClean="0">
                                                <a:latin typeface="Cambria Math" panose="02040503050406030204" pitchFamily="18" charset="0"/>
                                                <a:cs typeface="Arial" panose="020B0604020202020204" pitchFamily="34" charset="0"/>
                                              </a:rPr>
                                              <m:t>𝑧</m:t>
                                            </m:r>
                                          </m:e>
                                          <m:sup>
                                            <m:r>
                                              <a:rPr lang="en-US" altLang="ko-KR" b="0" i="1" smtClean="0">
                                                <a:latin typeface="Cambria Math" panose="02040503050406030204" pitchFamily="18" charset="0"/>
                                                <a:cs typeface="Arial" panose="020B0604020202020204" pitchFamily="34" charset="0"/>
                                              </a:rPr>
                                              <m:t>′</m:t>
                                            </m:r>
                                          </m:sup>
                                        </m:sSup>
                                      </m:e>
                                      <m:sub>
                                        <m: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𝜕</m:t>
                                    </m:r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𝑊</m:t>
                                    </m:r>
                                  </m:den>
                                </m:f>
                              </m:e>
                            </m:d>
                          </m:e>
                        </m:nary>
                        <m:r>
                          <a:rPr lang="en-US" altLang="ko-KR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=</m:t>
                        </m:r>
                        <m:r>
                          <a:rPr lang="en-US" altLang="ko-KR" sz="18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−</m:t>
                        </m:r>
                        <m:nary>
                          <m:naryPr>
                            <m:chr m:val="∑"/>
                            <m:limLoc m:val="subSup"/>
                            <m:supHide m:val="on"/>
                            <m:ctrlPr>
                              <a:rPr lang="en-US" altLang="ko-KR" sz="18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9"/>
                              </m:rPr>
                              <a:rPr lang="en-US" altLang="ko-KR" sz="18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𝑖</m:t>
                            </m:r>
                          </m:sub>
                          <m:sup/>
                          <m:e>
                            <m:d>
                              <m:dPr>
                                <m:ctrlPr>
                                  <a:rPr lang="en-US" altLang="ko-KR" sz="18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ko-KR" sz="1800" b="1" i="1" smtClean="0">
                                        <a:solidFill>
                                          <a:srgbClr val="0725B9"/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800" b="1" i="1" smtClean="0">
                                        <a:solidFill>
                                          <a:srgbClr val="0725B9"/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𝒈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n-US" altLang="ko-KR" sz="1800" b="1" i="1" smtClean="0">
                                            <a:solidFill>
                                              <a:srgbClr val="0725B9"/>
                                            </a:solidFill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800" b="1" i="1" smtClean="0">
                                            <a:solidFill>
                                              <a:srgbClr val="0725B9"/>
                                            </a:solidFill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  <m:t>𝒛</m:t>
                                        </m:r>
                                      </m:e>
                                      <m:sub>
                                        <m:r>
                                          <a:rPr lang="en-US" altLang="ko-KR" sz="1800" b="1" i="1" smtClean="0">
                                            <a:solidFill>
                                              <a:srgbClr val="0725B9"/>
                                            </a:solidFill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  <m:t>𝒊</m:t>
                                        </m:r>
                                      </m:sub>
                                    </m:sSub>
                                  </m:sub>
                                </m:sSub>
                                <m:sSubSup>
                                  <m:sSubSupPr>
                                    <m:ctrlPr>
                                      <a:rPr lang="en-US" altLang="ko-KR" sz="1800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ko-KR" sz="1800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ko-KR" sz="1800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𝑖</m:t>
                                    </m:r>
                                  </m:sub>
                                  <m:sup>
                                    <m:r>
                                      <a:rPr lang="en-US" altLang="ko-KR" sz="1800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𝑇</m:t>
                                    </m:r>
                                  </m:sup>
                                </m:sSubSup>
                                <m:r>
                                  <a:rPr lang="en-US" altLang="ko-KR" sz="18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altLang="ko-KR" b="1" i="1" smtClean="0">
                                        <a:solidFill>
                                          <a:srgbClr val="0725B9"/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sSup>
                                      <m:sSupPr>
                                        <m:ctrlPr>
                                          <a:rPr lang="en-US" altLang="ko-KR" b="1" i="1" smtClean="0">
                                            <a:solidFill>
                                              <a:srgbClr val="0725B9"/>
                                            </a:solidFill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ko-KR" b="1" i="1">
                                            <a:solidFill>
                                              <a:srgbClr val="0725B9"/>
                                            </a:solidFill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  <m:t>𝒈</m:t>
                                        </m:r>
                                      </m:e>
                                      <m:sup>
                                        <m:r>
                                          <a:rPr lang="en-US" altLang="ko-KR" b="1" i="1" smtClean="0">
                                            <a:solidFill>
                                              <a:srgbClr val="0725B9"/>
                                            </a:solidFill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  <m:t>′</m:t>
                                        </m:r>
                                      </m:sup>
                                    </m:sSup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n-US" altLang="ko-KR" b="1" i="1">
                                            <a:solidFill>
                                              <a:srgbClr val="0725B9"/>
                                            </a:solidFill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b="1" i="1">
                                            <a:solidFill>
                                              <a:srgbClr val="0725B9"/>
                                            </a:solidFill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  <m:t>𝒛</m:t>
                                        </m:r>
                                      </m:e>
                                      <m:sub>
                                        <m:r>
                                          <a:rPr lang="en-US" altLang="ko-KR" b="1" i="1">
                                            <a:solidFill>
                                              <a:srgbClr val="0725B9"/>
                                            </a:solidFill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  <m:t>𝒊</m:t>
                                        </m:r>
                                      </m:sub>
                                    </m:sSub>
                                  </m:sub>
                                </m:sSub>
                                <m:sSubSup>
                                  <m:sSubSup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sSubSupPr>
                                  <m:e>
                                    <m:sSup>
                                      <m:sSupPr>
                                        <m:ctrlP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ko-KR" i="1"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  <m:t>𝑥</m:t>
                                        </m:r>
                                      </m:e>
                                      <m:sup>
                                        <m: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  <m:t>′</m:t>
                                        </m:r>
                                      </m:sup>
                                    </m:sSup>
                                  </m:e>
                                  <m:sub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𝑖</m:t>
                                    </m:r>
                                  </m:sub>
                                  <m:sup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𝑇</m:t>
                                    </m:r>
                                  </m:sup>
                                </m:sSubSup>
                              </m:e>
                            </m:d>
                          </m:e>
                        </m:nary>
                      </m:oMath>
                    </m:oMathPara>
                  </a14:m>
                  <a:endParaRPr lang="en-US" altLang="ko-KR" sz="1800" b="0" dirty="0">
                    <a:cs typeface="Arial" panose="020B0604020202020204" pitchFamily="34" charset="0"/>
                  </a:endParaRPr>
                </a:p>
                <a:p>
                  <a:pPr marL="285750" indent="-285750">
                    <a:buFont typeface="Wingdings" panose="05000000000000000000" pitchFamily="2" charset="2"/>
                    <a:buChar char="§"/>
                  </a:pPr>
                  <a:endParaRPr lang="ko-KR" altLang="en-US" dirty="0"/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80B0491D-2EF7-4C99-8E0F-E5ECE01865D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6285" y="2125533"/>
                  <a:ext cx="7519035" cy="105907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BFDEF02F-6C83-4FB1-B83A-41BFF9CC5E0E}"/>
                    </a:ext>
                  </a:extLst>
                </p:cNvPr>
                <p:cNvSpPr txBox="1"/>
                <p:nvPr/>
              </p:nvSpPr>
              <p:spPr>
                <a:xfrm>
                  <a:off x="756285" y="3183335"/>
                  <a:ext cx="4754880" cy="95051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285750" indent="-285750">
                    <a:buFont typeface="Wingdings" panose="05000000000000000000" pitchFamily="2" charset="2"/>
                    <a:buChar char="§"/>
                  </a:pPr>
                  <a14:m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: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𝐼𝑛𝑓𝑜𝑁𝐶𝐸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𝑙𝑜𝑠𝑠</m:t>
                      </m:r>
                    </m:oMath>
                  </a14:m>
                  <a:endParaRPr lang="en-US" altLang="ko-KR" b="0" i="1" dirty="0">
                    <a:latin typeface="Cambria Math" panose="02040503050406030204" pitchFamily="18" charset="0"/>
                  </a:endParaRPr>
                </a:p>
                <a:p>
                  <a:pPr marL="285750" indent="-285750">
                    <a:buFont typeface="Wingdings" panose="05000000000000000000" pitchFamily="2" charset="2"/>
                    <a:buChar char="§"/>
                  </a:pPr>
                  <a14:m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: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𝑤𝑒𝑖𝑔h𝑡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𝑚𝑎𝑡𝑟𝑖𝑥</m:t>
                      </m:r>
                    </m:oMath>
                  </a14:m>
                  <a:endParaRPr lang="en-US" altLang="ko-KR" b="0" i="1" dirty="0">
                    <a:latin typeface="Cambria Math" panose="02040503050406030204" pitchFamily="18" charset="0"/>
                  </a:endParaRPr>
                </a:p>
                <a:p>
                  <a:pPr marL="285750" indent="-285750">
                    <a:buFont typeface="Wingdings" panose="05000000000000000000" pitchFamily="2" charset="2"/>
                    <a:buChar char="§"/>
                  </a:pP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ko-KR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1" i="1" smtClean="0">
                              <a:latin typeface="Cambria Math" panose="02040503050406030204" pitchFamily="18" charset="0"/>
                            </a:rPr>
                            <m:t>𝒈</m:t>
                          </m:r>
                        </m:e>
                        <m:sub>
                          <m:sSub>
                            <m:sSubPr>
                              <m:ctrlPr>
                                <a:rPr lang="en-US" altLang="ko-KR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1" i="1" smtClean="0">
                                  <a:latin typeface="Cambria Math" panose="02040503050406030204" pitchFamily="18" charset="0"/>
                                </a:rPr>
                                <m:t>𝒛</m:t>
                              </m:r>
                            </m:e>
                            <m:sub>
                              <m:r>
                                <a:rPr lang="en-US" altLang="ko-KR" b="1" i="1" smtClean="0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: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𝑔𝑟𝑎𝑑𝑖𝑒𝑛𝑡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𝑜𝑛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𝑡h𝑒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𝑒𝑚𝑏𝑒𝑑𝑑𝑖𝑛𝑔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𝑣𝑒𝑐𝑡𝑜𝑟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a14:m>
                  <a:r>
                    <a:rPr lang="ko-KR" altLang="en-US" dirty="0"/>
                    <a:t> </a:t>
                  </a:r>
                </a:p>
              </p:txBody>
            </p:sp>
          </mc:Choice>
          <mc:Fallback xmlns=""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BFDEF02F-6C83-4FB1-B83A-41BFF9CC5E0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6285" y="3183335"/>
                  <a:ext cx="4754880" cy="950517"/>
                </a:xfrm>
                <a:prstGeom prst="rect">
                  <a:avLst/>
                </a:prstGeom>
                <a:blipFill>
                  <a:blip r:embed="rId5"/>
                  <a:stretch>
                    <a:fillRect l="-769" t="-641" b="-4487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91AC6F4-D3F4-4B37-BD3E-3ACC19763659}"/>
                  </a:ext>
                </a:extLst>
              </p:cNvPr>
              <p:cNvSpPr txBox="1"/>
              <p:nvPr/>
            </p:nvSpPr>
            <p:spPr>
              <a:xfrm>
                <a:off x="756285" y="4877200"/>
                <a:ext cx="7519035" cy="10728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800" b="1" i="1" smtClean="0">
                              <a:solidFill>
                                <a:srgbClr val="0725B9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altLang="ko-KR" sz="1800" b="1" i="1" smtClean="0">
                                  <a:solidFill>
                                    <a:srgbClr val="0725B9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800" b="1" i="1" smtClean="0">
                                  <a:solidFill>
                                    <a:srgbClr val="0725B9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𝒈</m:t>
                              </m:r>
                            </m:e>
                            <m:sub>
                              <m:r>
                                <a:rPr lang="en-US" altLang="ko-KR" sz="1800" b="1" i="1" smtClean="0">
                                  <a:solidFill>
                                    <a:srgbClr val="0725B9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𝒛</m:t>
                              </m:r>
                            </m:sub>
                          </m:sSub>
                        </m:e>
                        <m:sub>
                          <m:r>
                            <a:rPr lang="en-US" altLang="ko-KR" sz="1800" b="1" i="1" smtClean="0">
                              <a:solidFill>
                                <a:srgbClr val="0725B9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𝒊</m:t>
                          </m:r>
                        </m:sub>
                      </m:sSub>
                      <m:r>
                        <a:rPr lang="en-US" altLang="ko-KR" sz="18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ko-KR" sz="18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ko-KR" sz="18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𝑗</m:t>
                          </m:r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≠</m:t>
                          </m:r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altLang="ko-KR" sz="18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𝑖𝑗</m:t>
                              </m:r>
                            </m:sub>
                          </m:sSub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ko-KR" sz="1800" b="1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800" b="1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𝒛</m:t>
                              </m:r>
                            </m:e>
                            <m:sub>
                              <m:r>
                                <a:rPr lang="en-US" altLang="ko-KR" sz="1800" b="1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𝒋</m:t>
                              </m:r>
                            </m:sub>
                          </m:sSub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ko-KR" sz="1800" b="1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800" b="1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𝒛</m:t>
                              </m:r>
                              <m:r>
                                <a:rPr lang="en-US" altLang="ko-KR" sz="1800" b="1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′</m:t>
                              </m:r>
                            </m:e>
                            <m:sub>
                              <m:r>
                                <a:rPr lang="en-US" altLang="ko-KR" sz="1800" b="1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𝒊</m:t>
                              </m:r>
                            </m:sub>
                          </m:sSub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)</m:t>
                          </m:r>
                        </m:e>
                      </m:nary>
                      <m:r>
                        <a:rPr lang="en-US" altLang="ko-KR" sz="18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ko-KR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ko-KR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𝑗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≠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𝑗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ko-KR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ko-KR" b="1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1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𝒛</m:t>
                              </m:r>
                            </m:e>
                            <m:sub>
                              <m:r>
                                <a:rPr lang="en-US" altLang="ko-KR" b="1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𝒋</m:t>
                              </m:r>
                            </m:sub>
                          </m:sSub>
                          <m:r>
                            <a:rPr lang="en-US" altLang="ko-KR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ko-KR" b="1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1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𝒛</m:t>
                              </m:r>
                            </m:e>
                            <m:sub>
                              <m:r>
                                <a:rPr lang="en-US" altLang="ko-KR" b="1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𝒊</m:t>
                              </m:r>
                            </m:sub>
                          </m:sSub>
                          <m:r>
                            <a:rPr lang="en-US" altLang="ko-KR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)</m:t>
                          </m:r>
                        </m:e>
                      </m:nary>
                      <m:r>
                        <a:rPr lang="en-US" altLang="ko-KR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, </m:t>
                      </m:r>
                      <m:sSub>
                        <m:sSubPr>
                          <m:ctrlPr>
                            <a:rPr lang="en-US" altLang="ko-KR" b="1" i="1" smtClean="0">
                              <a:solidFill>
                                <a:srgbClr val="0725B9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altLang="ko-KR" b="1" i="1" smtClean="0">
                                  <a:solidFill>
                                    <a:srgbClr val="0725B9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1" i="1" smtClean="0">
                                  <a:solidFill>
                                    <a:srgbClr val="0725B9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     </m:t>
                              </m:r>
                              <m:r>
                                <a:rPr lang="en-US" altLang="ko-KR" b="1" i="1" smtClean="0">
                                  <a:solidFill>
                                    <a:srgbClr val="0725B9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𝒈</m:t>
                              </m:r>
                            </m:e>
                            <m:sub>
                              <m:r>
                                <a:rPr lang="en-US" altLang="ko-KR" b="1" i="1" smtClean="0">
                                  <a:solidFill>
                                    <a:srgbClr val="0725B9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𝒛</m:t>
                              </m:r>
                              <m:r>
                                <a:rPr lang="en-US" altLang="ko-KR" b="1" i="1" smtClean="0">
                                  <a:solidFill>
                                    <a:srgbClr val="0725B9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′</m:t>
                              </m:r>
                            </m:sub>
                          </m:sSub>
                        </m:e>
                        <m:sub>
                          <m:r>
                            <a:rPr lang="en-US" altLang="ko-KR" b="1" i="1" smtClean="0">
                              <a:solidFill>
                                <a:srgbClr val="0725B9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𝒊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ko-KR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ko-KR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𝑗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≠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𝑖𝑗</m:t>
                              </m:r>
                            </m:sub>
                          </m:sSub>
                          <m:r>
                            <a:rPr lang="en-US" altLang="ko-KR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ko-KR" b="1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1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𝒛</m:t>
                              </m:r>
                              <m:r>
                                <a:rPr lang="en-US" altLang="ko-KR" b="1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′</m:t>
                              </m:r>
                            </m:e>
                            <m:sub>
                              <m:r>
                                <a:rPr lang="en-US" altLang="ko-KR" b="1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𝒊</m:t>
                              </m:r>
                            </m:sub>
                          </m:sSub>
                          <m:r>
                            <a:rPr lang="en-US" altLang="ko-KR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ko-KR" b="1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1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𝒛</m:t>
                              </m:r>
                            </m:e>
                            <m:sub>
                              <m:r>
                                <a:rPr lang="en-US" altLang="ko-KR" b="1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𝒊</m:t>
                              </m:r>
                            </m:sub>
                          </m:sSub>
                          <m:r>
                            <a:rPr lang="en-US" altLang="ko-KR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altLang="ko-KR" sz="1800" b="0" dirty="0">
                  <a:cs typeface="Arial" panose="020B0604020202020204" pitchFamily="34" charset="0"/>
                </a:endParaRPr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endParaRPr lang="ko-KR" alt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91AC6F4-D3F4-4B37-BD3E-3ACC197636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6285" y="4877200"/>
                <a:ext cx="7519035" cy="107285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D8CDC829-6F46-48B9-9F62-16017E433D15}"/>
                  </a:ext>
                </a:extLst>
              </p:cNvPr>
              <p:cNvSpPr txBox="1"/>
              <p:nvPr/>
            </p:nvSpPr>
            <p:spPr>
              <a:xfrm>
                <a:off x="756284" y="5651449"/>
                <a:ext cx="9062086" cy="8491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 b="0" i="0" smtClean="0">
                            <a:latin typeface="Cambria Math" panose="02040503050406030204" pitchFamily="18" charset="0"/>
                          </a:rPr>
                          <m:t>exp</m:t>
                        </m:r>
                      </m:fName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(−|</m:t>
                        </m:r>
                        <m:sSup>
                          <m:sSup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"/>
                                <m:endChr m:val="|"/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ko-KR" altLang="en-US">
                                    <a:latin typeface="Cambria Math" panose="02040503050406030204" pitchFamily="18" charset="0"/>
                                  </a:rPr>
                                  <m:t>​</m:t>
                                </m:r>
                                <m:sSub>
                                  <m:sSub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/2)</m:t>
                        </m:r>
                      </m:e>
                    </m:func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 , 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𝑖𝑖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>
                            <a:latin typeface="Cambria Math" panose="02040503050406030204" pitchFamily="18" charset="0"/>
                          </a:rPr>
                          <m:t>exp</m:t>
                        </m:r>
                      </m:fName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(−|</m:t>
                        </m:r>
                        <m:sSup>
                          <m:sSup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"/>
                                <m:endChr m:val="|"/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ko-KR" altLang="en-US">
                                    <a:latin typeface="Cambria Math" panose="02040503050406030204" pitchFamily="18" charset="0"/>
                                  </a:rPr>
                                  <m:t>​</m:t>
                                </m:r>
                                <m:sSub>
                                  <m:sSub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/2)</m:t>
                        </m:r>
                      </m:e>
                    </m:func>
                  </m:oMath>
                </a14:m>
                <a:endParaRPr lang="en-US" altLang="ko-KR" dirty="0"/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subSup"/>
                        <m:supHide m:val="on"/>
                        <m:ctrlPr>
                          <a:rPr lang="en-US" altLang="ko-KR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naryPr>
                      <m:sub>
                        <m:r>
                          <m:rPr>
                            <m:brk m:alnAt="9"/>
                          </m:rPr>
                          <a:rPr lang="en-US" altLang="ko-KR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𝑗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≠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𝑖</m:t>
                        </m:r>
                      </m:sub>
                      <m:sup/>
                      <m:e>
                        <m:func>
                          <m:funcPr>
                            <m:ctrlPr>
                              <a:rPr lang="en-US" altLang="ko-KR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ko-KR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exp</m:t>
                            </m:r>
                          </m:fName>
                          <m:e>
                            <m:sSup>
                              <m:sSup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(</m:t>
                                </m:r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ko-KR" i="1"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i="1"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  <m:t>𝑧</m:t>
                                        </m:r>
                                      </m:e>
                                      <m:sub>
                                        <m:r>
                                          <a:rPr lang="en-US" altLang="ko-KR" i="1"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altLang="ko-KR" i="1"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i="1"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  <m:t>𝑧</m:t>
                                        </m:r>
                                      </m:e>
                                      <m:sub>
                                        <m:r>
                                          <a:rPr lang="en-US" altLang="ko-KR" i="1"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  <m:t>𝑗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sup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ko-KR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)/2</m:t>
                            </m:r>
                          </m:e>
                        </m:func>
                        <m:r>
                          <a:rPr lang="en-US" altLang="ko-KR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+</m:t>
                        </m:r>
                        <m:func>
                          <m:funcPr>
                            <m:ctrlPr>
                              <a:rPr lang="en-US" altLang="ko-KR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ko-KR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exp</m:t>
                            </m:r>
                          </m:fName>
                          <m:e>
                            <m:sSup>
                              <m:sSup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(</m:t>
                                </m:r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ko-KR" i="1"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i="1"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  <m:t>𝑧</m:t>
                                        </m:r>
                                      </m:e>
                                      <m:sub>
                                        <m:r>
                                          <a:rPr lang="en-US" altLang="ko-KR" i="1"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altLang="ko-KR" i="1"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</m:ctrlPr>
                                      </m:sSubPr>
                                      <m:e>
                                        <m:sSup>
                                          <m:sSupPr>
                                            <m:ctrlPr>
                                              <a:rPr lang="en-US" altLang="ko-KR" i="1">
                                                <a:latin typeface="Cambria Math" panose="02040503050406030204" pitchFamily="18" charset="0"/>
                                                <a:cs typeface="Arial" panose="020B0604020202020204" pitchFamily="34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altLang="ko-KR" i="1">
                                                <a:latin typeface="Cambria Math" panose="02040503050406030204" pitchFamily="18" charset="0"/>
                                                <a:cs typeface="Arial" panose="020B0604020202020204" pitchFamily="34" charset="0"/>
                                              </a:rPr>
                                              <m:t>𝑧</m:t>
                                            </m:r>
                                          </m:e>
                                          <m:sup>
                                            <m:r>
                                              <a:rPr lang="en-US" altLang="ko-KR" i="1">
                                                <a:latin typeface="Cambria Math" panose="02040503050406030204" pitchFamily="18" charset="0"/>
                                                <a:cs typeface="Arial" panose="020B0604020202020204" pitchFamily="34" charset="0"/>
                                              </a:rPr>
                                              <m:t>′</m:t>
                                            </m:r>
                                          </m:sup>
                                        </m:sSup>
                                      </m:e>
                                      <m:sub>
                                        <m:r>
                                          <a:rPr lang="en-US" altLang="ko-KR" i="1"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sup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ko-KR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)/2</m:t>
                            </m:r>
                          </m:e>
                        </m:func>
                      </m:e>
                    </m:nary>
                  </m:oMath>
                </a14:m>
                <a:r>
                  <a:rPr lang="en-US" altLang="ko-KR" dirty="0"/>
                  <a:t>	(denominator of </a:t>
                </a:r>
                <a:r>
                  <a:rPr lang="en-US" altLang="ko-KR" dirty="0" err="1"/>
                  <a:t>InfoNCE</a:t>
                </a:r>
                <a:r>
                  <a:rPr lang="en-US" altLang="ko-KR" dirty="0"/>
                  <a:t> Loss)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D8CDC829-6F46-48B9-9F62-16017E433D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6284" y="5651449"/>
                <a:ext cx="9062086" cy="849143"/>
              </a:xfrm>
              <a:prstGeom prst="rect">
                <a:avLst/>
              </a:prstGeom>
              <a:blipFill>
                <a:blip r:embed="rId7"/>
                <a:stretch>
                  <a:fillRect l="-403" t="-67626" b="-7697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175754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>
            <a:extLst>
              <a:ext uri="{FF2B5EF4-FFF2-40B4-BE49-F238E27FC236}">
                <a16:creationId xmlns:a16="http://schemas.microsoft.com/office/drawing/2014/main" id="{27E24DCE-D15E-451A-95AD-AFF3A0E82E25}"/>
              </a:ext>
            </a:extLst>
          </p:cNvPr>
          <p:cNvSpPr txBox="1"/>
          <p:nvPr/>
        </p:nvSpPr>
        <p:spPr>
          <a:xfrm>
            <a:off x="243442" y="497349"/>
            <a:ext cx="1008927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i="1" dirty="0">
                <a:solidFill>
                  <a:srgbClr val="0E4A8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Augmentation</a:t>
            </a:r>
            <a:endParaRPr lang="ko-KR" altLang="en-US" sz="3200" b="1" i="1" dirty="0">
              <a:solidFill>
                <a:srgbClr val="0E4A8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1E30014-0A9F-494B-8160-F852844B49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1C0072-4DC1-48CC-BEBD-0B21D41EF312}" type="slidenum">
              <a:rPr lang="ko-KR" altLang="en-US" smtClean="0"/>
              <a:t>14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F7AB312-0417-4A1F-8E7B-0C59AC241248}"/>
                  </a:ext>
                </a:extLst>
              </p:cNvPr>
              <p:cNvSpPr txBox="1"/>
              <p:nvPr/>
            </p:nvSpPr>
            <p:spPr>
              <a:xfrm>
                <a:off x="211424" y="1444371"/>
                <a:ext cx="11698878" cy="59175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ko-KR" sz="2000" b="0" dirty="0">
                    <a:cs typeface="Arial" panose="020B0604020202020204" pitchFamily="34" charset="0"/>
                  </a:rPr>
                  <a:t>We have, </a:t>
                </a:r>
              </a:p>
              <a:p>
                <a:pPr lvl="1"/>
                <a:r>
                  <a:rPr lang="en-US" altLang="ko-KR" sz="2000" dirty="0">
                    <a:cs typeface="Arial" panose="020B0604020202020204" pitchFamily="34" charset="0"/>
                  </a:rPr>
                  <a:t>	</a:t>
                </a:r>
                <a:endParaRPr lang="en-US" altLang="ko-KR" sz="20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lvl="1"/>
                <a:endParaRPr lang="en-US" altLang="ko-KR" sz="20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altLang="ko-KR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altLang="ko-KR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US" altLang="ko-KR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ko-KR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𝑋</m:t>
                    </m:r>
                  </m:oMath>
                </a14:m>
                <a:r>
                  <a:rPr lang="en-US" altLang="ko-KR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is the difference of two PSD matrix (</a:t>
                </a:r>
                <a14:m>
                  <m:oMath xmlns:m="http://schemas.openxmlformats.org/officeDocument/2006/math">
                    <m:r>
                      <a:rPr lang="en-US" altLang="ko-KR" sz="2000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𝐗</m:t>
                    </m:r>
                    <m:r>
                      <a:rPr lang="en-US" altLang="ko-KR" sz="2000" b="0" i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 </m:t>
                    </m:r>
                    <m:sSub>
                      <m:sSub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2000" b="0" i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Σ</m:t>
                        </m:r>
                      </m:e>
                      <m:sub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0</m:t>
                        </m:r>
                      </m:sub>
                    </m:sSub>
                    <m:r>
                      <a:rPr lang="en-US" altLang="ko-KR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−</m:t>
                    </m:r>
                  </m:oMath>
                </a14:m>
                <a:r>
                  <a:rPr lang="en-US" altLang="ko-KR" sz="2000" dirty="0"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200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Σ</m:t>
                        </m:r>
                      </m:e>
                      <m:sub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1</m:t>
                        </m:r>
                      </m:sub>
                    </m:sSub>
                    <m:r>
                      <a:rPr lang="en-US" altLang="ko-KR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)</m:t>
                    </m:r>
                  </m:oMath>
                </a14:m>
                <a:r>
                  <a:rPr lang="en-US" altLang="ko-KR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 </a:t>
                </a:r>
              </a:p>
              <a:p>
                <a:pPr marL="800100" lvl="1" indent="-342900"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2000" b="0" i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Σ</m:t>
                        </m:r>
                      </m:e>
                      <m:sub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ko-KR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: weighted distribution covariance matrix</a:t>
                </a:r>
              </a:p>
              <a:p>
                <a:pPr marL="800100" lvl="1" indent="-342900"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2000" b="0" i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Σ</m:t>
                        </m:r>
                      </m:e>
                      <m:sub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ko-KR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: weighted augmentation covariance matrix 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altLang="ko-KR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ko-KR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If the matrix </a:t>
                </a:r>
                <a14:m>
                  <m:oMath xmlns:m="http://schemas.openxmlformats.org/officeDocument/2006/math">
                    <m:r>
                      <a:rPr lang="en-US" altLang="ko-KR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𝑋</m:t>
                    </m:r>
                  </m:oMath>
                </a14:m>
                <a:r>
                  <a:rPr lang="en-US" altLang="ko-KR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has </a:t>
                </a:r>
                <a:r>
                  <a:rPr lang="en-US" altLang="ko-KR" sz="2000" dirty="0">
                    <a:solidFill>
                      <a:srgbClr val="0725B9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negative eigen values</a:t>
                </a:r>
                <a:r>
                  <a:rPr lang="en-US" altLang="ko-KR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, the weight matrix </a:t>
                </a:r>
                <a14:m>
                  <m:oMath xmlns:m="http://schemas.openxmlformats.org/officeDocument/2006/math">
                    <m:r>
                      <a:rPr lang="en-US" altLang="ko-KR" sz="2000" b="1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𝑾</m:t>
                    </m:r>
                  </m:oMath>
                </a14:m>
                <a:r>
                  <a:rPr lang="en-US" altLang="ko-KR" sz="2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  </a:t>
                </a:r>
                <a:r>
                  <a:rPr lang="en-US" altLang="ko-KR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after </a:t>
                </a:r>
                <a14:m>
                  <m:oMath xmlns:m="http://schemas.openxmlformats.org/officeDocument/2006/math">
                    <m:r>
                      <a:rPr lang="en-US" altLang="ko-KR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𝑡</m:t>
                    </m:r>
                  </m:oMath>
                </a14:m>
                <a:r>
                  <a:rPr lang="en-US" altLang="ko-KR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updates,has vanishing singular values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altLang="ko-KR" sz="20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ko-KR" sz="2000" dirty="0">
                    <a:cs typeface="Arial" panose="020B0604020202020204" pitchFamily="34" charset="0"/>
                  </a:rPr>
                  <a:t>Covariance matrix C is also low-rank</a:t>
                </a:r>
              </a:p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0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𝐶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 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ko-KR" sz="200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ko-KR" sz="20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𝑖</m:t>
                          </m:r>
                        </m:sub>
                        <m:sup/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ko-KR" sz="200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−</m:t>
                          </m:r>
                          <m:acc>
                            <m:accPr>
                              <m:chr m:val="̅"/>
                              <m:ctrlPr>
                                <a:rPr lang="en-US" altLang="ko-KR" sz="200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𝑧</m:t>
                              </m:r>
                            </m:e>
                          </m:acc>
                          <m:r>
                            <a:rPr lang="en-US" altLang="ko-KR" sz="2000" b="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)(</m:t>
                          </m:r>
                          <m:sSub>
                            <m:sSubPr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b="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altLang="ko-KR" sz="2000" b="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ko-KR" sz="2000" b="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altLang="ko-KR" sz="200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̅"/>
                                  <m:ctrlPr>
                                    <a:rPr lang="en-US" altLang="ko-KR" sz="2000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𝑧</m:t>
                                  </m:r>
                                </m:e>
                              </m:acc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/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𝑁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= </m:t>
                          </m:r>
                        </m:e>
                      </m:nary>
                      <m:nary>
                        <m:naryPr>
                          <m:chr m:val="∑"/>
                          <m:supHide m:val="on"/>
                          <m:ctrlPr>
                            <a:rPr lang="en-US" altLang="ko-KR" sz="200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ko-KR" sz="20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𝑖</m:t>
                          </m:r>
                        </m:sub>
                        <m:sup/>
                        <m:e>
                          <m:r>
                            <a:rPr lang="en-US" altLang="ko-KR" sz="20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𝑾</m:t>
                          </m:r>
                          <m:sSup>
                            <m:sSupPr>
                              <m:ctrlPr>
                                <a:rPr lang="en-US" altLang="ko-KR" sz="200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altLang="ko-KR" sz="2000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lang="en-US" altLang="ko-KR" sz="2000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𝑥</m:t>
                                  </m:r>
                                </m:e>
                              </m:acc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)(</m:t>
                              </m:r>
                              <m:sSub>
                                <m:sSubPr>
                                  <m:ctrlPr>
                                    <a:rPr lang="en-US" altLang="ko-KR" sz="200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2000" b="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ko-KR" sz="2000" b="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ko-KR" sz="2000" b="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lang="en-US" altLang="ko-KR" sz="200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ko-KR" sz="2000" b="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𝑥</m:t>
                                  </m:r>
                                </m:e>
                              </m:acc>
                              <m:sSup>
                                <m:sSupPr>
                                  <m:ctrlPr>
                                    <a:rPr lang="en-US" altLang="ko-KR" sz="2000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𝑇</m:t>
                                  </m:r>
                                </m:sup>
                              </m:sSup>
                              <m:r>
                                <a:rPr lang="en-US" altLang="ko-KR" sz="2000" b="1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𝑾</m:t>
                              </m:r>
                            </m:e>
                            <m:sup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/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𝑁</m:t>
                          </m:r>
                        </m:e>
                      </m:nary>
                    </m:oMath>
                  </m:oMathPara>
                </a14:m>
                <a:endParaRPr lang="en-US" altLang="ko-KR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altLang="ko-KR" sz="20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ko-KR" altLang="en-US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F7AB312-0417-4A1F-8E7B-0C59AC2412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424" y="1444371"/>
                <a:ext cx="11698878" cy="5917582"/>
              </a:xfrm>
              <a:prstGeom prst="rect">
                <a:avLst/>
              </a:prstGeom>
              <a:blipFill>
                <a:blip r:embed="rId3"/>
                <a:stretch>
                  <a:fillRect l="-469" t="-61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3698809-FC45-42F9-A699-2287B09819CA}"/>
                  </a:ext>
                </a:extLst>
              </p:cNvPr>
              <p:cNvSpPr txBox="1"/>
              <p:nvPr/>
            </p:nvSpPr>
            <p:spPr>
              <a:xfrm>
                <a:off x="756284" y="1866528"/>
                <a:ext cx="9222105" cy="17511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𝐺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=−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𝑊</m:t>
                      </m:r>
                      <m:r>
                        <a:rPr lang="en-US" altLang="ko-KR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𝑿</m:t>
                      </m:r>
                    </m:oMath>
                  </m:oMathPara>
                </a14:m>
                <a:endParaRPr lang="en-US" altLang="ko-KR" b="1" i="1" dirty="0">
                  <a:latin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𝑋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:=</m:t>
                      </m:r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9"/>
                            </m:rPr>
                            <a:rPr lang="en-US" altLang="ko-KR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  <m:sSup>
                            <m:sSup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</m:e>
                      </m:nary>
                      <m:r>
                        <a:rPr lang="en-US" altLang="ko-KR" i="1">
                          <a:latin typeface="Cambria Math" panose="02040503050406030204" pitchFamily="18" charset="0"/>
                        </a:rPr>
                        <m:t>−</m:t>
                      </m:r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9"/>
                            </m:rPr>
                            <a:rPr lang="en-US" altLang="ko-KR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(1−</m:t>
                              </m:r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)</m:t>
                          </m:r>
                          <m:d>
                            <m:d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e>
                                <m:sub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sSup>
                            <m:sSup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e>
                                    <m:sub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altLang="ko-KR" b="0" dirty="0">
                  <a:cs typeface="Arial" panose="020B0604020202020204" pitchFamily="34" charset="0"/>
                </a:endParaRPr>
              </a:p>
              <a:p>
                <a:r>
                  <a:rPr lang="en-US" altLang="ko-KR" b="0" dirty="0"/>
                  <a:t>   </a:t>
                </a:r>
              </a:p>
              <a:p>
                <a:r>
                  <a:rPr lang="en-US" altLang="ko-KR" dirty="0"/>
                  <a:t>   </a:t>
                </a:r>
              </a:p>
              <a:p>
                <a:endParaRPr lang="ko-KR" alt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3698809-FC45-42F9-A699-2287B09819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6284" y="1866528"/>
                <a:ext cx="9222105" cy="175118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330002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>
            <a:extLst>
              <a:ext uri="{FF2B5EF4-FFF2-40B4-BE49-F238E27FC236}">
                <a16:creationId xmlns:a16="http://schemas.microsoft.com/office/drawing/2014/main" id="{27E24DCE-D15E-451A-95AD-AFF3A0E82E25}"/>
              </a:ext>
            </a:extLst>
          </p:cNvPr>
          <p:cNvSpPr txBox="1"/>
          <p:nvPr/>
        </p:nvSpPr>
        <p:spPr>
          <a:xfrm>
            <a:off x="243442" y="497349"/>
            <a:ext cx="1008927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i="1" dirty="0">
                <a:solidFill>
                  <a:srgbClr val="0E4A8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Augmentation</a:t>
            </a:r>
            <a:endParaRPr lang="ko-KR" altLang="en-US" sz="3200" b="1" i="1" dirty="0">
              <a:solidFill>
                <a:srgbClr val="0E4A8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1E30014-0A9F-494B-8160-F852844B49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1C0072-4DC1-48CC-BEBD-0B21D41EF312}" type="slidenum">
              <a:rPr lang="ko-KR" altLang="en-US" smtClean="0"/>
              <a:t>15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3616E4A-BDA7-4296-9D70-24B725CF3682}"/>
                  </a:ext>
                </a:extLst>
              </p:cNvPr>
              <p:cNvSpPr txBox="1"/>
              <p:nvPr/>
            </p:nvSpPr>
            <p:spPr>
              <a:xfrm>
                <a:off x="211424" y="1444371"/>
                <a:ext cx="11698878" cy="40934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ko-KR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What matters is the eigen values of </a:t>
                </a:r>
                <a14:m>
                  <m:oMath xmlns:m="http://schemas.openxmlformats.org/officeDocument/2006/math">
                    <m:r>
                      <a:rPr lang="en-US" altLang="ko-KR" sz="2000" b="1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𝑿</m:t>
                    </m:r>
                  </m:oMath>
                </a14:m>
                <a:endParaRPr lang="en-US" altLang="ko-KR" sz="20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altLang="ko-KR" sz="20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ko-KR" sz="2000" dirty="0">
                    <a:cs typeface="Arial" panose="020B0604020202020204" pitchFamily="34" charset="0"/>
                  </a:rPr>
                  <a:t>Weight matrix after </a:t>
                </a:r>
                <a14:m>
                  <m:oMath xmlns:m="http://schemas.openxmlformats.org/officeDocument/2006/math">
                    <m:r>
                      <a:rPr lang="en-US" altLang="ko-KR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𝑡</m:t>
                    </m:r>
                  </m:oMath>
                </a14:m>
                <a:r>
                  <a:rPr lang="en-US" altLang="ko-KR" sz="2000" dirty="0">
                    <a:cs typeface="Arial" panose="020B0604020202020204" pitchFamily="34" charset="0"/>
                  </a:rPr>
                  <a:t> updates is as follows: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altLang="ko-KR" sz="2000" dirty="0">
                  <a:cs typeface="Arial" panose="020B0604020202020204" pitchFamily="34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altLang="ko-KR" sz="2000" dirty="0">
                  <a:cs typeface="Arial" panose="020B0604020202020204" pitchFamily="34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altLang="ko-KR" sz="2000" dirty="0">
                  <a:cs typeface="Arial" panose="020B0604020202020204" pitchFamily="34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altLang="ko-KR" sz="2000" dirty="0">
                  <a:cs typeface="Arial" panose="020B0604020202020204" pitchFamily="34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ko-KR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el-GR" altLang="ko-KR" sz="2000" b="1" i="1" smtClean="0">
                        <a:solidFill>
                          <a:srgbClr val="0725B9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𝜦</m:t>
                    </m:r>
                  </m:oMath>
                </a14:m>
                <a:r>
                  <a:rPr lang="en-US" altLang="ko-KR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has </a:t>
                </a:r>
                <a:r>
                  <a:rPr lang="en-US" altLang="ko-KR" sz="2000" dirty="0">
                    <a:solidFill>
                      <a:srgbClr val="0725B9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negative eigen value</a:t>
                </a:r>
                <a:r>
                  <a:rPr lang="en-US" altLang="ko-KR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, weight matrix </a:t>
                </a:r>
                <a14:m>
                  <m:oMath xmlns:m="http://schemas.openxmlformats.org/officeDocument/2006/math">
                    <m:r>
                      <a:rPr lang="en-US" altLang="ko-KR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𝑊</m:t>
                    </m:r>
                  </m:oMath>
                </a14:m>
                <a:r>
                  <a:rPr lang="en-US" altLang="ko-KR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has vanishing singular values</a:t>
                </a:r>
              </a:p>
              <a:p>
                <a:pPr marL="800100" lvl="1" indent="-342900">
                  <a:buFont typeface="Wingdings" panose="05000000000000000000" pitchFamily="2" charset="2"/>
                  <a:buChar char="ü"/>
                </a:pPr>
                <a:r>
                  <a:rPr lang="en-US" altLang="ko-KR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As </a:t>
                </a:r>
                <a14:m>
                  <m:oMath xmlns:m="http://schemas.openxmlformats.org/officeDocument/2006/math">
                    <m:r>
                      <a:rPr lang="en-US" altLang="ko-KR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𝑡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→∞</m:t>
                    </m:r>
                  </m:oMath>
                </a14:m>
                <a:r>
                  <a:rPr lang="en-US" altLang="ko-KR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ko-KR" sz="20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𝑈𝑒𝑥𝑝</m:t>
                    </m:r>
                    <m:d>
                      <m:dPr>
                        <m:ctrlPr>
                          <a:rPr lang="en-US" altLang="ko-KR" sz="20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l-GR" altLang="ko-KR" sz="2000" b="1" i="1">
                            <a:solidFill>
                              <a:srgbClr val="0725B9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𝜦</m:t>
                        </m:r>
                        <m:r>
                          <a:rPr lang="en-US" altLang="ko-K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𝑡</m:t>
                        </m:r>
                      </m:e>
                    </m:d>
                    <m:sSup>
                      <m:sSupPr>
                        <m:ctrlPr>
                          <a:rPr lang="en-US" altLang="ko-K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𝑈</m:t>
                        </m:r>
                      </m:e>
                      <m:sup>
                        <m:r>
                          <a:rPr lang="en-US" altLang="ko-K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en-US" altLang="ko-KR" sz="2000" b="1" dirty="0">
                    <a:latin typeface="Cambria Math" panose="020405030504060302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altLang="ko-KR" sz="2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is rank-deficient</a:t>
                </a:r>
              </a:p>
              <a:p>
                <a:pPr marL="800100" lvl="1" indent="-342900"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r>
                      <a:rPr lang="en-US" altLang="ko-KR" sz="2000" b="1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𝑾</m:t>
                    </m:r>
                    <m:d>
                      <m:dPr>
                        <m:ctrlPr>
                          <a:rPr lang="en-US" altLang="ko-KR" sz="20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altLang="ko-KR" sz="20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𝒕</m:t>
                        </m:r>
                      </m:e>
                    </m:d>
                  </m:oMath>
                </a14:m>
                <a:r>
                  <a:rPr lang="ko-KR" alt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ko-KR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become </a:t>
                </a:r>
                <a:r>
                  <a:rPr lang="en-US" altLang="ko-KR" sz="2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rank-deficient</a:t>
                </a:r>
              </a:p>
              <a:p>
                <a:pPr marL="800100" lvl="1" indent="-342900">
                  <a:buFont typeface="Wingdings" panose="05000000000000000000" pitchFamily="2" charset="2"/>
                  <a:buChar char="ü"/>
                </a:pPr>
                <a:endParaRPr lang="en-US" altLang="ko-KR" sz="20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ko-KR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At last, </a:t>
                </a:r>
                <a14:m>
                  <m:oMath xmlns:m="http://schemas.openxmlformats.org/officeDocument/2006/math">
                    <m:r>
                      <a:rPr lang="en-US" altLang="ko-KR" sz="2000" b="1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𝑪</m:t>
                    </m:r>
                  </m:oMath>
                </a14:m>
                <a:r>
                  <a:rPr lang="en-US" altLang="ko-KR" sz="2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 become low-rank, </a:t>
                </a:r>
                <a:r>
                  <a:rPr lang="en-US" altLang="ko-KR" sz="2000" b="1" i="1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dimensional collapse</a:t>
                </a:r>
              </a:p>
              <a:p>
                <a:pPr marL="800100" lvl="1" indent="-342900"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r>
                      <a:rPr lang="en-US" altLang="ko-KR" sz="20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𝐶</m:t>
                    </m:r>
                    <m:r>
                      <a:rPr lang="en-US" altLang="ko-KR" sz="20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nary>
                      <m:naryPr>
                        <m:chr m:val="∑"/>
                        <m:limLoc m:val="subSup"/>
                        <m:supHide m:val="on"/>
                        <m:ctrlPr>
                          <a:rPr lang="en-US" altLang="ko-KR" sz="20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naryPr>
                      <m:sub>
                        <m:r>
                          <m:rPr>
                            <m:brk m:alnAt="9"/>
                          </m:rPr>
                          <a:rPr lang="en-US" altLang="ko-KR" sz="20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𝑖</m:t>
                        </m:r>
                      </m:sub>
                      <m:sup/>
                      <m:e>
                        <m:d>
                          <m:d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sz="2000" i="1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2000" i="1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altLang="ko-KR" sz="2000" i="1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altLang="ko-KR" sz="2000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−</m:t>
                            </m:r>
                            <m:acc>
                              <m:accPr>
                                <m:chr m:val="̅"/>
                                <m:ctrlPr>
                                  <a:rPr lang="en-US" altLang="ko-KR" sz="2000" i="1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ko-KR" sz="2000" i="1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𝑧</m:t>
                                </m:r>
                              </m:e>
                            </m:acc>
                          </m:e>
                        </m:d>
                        <m:sSup>
                          <m:sSup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ko-KR" sz="2000" i="1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ko-KR" sz="2000" i="1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2000" i="1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lang="en-US" altLang="ko-KR" sz="2000" i="1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ko-KR" sz="2000" i="1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altLang="ko-KR" sz="2000" i="1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ko-KR" sz="2000" i="1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𝑧</m:t>
                                    </m:r>
                                  </m:e>
                                </m:acc>
                              </m:e>
                            </m:d>
                          </m:e>
                          <m:sup>
                            <m:r>
                              <a:rPr lang="en-US" altLang="ko-KR" sz="2000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𝑇</m:t>
                            </m:r>
                          </m:sup>
                        </m:sSup>
                        <m:r>
                          <a:rPr lang="en-US" altLang="ko-KR" sz="20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/</m:t>
                        </m:r>
                        <m:r>
                          <a:rPr lang="en-US" altLang="ko-KR" sz="20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𝑁</m:t>
                        </m:r>
                      </m:e>
                    </m:nary>
                    <m:r>
                      <a:rPr lang="en-US" altLang="ko-KR" sz="20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nary>
                      <m:naryPr>
                        <m:chr m:val="∑"/>
                        <m:limLoc m:val="subSup"/>
                        <m:supHide m:val="on"/>
                        <m:ctrlPr>
                          <a:rPr lang="en-US" altLang="ko-KR" sz="20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naryPr>
                      <m:sub>
                        <m:r>
                          <m:rPr>
                            <m:brk m:alnAt="9"/>
                          </m:rPr>
                          <a:rPr lang="en-US" altLang="ko-KR" sz="20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𝑖</m:t>
                        </m:r>
                      </m:sub>
                      <m:sup/>
                      <m:e>
                        <m:r>
                          <a:rPr lang="en-US" altLang="ko-KR" sz="2000" b="1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𝑾</m:t>
                        </m:r>
                        <m:d>
                          <m:d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sz="2000" i="1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2000" i="1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ko-KR" sz="2000" i="1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altLang="ko-KR" sz="2000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−</m:t>
                            </m:r>
                            <m:acc>
                              <m:accPr>
                                <m:chr m:val="̅"/>
                                <m:ctrlPr>
                                  <a:rPr lang="en-US" altLang="ko-KR" sz="2000" i="1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ko-KR" sz="2000" i="1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𝑥</m:t>
                                </m:r>
                              </m:e>
                            </m:acc>
                          </m:e>
                        </m:d>
                        <m:sSup>
                          <m:sSup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ko-KR" sz="2000" i="1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ko-KR" sz="2000" i="1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2000" i="1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ko-KR" sz="2000" i="1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ko-KR" sz="2000" i="1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altLang="ko-KR" sz="2000" i="1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ko-KR" sz="2000" i="1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𝑥</m:t>
                                    </m:r>
                                  </m:e>
                                </m:acc>
                              </m:e>
                            </m:d>
                          </m:e>
                          <m:sup>
                            <m:r>
                              <a:rPr lang="en-US" altLang="ko-KR" sz="2000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𝑇</m:t>
                            </m:r>
                          </m:sup>
                        </m:sSup>
                        <m:sSup>
                          <m:sSupPr>
                            <m:ctrlPr>
                              <a:rPr lang="en-US" altLang="ko-KR" sz="2000" b="1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pPr>
                          <m:e>
                            <m:r>
                              <a:rPr lang="en-US" altLang="ko-KR" sz="2000" b="1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𝑾</m:t>
                            </m:r>
                          </m:e>
                          <m:sup>
                            <m:r>
                              <a:rPr lang="en-US" altLang="ko-KR" sz="2000" b="1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𝑻</m:t>
                            </m:r>
                          </m:sup>
                        </m:sSup>
                        <m:r>
                          <a:rPr lang="en-US" altLang="ko-KR" sz="20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/</m:t>
                        </m:r>
                        <m:r>
                          <a:rPr lang="en-US" altLang="ko-KR" sz="20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𝑁</m:t>
                        </m:r>
                      </m:e>
                    </m:nary>
                  </m:oMath>
                </a14:m>
                <a:endParaRPr lang="ko-KR" altLang="en-US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3616E4A-BDA7-4296-9D70-24B725CF36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424" y="1444371"/>
                <a:ext cx="11698878" cy="4093428"/>
              </a:xfrm>
              <a:prstGeom prst="rect">
                <a:avLst/>
              </a:prstGeom>
              <a:blipFill>
                <a:blip r:embed="rId3"/>
                <a:stretch>
                  <a:fillRect l="-469" t="-745" b="-1758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29A44FA-B5B6-48E6-89F2-5CA07CD35E77}"/>
                  </a:ext>
                </a:extLst>
              </p:cNvPr>
              <p:cNvSpPr txBox="1"/>
              <p:nvPr/>
            </p:nvSpPr>
            <p:spPr>
              <a:xfrm>
                <a:off x="756284" y="2483747"/>
                <a:ext cx="922210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𝑊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𝑊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0</m:t>
                          </m:r>
                        </m:e>
                      </m:d>
                      <m:func>
                        <m:func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uncPr>
                        <m:fNam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𝑒𝑥𝑝</m:t>
                          </m:r>
                        </m:fName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(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𝑋𝑡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)</m:t>
                          </m:r>
                        </m:e>
                      </m:func>
                      <m:r>
                        <a:rPr lang="en-US" altLang="ko-KR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𝑊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0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𝑈𝑒𝑥𝑝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l-GR" altLang="ko-KR" b="1" i="1" smtClean="0">
                              <a:solidFill>
                                <a:srgbClr val="0725B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𝜦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e>
                      </m:d>
                      <m:sSup>
                        <m:sSup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p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𝑈</m:t>
                          </m:r>
                        </m:e>
                        <m:sup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en-US" altLang="ko-KR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29A44FA-B5B6-48E6-89F2-5CA07CD35E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6284" y="2483747"/>
                <a:ext cx="9222105" cy="369332"/>
              </a:xfrm>
              <a:prstGeom prst="rect">
                <a:avLst/>
              </a:prstGeom>
              <a:blipFill>
                <a:blip r:embed="rId4"/>
                <a:stretch>
                  <a:fillRect b="-1639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8D3EEB1-AEBA-40F2-A753-DB23E47BCC4F}"/>
                  </a:ext>
                </a:extLst>
              </p:cNvPr>
              <p:cNvSpPr txBox="1"/>
              <p:nvPr/>
            </p:nvSpPr>
            <p:spPr>
              <a:xfrm>
                <a:off x="756284" y="2845994"/>
                <a:ext cx="475488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𝑋</m:t>
                    </m:r>
                    <m:r>
                      <a:rPr lang="en-US" altLang="ko-KR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lang="en-US" altLang="ko-KR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𝑈</m:t>
                    </m:r>
                    <m:sSup>
                      <m:sSupPr>
                        <m:ctrlPr>
                          <a:rPr lang="en-US" altLang="ko-KR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l-GR" altLang="ko-KR" b="1" i="1" smtClean="0">
                            <a:solidFill>
                              <a:srgbClr val="0725B9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𝜦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𝑈</m:t>
                        </m:r>
                      </m:e>
                      <m:sup>
                        <m:r>
                          <a:rPr lang="en-US" altLang="ko-KR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𝑇</m:t>
                        </m:r>
                      </m:sup>
                    </m:sSup>
                  </m:oMath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8D3EEB1-AEBA-40F2-A753-DB23E47BCC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6284" y="2845994"/>
                <a:ext cx="4754880" cy="369332"/>
              </a:xfrm>
              <a:prstGeom prst="rect">
                <a:avLst/>
              </a:prstGeom>
              <a:blipFill>
                <a:blip r:embed="rId5"/>
                <a:stretch>
                  <a:fillRect l="-769" t="-1667" b="-2333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018451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Box 32">
            <a:extLst>
              <a:ext uri="{FF2B5EF4-FFF2-40B4-BE49-F238E27FC236}">
                <a16:creationId xmlns:a16="http://schemas.microsoft.com/office/drawing/2014/main" id="{2D2463F9-0C95-4C21-8506-281686CFFD15}"/>
              </a:ext>
            </a:extLst>
          </p:cNvPr>
          <p:cNvSpPr txBox="1"/>
          <p:nvPr/>
        </p:nvSpPr>
        <p:spPr>
          <a:xfrm>
            <a:off x="678485" y="2769348"/>
            <a:ext cx="10835029" cy="10016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4500" b="1" i="1" dirty="0">
                <a:latin typeface="Arial" panose="020B0604020202020204" pitchFamily="34" charset="0"/>
                <a:cs typeface="Arial" panose="020B0604020202020204" pitchFamily="34" charset="0"/>
              </a:rPr>
              <a:t>Question</a:t>
            </a:r>
          </a:p>
        </p:txBody>
      </p:sp>
    </p:spTree>
    <p:extLst>
      <p:ext uri="{BB962C8B-B14F-4D97-AF65-F5344CB8AC3E}">
        <p14:creationId xmlns:p14="http://schemas.microsoft.com/office/powerpoint/2010/main" val="17477109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>
            <a:extLst>
              <a:ext uri="{FF2B5EF4-FFF2-40B4-BE49-F238E27FC236}">
                <a16:creationId xmlns:a16="http://schemas.microsoft.com/office/drawing/2014/main" id="{27E24DCE-D15E-451A-95AD-AFF3A0E82E25}"/>
              </a:ext>
            </a:extLst>
          </p:cNvPr>
          <p:cNvSpPr txBox="1"/>
          <p:nvPr/>
        </p:nvSpPr>
        <p:spPr>
          <a:xfrm>
            <a:off x="243442" y="497349"/>
            <a:ext cx="1008927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i="1" dirty="0">
                <a:solidFill>
                  <a:srgbClr val="0E4A8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Implicit Regularization</a:t>
            </a:r>
            <a:endParaRPr lang="ko-KR" altLang="en-US" sz="3200" b="1" i="1" dirty="0">
              <a:solidFill>
                <a:srgbClr val="0E4A8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1E30014-0A9F-494B-8160-F852844B49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1C0072-4DC1-48CC-BEBD-0B21D41EF312}" type="slidenum">
              <a:rPr lang="ko-KR" altLang="en-US" smtClean="0"/>
              <a:t>17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D5F32AF-4D6B-45CD-979D-0E33785C1365}"/>
                  </a:ext>
                </a:extLst>
              </p:cNvPr>
              <p:cNvSpPr txBox="1"/>
              <p:nvPr/>
            </p:nvSpPr>
            <p:spPr>
              <a:xfrm>
                <a:off x="211424" y="1444371"/>
                <a:ext cx="11698878" cy="34778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ko-KR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The first scenario is usually hard to happen</a:t>
                </a:r>
              </a:p>
              <a:p>
                <a:pPr marL="800100" lvl="1" indent="-342900">
                  <a:buFont typeface="Wingdings" panose="05000000000000000000" pitchFamily="2" charset="2"/>
                  <a:buChar char="ü"/>
                </a:pPr>
                <a:r>
                  <a:rPr lang="en-US" altLang="ko-KR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Only with strong augmentation</a:t>
                </a:r>
              </a:p>
              <a:p>
                <a:pPr marL="800100" lvl="1" indent="-342900">
                  <a:buFont typeface="Wingdings" panose="05000000000000000000" pitchFamily="2" charset="2"/>
                  <a:buChar char="ü"/>
                </a:pPr>
                <a:r>
                  <a:rPr lang="en-US" altLang="ko-KR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Assumes single layer</a:t>
                </a:r>
              </a:p>
              <a:p>
                <a:pPr marL="342900" indent="-342900">
                  <a:buFont typeface="Wingdings" panose="05000000000000000000" pitchFamily="2" charset="2"/>
                  <a:buChar char="ü"/>
                </a:pPr>
                <a:endParaRPr lang="en-US" altLang="ko-KR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ko-KR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Even with small augmentation, dimensional collapse still happens for deep network</a:t>
                </a:r>
              </a:p>
              <a:p>
                <a:pPr marL="800100" lvl="1" indent="-342900">
                  <a:buFont typeface="Wingdings" panose="05000000000000000000" pitchFamily="2" charset="2"/>
                  <a:buChar char="ü"/>
                </a:pPr>
                <a:r>
                  <a:rPr lang="en-US" altLang="ko-KR" sz="2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Implicit regularization</a:t>
                </a:r>
              </a:p>
              <a:p>
                <a:pPr marL="800100" lvl="1" indent="-342900">
                  <a:buFont typeface="Wingdings" panose="05000000000000000000" pitchFamily="2" charset="2"/>
                  <a:buChar char="ü"/>
                </a:pPr>
                <a:r>
                  <a:rPr lang="en-US" altLang="ko-KR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Over-parameterized linear network fine low-rank </a:t>
                </a:r>
                <a14:m>
                  <m:oMath xmlns:m="http://schemas.openxmlformats.org/officeDocument/2006/math">
                    <m:r>
                      <a:rPr lang="en-US" altLang="ko-KR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𝐶</m:t>
                    </m:r>
                  </m:oMath>
                </a14:m>
                <a:endParaRPr lang="en-US" altLang="ko-KR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800100" lvl="1" indent="-342900">
                  <a:buFont typeface="Wingdings" panose="05000000000000000000" pitchFamily="2" charset="2"/>
                  <a:buChar char="ü"/>
                </a:pPr>
                <a:endParaRPr lang="en-US" altLang="ko-KR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ko-KR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Assume two-layer linear MLP</a:t>
                </a:r>
              </a:p>
              <a:p>
                <a:pPr marL="342900" indent="-342900">
                  <a:buFont typeface="Wingdings" panose="05000000000000000000" pitchFamily="2" charset="2"/>
                  <a:buChar char="ü"/>
                </a:pPr>
                <a:endParaRPr lang="en-US" altLang="ko-KR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800100" lvl="1" indent="-342900">
                  <a:buFont typeface="Wingdings" panose="05000000000000000000" pitchFamily="2" charset="2"/>
                  <a:buChar char="ü"/>
                </a:pPr>
                <a:endParaRPr lang="en-US" altLang="ko-KR" sz="20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D5F32AF-4D6B-45CD-979D-0E33785C13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424" y="1444371"/>
                <a:ext cx="11698878" cy="3477875"/>
              </a:xfrm>
              <a:prstGeom prst="rect">
                <a:avLst/>
              </a:prstGeom>
              <a:blipFill>
                <a:blip r:embed="rId3"/>
                <a:stretch>
                  <a:fillRect l="-469" t="-87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그림 8">
            <a:extLst>
              <a:ext uri="{FF2B5EF4-FFF2-40B4-BE49-F238E27FC236}">
                <a16:creationId xmlns:a16="http://schemas.microsoft.com/office/drawing/2014/main" id="{16E56B79-ECF1-4BD9-9E76-30CE7743A4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024" y="4498323"/>
            <a:ext cx="4680057" cy="1962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90012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>
            <a:extLst>
              <a:ext uri="{FF2B5EF4-FFF2-40B4-BE49-F238E27FC236}">
                <a16:creationId xmlns:a16="http://schemas.microsoft.com/office/drawing/2014/main" id="{27E24DCE-D15E-451A-95AD-AFF3A0E82E25}"/>
              </a:ext>
            </a:extLst>
          </p:cNvPr>
          <p:cNvSpPr txBox="1"/>
          <p:nvPr/>
        </p:nvSpPr>
        <p:spPr>
          <a:xfrm>
            <a:off x="243442" y="497349"/>
            <a:ext cx="1008927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i="1" dirty="0">
                <a:solidFill>
                  <a:srgbClr val="0E4A8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Implicit Regularization</a:t>
            </a:r>
            <a:endParaRPr lang="ko-KR" altLang="en-US" sz="3200" b="1" i="1" dirty="0">
              <a:solidFill>
                <a:srgbClr val="0E4A8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1E30014-0A9F-494B-8160-F852844B49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1C0072-4DC1-48CC-BEBD-0B21D41EF312}" type="slidenum">
              <a:rPr lang="ko-KR" altLang="en-US" smtClean="0"/>
              <a:t>18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D5F32AF-4D6B-45CD-979D-0E33785C1365}"/>
                  </a:ext>
                </a:extLst>
              </p:cNvPr>
              <p:cNvSpPr txBox="1"/>
              <p:nvPr/>
            </p:nvSpPr>
            <p:spPr>
              <a:xfrm>
                <a:off x="211424" y="1444371"/>
                <a:ext cx="11698878" cy="40934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ko-KR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Gradient which evolves weight matrix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𝑊</m:t>
                        </m:r>
                      </m:e>
                      <m:sub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ko-KR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𝑊</m:t>
                        </m:r>
                      </m:e>
                      <m:sub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ko-KR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is as follows: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altLang="ko-KR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altLang="ko-KR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altLang="ko-KR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altLang="ko-KR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altLang="ko-KR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altLang="ko-KR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ko-KR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Interaction between two weight matrix is the key</a:t>
                </a:r>
              </a:p>
              <a:p>
                <a:pPr marL="800100" lvl="1" indent="-342900">
                  <a:buFont typeface="Wingdings" panose="05000000000000000000" pitchFamily="2" charset="2"/>
                  <a:buChar char="ü"/>
                </a:pPr>
                <a:r>
                  <a:rPr lang="en-US" altLang="ko-KR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Governed by adjacent orthonormal matrices</a:t>
                </a:r>
              </a:p>
              <a:p>
                <a:pPr marL="800100" lvl="1" indent="-342900">
                  <a:buFont typeface="Wingdings" panose="05000000000000000000" pitchFamily="2" charset="2"/>
                  <a:buChar char="ü"/>
                </a:pPr>
                <a:endParaRPr lang="en-US" altLang="ko-KR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800100" lvl="1" indent="-342900">
                  <a:buFont typeface="Wingdings" panose="05000000000000000000" pitchFamily="2" charset="2"/>
                  <a:buChar char="ü"/>
                </a:pPr>
                <a:endParaRPr lang="en-US" altLang="ko-KR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altLang="ko-KR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altLang="ko-KR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D5F32AF-4D6B-45CD-979D-0E33785C13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424" y="1444371"/>
                <a:ext cx="11698878" cy="4093428"/>
              </a:xfrm>
              <a:prstGeom prst="rect">
                <a:avLst/>
              </a:prstGeom>
              <a:blipFill>
                <a:blip r:embed="rId3"/>
                <a:stretch>
                  <a:fillRect l="-469" t="-74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그룹 8">
            <a:extLst>
              <a:ext uri="{FF2B5EF4-FFF2-40B4-BE49-F238E27FC236}">
                <a16:creationId xmlns:a16="http://schemas.microsoft.com/office/drawing/2014/main" id="{B073791F-3183-4C04-BAF6-CB388ED88E04}"/>
              </a:ext>
            </a:extLst>
          </p:cNvPr>
          <p:cNvGrpSpPr/>
          <p:nvPr/>
        </p:nvGrpSpPr>
        <p:grpSpPr>
          <a:xfrm>
            <a:off x="756284" y="1930340"/>
            <a:ext cx="4834890" cy="1380476"/>
            <a:chOff x="756284" y="2478980"/>
            <a:chExt cx="4834890" cy="138047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7BF0FB2E-E70C-4A3F-9403-4171578C375A}"/>
                    </a:ext>
                  </a:extLst>
                </p:cNvPr>
                <p:cNvSpPr txBox="1"/>
                <p:nvPr/>
              </p:nvSpPr>
              <p:spPr>
                <a:xfrm>
                  <a:off x="756284" y="2478980"/>
                  <a:ext cx="1138452" cy="56682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ko-KR" b="0" i="0" smtClean="0">
                            <a:latin typeface="Cambria Math" panose="02040503050406030204" pitchFamily="18" charset="0"/>
                          </a:rPr>
                          <m:t>=</m:t>
                        </m:r>
                        <m:sSubSup>
                          <m:sSubSup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 altLang="ko-KR" b="0" i="0" smtClean="0">
                                <a:latin typeface="Cambria Math" panose="02040503050406030204" pitchFamily="18" charset="0"/>
                              </a:rPr>
                              <m:t>W</m:t>
                            </m:r>
                          </m:e>
                          <m:sub>
                            <m:r>
                              <a:rPr lang="en-US" altLang="ko-KR" b="0" i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m:rPr>
                                <m:sty m:val="p"/>
                              </m:rPr>
                              <a:rPr lang="en-US" altLang="ko-KR" b="0" i="0" smtClean="0">
                                <a:latin typeface="Cambria Math" panose="02040503050406030204" pitchFamily="18" charset="0"/>
                              </a:rPr>
                              <m:t>T</m:t>
                            </m:r>
                          </m:sup>
                        </m:sSubSup>
                        <m:r>
                          <m:rPr>
                            <m:sty m:val="p"/>
                          </m:rPr>
                          <a:rPr lang="en-US" altLang="ko-KR" b="0" i="0" smtClean="0">
                            <a:latin typeface="Cambria Math" panose="02040503050406030204" pitchFamily="18" charset="0"/>
                          </a:rPr>
                          <m:t>G</m:t>
                        </m:r>
                      </m:oMath>
                    </m:oMathPara>
                  </a14:m>
                  <a:endParaRPr lang="en-US" altLang="ko-KR" b="0" dirty="0"/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  <m:sSubSup>
                          <m:sSubSup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bSup>
                      </m:oMath>
                    </m:oMathPara>
                  </a14:m>
                  <a:endParaRPr lang="ko-KR" altLang="en-US" dirty="0"/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7BF0FB2E-E70C-4A3F-9403-4171578C375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6284" y="2478980"/>
                  <a:ext cx="1138452" cy="566822"/>
                </a:xfrm>
                <a:prstGeom prst="rect">
                  <a:avLst/>
                </a:prstGeom>
                <a:blipFill>
                  <a:blip r:embed="rId4"/>
                  <a:stretch>
                    <a:fillRect l="-2674" t="-1075" r="-2139" b="-9677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03946CA6-49D5-4D12-99DB-A0C95E13876B}"/>
                    </a:ext>
                  </a:extLst>
                </p:cNvPr>
                <p:cNvSpPr txBox="1"/>
                <p:nvPr/>
              </p:nvSpPr>
              <p:spPr>
                <a:xfrm>
                  <a:off x="756284" y="3075587"/>
                  <a:ext cx="4834890" cy="78386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285750" indent="-285750">
                    <a:buFont typeface="Wingdings" panose="05000000000000000000" pitchFamily="2" charset="2"/>
                    <a:buChar char="§"/>
                  </a:pPr>
                  <a14:m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=−</m:t>
                      </m:r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lang="en-US" altLang="ko-KR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9"/>
                            </m:rPr>
                            <a:rPr lang="en-US" altLang="ko-KR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𝑖</m:t>
                          </m:r>
                        </m:sub>
                        <m:sup/>
                        <m:e>
                          <m:d>
                            <m:d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𝑔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altLang="ko-KR" i="1"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𝑧</m:t>
                                      </m:r>
                                    </m:e>
                                    <m:sub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sub>
                              </m:sSub>
                              <m:sSubSup>
                                <m:sSubSup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𝑇</m:t>
                                  </m:r>
                                </m:sup>
                              </m:sSubSup>
                              <m:r>
                                <a:rPr lang="en-US" altLang="ko-KR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sSup>
                                    <m:sSupPr>
                                      <m:ctrlPr>
                                        <a:rPr lang="en-US" altLang="ko-KR" i="1"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𝑔</m:t>
                                      </m:r>
                                    </m:e>
                                    <m:sup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altLang="ko-KR" i="1"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𝑧</m:t>
                                      </m:r>
                                    </m:e>
                                    <m:sub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sub>
                              </m:sSub>
                              <m:sSubSup>
                                <m:sSubSup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SupPr>
                                <m:e>
                                  <m:sSup>
                                    <m:sSupPr>
                                      <m:ctrlPr>
                                        <a:rPr lang="en-US" altLang="ko-KR" i="1"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e>
                                <m:sub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𝑇</m:t>
                                  </m:r>
                                </m:sup>
                              </m:sSubSup>
                            </m:e>
                          </m:d>
                        </m:e>
                      </m:nary>
                    </m:oMath>
                  </a14:m>
                  <a:endParaRPr lang="en-US" altLang="ko-KR" dirty="0"/>
                </a:p>
                <a:p>
                  <a:pPr marL="285750" indent="-285750">
                    <a:buFont typeface="Wingdings" panose="05000000000000000000" pitchFamily="2" charset="2"/>
                    <a:buChar char="§"/>
                  </a:pPr>
                  <a14:m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=−</m:t>
                      </m:r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𝑋</m:t>
                      </m:r>
                    </m:oMath>
                  </a14:m>
                  <a:endParaRPr lang="ko-KR" altLang="en-US" dirty="0"/>
                </a:p>
              </p:txBody>
            </p:sp>
          </mc:Choice>
          <mc:Fallback xmlns="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03946CA6-49D5-4D12-99DB-A0C95E13876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6284" y="3075587"/>
                  <a:ext cx="4834890" cy="783869"/>
                </a:xfrm>
                <a:prstGeom prst="rect">
                  <a:avLst/>
                </a:prstGeom>
                <a:blipFill>
                  <a:blip r:embed="rId5"/>
                  <a:stretch>
                    <a:fillRect l="-757" t="-47656" b="-44531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3BB69C3-2AEC-4D77-8105-8AE45B929C30}"/>
                  </a:ext>
                </a:extLst>
              </p:cNvPr>
              <p:cNvSpPr txBox="1"/>
              <p:nvPr/>
            </p:nvSpPr>
            <p:spPr>
              <a:xfrm>
                <a:off x="756284" y="4393392"/>
                <a:ext cx="2783583" cy="29354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sSubSup>
                                <m:sSubSup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sSub>
                                    <m:sSubPr>
                                      <m:ctrlP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𝑈</m:t>
                                      </m:r>
                                    </m:e>
                                    <m:sub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en-US" altLang="ko-KR" b="1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𝑽</m:t>
                                  </m:r>
                                </m:e>
                                <m:sub>
                                  <m:r>
                                    <a:rPr lang="en-US" altLang="ko-KR" b="1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  <m:sup>
                                  <m:r>
                                    <a:rPr lang="en-US" altLang="ko-KR" b="1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bSup>
                              <m:r>
                                <a:rPr lang="en-US" altLang="ko-KR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𝑼</m:t>
                              </m:r>
                            </m:e>
                            <m:sub>
                              <m:r>
                                <a:rPr lang="en-US" altLang="ko-KR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𝑋</m:t>
                      </m:r>
                    </m:oMath>
                  </m:oMathPara>
                </a14:m>
                <a:endParaRPr lang="en-US" altLang="ko-KR" b="0" i="1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3BB69C3-2AEC-4D77-8105-8AE45B929C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6284" y="4393392"/>
                <a:ext cx="2783583" cy="293542"/>
              </a:xfrm>
              <a:prstGeom prst="rect">
                <a:avLst/>
              </a:prstGeom>
              <a:blipFill>
                <a:blip r:embed="rId6"/>
                <a:stretch>
                  <a:fillRect l="-875" t="-2083" r="-1094" b="-2083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274B34F-DED4-48ED-B994-34C15283FCC9}"/>
                  </a:ext>
                </a:extLst>
              </p:cNvPr>
              <p:cNvSpPr txBox="1"/>
              <p:nvPr/>
            </p:nvSpPr>
            <p:spPr>
              <a:xfrm>
                <a:off x="756284" y="4797322"/>
                <a:ext cx="7040880" cy="12359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v"/>
                </a:pPr>
                <a:r>
                  <a:rPr lang="en-US" altLang="ko-KR" b="1" dirty="0"/>
                  <a:t>Theorem 2</a:t>
                </a:r>
              </a:p>
              <a:p>
                <a:r>
                  <a:rPr lang="en-US" altLang="ko-KR" dirty="0"/>
                  <a:t>If for all t,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≠0, 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</m:t>
                    </m:r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ko-KR" altLang="en-US" dirty="0"/>
                  <a:t> </a:t>
                </a:r>
                <a:r>
                  <a:rPr lang="en-US" altLang="ko-KR" dirty="0"/>
                  <a:t>is positive-definite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+∞</m:t>
                        </m:r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i="1">
                        <a:latin typeface="Cambria Math" panose="02040503050406030204" pitchFamily="18" charset="0"/>
                      </a:rPr>
                      <m:t>(+∞)</m:t>
                    </m:r>
                  </m:oMath>
                </a14:m>
                <a:r>
                  <a:rPr lang="ko-KR" altLang="en-US" dirty="0"/>
                  <a:t> </a:t>
                </a:r>
                <a:r>
                  <a:rPr lang="en-US" altLang="ko-KR" dirty="0"/>
                  <a:t>have distinctive singular values, then the alignment matrix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Sup>
                          <m:sSubSupPr>
                            <m:ctrlPr>
                              <a:rPr lang="en-US" altLang="ko-KR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ko-KR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𝑽</m:t>
                            </m:r>
                          </m:e>
                          <m:sub>
                            <m:r>
                              <a:rPr lang="en-US" altLang="ko-KR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  <m:sup>
                            <m:r>
                              <a:rPr lang="en-US" altLang="ko-KR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𝑻</m:t>
                            </m:r>
                          </m:sup>
                        </m:sSubSup>
                        <m:sSub>
                          <m:sSubPr>
                            <m:ctrlPr>
                              <a:rPr lang="en-US" altLang="ko-KR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𝑼</m:t>
                            </m:r>
                          </m:e>
                          <m:sub>
                            <m:r>
                              <a:rPr lang="en-US" altLang="ko-KR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274B34F-DED4-48ED-B994-34C15283FC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6284" y="4797322"/>
                <a:ext cx="7040880" cy="1235979"/>
              </a:xfrm>
              <a:prstGeom prst="rect">
                <a:avLst/>
              </a:prstGeom>
              <a:blipFill>
                <a:blip r:embed="rId7"/>
                <a:stretch>
                  <a:fillRect l="-693" t="-2956" b="-492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5" name="그룹 14">
            <a:extLst>
              <a:ext uri="{FF2B5EF4-FFF2-40B4-BE49-F238E27FC236}">
                <a16:creationId xmlns:a16="http://schemas.microsoft.com/office/drawing/2014/main" id="{ECC2E447-ED9F-4F12-ABB3-308E3FC7C449}"/>
              </a:ext>
            </a:extLst>
          </p:cNvPr>
          <p:cNvGrpSpPr/>
          <p:nvPr/>
        </p:nvGrpSpPr>
        <p:grpSpPr>
          <a:xfrm>
            <a:off x="7380951" y="3485334"/>
            <a:ext cx="3299460" cy="2683907"/>
            <a:chOff x="7849581" y="3246084"/>
            <a:chExt cx="3299460" cy="2683907"/>
          </a:xfrm>
        </p:grpSpPr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1781B8DD-0F94-4A16-B6BF-36CCAB812B2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8342024" y="3246084"/>
              <a:ext cx="2314575" cy="2314575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4FCE5F24-B20B-42D5-8122-44FC738E230C}"/>
                    </a:ext>
                  </a:extLst>
                </p:cNvPr>
                <p:cNvSpPr txBox="1"/>
                <p:nvPr/>
              </p:nvSpPr>
              <p:spPr>
                <a:xfrm>
                  <a:off x="7849581" y="5560659"/>
                  <a:ext cx="329946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ko-KR" dirty="0"/>
                    <a:t>&lt;Visualization of Matrix </a:t>
                  </a:r>
                  <a14:m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a14:m>
                  <a:r>
                    <a:rPr lang="en-US" altLang="ko-KR" dirty="0"/>
                    <a:t>&gt;</a:t>
                  </a:r>
                  <a:endParaRPr lang="ko-KR" altLang="en-US" dirty="0"/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4FCE5F24-B20B-42D5-8122-44FC738E230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49581" y="5560659"/>
                  <a:ext cx="3299460" cy="369332"/>
                </a:xfrm>
                <a:prstGeom prst="rect">
                  <a:avLst/>
                </a:prstGeom>
                <a:blipFill>
                  <a:blip r:embed="rId9"/>
                  <a:stretch>
                    <a:fillRect t="-8197" b="-24590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6644069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>
            <a:extLst>
              <a:ext uri="{FF2B5EF4-FFF2-40B4-BE49-F238E27FC236}">
                <a16:creationId xmlns:a16="http://schemas.microsoft.com/office/drawing/2014/main" id="{27E24DCE-D15E-451A-95AD-AFF3A0E82E25}"/>
              </a:ext>
            </a:extLst>
          </p:cNvPr>
          <p:cNvSpPr txBox="1"/>
          <p:nvPr/>
        </p:nvSpPr>
        <p:spPr>
          <a:xfrm>
            <a:off x="243442" y="497349"/>
            <a:ext cx="1008927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i="1" dirty="0">
                <a:solidFill>
                  <a:srgbClr val="0E4A8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Implicit Regularization</a:t>
            </a:r>
            <a:endParaRPr lang="ko-KR" altLang="en-US" sz="3200" b="1" i="1" dirty="0">
              <a:solidFill>
                <a:srgbClr val="0E4A8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1E30014-0A9F-494B-8160-F852844B49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1C0072-4DC1-48CC-BEBD-0B21D41EF312}" type="slidenum">
              <a:rPr lang="ko-KR" altLang="en-US" smtClean="0"/>
              <a:t>19</a:t>
            </a:fld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D5F32AF-4D6B-45CD-979D-0E33785C1365}"/>
              </a:ext>
            </a:extLst>
          </p:cNvPr>
          <p:cNvSpPr txBox="1"/>
          <p:nvPr/>
        </p:nvSpPr>
        <p:spPr>
          <a:xfrm>
            <a:off x="211424" y="1444371"/>
            <a:ext cx="11698878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000" dirty="0">
                <a:latin typeface="Arial" panose="020B0604020202020204" pitchFamily="34" charset="0"/>
                <a:cs typeface="Arial" panose="020B0604020202020204" pitchFamily="34" charset="0"/>
              </a:rPr>
              <a:t>In Real scenario,</a:t>
            </a:r>
          </a:p>
          <a:p>
            <a:pPr marL="800100" lvl="1" indent="-342900">
              <a:buFont typeface="Wingdings" panose="05000000000000000000" pitchFamily="2" charset="2"/>
              <a:buChar char="ü"/>
            </a:pPr>
            <a:r>
              <a:rPr lang="en-US" altLang="ko-KR" sz="2000" dirty="0">
                <a:latin typeface="Arial" panose="020B0604020202020204" pitchFamily="34" charset="0"/>
                <a:cs typeface="Arial" panose="020B0604020202020204" pitchFamily="34" charset="0"/>
              </a:rPr>
              <a:t>Singular value initialized with random value</a:t>
            </a:r>
          </a:p>
          <a:p>
            <a:pPr marL="800100" lvl="1" indent="-342900">
              <a:buFont typeface="Wingdings" panose="05000000000000000000" pitchFamily="2" charset="2"/>
              <a:buChar char="ü"/>
            </a:pPr>
            <a:r>
              <a:rPr lang="en-US" altLang="ko-KR" sz="2000" dirty="0">
                <a:latin typeface="Arial" panose="020B0604020202020204" pitchFamily="34" charset="0"/>
                <a:cs typeface="Arial" panose="020B0604020202020204" pitchFamily="34" charset="0"/>
              </a:rPr>
              <a:t>Alignment is not perfect</a:t>
            </a:r>
          </a:p>
          <a:p>
            <a:pPr marL="800100" lvl="1" indent="-342900">
              <a:buFont typeface="Wingdings" panose="05000000000000000000" pitchFamily="2" charset="2"/>
              <a:buChar char="ü"/>
            </a:pPr>
            <a:r>
              <a:rPr lang="en-US" altLang="ko-KR" sz="2000" dirty="0">
                <a:latin typeface="Arial" panose="020B0604020202020204" pitchFamily="34" charset="0"/>
                <a:cs typeface="Arial" panose="020B0604020202020204" pitchFamily="34" charset="0"/>
              </a:rPr>
              <a:t>Alignment matrix is </a:t>
            </a:r>
            <a:r>
              <a:rPr lang="en-US" altLang="ko-KR" sz="2000" b="1" i="1" dirty="0">
                <a:latin typeface="Arial" panose="020B0604020202020204" pitchFamily="34" charset="0"/>
                <a:cs typeface="Arial" panose="020B0604020202020204" pitchFamily="34" charset="0"/>
              </a:rPr>
              <a:t>block</a:t>
            </a:r>
            <a:r>
              <a:rPr lang="en-US" altLang="ko-KR" sz="2000" i="1" dirty="0">
                <a:latin typeface="Arial" panose="020B0604020202020204" pitchFamily="34" charset="0"/>
                <a:cs typeface="Arial" panose="020B0604020202020204" pitchFamily="34" charset="0"/>
              </a:rPr>
              <a:t>-diagonal matrix</a:t>
            </a:r>
          </a:p>
          <a:p>
            <a:pPr marL="800100" lvl="1" indent="-342900">
              <a:buFont typeface="Wingdings" panose="05000000000000000000" pitchFamily="2" charset="2"/>
              <a:buChar char="ü"/>
            </a:pPr>
            <a:r>
              <a:rPr lang="en-US" altLang="ko-KR" sz="2000" i="1" dirty="0">
                <a:latin typeface="Arial" panose="020B0604020202020204" pitchFamily="34" charset="0"/>
                <a:cs typeface="Arial" panose="020B0604020202020204" pitchFamily="34" charset="0"/>
              </a:rPr>
              <a:t>Each </a:t>
            </a:r>
            <a:r>
              <a:rPr lang="en-US" altLang="ko-KR" sz="2000" b="1" i="1" dirty="0">
                <a:latin typeface="Arial" panose="020B0604020202020204" pitchFamily="34" charset="0"/>
                <a:cs typeface="Arial" panose="020B0604020202020204" pitchFamily="34" charset="0"/>
              </a:rPr>
              <a:t>block</a:t>
            </a:r>
            <a:r>
              <a:rPr lang="en-US" altLang="ko-KR" sz="2000" i="1" dirty="0">
                <a:latin typeface="Arial" panose="020B0604020202020204" pitchFamily="34" charset="0"/>
                <a:cs typeface="Arial" panose="020B0604020202020204" pitchFamily="34" charset="0"/>
              </a:rPr>
              <a:t> is a group of </a:t>
            </a:r>
            <a:r>
              <a:rPr lang="en-US" altLang="ko-KR" sz="2000" b="1" i="1" dirty="0">
                <a:latin typeface="Arial" panose="020B0604020202020204" pitchFamily="34" charset="0"/>
                <a:cs typeface="Arial" panose="020B0604020202020204" pitchFamily="34" charset="0"/>
              </a:rPr>
              <a:t>degenerate</a:t>
            </a:r>
            <a:r>
              <a:rPr lang="en-US" altLang="ko-KR" sz="2000" i="1" dirty="0">
                <a:latin typeface="Arial" panose="020B0604020202020204" pitchFamily="34" charset="0"/>
                <a:cs typeface="Arial" panose="020B0604020202020204" pitchFamily="34" charset="0"/>
              </a:rPr>
              <a:t> singular value</a:t>
            </a:r>
          </a:p>
          <a:p>
            <a:endParaRPr lang="en-US" altLang="ko-KR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000" dirty="0">
                <a:latin typeface="Arial" panose="020B0604020202020204" pitchFamily="34" charset="0"/>
                <a:cs typeface="Arial" panose="020B0604020202020204" pitchFamily="34" charset="0"/>
              </a:rPr>
              <a:t>Singular values of each weight matrix evolves by the values as follows: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0100" lvl="1" indent="-342900">
              <a:buFont typeface="Wingdings" panose="05000000000000000000" pitchFamily="2" charset="2"/>
              <a:buChar char="ü"/>
            </a:pPr>
            <a:endParaRPr lang="en-US" altLang="ko-KR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408DFCF-DA8E-4787-A105-5CAF7481CDC2}"/>
                  </a:ext>
                </a:extLst>
              </p:cNvPr>
              <p:cNvSpPr txBox="1"/>
              <p:nvPr/>
            </p:nvSpPr>
            <p:spPr>
              <a:xfrm>
                <a:off x="756284" y="3766889"/>
                <a:ext cx="5129546" cy="41825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̇"/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</m:acc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bSup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bSup>
                      <m:sSup>
                        <m:sSup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Sup>
                                <m:sSubSupPr>
                                  <m:ctrlP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p>
                              </m:sSubSup>
                            </m:e>
                            <m:sup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sSubSup>
                            <m:sSubSup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bSup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,</m:t>
                      </m:r>
                      <m:sSubSup>
                        <m:sSubSup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̇"/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</m:acc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bSup>
                      <m:r>
                        <a:rPr lang="en-US" altLang="ko-KR" i="1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bSup>
                      <m:sSup>
                        <m:sSup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d>
                        <m:d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Sup>
                                <m:sSubSup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p>
                              </m:sSubSup>
                            </m:e>
                            <m:sup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𝑋</m:t>
                          </m:r>
                          <m:sSubSup>
                            <m:sSubSup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en-US" altLang="ko-KR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408DFCF-DA8E-4787-A105-5CAF7481CD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6284" y="3766889"/>
                <a:ext cx="5129546" cy="41825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61AD5D8-BC1A-4018-8786-FE3AC1919541}"/>
                  </a:ext>
                </a:extLst>
              </p:cNvPr>
              <p:cNvSpPr txBox="1"/>
              <p:nvPr/>
            </p:nvSpPr>
            <p:spPr>
              <a:xfrm>
                <a:off x="756284" y="4274813"/>
                <a:ext cx="2966838" cy="41825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̇"/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</m:acc>
                        </m:e>
                        <m:sub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bSup>
                      <m:r>
                        <a:rPr lang="en-US" altLang="ko-KR" i="1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bSup>
                      <m:sSup>
                        <m:sSup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p>
                              </m:sSubSup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</m:d>
                        </m:e>
                        <m:sup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d>
                        <m:d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Sup>
                                <m:sSubSup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p>
                              </m:sSubSup>
                            </m:e>
                            <m:sup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𝑋</m:t>
                          </m:r>
                          <m:sSubSup>
                            <m:sSubSup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61AD5D8-BC1A-4018-8786-FE3AC19195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6284" y="4274813"/>
                <a:ext cx="2966838" cy="418256"/>
              </a:xfrm>
              <a:prstGeom prst="rect">
                <a:avLst/>
              </a:prstGeom>
              <a:blipFill>
                <a:blip r:embed="rId4"/>
                <a:stretch>
                  <a:fillRect l="-20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422909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>
            <a:extLst>
              <a:ext uri="{FF2B5EF4-FFF2-40B4-BE49-F238E27FC236}">
                <a16:creationId xmlns:a16="http://schemas.microsoft.com/office/drawing/2014/main" id="{27E24DCE-D15E-451A-95AD-AFF3A0E82E25}"/>
              </a:ext>
            </a:extLst>
          </p:cNvPr>
          <p:cNvSpPr txBox="1"/>
          <p:nvPr/>
        </p:nvSpPr>
        <p:spPr>
          <a:xfrm>
            <a:off x="243442" y="497349"/>
            <a:ext cx="1008927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i="1" dirty="0">
                <a:solidFill>
                  <a:srgbClr val="0E4A8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Implicit Regularization</a:t>
            </a:r>
            <a:endParaRPr lang="ko-KR" altLang="en-US" sz="3200" b="1" i="1" dirty="0">
              <a:solidFill>
                <a:srgbClr val="0E4A8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1E30014-0A9F-494B-8160-F852844B49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1C0072-4DC1-48CC-BEBD-0B21D41EF312}" type="slidenum">
              <a:rPr lang="ko-KR" altLang="en-US" smtClean="0"/>
              <a:t>20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D5F32AF-4D6B-45CD-979D-0E33785C1365}"/>
                  </a:ext>
                </a:extLst>
              </p:cNvPr>
              <p:cNvSpPr txBox="1"/>
              <p:nvPr/>
            </p:nvSpPr>
            <p:spPr>
              <a:xfrm>
                <a:off x="211424" y="1444371"/>
                <a:ext cx="11698878" cy="22595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ko-KR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Singular values grows proportional to themselves</a:t>
                </a:r>
              </a:p>
              <a:p>
                <a:pPr marL="800100" lvl="1" indent="-342900">
                  <a:buFont typeface="Wingdings" panose="05000000000000000000" pitchFamily="2" charset="2"/>
                  <a:buChar char="ü"/>
                </a:pPr>
                <a:r>
                  <a:rPr lang="en-US" altLang="ko-KR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Small singular values grow significantly slower</a:t>
                </a:r>
              </a:p>
              <a:p>
                <a:pPr marL="800100" lvl="1" indent="-342900">
                  <a:buFont typeface="Wingdings" panose="05000000000000000000" pitchFamily="2" charset="2"/>
                  <a:buChar char="ü"/>
                </a:pPr>
                <a:endParaRPr lang="en-US" altLang="ko-KR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800100" lvl="1" indent="-342900">
                  <a:buFont typeface="Wingdings" panose="05000000000000000000" pitchFamily="2" charset="2"/>
                  <a:buChar char="ü"/>
                </a:pPr>
                <a:endParaRPr lang="en-US" altLang="ko-KR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ko-KR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Embedding space identified by the singular value of covariance matrix</a:t>
                </a:r>
              </a:p>
              <a:p>
                <a:pPr marL="800100" lvl="1" indent="-342900"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r>
                      <a:rPr lang="en-US" altLang="ko-KR" sz="200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𝐶</m:t>
                    </m:r>
                    <m:r>
                      <a:rPr lang="en-US" altLang="ko-KR" sz="200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nary>
                      <m:naryPr>
                        <m:chr m:val="∑"/>
                        <m:limLoc m:val="subSup"/>
                        <m:supHide m:val="on"/>
                        <m:ctrlPr>
                          <a:rPr lang="en-US" altLang="ko-KR" sz="20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naryPr>
                      <m:sub>
                        <m:r>
                          <m:rPr>
                            <m:brk m:alnAt="9"/>
                          </m:rPr>
                          <a:rPr lang="en-US" altLang="ko-KR" sz="20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𝑖</m:t>
                        </m:r>
                      </m:sub>
                      <m:sup/>
                      <m:e>
                        <m:d>
                          <m:d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sz="2000" i="1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2000" i="1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altLang="ko-KR" sz="2000" i="1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altLang="ko-KR" sz="2000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−</m:t>
                            </m:r>
                            <m:acc>
                              <m:accPr>
                                <m:chr m:val="̅"/>
                                <m:ctrlPr>
                                  <a:rPr lang="en-US" altLang="ko-KR" sz="2000" i="1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ko-KR" sz="2000" i="1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𝑧</m:t>
                                </m:r>
                              </m:e>
                            </m:acc>
                          </m:e>
                        </m:d>
                        <m:sSup>
                          <m:sSup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ko-KR" sz="2000" i="1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ko-KR" sz="2000" i="1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2000" i="1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lang="en-US" altLang="ko-KR" sz="2000" i="1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ko-KR" sz="2000" i="1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altLang="ko-KR" sz="2000" i="1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ko-KR" sz="2000" i="1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𝑧</m:t>
                                    </m:r>
                                  </m:e>
                                </m:acc>
                              </m:e>
                            </m:d>
                          </m:e>
                          <m:sup>
                            <m:r>
                              <a:rPr lang="en-US" altLang="ko-KR" sz="2000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𝑇</m:t>
                            </m:r>
                          </m:sup>
                        </m:sSup>
                        <m:r>
                          <a:rPr lang="en-US" altLang="ko-KR" sz="20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/</m:t>
                        </m:r>
                        <m:r>
                          <a:rPr lang="en-US" altLang="ko-KR" sz="20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𝑁</m:t>
                        </m:r>
                      </m:e>
                    </m:nary>
                    <m:r>
                      <a:rPr lang="en-US" altLang="ko-KR" sz="20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nary>
                      <m:naryPr>
                        <m:chr m:val="∑"/>
                        <m:limLoc m:val="subSup"/>
                        <m:supHide m:val="on"/>
                        <m:ctrlPr>
                          <a:rPr lang="en-US" altLang="ko-KR" sz="20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naryPr>
                      <m:sub>
                        <m:r>
                          <m:rPr>
                            <m:brk m:alnAt="9"/>
                          </m:rPr>
                          <a:rPr lang="en-US" altLang="ko-KR" sz="20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altLang="ko-KR" sz="2000" b="1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altLang="ko-KR" sz="2000" b="1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𝑾</m:t>
                            </m:r>
                          </m:e>
                          <m:sub>
                            <m:r>
                              <a:rPr lang="en-US" altLang="ko-KR" sz="2000" b="1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𝟐</m:t>
                            </m:r>
                          </m:sub>
                        </m:sSub>
                        <m:sSub>
                          <m:sSubPr>
                            <m:ctrlPr>
                              <a:rPr lang="en-US" altLang="ko-KR" sz="20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altLang="ko-KR" sz="2000" b="1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𝑾</m:t>
                            </m:r>
                          </m:e>
                          <m:sub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1</m:t>
                            </m:r>
                          </m:sub>
                        </m:sSub>
                        <m:d>
                          <m:d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sz="2000" i="1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2000" i="1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ko-KR" sz="2000" i="1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altLang="ko-KR" sz="2000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−</m:t>
                            </m:r>
                            <m:acc>
                              <m:accPr>
                                <m:chr m:val="̅"/>
                                <m:ctrlPr>
                                  <a:rPr lang="en-US" altLang="ko-KR" sz="2000" i="1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ko-KR" sz="2000" i="1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𝑥</m:t>
                                </m:r>
                              </m:e>
                            </m:acc>
                          </m:e>
                        </m:d>
                        <m:sSup>
                          <m:sSup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ko-KR" sz="2000" i="1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ko-KR" sz="2000" i="1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2000" i="1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ko-KR" sz="2000" i="1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ko-KR" sz="2000" i="1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altLang="ko-KR" sz="2000" i="1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ko-KR" sz="2000" i="1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𝑥</m:t>
                                    </m:r>
                                  </m:e>
                                </m:acc>
                              </m:e>
                            </m:d>
                          </m:e>
                          <m:sup>
                            <m:r>
                              <a:rPr lang="en-US" altLang="ko-KR" sz="2000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𝑇</m:t>
                            </m:r>
                          </m:sup>
                        </m:sSup>
                        <m:sSubSup>
                          <m:sSubSupPr>
                            <m:ctrlPr>
                              <a:rPr lang="en-US" altLang="ko-KR" sz="2000" b="1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SupPr>
                          <m:e>
                            <m:r>
                              <a:rPr lang="en-US" altLang="ko-KR" sz="2000" b="1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𝑾</m:t>
                            </m:r>
                          </m:e>
                          <m:sub>
                            <m:r>
                              <a:rPr lang="en-US" altLang="ko-KR" sz="2000" b="1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𝟏</m:t>
                            </m:r>
                          </m:sub>
                          <m:sup>
                            <m:r>
                              <a:rPr lang="en-US" altLang="ko-KR" sz="2000" b="1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𝑻</m:t>
                            </m:r>
                          </m:sup>
                        </m:sSubSup>
                        <m:sSubSup>
                          <m:sSubSupPr>
                            <m:ctrlPr>
                              <a:rPr lang="en-US" altLang="ko-KR" sz="2000" b="1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SupPr>
                          <m:e>
                            <m:r>
                              <a:rPr lang="en-US" altLang="ko-KR" sz="2000" b="1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𝑾</m:t>
                            </m:r>
                          </m:e>
                          <m:sub>
                            <m:r>
                              <a:rPr lang="en-US" altLang="ko-KR" sz="2000" b="1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𝟐</m:t>
                            </m:r>
                          </m:sub>
                          <m:sup>
                            <m:r>
                              <a:rPr lang="en-US" altLang="ko-KR" sz="2000" b="1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𝑻</m:t>
                            </m:r>
                          </m:sup>
                        </m:sSubSup>
                        <m:r>
                          <a:rPr lang="en-US" altLang="ko-KR" sz="20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/</m:t>
                        </m:r>
                        <m:r>
                          <a:rPr lang="en-US" altLang="ko-KR" sz="20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𝑁</m:t>
                        </m:r>
                      </m:e>
                    </m:nary>
                  </m:oMath>
                </a14:m>
                <a:endParaRPr lang="ko-KR" altLang="en-US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endParaRPr lang="en-US" altLang="ko-KR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D5F32AF-4D6B-45CD-979D-0E33785C13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424" y="1444371"/>
                <a:ext cx="11698878" cy="2259593"/>
              </a:xfrm>
              <a:prstGeom prst="rect">
                <a:avLst/>
              </a:prstGeom>
              <a:blipFill>
                <a:blip r:embed="rId3"/>
                <a:stretch>
                  <a:fillRect l="-469" t="-1348" b="-1859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그림 11">
            <a:extLst>
              <a:ext uri="{FF2B5EF4-FFF2-40B4-BE49-F238E27FC236}">
                <a16:creationId xmlns:a16="http://schemas.microsoft.com/office/drawing/2014/main" id="{90C2F776-4C8C-4059-B278-C7B57BD7CE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3868" y="3872243"/>
            <a:ext cx="9284264" cy="266666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E11A756-D921-4BAD-BBAF-6F695EA1ED32}"/>
                  </a:ext>
                </a:extLst>
              </p:cNvPr>
              <p:cNvSpPr txBox="1"/>
              <p:nvPr/>
            </p:nvSpPr>
            <p:spPr>
              <a:xfrm>
                <a:off x="1087754" y="2152257"/>
                <a:ext cx="2966838" cy="41825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̇"/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</m:acc>
                        </m:e>
                        <m:sub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bSup>
                      <m:r>
                        <a:rPr lang="en-US" altLang="ko-KR" i="1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bSup>
                      <m:sSup>
                        <m:sSup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p>
                              </m:sSubSup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</m:d>
                        </m:e>
                        <m:sup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d>
                        <m:d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Sup>
                                <m:sSubSup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p>
                              </m:sSubSup>
                            </m:e>
                            <m:sup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𝑋</m:t>
                          </m:r>
                          <m:sSubSup>
                            <m:sSubSup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E11A756-D921-4BAD-BBAF-6F695EA1ED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7754" y="2152257"/>
                <a:ext cx="2966838" cy="418256"/>
              </a:xfrm>
              <a:prstGeom prst="rect">
                <a:avLst/>
              </a:prstGeom>
              <a:blipFill>
                <a:blip r:embed="rId5"/>
                <a:stretch>
                  <a:fillRect l="-20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액자 2">
            <a:extLst>
              <a:ext uri="{FF2B5EF4-FFF2-40B4-BE49-F238E27FC236}">
                <a16:creationId xmlns:a16="http://schemas.microsoft.com/office/drawing/2014/main" id="{B0AA9817-3C09-404F-B768-115933535B03}"/>
              </a:ext>
            </a:extLst>
          </p:cNvPr>
          <p:cNvSpPr/>
          <p:nvPr/>
        </p:nvSpPr>
        <p:spPr>
          <a:xfrm>
            <a:off x="1442438" y="3757943"/>
            <a:ext cx="2923822" cy="2402827"/>
          </a:xfrm>
          <a:prstGeom prst="frame">
            <a:avLst>
              <a:gd name="adj1" fmla="val 16488"/>
            </a:avLst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3" name="액자 12">
            <a:extLst>
              <a:ext uri="{FF2B5EF4-FFF2-40B4-BE49-F238E27FC236}">
                <a16:creationId xmlns:a16="http://schemas.microsoft.com/office/drawing/2014/main" id="{17479EDE-EBF1-4C8B-8191-170BBE0AAEDC}"/>
              </a:ext>
            </a:extLst>
          </p:cNvPr>
          <p:cNvSpPr/>
          <p:nvPr/>
        </p:nvSpPr>
        <p:spPr>
          <a:xfrm>
            <a:off x="4628374" y="3757943"/>
            <a:ext cx="2923822" cy="2402827"/>
          </a:xfrm>
          <a:prstGeom prst="frame">
            <a:avLst>
              <a:gd name="adj1" fmla="val 16488"/>
            </a:avLst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4" name="액자 13">
            <a:extLst>
              <a:ext uri="{FF2B5EF4-FFF2-40B4-BE49-F238E27FC236}">
                <a16:creationId xmlns:a16="http://schemas.microsoft.com/office/drawing/2014/main" id="{8FA08E3D-EDFC-4D30-A3CB-5A33EC9594CA}"/>
              </a:ext>
            </a:extLst>
          </p:cNvPr>
          <p:cNvSpPr/>
          <p:nvPr/>
        </p:nvSpPr>
        <p:spPr>
          <a:xfrm>
            <a:off x="7860032" y="3760174"/>
            <a:ext cx="2923822" cy="2402827"/>
          </a:xfrm>
          <a:prstGeom prst="frame">
            <a:avLst>
              <a:gd name="adj1" fmla="val 16488"/>
            </a:avLst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99BEC4FB-929E-4677-87E3-06B670591B71}"/>
              </a:ext>
            </a:extLst>
          </p:cNvPr>
          <p:cNvCxnSpPr>
            <a:cxnSpLocks/>
          </p:cNvCxnSpPr>
          <p:nvPr/>
        </p:nvCxnSpPr>
        <p:spPr>
          <a:xfrm flipV="1">
            <a:off x="1817216" y="3910098"/>
            <a:ext cx="0" cy="206697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B54378DE-280B-4190-9A7C-B72EDCEF21A5}"/>
              </a:ext>
            </a:extLst>
          </p:cNvPr>
          <p:cNvSpPr txBox="1"/>
          <p:nvPr/>
        </p:nvSpPr>
        <p:spPr>
          <a:xfrm rot="16200000">
            <a:off x="503936" y="4857364"/>
            <a:ext cx="242967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-8        -6         -4         -2         0</a:t>
            </a:r>
            <a:endParaRPr lang="ko-KR" alt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579ACEC1-FD96-4295-8C71-A3A7384174E5}"/>
              </a:ext>
            </a:extLst>
          </p:cNvPr>
          <p:cNvCxnSpPr>
            <a:cxnSpLocks/>
          </p:cNvCxnSpPr>
          <p:nvPr/>
        </p:nvCxnSpPr>
        <p:spPr>
          <a:xfrm>
            <a:off x="1733659" y="5822569"/>
            <a:ext cx="246115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57EECA43-69FE-48B6-9E96-45779A3617F9}"/>
              </a:ext>
            </a:extLst>
          </p:cNvPr>
          <p:cNvSpPr txBox="1"/>
          <p:nvPr/>
        </p:nvSpPr>
        <p:spPr>
          <a:xfrm>
            <a:off x="1755384" y="5822569"/>
            <a:ext cx="246115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0  500  1000 1500 2000 2500 3000 3500 4000</a:t>
            </a:r>
            <a:endParaRPr lang="ko-KR" alt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2381C47-7E1C-409F-9531-17ADF0A8776E}"/>
              </a:ext>
            </a:extLst>
          </p:cNvPr>
          <p:cNvSpPr txBox="1"/>
          <p:nvPr/>
        </p:nvSpPr>
        <p:spPr>
          <a:xfrm>
            <a:off x="2218424" y="5975052"/>
            <a:ext cx="14066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iteration</a:t>
            </a:r>
            <a:endParaRPr lang="ko-KR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FDC57B4-6F7F-4148-BA8E-8B2B0A4533A0}"/>
              </a:ext>
            </a:extLst>
          </p:cNvPr>
          <p:cNvSpPr txBox="1"/>
          <p:nvPr/>
        </p:nvSpPr>
        <p:spPr>
          <a:xfrm rot="16200000">
            <a:off x="790320" y="4818099"/>
            <a:ext cx="14066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 singular values</a:t>
            </a:r>
            <a:endParaRPr lang="ko-KR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7FEB7C8F-1A99-4932-BF6C-DDEF0CAB320B}"/>
              </a:ext>
            </a:extLst>
          </p:cNvPr>
          <p:cNvCxnSpPr>
            <a:cxnSpLocks/>
          </p:cNvCxnSpPr>
          <p:nvPr/>
        </p:nvCxnSpPr>
        <p:spPr>
          <a:xfrm flipV="1">
            <a:off x="5041107" y="3910098"/>
            <a:ext cx="0" cy="206697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9A418165-3646-4A68-8A87-ECD9ADE8AA27}"/>
              </a:ext>
            </a:extLst>
          </p:cNvPr>
          <p:cNvSpPr txBox="1"/>
          <p:nvPr/>
        </p:nvSpPr>
        <p:spPr>
          <a:xfrm rot="16200000">
            <a:off x="3727827" y="4857364"/>
            <a:ext cx="242967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-8        -6         -4         -2         0</a:t>
            </a:r>
            <a:endParaRPr lang="ko-KR" alt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4FD8F1B4-542E-4A9C-ACB3-658DEC72F3A8}"/>
              </a:ext>
            </a:extLst>
          </p:cNvPr>
          <p:cNvCxnSpPr>
            <a:cxnSpLocks/>
          </p:cNvCxnSpPr>
          <p:nvPr/>
        </p:nvCxnSpPr>
        <p:spPr>
          <a:xfrm>
            <a:off x="4957550" y="5822569"/>
            <a:ext cx="246115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DF4E2D3B-A821-4312-928A-A9289A25D150}"/>
              </a:ext>
            </a:extLst>
          </p:cNvPr>
          <p:cNvSpPr txBox="1"/>
          <p:nvPr/>
        </p:nvSpPr>
        <p:spPr>
          <a:xfrm>
            <a:off x="4979275" y="5822569"/>
            <a:ext cx="246115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0  500  1000 1500 2000 2500 3000 3500 4000</a:t>
            </a:r>
            <a:endParaRPr lang="ko-KR" alt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C34242D-0C3B-45F2-BBA1-3938BC691C07}"/>
              </a:ext>
            </a:extLst>
          </p:cNvPr>
          <p:cNvSpPr txBox="1"/>
          <p:nvPr/>
        </p:nvSpPr>
        <p:spPr>
          <a:xfrm>
            <a:off x="5442315" y="5975052"/>
            <a:ext cx="14066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iteration</a:t>
            </a:r>
            <a:endParaRPr lang="ko-KR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09E0140-256A-4569-A609-1C8DE0A5C3F2}"/>
              </a:ext>
            </a:extLst>
          </p:cNvPr>
          <p:cNvSpPr txBox="1"/>
          <p:nvPr/>
        </p:nvSpPr>
        <p:spPr>
          <a:xfrm rot="16200000">
            <a:off x="4014211" y="4818099"/>
            <a:ext cx="14066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 singular values</a:t>
            </a:r>
            <a:endParaRPr lang="ko-KR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0" name="직선 연결선 39">
            <a:extLst>
              <a:ext uri="{FF2B5EF4-FFF2-40B4-BE49-F238E27FC236}">
                <a16:creationId xmlns:a16="http://schemas.microsoft.com/office/drawing/2014/main" id="{794DD3DA-A230-4DE6-933F-BFE7F445BE7B}"/>
              </a:ext>
            </a:extLst>
          </p:cNvPr>
          <p:cNvCxnSpPr>
            <a:cxnSpLocks/>
          </p:cNvCxnSpPr>
          <p:nvPr/>
        </p:nvCxnSpPr>
        <p:spPr>
          <a:xfrm flipV="1">
            <a:off x="8289636" y="3910098"/>
            <a:ext cx="0" cy="206697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7759CA66-5063-46E3-8A35-2A28202B8C37}"/>
              </a:ext>
            </a:extLst>
          </p:cNvPr>
          <p:cNvSpPr txBox="1"/>
          <p:nvPr/>
        </p:nvSpPr>
        <p:spPr>
          <a:xfrm rot="16200000">
            <a:off x="6976356" y="4857364"/>
            <a:ext cx="242967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-8        -6         -4         -2         0</a:t>
            </a:r>
            <a:endParaRPr lang="ko-KR" alt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2" name="직선 연결선 41">
            <a:extLst>
              <a:ext uri="{FF2B5EF4-FFF2-40B4-BE49-F238E27FC236}">
                <a16:creationId xmlns:a16="http://schemas.microsoft.com/office/drawing/2014/main" id="{6802B583-4E81-4C2A-922D-B21AEE7E31E1}"/>
              </a:ext>
            </a:extLst>
          </p:cNvPr>
          <p:cNvCxnSpPr>
            <a:cxnSpLocks/>
          </p:cNvCxnSpPr>
          <p:nvPr/>
        </p:nvCxnSpPr>
        <p:spPr>
          <a:xfrm>
            <a:off x="8206079" y="5822569"/>
            <a:ext cx="246115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A2C45249-9C18-42B1-90F7-BB13CF90158C}"/>
              </a:ext>
            </a:extLst>
          </p:cNvPr>
          <p:cNvSpPr txBox="1"/>
          <p:nvPr/>
        </p:nvSpPr>
        <p:spPr>
          <a:xfrm>
            <a:off x="8227804" y="5822569"/>
            <a:ext cx="246115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0  500  1000 1500 2000 2500 3000 3500 4000</a:t>
            </a:r>
            <a:endParaRPr lang="ko-KR" alt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7FF6DB6-9094-4938-B00C-BFF8B75DE89A}"/>
              </a:ext>
            </a:extLst>
          </p:cNvPr>
          <p:cNvSpPr txBox="1"/>
          <p:nvPr/>
        </p:nvSpPr>
        <p:spPr>
          <a:xfrm>
            <a:off x="8690844" y="5975052"/>
            <a:ext cx="14066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iteration</a:t>
            </a:r>
            <a:endParaRPr lang="ko-KR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980FB7F-BE52-4E42-85EB-AE57C5658747}"/>
              </a:ext>
            </a:extLst>
          </p:cNvPr>
          <p:cNvSpPr txBox="1"/>
          <p:nvPr/>
        </p:nvSpPr>
        <p:spPr>
          <a:xfrm rot="16200000">
            <a:off x="7262740" y="4818099"/>
            <a:ext cx="14066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 singular values</a:t>
            </a:r>
            <a:endParaRPr lang="ko-KR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38192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>
            <a:extLst>
              <a:ext uri="{FF2B5EF4-FFF2-40B4-BE49-F238E27FC236}">
                <a16:creationId xmlns:a16="http://schemas.microsoft.com/office/drawing/2014/main" id="{27E24DCE-D15E-451A-95AD-AFF3A0E82E25}"/>
              </a:ext>
            </a:extLst>
          </p:cNvPr>
          <p:cNvSpPr txBox="1"/>
          <p:nvPr/>
        </p:nvSpPr>
        <p:spPr>
          <a:xfrm>
            <a:off x="243442" y="497349"/>
            <a:ext cx="1008927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i="1" dirty="0">
                <a:solidFill>
                  <a:srgbClr val="0E4A8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Implicit Regularization</a:t>
            </a:r>
            <a:endParaRPr lang="ko-KR" altLang="en-US" sz="3200" b="1" i="1" dirty="0">
              <a:solidFill>
                <a:srgbClr val="0E4A8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1E30014-0A9F-494B-8160-F852844B49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1C0072-4DC1-48CC-BEBD-0B21D41EF312}" type="slidenum">
              <a:rPr lang="ko-KR" altLang="en-US" smtClean="0"/>
              <a:t>21</a:t>
            </a:fld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D5F32AF-4D6B-45CD-979D-0E33785C1365}"/>
              </a:ext>
            </a:extLst>
          </p:cNvPr>
          <p:cNvSpPr txBox="1"/>
          <p:nvPr/>
        </p:nvSpPr>
        <p:spPr>
          <a:xfrm>
            <a:off x="211424" y="1444371"/>
            <a:ext cx="1169887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000" dirty="0">
                <a:latin typeface="Arial" panose="020B0604020202020204" pitchFamily="34" charset="0"/>
                <a:cs typeface="Arial" panose="020B0604020202020204" pitchFamily="34" charset="0"/>
              </a:rPr>
              <a:t>With over-parameterized network (more than 2 layers),</a:t>
            </a:r>
          </a:p>
          <a:p>
            <a:pPr marL="800100" lvl="1" indent="-342900">
              <a:buFont typeface="Wingdings" panose="05000000000000000000" pitchFamily="2" charset="2"/>
              <a:buChar char="ü"/>
            </a:pPr>
            <a:r>
              <a:rPr lang="en-US" altLang="ko-KR" sz="2000" dirty="0">
                <a:latin typeface="Arial" panose="020B0604020202020204" pitchFamily="34" charset="0"/>
                <a:cs typeface="Arial" panose="020B0604020202020204" pitchFamily="34" charset="0"/>
              </a:rPr>
              <a:t>Stronger collapsing effect is amplified because of matrix product</a:t>
            </a:r>
          </a:p>
          <a:p>
            <a:pPr marL="800100" lvl="1" indent="-342900">
              <a:buFont typeface="Wingdings" panose="05000000000000000000" pitchFamily="2" charset="2"/>
              <a:buChar char="ü"/>
            </a:pPr>
            <a:endParaRPr lang="en-US" altLang="ko-KR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000" dirty="0">
                <a:latin typeface="Arial" panose="020B0604020202020204" pitchFamily="34" charset="0"/>
                <a:cs typeface="Arial" panose="020B0604020202020204" pitchFamily="34" charset="0"/>
              </a:rPr>
              <a:t>Dimensional collapse also occurs in </a:t>
            </a:r>
            <a:r>
              <a:rPr lang="en-US" altLang="ko-KR" sz="2000" i="1" dirty="0">
                <a:latin typeface="Arial" panose="020B0604020202020204" pitchFamily="34" charset="0"/>
                <a:cs typeface="Arial" panose="020B0604020202020204" pitchFamily="34" charset="0"/>
              </a:rPr>
              <a:t>non-linear scenario (</a:t>
            </a:r>
            <a:r>
              <a:rPr lang="en-US" altLang="ko-KR" sz="2000" b="1" i="1" dirty="0" err="1">
                <a:latin typeface="Arial" panose="020B0604020202020204" pitchFamily="34" charset="0"/>
                <a:cs typeface="Arial" panose="020B0604020202020204" pitchFamily="34" charset="0"/>
              </a:rPr>
              <a:t>ReLU</a:t>
            </a:r>
            <a:r>
              <a:rPr lang="en-US" altLang="ko-KR" sz="2000" i="1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E4BE65F-98E2-4D03-918B-0D32B70CEF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0750" y="3515677"/>
            <a:ext cx="7810500" cy="2752725"/>
          </a:xfrm>
          <a:prstGeom prst="rect">
            <a:avLst/>
          </a:prstGeom>
        </p:spPr>
      </p:pic>
      <p:sp>
        <p:nvSpPr>
          <p:cNvPr id="9" name="액자 8">
            <a:extLst>
              <a:ext uri="{FF2B5EF4-FFF2-40B4-BE49-F238E27FC236}">
                <a16:creationId xmlns:a16="http://schemas.microsoft.com/office/drawing/2014/main" id="{A711D142-0DC4-4D87-B11B-01FB16817E90}"/>
              </a:ext>
            </a:extLst>
          </p:cNvPr>
          <p:cNvSpPr/>
          <p:nvPr/>
        </p:nvSpPr>
        <p:spPr>
          <a:xfrm>
            <a:off x="2162347" y="3048816"/>
            <a:ext cx="4181303" cy="3386274"/>
          </a:xfrm>
          <a:prstGeom prst="frame">
            <a:avLst>
              <a:gd name="adj1" fmla="val 16488"/>
            </a:avLst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05E5E087-CED1-4D05-A3D2-A426C004D444}"/>
              </a:ext>
            </a:extLst>
          </p:cNvPr>
          <p:cNvCxnSpPr>
            <a:cxnSpLocks/>
          </p:cNvCxnSpPr>
          <p:nvPr/>
        </p:nvCxnSpPr>
        <p:spPr>
          <a:xfrm flipV="1">
            <a:off x="2624410" y="3645514"/>
            <a:ext cx="0" cy="243586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5BC2614C-5554-4BF8-BE80-4979F2852C97}"/>
              </a:ext>
            </a:extLst>
          </p:cNvPr>
          <p:cNvSpPr txBox="1"/>
          <p:nvPr/>
        </p:nvSpPr>
        <p:spPr>
          <a:xfrm rot="16200000">
            <a:off x="1198699" y="4669593"/>
            <a:ext cx="262288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-25          -20          -15          -10          -5          0</a:t>
            </a:r>
            <a:endParaRPr lang="ko-KR" alt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029E6056-55C3-463A-A5C1-2C0033860774}"/>
              </a:ext>
            </a:extLst>
          </p:cNvPr>
          <p:cNvCxnSpPr>
            <a:cxnSpLocks/>
          </p:cNvCxnSpPr>
          <p:nvPr/>
        </p:nvCxnSpPr>
        <p:spPr>
          <a:xfrm>
            <a:off x="2540853" y="5926868"/>
            <a:ext cx="3357027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C7779739-F100-4396-905A-7C2D74EBCE4F}"/>
              </a:ext>
            </a:extLst>
          </p:cNvPr>
          <p:cNvSpPr txBox="1"/>
          <p:nvPr/>
        </p:nvSpPr>
        <p:spPr>
          <a:xfrm>
            <a:off x="2551148" y="5926867"/>
            <a:ext cx="353342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0           2           4           6           8           10           12           14</a:t>
            </a:r>
            <a:endParaRPr lang="ko-KR" alt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FE4AC25-F8A4-4A82-ACA3-CE3F7BF7B073}"/>
              </a:ext>
            </a:extLst>
          </p:cNvPr>
          <p:cNvSpPr txBox="1"/>
          <p:nvPr/>
        </p:nvSpPr>
        <p:spPr>
          <a:xfrm>
            <a:off x="2931167" y="6096453"/>
            <a:ext cx="26436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Singular Value Rank Index</a:t>
            </a:r>
            <a:endParaRPr lang="ko-KR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CBAFB3F-95C0-4927-AB13-ABFD7C6F9677}"/>
              </a:ext>
            </a:extLst>
          </p:cNvPr>
          <p:cNvSpPr txBox="1"/>
          <p:nvPr/>
        </p:nvSpPr>
        <p:spPr>
          <a:xfrm rot="16200000">
            <a:off x="1602300" y="4646509"/>
            <a:ext cx="14066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 singular values</a:t>
            </a:r>
            <a:endParaRPr lang="ko-KR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액자 16">
            <a:extLst>
              <a:ext uri="{FF2B5EF4-FFF2-40B4-BE49-F238E27FC236}">
                <a16:creationId xmlns:a16="http://schemas.microsoft.com/office/drawing/2014/main" id="{5FE9D5DC-D094-41F7-92F0-468D5A40AF9B}"/>
              </a:ext>
            </a:extLst>
          </p:cNvPr>
          <p:cNvSpPr/>
          <p:nvPr/>
        </p:nvSpPr>
        <p:spPr>
          <a:xfrm>
            <a:off x="6258097" y="3048816"/>
            <a:ext cx="4181303" cy="3386274"/>
          </a:xfrm>
          <a:prstGeom prst="frame">
            <a:avLst>
              <a:gd name="adj1" fmla="val 16488"/>
            </a:avLst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EAF2056F-7210-45BE-9A46-0A6E6C0E0036}"/>
              </a:ext>
            </a:extLst>
          </p:cNvPr>
          <p:cNvCxnSpPr>
            <a:cxnSpLocks/>
          </p:cNvCxnSpPr>
          <p:nvPr/>
        </p:nvCxnSpPr>
        <p:spPr>
          <a:xfrm flipV="1">
            <a:off x="6731698" y="3651615"/>
            <a:ext cx="0" cy="243586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C2159835-8C91-4DF2-8142-7B4FF7976C55}"/>
              </a:ext>
            </a:extLst>
          </p:cNvPr>
          <p:cNvSpPr txBox="1"/>
          <p:nvPr/>
        </p:nvSpPr>
        <p:spPr>
          <a:xfrm rot="16200000">
            <a:off x="5305987" y="4675694"/>
            <a:ext cx="262288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-25          -20          -15          -10          -5          0</a:t>
            </a:r>
            <a:endParaRPr lang="ko-KR" alt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8104CD8C-6DE6-4FF5-BA9B-1EBC8CEF97C4}"/>
              </a:ext>
            </a:extLst>
          </p:cNvPr>
          <p:cNvCxnSpPr>
            <a:cxnSpLocks/>
          </p:cNvCxnSpPr>
          <p:nvPr/>
        </p:nvCxnSpPr>
        <p:spPr>
          <a:xfrm>
            <a:off x="6648141" y="5932969"/>
            <a:ext cx="3357027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A113A216-9046-4904-A38C-719322C9CDFC}"/>
              </a:ext>
            </a:extLst>
          </p:cNvPr>
          <p:cNvSpPr txBox="1"/>
          <p:nvPr/>
        </p:nvSpPr>
        <p:spPr>
          <a:xfrm>
            <a:off x="6658436" y="5932968"/>
            <a:ext cx="353342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0           2           4           6           8           10           12           14</a:t>
            </a:r>
            <a:endParaRPr lang="ko-KR" alt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99E482F-F142-443D-81D5-298BDF1BD888}"/>
              </a:ext>
            </a:extLst>
          </p:cNvPr>
          <p:cNvSpPr txBox="1"/>
          <p:nvPr/>
        </p:nvSpPr>
        <p:spPr>
          <a:xfrm>
            <a:off x="7038455" y="6102554"/>
            <a:ext cx="26436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Singular Value Rank Index</a:t>
            </a:r>
            <a:endParaRPr lang="ko-KR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CDEC5B0-F264-4A8F-B74C-1455498B4FE1}"/>
              </a:ext>
            </a:extLst>
          </p:cNvPr>
          <p:cNvSpPr txBox="1"/>
          <p:nvPr/>
        </p:nvSpPr>
        <p:spPr>
          <a:xfrm rot="16200000">
            <a:off x="5709588" y="4652610"/>
            <a:ext cx="14066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 singular values</a:t>
            </a:r>
            <a:endParaRPr lang="ko-KR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4CF5650-4687-497E-AFE4-CFA3ABE58044}"/>
              </a:ext>
            </a:extLst>
          </p:cNvPr>
          <p:cNvSpPr txBox="1"/>
          <p:nvPr/>
        </p:nvSpPr>
        <p:spPr>
          <a:xfrm>
            <a:off x="3187064" y="6354246"/>
            <a:ext cx="21318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&lt;Multiple Layers&gt;</a:t>
            </a:r>
            <a:endParaRPr lang="ko-KR" alt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95B60B5-2738-4A92-BFEF-42139C951FD9}"/>
              </a:ext>
            </a:extLst>
          </p:cNvPr>
          <p:cNvSpPr txBox="1"/>
          <p:nvPr/>
        </p:nvSpPr>
        <p:spPr>
          <a:xfrm>
            <a:off x="7325591" y="6346699"/>
            <a:ext cx="21318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&lt;Nonlinear&gt;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3556557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Box 32">
            <a:extLst>
              <a:ext uri="{FF2B5EF4-FFF2-40B4-BE49-F238E27FC236}">
                <a16:creationId xmlns:a16="http://schemas.microsoft.com/office/drawing/2014/main" id="{2D2463F9-0C95-4C21-8506-281686CFFD15}"/>
              </a:ext>
            </a:extLst>
          </p:cNvPr>
          <p:cNvSpPr txBox="1"/>
          <p:nvPr/>
        </p:nvSpPr>
        <p:spPr>
          <a:xfrm>
            <a:off x="678485" y="2769348"/>
            <a:ext cx="10835029" cy="10016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4500" b="1" i="1" dirty="0">
                <a:latin typeface="Arial" panose="020B0604020202020204" pitchFamily="34" charset="0"/>
                <a:cs typeface="Arial" panose="020B0604020202020204" pitchFamily="34" charset="0"/>
              </a:rPr>
              <a:t>Question</a:t>
            </a:r>
          </a:p>
        </p:txBody>
      </p:sp>
    </p:spTree>
    <p:extLst>
      <p:ext uri="{BB962C8B-B14F-4D97-AF65-F5344CB8AC3E}">
        <p14:creationId xmlns:p14="http://schemas.microsoft.com/office/powerpoint/2010/main" val="206025986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FA50FC13-916C-4251-9CCC-910D36FC7A05}"/>
              </a:ext>
            </a:extLst>
          </p:cNvPr>
          <p:cNvSpPr/>
          <p:nvPr/>
        </p:nvSpPr>
        <p:spPr>
          <a:xfrm>
            <a:off x="238535" y="3429000"/>
            <a:ext cx="10323443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42950" indent="-742950">
              <a:buFont typeface="+mj-lt"/>
              <a:buAutoNum type="arabicPeriod" startAt="3"/>
            </a:pPr>
            <a:r>
              <a:rPr lang="en-US" altLang="ko-KR" sz="4000" b="1" i="1" dirty="0" err="1">
                <a:solidFill>
                  <a:srgbClr val="0E4A8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DirectCLR</a:t>
            </a:r>
            <a:endParaRPr lang="en-US" altLang="ko-KR" sz="4000" b="1" i="1" dirty="0">
              <a:solidFill>
                <a:srgbClr val="0E4A8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347280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>
            <a:extLst>
              <a:ext uri="{FF2B5EF4-FFF2-40B4-BE49-F238E27FC236}">
                <a16:creationId xmlns:a16="http://schemas.microsoft.com/office/drawing/2014/main" id="{27E24DCE-D15E-451A-95AD-AFF3A0E82E25}"/>
              </a:ext>
            </a:extLst>
          </p:cNvPr>
          <p:cNvSpPr txBox="1"/>
          <p:nvPr/>
        </p:nvSpPr>
        <p:spPr>
          <a:xfrm>
            <a:off x="243442" y="497349"/>
            <a:ext cx="1008927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i="1" dirty="0">
                <a:solidFill>
                  <a:srgbClr val="0E4A8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Using projector</a:t>
            </a:r>
            <a:endParaRPr lang="ko-KR" altLang="en-US" sz="3200" b="1" i="1" dirty="0">
              <a:solidFill>
                <a:srgbClr val="0E4A8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EB4C9E0-2A71-4FF9-94B2-413F5405404A}"/>
              </a:ext>
            </a:extLst>
          </p:cNvPr>
          <p:cNvSpPr txBox="1"/>
          <p:nvPr/>
        </p:nvSpPr>
        <p:spPr>
          <a:xfrm>
            <a:off x="327377" y="1365956"/>
            <a:ext cx="949099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2000" dirty="0">
                <a:latin typeface="Arial" panose="020B0604020202020204" pitchFamily="34" charset="0"/>
                <a:cs typeface="Arial" panose="020B0604020202020204" pitchFamily="34" charset="0"/>
              </a:rPr>
              <a:t>Singular vectors of </a:t>
            </a:r>
            <a:r>
              <a:rPr lang="en-US" altLang="ko-KR" sz="2000" b="1" i="1" dirty="0">
                <a:solidFill>
                  <a:srgbClr val="0725B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embedding vector</a:t>
            </a:r>
            <a:r>
              <a:rPr lang="en-US" altLang="ko-KR" sz="2000" dirty="0">
                <a:solidFill>
                  <a:srgbClr val="0725B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2000" dirty="0">
                <a:latin typeface="Arial" panose="020B0604020202020204" pitchFamily="34" charset="0"/>
                <a:cs typeface="Arial" panose="020B0604020202020204" pitchFamily="34" charset="0"/>
              </a:rPr>
              <a:t>of </a:t>
            </a:r>
            <a:r>
              <a:rPr lang="en-US" altLang="ko-KR" sz="2000" dirty="0" err="1">
                <a:latin typeface="Arial" panose="020B0604020202020204" pitchFamily="34" charset="0"/>
                <a:cs typeface="Arial" panose="020B0604020202020204" pitchFamily="34" charset="0"/>
              </a:rPr>
              <a:t>SimCLR</a:t>
            </a:r>
            <a:r>
              <a:rPr lang="en-US" altLang="ko-KR" sz="2000" dirty="0">
                <a:latin typeface="Arial" panose="020B0604020202020204" pitchFamily="34" charset="0"/>
                <a:cs typeface="Arial" panose="020B0604020202020204" pitchFamily="34" charset="0"/>
              </a:rPr>
              <a:t> suffers dimensional collapse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2000" dirty="0">
                <a:latin typeface="Arial" panose="020B0604020202020204" pitchFamily="34" charset="0"/>
                <a:cs typeface="Arial" panose="020B0604020202020204" pitchFamily="34" charset="0"/>
              </a:rPr>
              <a:t>Instead,</a:t>
            </a:r>
            <a:r>
              <a:rPr lang="ko-KR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2000" b="1" i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representation</a:t>
            </a:r>
            <a:r>
              <a:rPr lang="en-US" altLang="ko-KR" sz="2000" b="1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2000" dirty="0">
                <a:latin typeface="Arial" panose="020B0604020202020204" pitchFamily="34" charset="0"/>
                <a:cs typeface="Arial" panose="020B0604020202020204" pitchFamily="34" charset="0"/>
              </a:rPr>
              <a:t>suffers from less dimensional collapse</a:t>
            </a:r>
          </a:p>
          <a:p>
            <a:pPr marL="800100" lvl="1" indent="-342900">
              <a:buFont typeface="Wingdings" panose="05000000000000000000" pitchFamily="2" charset="2"/>
              <a:buChar char="ü"/>
            </a:pPr>
            <a:r>
              <a:rPr lang="en-US" altLang="ko-KR" sz="2000" dirty="0">
                <a:latin typeface="Arial" panose="020B0604020202020204" pitchFamily="34" charset="0"/>
                <a:cs typeface="Arial" panose="020B0604020202020204" pitchFamily="34" charset="0"/>
              </a:rPr>
              <a:t>Projector</a:t>
            </a:r>
            <a:r>
              <a:rPr lang="ko-KR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2000" dirty="0">
                <a:latin typeface="Arial" panose="020B0604020202020204" pitchFamily="34" charset="0"/>
                <a:cs typeface="Arial" panose="020B0604020202020204" pitchFamily="34" charset="0"/>
              </a:rPr>
              <a:t>prevents</a:t>
            </a:r>
            <a:r>
              <a:rPr lang="ko-KR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2000" dirty="0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ko-KR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2000" dirty="0">
                <a:latin typeface="Arial" panose="020B0604020202020204" pitchFamily="34" charset="0"/>
                <a:cs typeface="Arial" panose="020B0604020202020204" pitchFamily="34" charset="0"/>
              </a:rPr>
              <a:t>collapse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2000" dirty="0">
                <a:latin typeface="Arial" panose="020B0604020202020204" pitchFamily="34" charset="0"/>
                <a:cs typeface="Arial" panose="020B0604020202020204" pitchFamily="34" charset="0"/>
              </a:rPr>
              <a:t>For downstream task, only </a:t>
            </a:r>
            <a:r>
              <a:rPr lang="en-US" altLang="ko-KR" sz="2000" b="1" i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representation</a:t>
            </a:r>
            <a:r>
              <a:rPr lang="en-US" altLang="ko-KR" sz="2000" dirty="0">
                <a:latin typeface="Arial" panose="020B0604020202020204" pitchFamily="34" charset="0"/>
                <a:cs typeface="Arial" panose="020B0604020202020204" pitchFamily="34" charset="0"/>
              </a:rPr>
              <a:t> is used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23E0F9B2-71A8-4A75-94A0-4D313037D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72126" y="6356350"/>
            <a:ext cx="381674" cy="365125"/>
          </a:xfrm>
        </p:spPr>
        <p:txBody>
          <a:bodyPr/>
          <a:lstStyle/>
          <a:p>
            <a:fld id="{491C0072-4DC1-48CC-BEBD-0B21D41EF312}" type="slidenum">
              <a:rPr lang="ko-KR" altLang="en-US" smtClean="0"/>
              <a:t>24</a:t>
            </a:fld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783ED98-3417-4A88-A061-61EA2D78E35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11486"/>
          <a:stretch/>
        </p:blipFill>
        <p:spPr>
          <a:xfrm>
            <a:off x="2145030" y="4131557"/>
            <a:ext cx="7901940" cy="229337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A317EDF-1A85-4750-BBBB-7ECEF142941D}"/>
              </a:ext>
            </a:extLst>
          </p:cNvPr>
          <p:cNvSpPr txBox="1"/>
          <p:nvPr/>
        </p:nvSpPr>
        <p:spPr>
          <a:xfrm>
            <a:off x="2240280" y="6382740"/>
            <a:ext cx="434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&lt;Representation and embedding&gt;</a:t>
            </a:r>
            <a:endParaRPr lang="ko-KR" altLang="en-US" dirty="0"/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5E30818D-0330-454E-ACB1-A4A393C3B3D8}"/>
              </a:ext>
            </a:extLst>
          </p:cNvPr>
          <p:cNvSpPr/>
          <p:nvPr/>
        </p:nvSpPr>
        <p:spPr>
          <a:xfrm>
            <a:off x="4069080" y="4335707"/>
            <a:ext cx="525780" cy="1677908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A2A6CECB-E9A2-4262-8228-67AB6A0E8276}"/>
              </a:ext>
            </a:extLst>
          </p:cNvPr>
          <p:cNvSpPr/>
          <p:nvPr/>
        </p:nvSpPr>
        <p:spPr>
          <a:xfrm>
            <a:off x="5164313" y="4335707"/>
            <a:ext cx="525780" cy="1677908"/>
          </a:xfrm>
          <a:prstGeom prst="roundRect">
            <a:avLst/>
          </a:prstGeom>
          <a:noFill/>
          <a:ln w="28575">
            <a:solidFill>
              <a:srgbClr val="0725B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4DD31AA-47D7-4AC8-AE94-9C5C344A5685}"/>
              </a:ext>
            </a:extLst>
          </p:cNvPr>
          <p:cNvSpPr txBox="1"/>
          <p:nvPr/>
        </p:nvSpPr>
        <p:spPr>
          <a:xfrm>
            <a:off x="6480810" y="6382740"/>
            <a:ext cx="434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&lt;Representation</a:t>
            </a:r>
            <a:r>
              <a:rPr lang="ko-KR" altLang="en-US" dirty="0"/>
              <a:t> </a:t>
            </a:r>
            <a:r>
              <a:rPr lang="en-US" altLang="ko-KR" dirty="0"/>
              <a:t>space</a:t>
            </a:r>
            <a:r>
              <a:rPr lang="ko-KR" altLang="en-US" dirty="0"/>
              <a:t> </a:t>
            </a:r>
            <a:r>
              <a:rPr lang="en-US" altLang="ko-KR" dirty="0"/>
              <a:t>spectrum&gt;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7235757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>
            <a:extLst>
              <a:ext uri="{FF2B5EF4-FFF2-40B4-BE49-F238E27FC236}">
                <a16:creationId xmlns:a16="http://schemas.microsoft.com/office/drawing/2014/main" id="{27E24DCE-D15E-451A-95AD-AFF3A0E82E25}"/>
              </a:ext>
            </a:extLst>
          </p:cNvPr>
          <p:cNvSpPr txBox="1"/>
          <p:nvPr/>
        </p:nvSpPr>
        <p:spPr>
          <a:xfrm>
            <a:off x="243442" y="497349"/>
            <a:ext cx="1008927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i="1" dirty="0">
                <a:solidFill>
                  <a:srgbClr val="0E4A8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Using projector</a:t>
            </a:r>
            <a:endParaRPr lang="ko-KR" altLang="en-US" sz="3200" b="1" i="1" dirty="0">
              <a:solidFill>
                <a:srgbClr val="0E4A8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EB4C9E0-2A71-4FF9-94B2-413F5405404A}"/>
              </a:ext>
            </a:extLst>
          </p:cNvPr>
          <p:cNvSpPr txBox="1"/>
          <p:nvPr/>
        </p:nvSpPr>
        <p:spPr>
          <a:xfrm>
            <a:off x="327377" y="1365956"/>
            <a:ext cx="10188223" cy="32669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>
                <a:latin typeface="Arial" panose="020B0604020202020204" pitchFamily="34" charset="0"/>
                <a:cs typeface="Arial" panose="020B0604020202020204" pitchFamily="34" charset="0"/>
              </a:rPr>
              <a:t>The effect of projector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romanUcPeriod"/>
            </a:pPr>
            <a:r>
              <a:rPr lang="en-US" altLang="ko-KR" sz="2000" dirty="0">
                <a:latin typeface="Arial" panose="020B0604020202020204" pitchFamily="34" charset="0"/>
                <a:cs typeface="Arial" panose="020B0604020202020204" pitchFamily="34" charset="0"/>
              </a:rPr>
              <a:t>Projector weight matrix is </a:t>
            </a:r>
            <a:r>
              <a:rPr lang="en-US" altLang="ko-KR" sz="2000" b="1" i="1" dirty="0">
                <a:latin typeface="Arial" panose="020B0604020202020204" pitchFamily="34" charset="0"/>
                <a:cs typeface="Arial" panose="020B0604020202020204" pitchFamily="34" charset="0"/>
              </a:rPr>
              <a:t>diagonal</a:t>
            </a: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2000" i="1" dirty="0">
                <a:latin typeface="Arial" panose="020B0604020202020204" pitchFamily="34" charset="0"/>
                <a:cs typeface="Arial" panose="020B0604020202020204" pitchFamily="34" charset="0"/>
              </a:rPr>
              <a:t>As the </a:t>
            </a:r>
            <a:r>
              <a:rPr lang="en-US" altLang="ko-KR" sz="2000" i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alignment</a:t>
            </a:r>
            <a:r>
              <a:rPr lang="en-US" altLang="ko-KR" sz="2000" i="1" dirty="0">
                <a:latin typeface="Arial" panose="020B0604020202020204" pitchFamily="34" charset="0"/>
                <a:cs typeface="Arial" panose="020B0604020202020204" pitchFamily="34" charset="0"/>
              </a:rPr>
              <a:t> occurs, matrix becomes a </a:t>
            </a:r>
            <a:r>
              <a:rPr lang="en-US" altLang="ko-KR" sz="2000" b="1" i="1" dirty="0">
                <a:latin typeface="Arial" panose="020B0604020202020204" pitchFamily="34" charset="0"/>
                <a:cs typeface="Arial" panose="020B0604020202020204" pitchFamily="34" charset="0"/>
              </a:rPr>
              <a:t>simple diagonal matrix</a:t>
            </a: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20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71550" lvl="1" indent="-514350">
              <a:lnSpc>
                <a:spcPct val="150000"/>
              </a:lnSpc>
              <a:buFont typeface="+mj-lt"/>
              <a:buAutoNum type="romanUcPeriod"/>
            </a:pPr>
            <a:r>
              <a:rPr lang="en-US" altLang="ko-KR" sz="2000" dirty="0">
                <a:latin typeface="Arial" panose="020B0604020202020204" pitchFamily="34" charset="0"/>
                <a:cs typeface="Arial" panose="020B0604020202020204" pitchFamily="34" charset="0"/>
              </a:rPr>
              <a:t>Projector weight matrix is </a:t>
            </a:r>
            <a:r>
              <a:rPr lang="en-US" altLang="ko-KR" sz="2000" b="1" i="1" dirty="0">
                <a:latin typeface="Arial" panose="020B0604020202020204" pitchFamily="34" charset="0"/>
                <a:cs typeface="Arial" panose="020B0604020202020204" pitchFamily="34" charset="0"/>
              </a:rPr>
              <a:t>low-rank</a:t>
            </a:r>
          </a:p>
          <a:p>
            <a:pPr marL="1428750" lvl="2" indent="-5143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2000" i="1" dirty="0">
                <a:latin typeface="Arial" panose="020B0604020202020204" pitchFamily="34" charset="0"/>
                <a:cs typeface="Arial" panose="020B0604020202020204" pitchFamily="34" charset="0"/>
              </a:rPr>
              <a:t>As the weight matrix of projector is low-rank, </a:t>
            </a:r>
          </a:p>
          <a:p>
            <a:pPr lvl="2">
              <a:lnSpc>
                <a:spcPct val="150000"/>
              </a:lnSpc>
            </a:pPr>
            <a:r>
              <a:rPr lang="en-US" altLang="ko-KR" sz="2000" i="1" dirty="0">
                <a:latin typeface="Arial" panose="020B0604020202020204" pitchFamily="34" charset="0"/>
                <a:cs typeface="Arial" panose="020B0604020202020204" pitchFamily="34" charset="0"/>
              </a:rPr>
              <a:t>       </a:t>
            </a:r>
            <a:r>
              <a:rPr lang="en-US" altLang="ko-KR" sz="2000" b="1" i="1" dirty="0">
                <a:latin typeface="Arial" panose="020B0604020202020204" pitchFamily="34" charset="0"/>
                <a:cs typeface="Arial" panose="020B0604020202020204" pitchFamily="34" charset="0"/>
              </a:rPr>
              <a:t>gradient</a:t>
            </a:r>
            <a:r>
              <a:rPr lang="en-US" altLang="ko-KR" sz="2000" i="1" dirty="0">
                <a:latin typeface="Arial" panose="020B0604020202020204" pitchFamily="34" charset="0"/>
                <a:cs typeface="Arial" panose="020B0604020202020204" pitchFamily="34" charset="0"/>
              </a:rPr>
              <a:t> is only applied to the subspace of the </a:t>
            </a:r>
            <a:r>
              <a:rPr lang="en-US" altLang="ko-KR" sz="2000" b="1" i="1" dirty="0">
                <a:latin typeface="Arial" panose="020B0604020202020204" pitchFamily="34" charset="0"/>
                <a:cs typeface="Arial" panose="020B0604020202020204" pitchFamily="34" charset="0"/>
              </a:rPr>
              <a:t>representation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23E0F9B2-71A8-4A75-94A0-4D313037D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72126" y="6356350"/>
            <a:ext cx="381674" cy="365125"/>
          </a:xfrm>
        </p:spPr>
        <p:txBody>
          <a:bodyPr/>
          <a:lstStyle/>
          <a:p>
            <a:fld id="{491C0072-4DC1-48CC-BEBD-0B21D41EF312}" type="slidenum">
              <a:rPr lang="ko-KR" altLang="en-US" smtClean="0"/>
              <a:t>25</a:t>
            </a:fld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BC0346C-D16B-404A-8EEE-C2EB60FAFEF3}"/>
                  </a:ext>
                </a:extLst>
              </p:cNvPr>
              <p:cNvSpPr txBox="1"/>
              <p:nvPr/>
            </p:nvSpPr>
            <p:spPr>
              <a:xfrm>
                <a:off x="1567814" y="2852677"/>
                <a:ext cx="3329501" cy="29354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sSubSup>
                                <m:sSubSup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sSub>
                                    <m:sSubPr>
                                      <m:ctrlP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𝑈</m:t>
                                      </m:r>
                                    </m:e>
                                    <m:sub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en-US" altLang="ko-KR" b="1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𝑽</m:t>
                                  </m:r>
                                </m:e>
                                <m:sub>
                                  <m:r>
                                    <a:rPr lang="en-US" altLang="ko-KR" b="1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  <m:sup>
                                  <m:r>
                                    <a:rPr lang="en-US" altLang="ko-KR" b="1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bSup>
                              <m:r>
                                <a:rPr lang="en-US" altLang="ko-KR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𝑼</m:t>
                              </m:r>
                            </m:e>
                            <m:sub>
                              <m:r>
                                <a:rPr lang="en-US" altLang="ko-KR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altLang="ko-KR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ko-KR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→</m:t>
                          </m:r>
                          <m:r>
                            <a:rPr lang="en-US" altLang="ko-KR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  <m:r>
                            <a:rPr lang="en-US" altLang="ko-KR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𝑋</m:t>
                      </m:r>
                    </m:oMath>
                  </m:oMathPara>
                </a14:m>
                <a:endParaRPr lang="en-US" altLang="ko-KR" b="0" i="1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BC0346C-D16B-404A-8EEE-C2EB60FAFE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7814" y="2852677"/>
                <a:ext cx="3329501" cy="293542"/>
              </a:xfrm>
              <a:prstGeom prst="rect">
                <a:avLst/>
              </a:prstGeom>
              <a:blipFill>
                <a:blip r:embed="rId3"/>
                <a:stretch>
                  <a:fillRect l="-733" r="-916" b="-3541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8281213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>
            <a:extLst>
              <a:ext uri="{FF2B5EF4-FFF2-40B4-BE49-F238E27FC236}">
                <a16:creationId xmlns:a16="http://schemas.microsoft.com/office/drawing/2014/main" id="{27E24DCE-D15E-451A-95AD-AFF3A0E82E25}"/>
              </a:ext>
            </a:extLst>
          </p:cNvPr>
          <p:cNvSpPr txBox="1"/>
          <p:nvPr/>
        </p:nvSpPr>
        <p:spPr>
          <a:xfrm>
            <a:off x="243442" y="497349"/>
            <a:ext cx="1008927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i="1" dirty="0">
                <a:solidFill>
                  <a:srgbClr val="0E4A8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Main Idea</a:t>
            </a:r>
            <a:endParaRPr lang="ko-KR" altLang="en-US" sz="3200" b="1" i="1" dirty="0">
              <a:solidFill>
                <a:srgbClr val="0E4A8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EB4C9E0-2A71-4FF9-94B2-413F5405404A}"/>
                  </a:ext>
                </a:extLst>
              </p:cNvPr>
              <p:cNvSpPr txBox="1"/>
              <p:nvPr/>
            </p:nvSpPr>
            <p:spPr>
              <a:xfrm>
                <a:off x="327377" y="1365956"/>
                <a:ext cx="11026423" cy="37856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ko-KR" sz="20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DirectCLR</a:t>
                </a:r>
              </a:p>
              <a:p>
                <a:pPr marL="800100" lvl="1" indent="-342900">
                  <a:buFont typeface="Wingdings" panose="05000000000000000000" pitchFamily="2" charset="2"/>
                  <a:buChar char="ü"/>
                </a:pPr>
                <a:r>
                  <a:rPr lang="en-US" altLang="ko-KR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Remove the projector</a:t>
                </a:r>
              </a:p>
              <a:p>
                <a:pPr marL="800100" lvl="1" indent="-342900">
                  <a:buFont typeface="Wingdings" panose="05000000000000000000" pitchFamily="2" charset="2"/>
                  <a:buChar char="ü"/>
                </a:pPr>
                <a:r>
                  <a:rPr lang="en-US" altLang="ko-KR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Directly send sub-vector of representation to the loss</a:t>
                </a:r>
              </a:p>
              <a:p>
                <a:pPr lvl="1"/>
                <a:r>
                  <a:rPr lang="en-US" altLang="ko-KR" sz="20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     </a:t>
                </a:r>
                <a:r>
                  <a:rPr lang="en-US" altLang="ko-KR" sz="2000" b="1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Simplified training framework!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altLang="ko-KR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ko-KR" sz="20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InfoNCE</a:t>
                </a:r>
                <a:r>
                  <a:rPr lang="ko-KR" alt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ko-KR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Loss</a:t>
                </a:r>
                <a:r>
                  <a:rPr lang="ko-KR" alt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ko-KR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is</a:t>
                </a:r>
                <a:r>
                  <a:rPr lang="ko-KR" alt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ko-KR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calculated</a:t>
                </a:r>
                <a:r>
                  <a:rPr lang="ko-KR" alt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ko-KR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only</a:t>
                </a:r>
                <a:r>
                  <a:rPr lang="ko-KR" alt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ko-KR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with</a:t>
                </a:r>
                <a:r>
                  <a:rPr lang="ko-KR" alt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sz="2000" b="1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𝒛</m:t>
                    </m:r>
                    <m:r>
                      <a:rPr lang="en-US" altLang="ko-KR" sz="2000" b="1" i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lang="en-US" altLang="ko-KR" sz="2000" b="1" i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𝐫</m:t>
                    </m:r>
                    <m:d>
                      <m:dPr>
                        <m:begChr m:val="["/>
                        <m:endChr m:val="]"/>
                        <m:ctrlPr>
                          <a:rPr lang="en-US" altLang="ko-KR" sz="20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altLang="ko-KR" sz="2000" b="1" i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𝟎</m:t>
                        </m:r>
                        <m:r>
                          <a:rPr lang="en-US" altLang="ko-KR" sz="2000" b="1" i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:</m:t>
                        </m:r>
                        <m:sSub>
                          <m:sSubPr>
                            <m:ctrlPr>
                              <a:rPr lang="en-US" altLang="ko-KR" sz="2000" b="1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altLang="ko-KR" sz="2000" b="1" i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𝐝</m:t>
                            </m:r>
                          </m:e>
                          <m:sub>
                            <m:r>
                              <a:rPr lang="en-US" altLang="ko-KR" sz="2000" b="1" i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𝟎</m:t>
                            </m:r>
                          </m:sub>
                        </m:sSub>
                      </m:e>
                    </m:d>
                  </m:oMath>
                </a14:m>
                <a:endParaRPr lang="en-US" altLang="ko-KR" sz="20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altLang="ko-KR" sz="20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ko-KR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Comparison between </a:t>
                </a:r>
                <a:r>
                  <a:rPr lang="en-US" altLang="ko-KR" sz="20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SimCLR</a:t>
                </a:r>
                <a:endParaRPr lang="en-US" altLang="ko-KR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800100" lvl="1" indent="-342900">
                  <a:buFont typeface="Wingdings" panose="05000000000000000000" pitchFamily="2" charset="2"/>
                  <a:buChar char="ü"/>
                </a:pPr>
                <a:r>
                  <a:rPr lang="en-US" altLang="ko-KR" sz="20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DirectCLR</a:t>
                </a:r>
                <a:r>
                  <a:rPr lang="en-US" altLang="ko-KR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trained with standard recipe of </a:t>
                </a:r>
                <a:r>
                  <a:rPr lang="en-US" altLang="ko-KR" sz="20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SimCLR</a:t>
                </a:r>
                <a:r>
                  <a:rPr lang="en-US" altLang="ko-KR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for100 epochs</a:t>
                </a:r>
              </a:p>
              <a:p>
                <a:pPr marL="800100" lvl="1" indent="-342900">
                  <a:buFont typeface="Wingdings" panose="05000000000000000000" pitchFamily="2" charset="2"/>
                  <a:buChar char="ü"/>
                </a:pPr>
                <a:r>
                  <a:rPr lang="en-US" altLang="ko-KR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ResNet-50 as backbone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altLang="ko-KR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altLang="ko-KR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EB4C9E0-2A71-4FF9-94B2-413F540540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377" y="1365956"/>
                <a:ext cx="11026423" cy="3785652"/>
              </a:xfrm>
              <a:prstGeom prst="rect">
                <a:avLst/>
              </a:prstGeom>
              <a:blipFill>
                <a:blip r:embed="rId3"/>
                <a:stretch>
                  <a:fillRect l="-498" t="-64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23E0F9B2-71A8-4A75-94A0-4D313037D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72126" y="6356350"/>
            <a:ext cx="381674" cy="365125"/>
          </a:xfrm>
        </p:spPr>
        <p:txBody>
          <a:bodyPr/>
          <a:lstStyle/>
          <a:p>
            <a:fld id="{491C0072-4DC1-48CC-BEBD-0B21D41EF312}" type="slidenum">
              <a:rPr lang="ko-KR" altLang="en-US" smtClean="0"/>
              <a:t>26</a:t>
            </a:fld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8373D17-0F15-4EDD-8FBE-E220E62970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8120" y="1160268"/>
            <a:ext cx="3794086" cy="2378460"/>
          </a:xfrm>
          <a:prstGeom prst="rect">
            <a:avLst/>
          </a:prstGeom>
        </p:spPr>
      </p:pic>
      <p:sp>
        <p:nvSpPr>
          <p:cNvPr id="4" name="화살표: 오른쪽 3">
            <a:extLst>
              <a:ext uri="{FF2B5EF4-FFF2-40B4-BE49-F238E27FC236}">
                <a16:creationId xmlns:a16="http://schemas.microsoft.com/office/drawing/2014/main" id="{9AC16A88-2731-41C4-B813-5D5EFE51CD02}"/>
              </a:ext>
            </a:extLst>
          </p:cNvPr>
          <p:cNvSpPr/>
          <p:nvPr/>
        </p:nvSpPr>
        <p:spPr>
          <a:xfrm>
            <a:off x="838200" y="2349498"/>
            <a:ext cx="373380" cy="297180"/>
          </a:xfrm>
          <a:prstGeom prst="rightArrow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351C98CC-4234-4305-B494-6B68FCFBCB1B}"/>
              </a:ext>
            </a:extLst>
          </p:cNvPr>
          <p:cNvGrpSpPr/>
          <p:nvPr/>
        </p:nvGrpSpPr>
        <p:grpSpPr>
          <a:xfrm>
            <a:off x="1024889" y="4638158"/>
            <a:ext cx="6322617" cy="1960524"/>
            <a:chOff x="1024889" y="4638158"/>
            <a:chExt cx="6322617" cy="1960524"/>
          </a:xfrm>
        </p:grpSpPr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915F376F-473B-4F35-9FBD-521D03DC850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024889" y="4638158"/>
              <a:ext cx="6322617" cy="1591192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5F8E5B3A-7B4E-4469-A76F-A80A75769A7B}"/>
                </a:ext>
              </a:extLst>
            </p:cNvPr>
            <p:cNvSpPr txBox="1"/>
            <p:nvPr/>
          </p:nvSpPr>
          <p:spPr>
            <a:xfrm>
              <a:off x="2504082" y="6229350"/>
              <a:ext cx="336423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dirty="0"/>
                <a:t>&lt;Test accuracy on ImageNet&gt;</a:t>
              </a:r>
              <a:endParaRPr lang="ko-KR" altLang="en-US" dirty="0"/>
            </a:p>
          </p:txBody>
        </p:sp>
      </p:grpSp>
      <p:pic>
        <p:nvPicPr>
          <p:cNvPr id="12" name="그림 11">
            <a:extLst>
              <a:ext uri="{FF2B5EF4-FFF2-40B4-BE49-F238E27FC236}">
                <a16:creationId xmlns:a16="http://schemas.microsoft.com/office/drawing/2014/main" id="{74A74CE4-0F9F-4711-811F-BAA50E84BAE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08907" y="4294079"/>
            <a:ext cx="3104813" cy="2304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778400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>
            <a:extLst>
              <a:ext uri="{FF2B5EF4-FFF2-40B4-BE49-F238E27FC236}">
                <a16:creationId xmlns:a16="http://schemas.microsoft.com/office/drawing/2014/main" id="{27E24DCE-D15E-451A-95AD-AFF3A0E82E25}"/>
              </a:ext>
            </a:extLst>
          </p:cNvPr>
          <p:cNvSpPr txBox="1"/>
          <p:nvPr/>
        </p:nvSpPr>
        <p:spPr>
          <a:xfrm>
            <a:off x="243442" y="497349"/>
            <a:ext cx="1008927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i="1" dirty="0">
                <a:solidFill>
                  <a:srgbClr val="0E4A8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Main Idea</a:t>
            </a:r>
            <a:endParaRPr lang="ko-KR" altLang="en-US" sz="3200" b="1" i="1" dirty="0">
              <a:solidFill>
                <a:srgbClr val="0E4A8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EB4C9E0-2A71-4FF9-94B2-413F5405404A}"/>
                  </a:ext>
                </a:extLst>
              </p:cNvPr>
              <p:cNvSpPr txBox="1"/>
              <p:nvPr/>
            </p:nvSpPr>
            <p:spPr>
              <a:xfrm>
                <a:off x="327377" y="1365956"/>
                <a:ext cx="11026423" cy="22467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ko-KR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Why the rest of the representation, </a:t>
                </a:r>
                <a14:m>
                  <m:oMath xmlns:m="http://schemas.openxmlformats.org/officeDocument/2006/math">
                    <m:r>
                      <a:rPr lang="en-US" altLang="ko-KR" sz="2000" b="1" i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𝐫</m:t>
                    </m:r>
                    <m:r>
                      <a:rPr lang="en-US" altLang="ko-KR" sz="2000" b="1" i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[</m:t>
                    </m:r>
                    <m:sSub>
                      <m:sSubPr>
                        <m:ctrlPr>
                          <a:rPr lang="en-US" altLang="ko-KR" sz="20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ko-KR" sz="2000" b="1" i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𝐝</m:t>
                        </m:r>
                      </m:e>
                      <m:sub>
                        <m:r>
                          <a:rPr lang="en-US" altLang="ko-KR" sz="2000" b="1" i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𝟎</m:t>
                        </m:r>
                      </m:sub>
                    </m:sSub>
                    <m:r>
                      <a:rPr lang="en-US" altLang="ko-KR" sz="2000" b="1" i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+</m:t>
                    </m:r>
                    <m:r>
                      <a:rPr lang="en-US" altLang="ko-KR" sz="2000" b="1" i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𝟏</m:t>
                    </m:r>
                    <m:r>
                      <a:rPr lang="en-US" altLang="ko-KR" sz="2000" b="1" i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:]</m:t>
                    </m:r>
                  </m:oMath>
                </a14:m>
                <a:r>
                  <a:rPr lang="en-US" altLang="ko-KR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, contains useful information?</a:t>
                </a:r>
              </a:p>
              <a:p>
                <a:pPr marL="800100" lvl="1" indent="-342900"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r>
                      <a:rPr lang="en-US" altLang="ko-KR" sz="2000" b="1" i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𝐫</m:t>
                    </m:r>
                    <m:r>
                      <a:rPr lang="en-US" altLang="ko-KR" sz="2000" b="1" i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[</m:t>
                    </m:r>
                    <m:sSub>
                      <m:sSubPr>
                        <m:ctrlPr>
                          <a:rPr lang="en-US" altLang="ko-KR" sz="20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ko-KR" sz="2000" b="1" i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𝐝</m:t>
                        </m:r>
                      </m:e>
                      <m:sub>
                        <m:r>
                          <a:rPr lang="en-US" altLang="ko-KR" sz="2000" b="1" i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𝟎</m:t>
                        </m:r>
                      </m:sub>
                    </m:sSub>
                    <m:r>
                      <a:rPr lang="en-US" altLang="ko-KR" sz="2000" b="1" i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+</m:t>
                    </m:r>
                    <m:r>
                      <a:rPr lang="en-US" altLang="ko-KR" sz="2000" b="1" i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𝟏</m:t>
                    </m:r>
                    <m:r>
                      <a:rPr lang="en-US" altLang="ko-KR" sz="2000" b="1" i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:]</m:t>
                    </m:r>
                  </m:oMath>
                </a14:m>
                <a:r>
                  <a:rPr lang="en-US" altLang="ko-KR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is copied from the layer before the last residual block</a:t>
                </a:r>
              </a:p>
              <a:p>
                <a:pPr marL="800100" lvl="1" indent="-342900">
                  <a:buFont typeface="Wingdings" panose="05000000000000000000" pitchFamily="2" charset="2"/>
                  <a:buChar char="ü"/>
                </a:pPr>
                <a:r>
                  <a:rPr lang="en-US" altLang="ko-KR" sz="2000" i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DirectCLR</a:t>
                </a:r>
                <a:r>
                  <a:rPr lang="en-US" altLang="ko-KR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takes advantage of the </a:t>
                </a:r>
                <a:r>
                  <a:rPr lang="en-US" altLang="ko-KR" sz="20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ResNet</a:t>
                </a:r>
                <a:endParaRPr lang="en-US" altLang="ko-KR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indent="-342900">
                  <a:buFont typeface="Wingdings" panose="05000000000000000000" pitchFamily="2" charset="2"/>
                  <a:buChar char="ü"/>
                </a:pPr>
                <a:endParaRPr lang="en-US" altLang="ko-KR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altLang="ko-KR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800100" lvl="1" indent="-342900">
                  <a:buFont typeface="Wingdings" panose="05000000000000000000" pitchFamily="2" charset="2"/>
                  <a:buChar char="ü"/>
                </a:pPr>
                <a:endParaRPr lang="en-US" altLang="ko-KR" sz="20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altLang="ko-KR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EB4C9E0-2A71-4FF9-94B2-413F540540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377" y="1365956"/>
                <a:ext cx="11026423" cy="2246769"/>
              </a:xfrm>
              <a:prstGeom prst="rect">
                <a:avLst/>
              </a:prstGeom>
              <a:blipFill>
                <a:blip r:embed="rId3"/>
                <a:stretch>
                  <a:fillRect l="-498" t="-108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23E0F9B2-71A8-4A75-94A0-4D313037D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72126" y="6356350"/>
            <a:ext cx="381674" cy="365125"/>
          </a:xfrm>
        </p:spPr>
        <p:txBody>
          <a:bodyPr/>
          <a:lstStyle/>
          <a:p>
            <a:fld id="{491C0072-4DC1-48CC-BEBD-0B21D41EF312}" type="slidenum">
              <a:rPr lang="ko-KR" altLang="en-US" smtClean="0"/>
              <a:t>27</a:t>
            </a:fld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E29FC8AC-9CBE-491F-B02A-54E5B294AE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91229" y="2716934"/>
            <a:ext cx="7098717" cy="1791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247875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Box 32">
            <a:extLst>
              <a:ext uri="{FF2B5EF4-FFF2-40B4-BE49-F238E27FC236}">
                <a16:creationId xmlns:a16="http://schemas.microsoft.com/office/drawing/2014/main" id="{2D2463F9-0C95-4C21-8506-281686CFFD15}"/>
              </a:ext>
            </a:extLst>
          </p:cNvPr>
          <p:cNvSpPr txBox="1"/>
          <p:nvPr/>
        </p:nvSpPr>
        <p:spPr>
          <a:xfrm>
            <a:off x="678485" y="2769348"/>
            <a:ext cx="10835029" cy="10016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4500" b="1" i="1" dirty="0">
                <a:latin typeface="Arial" panose="020B0604020202020204" pitchFamily="34" charset="0"/>
                <a:cs typeface="Arial" panose="020B0604020202020204" pitchFamily="34" charset="0"/>
              </a:rPr>
              <a:t>Question</a:t>
            </a:r>
          </a:p>
        </p:txBody>
      </p:sp>
    </p:spTree>
    <p:extLst>
      <p:ext uri="{BB962C8B-B14F-4D97-AF65-F5344CB8AC3E}">
        <p14:creationId xmlns:p14="http://schemas.microsoft.com/office/powerpoint/2010/main" val="424330057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FA50FC13-916C-4251-9CCC-910D36FC7A05}"/>
              </a:ext>
            </a:extLst>
          </p:cNvPr>
          <p:cNvSpPr/>
          <p:nvPr/>
        </p:nvSpPr>
        <p:spPr>
          <a:xfrm>
            <a:off x="238535" y="3429000"/>
            <a:ext cx="10323443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42950" indent="-742950">
              <a:buFont typeface="+mj-lt"/>
              <a:buAutoNum type="arabicPeriod" startAt="4"/>
            </a:pPr>
            <a:r>
              <a:rPr lang="en-US" altLang="ko-KR" sz="4000" b="1" i="1">
                <a:solidFill>
                  <a:srgbClr val="0E4A8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Conclusion</a:t>
            </a:r>
            <a:endParaRPr lang="en-US" altLang="ko-KR" sz="4000" b="1" i="1" dirty="0">
              <a:solidFill>
                <a:srgbClr val="0E4A8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809992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>
            <a:extLst>
              <a:ext uri="{FF2B5EF4-FFF2-40B4-BE49-F238E27FC236}">
                <a16:creationId xmlns:a16="http://schemas.microsoft.com/office/drawing/2014/main" id="{27E24DCE-D15E-451A-95AD-AFF3A0E82E25}"/>
              </a:ext>
            </a:extLst>
          </p:cNvPr>
          <p:cNvSpPr txBox="1"/>
          <p:nvPr/>
        </p:nvSpPr>
        <p:spPr>
          <a:xfrm>
            <a:off x="243442" y="497349"/>
            <a:ext cx="1008927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i="1" dirty="0">
                <a:solidFill>
                  <a:srgbClr val="0E4A8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Conclusion</a:t>
            </a:r>
            <a:endParaRPr lang="ko-KR" altLang="en-US" sz="3200" b="1" i="1" dirty="0">
              <a:solidFill>
                <a:srgbClr val="0E4A8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EB4C9E0-2A71-4FF9-94B2-413F5405404A}"/>
              </a:ext>
            </a:extLst>
          </p:cNvPr>
          <p:cNvSpPr txBox="1"/>
          <p:nvPr/>
        </p:nvSpPr>
        <p:spPr>
          <a:xfrm>
            <a:off x="327378" y="1365956"/>
            <a:ext cx="9788172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2000" dirty="0">
                <a:latin typeface="Arial" panose="020B0604020202020204" pitchFamily="34" charset="0"/>
                <a:cs typeface="Arial" panose="020B0604020202020204" pitchFamily="34" charset="0"/>
              </a:rPr>
              <a:t>Provide theoretical understanding of dimensional collapse</a:t>
            </a:r>
          </a:p>
          <a:p>
            <a:pPr marL="971550" lvl="1" indent="-514350">
              <a:buFont typeface="+mj-lt"/>
              <a:buAutoNum type="romanUcPeriod"/>
            </a:pPr>
            <a:r>
              <a:rPr lang="en-US" altLang="ko-KR" sz="2000" dirty="0">
                <a:latin typeface="Arial" panose="020B0604020202020204" pitchFamily="34" charset="0"/>
                <a:cs typeface="Arial" panose="020B0604020202020204" pitchFamily="34" charset="0"/>
              </a:rPr>
              <a:t>Strong Augmentation</a:t>
            </a:r>
          </a:p>
          <a:p>
            <a:pPr marL="971550" lvl="1" indent="-514350">
              <a:buFont typeface="+mj-lt"/>
              <a:buAutoNum type="romanUcPeriod"/>
            </a:pPr>
            <a:r>
              <a:rPr lang="en-US" altLang="ko-KR" sz="2000" dirty="0">
                <a:latin typeface="Arial" panose="020B0604020202020204" pitchFamily="34" charset="0"/>
                <a:cs typeface="Arial" panose="020B0604020202020204" pitchFamily="34" charset="0"/>
              </a:rPr>
              <a:t>Implicit Regularization</a:t>
            </a:r>
          </a:p>
          <a:p>
            <a:pPr marL="971550" lvl="1" indent="-514350">
              <a:buFont typeface="+mj-lt"/>
              <a:buAutoNum type="romanUcPeriod"/>
            </a:pPr>
            <a:endParaRPr lang="en-US" altLang="ko-KR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000" dirty="0">
                <a:latin typeface="Arial" panose="020B0604020202020204" pitchFamily="34" charset="0"/>
                <a:cs typeface="Arial" panose="020B0604020202020204" pitchFamily="34" charset="0"/>
              </a:rPr>
              <a:t>Propose novel contrastive self-supervised learning, </a:t>
            </a:r>
            <a:r>
              <a:rPr lang="en-US" altLang="ko-KR" sz="2000" b="1" i="1" dirty="0" err="1">
                <a:latin typeface="Arial" panose="020B0604020202020204" pitchFamily="34" charset="0"/>
                <a:cs typeface="Arial" panose="020B0604020202020204" pitchFamily="34" charset="0"/>
              </a:rPr>
              <a:t>DirectCLR</a:t>
            </a:r>
            <a:endParaRPr lang="en-US" altLang="ko-KR" sz="20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0100" lvl="1" indent="-342900">
              <a:buFont typeface="Wingdings" panose="05000000000000000000" pitchFamily="2" charset="2"/>
              <a:buChar char="ü"/>
            </a:pPr>
            <a:r>
              <a:rPr lang="en-US" altLang="ko-KR" sz="2000" dirty="0">
                <a:latin typeface="Arial" panose="020B0604020202020204" pitchFamily="34" charset="0"/>
                <a:cs typeface="Arial" panose="020B0604020202020204" pitchFamily="34" charset="0"/>
              </a:rPr>
              <a:t>Prevents dimensional collapse without projector</a:t>
            </a:r>
          </a:p>
          <a:p>
            <a:pPr marL="800100" lvl="1" indent="-342900">
              <a:buFont typeface="Wingdings" panose="05000000000000000000" pitchFamily="2" charset="2"/>
              <a:buChar char="ü"/>
            </a:pPr>
            <a:r>
              <a:rPr lang="en-US" altLang="ko-KR" sz="2000" dirty="0">
                <a:latin typeface="Arial" panose="020B0604020202020204" pitchFamily="34" charset="0"/>
                <a:cs typeface="Arial" panose="020B0604020202020204" pitchFamily="34" charset="0"/>
              </a:rPr>
              <a:t>Better performance compared to </a:t>
            </a:r>
            <a:r>
              <a:rPr lang="en-US" altLang="ko-KR" sz="2000" i="1" dirty="0" err="1">
                <a:latin typeface="Arial" panose="020B0604020202020204" pitchFamily="34" charset="0"/>
                <a:cs typeface="Arial" panose="020B0604020202020204" pitchFamily="34" charset="0"/>
              </a:rPr>
              <a:t>SimCLR</a:t>
            </a:r>
            <a:r>
              <a:rPr lang="en-US" altLang="ko-KR" sz="20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2000" dirty="0">
                <a:latin typeface="Arial" panose="020B0604020202020204" pitchFamily="34" charset="0"/>
                <a:cs typeface="Arial" panose="020B0604020202020204" pitchFamily="34" charset="0"/>
              </a:rPr>
              <a:t>with trainable linear projector</a:t>
            </a:r>
          </a:p>
          <a:p>
            <a:pPr marL="800100" lvl="1" indent="-342900">
              <a:buFont typeface="Wingdings" panose="05000000000000000000" pitchFamily="2" charset="2"/>
              <a:buChar char="ü"/>
            </a:pPr>
            <a:endParaRPr lang="en-US" altLang="ko-KR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000" dirty="0">
                <a:latin typeface="Arial" panose="020B0604020202020204" pitchFamily="34" charset="0"/>
                <a:cs typeface="Arial" panose="020B0604020202020204" pitchFamily="34" charset="0"/>
              </a:rPr>
              <a:t>Limitation</a:t>
            </a:r>
          </a:p>
          <a:p>
            <a:pPr marL="800100" lvl="1" indent="-342900">
              <a:buFont typeface="Wingdings" panose="05000000000000000000" pitchFamily="2" charset="2"/>
              <a:buChar char="ü"/>
            </a:pPr>
            <a:r>
              <a:rPr lang="en-US" altLang="ko-KR" sz="2000" dirty="0" err="1">
                <a:latin typeface="Arial" panose="020B0604020202020204" pitchFamily="34" charset="0"/>
                <a:cs typeface="Arial" panose="020B0604020202020204" pitchFamily="34" charset="0"/>
              </a:rPr>
              <a:t>DirectCLR</a:t>
            </a:r>
            <a:r>
              <a:rPr lang="en-US" altLang="ko-KR" sz="2000" dirty="0">
                <a:latin typeface="Arial" panose="020B0604020202020204" pitchFamily="34" charset="0"/>
                <a:cs typeface="Arial" panose="020B0604020202020204" pitchFamily="34" charset="0"/>
              </a:rPr>
              <a:t> does not perform better than </a:t>
            </a:r>
            <a:r>
              <a:rPr lang="en-US" altLang="ko-KR" sz="2000" i="1" dirty="0" err="1">
                <a:latin typeface="Arial" panose="020B0604020202020204" pitchFamily="34" charset="0"/>
                <a:cs typeface="Arial" panose="020B0604020202020204" pitchFamily="34" charset="0"/>
              </a:rPr>
              <a:t>SimCLR</a:t>
            </a:r>
            <a:r>
              <a:rPr lang="en-US" altLang="ko-KR" sz="2000" dirty="0">
                <a:latin typeface="Arial" panose="020B0604020202020204" pitchFamily="34" charset="0"/>
                <a:cs typeface="Arial" panose="020B0604020202020204" pitchFamily="34" charset="0"/>
              </a:rPr>
              <a:t> with 2-layer projector</a:t>
            </a:r>
          </a:p>
          <a:p>
            <a:pPr marL="800100" lvl="1" indent="-342900">
              <a:buFont typeface="Wingdings" panose="05000000000000000000" pitchFamily="2" charset="2"/>
              <a:buChar char="ü"/>
            </a:pPr>
            <a:r>
              <a:rPr lang="en-US" altLang="ko-KR" sz="2000" dirty="0">
                <a:latin typeface="Arial" panose="020B0604020202020204" pitchFamily="34" charset="0"/>
                <a:cs typeface="Arial" panose="020B0604020202020204" pitchFamily="34" charset="0"/>
              </a:rPr>
              <a:t>Limitation on generalization to other architecture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23E0F9B2-71A8-4A75-94A0-4D313037D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72126" y="6356350"/>
            <a:ext cx="381674" cy="365125"/>
          </a:xfrm>
        </p:spPr>
        <p:txBody>
          <a:bodyPr/>
          <a:lstStyle/>
          <a:p>
            <a:fld id="{491C0072-4DC1-48CC-BEBD-0B21D41EF312}" type="slidenum">
              <a:rPr lang="ko-KR" altLang="en-US" smtClean="0"/>
              <a:t>30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4215548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CBD7D0C-5A4E-4470-B896-3826413A47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51408" y="2766218"/>
            <a:ext cx="3289183" cy="1325563"/>
          </a:xfrm>
        </p:spPr>
        <p:txBody>
          <a:bodyPr/>
          <a:lstStyle/>
          <a:p>
            <a:r>
              <a:rPr lang="en-US" altLang="ko-KR" b="1" i="1" dirty="0">
                <a:solidFill>
                  <a:srgbClr val="0E4A8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Thank you</a:t>
            </a:r>
            <a:endParaRPr lang="ko-KR" altLang="en-US" b="1" i="1" dirty="0">
              <a:solidFill>
                <a:srgbClr val="0E4A8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AA891FE-4173-4905-A2B1-0FA829F517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1C0072-4DC1-48CC-BEBD-0B21D41EF312}" type="slidenum">
              <a:rPr lang="ko-KR" altLang="en-US" smtClean="0"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09995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25363</TotalTime>
  <Words>3196</Words>
  <Application>Microsoft Office PowerPoint</Application>
  <PresentationFormat>와이드스크린</PresentationFormat>
  <Paragraphs>569</Paragraphs>
  <Slides>31</Slides>
  <Notes>31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31</vt:i4>
      </vt:variant>
    </vt:vector>
  </HeadingPairs>
  <TitlesOfParts>
    <vt:vector size="38" baseType="lpstr">
      <vt:lpstr>맑은 고딕</vt:lpstr>
      <vt:lpstr>Arial</vt:lpstr>
      <vt:lpstr>Cambria Math</vt:lpstr>
      <vt:lpstr>Times New Roman</vt:lpstr>
      <vt:lpstr>Wingdings</vt:lpstr>
      <vt:lpstr>Office 테마</vt:lpstr>
      <vt:lpstr>디자인 사용자 지정</vt:lpstr>
      <vt:lpstr>PowerPoint 프레젠테이션</vt:lpstr>
      <vt:lpstr>Contents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Leejaeyoon</dc:creator>
  <cp:lastModifiedBy>박경원</cp:lastModifiedBy>
  <cp:revision>1050</cp:revision>
  <dcterms:created xsi:type="dcterms:W3CDTF">2020-04-10T02:57:30Z</dcterms:created>
  <dcterms:modified xsi:type="dcterms:W3CDTF">2021-11-21T09:38:08Z</dcterms:modified>
</cp:coreProperties>
</file>