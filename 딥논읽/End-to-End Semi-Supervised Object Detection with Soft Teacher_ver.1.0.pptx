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1"/>
  </p:sldMasterIdLst>
  <p:notesMasterIdLst>
    <p:notesMasterId r:id="rId46"/>
  </p:notesMasterIdLst>
  <p:handoutMasterIdLst>
    <p:handoutMasterId r:id="rId47"/>
  </p:handoutMasterIdLst>
  <p:sldIdLst>
    <p:sldId id="934" r:id="rId2"/>
    <p:sldId id="1354" r:id="rId3"/>
    <p:sldId id="1319" r:id="rId4"/>
    <p:sldId id="1357" r:id="rId5"/>
    <p:sldId id="1355" r:id="rId6"/>
    <p:sldId id="1358" r:id="rId7"/>
    <p:sldId id="1359" r:id="rId8"/>
    <p:sldId id="1362" r:id="rId9"/>
    <p:sldId id="1363" r:id="rId10"/>
    <p:sldId id="1330" r:id="rId11"/>
    <p:sldId id="1360" r:id="rId12"/>
    <p:sldId id="1361" r:id="rId13"/>
    <p:sldId id="1333" r:id="rId14"/>
    <p:sldId id="1332" r:id="rId15"/>
    <p:sldId id="1321" r:id="rId16"/>
    <p:sldId id="1372" r:id="rId17"/>
    <p:sldId id="1373" r:id="rId18"/>
    <p:sldId id="1364" r:id="rId19"/>
    <p:sldId id="1334" r:id="rId20"/>
    <p:sldId id="1365" r:id="rId21"/>
    <p:sldId id="1335" r:id="rId22"/>
    <p:sldId id="1366" r:id="rId23"/>
    <p:sldId id="1367" r:id="rId24"/>
    <p:sldId id="1368" r:id="rId25"/>
    <p:sldId id="1336" r:id="rId26"/>
    <p:sldId id="1370" r:id="rId27"/>
    <p:sldId id="1371" r:id="rId28"/>
    <p:sldId id="1345" r:id="rId29"/>
    <p:sldId id="1326" r:id="rId30"/>
    <p:sldId id="1337" r:id="rId31"/>
    <p:sldId id="1338" r:id="rId32"/>
    <p:sldId id="1339" r:id="rId33"/>
    <p:sldId id="1340" r:id="rId34"/>
    <p:sldId id="1343" r:id="rId35"/>
    <p:sldId id="1342" r:id="rId36"/>
    <p:sldId id="1341" r:id="rId37"/>
    <p:sldId id="1374" r:id="rId38"/>
    <p:sldId id="1375" r:id="rId39"/>
    <p:sldId id="1344" r:id="rId40"/>
    <p:sldId id="1346" r:id="rId41"/>
    <p:sldId id="1347" r:id="rId42"/>
    <p:sldId id="1350" r:id="rId43"/>
    <p:sldId id="1376" r:id="rId44"/>
    <p:sldId id="1353" r:id="rId45"/>
  </p:sldIdLst>
  <p:sldSz cx="9144000" cy="6858000" type="screen4x3"/>
  <p:notesSz cx="6742113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>
          <p15:clr>
            <a:srgbClr val="A4A3A4"/>
          </p15:clr>
        </p15:guide>
        <p15:guide id="2" pos="212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0000FF"/>
    <a:srgbClr val="FFE6CC"/>
    <a:srgbClr val="F8F8F8"/>
    <a:srgbClr val="A9D18E"/>
    <a:srgbClr val="C6C6C6"/>
    <a:srgbClr val="E9EDF4"/>
    <a:srgbClr val="55759C"/>
    <a:srgbClr val="4F81BD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3B7864-2E00-4AD9-9F47-32F78C9DA01B}" v="14" dt="2021-10-31T12:19:01.0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테마 스타일 2 - 강조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어두운 스타일 1 - 강조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44" autoAdjust="0"/>
    <p:restoredTop sz="92533" autoAdjust="0"/>
  </p:normalViewPr>
  <p:slideViewPr>
    <p:cSldViewPr snapToObjects="1">
      <p:cViewPr varScale="1">
        <p:scale>
          <a:sx n="74" d="100"/>
          <a:sy n="74" d="100"/>
        </p:scale>
        <p:origin x="408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101" d="100"/>
          <a:sy n="101" d="100"/>
        </p:scale>
        <p:origin x="-3018" y="-90"/>
      </p:cViewPr>
      <p:guideLst>
        <p:guide orient="horz" pos="3110"/>
        <p:guide pos="212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h.mail@gmail.com" userId="610d71c0dab9833f" providerId="LiveId" clId="{273B7864-2E00-4AD9-9F47-32F78C9DA01B}"/>
    <pc:docChg chg="modSld">
      <pc:chgData name="kimbh.mail@gmail.com" userId="610d71c0dab9833f" providerId="LiveId" clId="{273B7864-2E00-4AD9-9F47-32F78C9DA01B}" dt="2021-10-31T12:19:01.016" v="76"/>
      <pc:docMkLst>
        <pc:docMk/>
      </pc:docMkLst>
      <pc:sldChg chg="modSp mod">
        <pc:chgData name="kimbh.mail@gmail.com" userId="610d71c0dab9833f" providerId="LiveId" clId="{273B7864-2E00-4AD9-9F47-32F78C9DA01B}" dt="2021-10-31T12:19:01.016" v="76"/>
        <pc:sldMkLst>
          <pc:docMk/>
          <pc:sldMk cId="2427674154" sldId="1376"/>
        </pc:sldMkLst>
        <pc:spChg chg="mod">
          <ac:chgData name="kimbh.mail@gmail.com" userId="610d71c0dab9833f" providerId="LiveId" clId="{273B7864-2E00-4AD9-9F47-32F78C9DA01B}" dt="2021-10-31T12:19:01.016" v="76"/>
          <ac:spMkLst>
            <pc:docMk/>
            <pc:sldMk cId="2427674154" sldId="1376"/>
            <ac:spMk id="3" creationId="{13BAEC09-7320-4F0C-9E8C-4B9D0A3F869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>
              <a:defRPr sz="1200"/>
            </a:lvl1pPr>
          </a:lstStyle>
          <a:p>
            <a:fld id="{85C30BFA-5C6F-4751-A60F-1891D9D032AD}" type="datetimeFigureOut">
              <a:rPr lang="ko-KR" altLang="en-US" smtClean="0"/>
              <a:pPr/>
              <a:t>2021-10-31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>
              <a:defRPr sz="1200"/>
            </a:lvl1pPr>
          </a:lstStyle>
          <a:p>
            <a:fld id="{E885786E-BF44-4B4E-B288-71366A7332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46193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18972" y="0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5688D100-9705-4248-87A6-B01B0E7D9CB9}" type="datetimeFigureOut">
              <a:rPr lang="ko-KR" altLang="en-US"/>
              <a:pPr>
                <a:defRPr/>
              </a:pPr>
              <a:t>2021-10-31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03288" y="741363"/>
            <a:ext cx="4935537" cy="3703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45" tIns="45423" rIns="90845" bIns="45423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4212" y="4690269"/>
            <a:ext cx="5393690" cy="4443412"/>
          </a:xfrm>
          <a:prstGeom prst="rect">
            <a:avLst/>
          </a:prstGeom>
        </p:spPr>
        <p:txBody>
          <a:bodyPr vert="horz" lIns="90845" tIns="45423" rIns="90845" bIns="45423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18972" y="9378824"/>
            <a:ext cx="2921582" cy="493713"/>
          </a:xfrm>
          <a:prstGeom prst="rect">
            <a:avLst/>
          </a:prstGeom>
        </p:spPr>
        <p:txBody>
          <a:bodyPr vert="horz" lIns="90845" tIns="45423" rIns="90845" bIns="45423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811EDD26-A168-4EA9-A3CB-289510ED914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4690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62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363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530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32132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9877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427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1EDD26-A168-4EA9-A3CB-289510ED9143}" type="slidenum">
              <a:rPr lang="ko-KR" altLang="en-US" smtClean="0"/>
              <a:pPr>
                <a:defRPr/>
              </a:pPr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848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643042" y="2000240"/>
            <a:ext cx="7215238" cy="1714511"/>
          </a:xfrm>
          <a:solidFill>
            <a:schemeClr val="tx1"/>
          </a:solidFill>
          <a:ln/>
          <a:effectLst>
            <a:outerShdw blurRad="40000" dist="23000" dir="5400000" rotWithShape="0">
              <a:srgbClr val="000000">
                <a:alpha val="35000"/>
              </a:srgbClr>
            </a:outerShdw>
            <a:reflection blurRad="6350" stA="52000" endA="300" endPos="35000" dir="5400000" sy="-100000" algn="bl" rotWithShape="0"/>
            <a:softEdge rad="63500"/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none"/>
        </p:style>
        <p:txBody>
          <a:bodyPr>
            <a:normAutofit/>
          </a:bodyPr>
          <a:lstStyle>
            <a:lvl1pPr marL="93663" indent="0" algn="l">
              <a:defRPr sz="2800" b="0" cap="none" spc="0" baseline="0">
                <a:ln w="1270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noProof="0" dirty="0"/>
              <a:t>마스터</a:t>
            </a:r>
            <a:r>
              <a:rPr lang="en-US" altLang="ko-KR" dirty="0"/>
              <a:t> </a:t>
            </a:r>
            <a:r>
              <a:rPr lang="ko-KR" altLang="en-US" dirty="0"/>
              <a:t>제목 스타일 편집</a:t>
            </a:r>
            <a:endParaRPr lang="en-US" altLang="ko-KR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714480" y="4286256"/>
            <a:ext cx="6715172" cy="2071702"/>
          </a:xfrm>
        </p:spPr>
        <p:txBody>
          <a:bodyPr>
            <a:normAutofit/>
          </a:bodyPr>
          <a:lstStyle>
            <a:lvl1pPr marL="74613" indent="0" algn="r">
              <a:buNone/>
              <a:defRPr sz="2000" baseline="0">
                <a:solidFill>
                  <a:schemeClr val="tx2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7" name="모서리가 둥근 직사각형 16"/>
          <p:cNvSpPr/>
          <p:nvPr userDrawn="1"/>
        </p:nvSpPr>
        <p:spPr>
          <a:xfrm>
            <a:off x="357158" y="2000240"/>
            <a:ext cx="928694" cy="785818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모서리가 둥근 직사각형 17"/>
          <p:cNvSpPr/>
          <p:nvPr userDrawn="1"/>
        </p:nvSpPr>
        <p:spPr>
          <a:xfrm>
            <a:off x="571472" y="2500306"/>
            <a:ext cx="928694" cy="785818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214282" y="2928934"/>
            <a:ext cx="928694" cy="78581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6406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6" name="직선 연결선 15"/>
          <p:cNvCxnSpPr/>
          <p:nvPr userDrawn="1"/>
        </p:nvCxnSpPr>
        <p:spPr>
          <a:xfrm>
            <a:off x="0" y="6561348"/>
            <a:ext cx="9144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001386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/>
          <p:cNvSpPr/>
          <p:nvPr userDrawn="1"/>
        </p:nvSpPr>
        <p:spPr>
          <a:xfrm>
            <a:off x="1233870" y="2271543"/>
            <a:ext cx="7119359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5" name="제목 1"/>
          <p:cNvSpPr>
            <a:spLocks noGrp="1"/>
          </p:cNvSpPr>
          <p:nvPr>
            <p:ph type="title"/>
          </p:nvPr>
        </p:nvSpPr>
        <p:spPr>
          <a:xfrm>
            <a:off x="1548358" y="1018919"/>
            <a:ext cx="6809830" cy="1202124"/>
          </a:xfrm>
        </p:spPr>
        <p:txBody>
          <a:bodyPr anchor="b" anchorCtr="0">
            <a:normAutofit/>
          </a:bodyPr>
          <a:lstStyle>
            <a:lvl1pPr algn="r">
              <a:defRPr sz="32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9" name="모서리가 둥근 직사각형 18"/>
          <p:cNvSpPr/>
          <p:nvPr userDrawn="1"/>
        </p:nvSpPr>
        <p:spPr>
          <a:xfrm>
            <a:off x="359532" y="857722"/>
            <a:ext cx="694318" cy="652444"/>
          </a:xfrm>
          <a:prstGeom prst="roundRect">
            <a:avLst/>
          </a:prstGeom>
          <a:solidFill>
            <a:srgbClr val="FFFF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673326" y="1336396"/>
            <a:ext cx="694318" cy="652444"/>
          </a:xfrm>
          <a:prstGeom prst="roundRect">
            <a:avLst/>
          </a:prstGeom>
          <a:solidFill>
            <a:srgbClr val="FFC000"/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1" name="모서리가 둥근 직사각형 20"/>
          <p:cNvSpPr/>
          <p:nvPr userDrawn="1"/>
        </p:nvSpPr>
        <p:spPr>
          <a:xfrm>
            <a:off x="272173" y="1636316"/>
            <a:ext cx="694318" cy="65244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6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  <p:cxnSp>
        <p:nvCxnSpPr>
          <p:cNvPr id="18" name="직선 연결선 17"/>
          <p:cNvCxnSpPr/>
          <p:nvPr userDrawn="1"/>
        </p:nvCxnSpPr>
        <p:spPr>
          <a:xfrm>
            <a:off x="2339752" y="6561348"/>
            <a:ext cx="68042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1" name="Picture 2" descr="E:\01. Users\zelos\Dropbox\01. Work to do\2015.11 UOS Application\공개강의\로고타입_cr.jpg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41" b="22615"/>
          <a:stretch/>
        </p:blipFill>
        <p:spPr bwMode="auto">
          <a:xfrm>
            <a:off x="979742" y="6471374"/>
            <a:ext cx="1311663" cy="306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/>
          <a:srcRect l="11981" t="2699" r="4711" b="40932"/>
          <a:stretch/>
        </p:blipFill>
        <p:spPr>
          <a:xfrm>
            <a:off x="95495" y="6153489"/>
            <a:ext cx="840422" cy="63577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79089132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>
            <a:lvl1pPr marL="452438" indent="-452438">
              <a:spcBef>
                <a:spcPts val="1000"/>
              </a:spcBef>
              <a:spcAft>
                <a:spcPts val="0"/>
              </a:spcAft>
              <a:buFont typeface="Wingdings" pitchFamily="2" charset="2"/>
              <a:buChar char="v"/>
              <a:defRPr sz="2400" b="1" i="0" cap="none" spc="0" baseline="0">
                <a:ln w="1905">
                  <a:noFill/>
                </a:ln>
                <a:solidFill>
                  <a:schemeClr val="tx1"/>
                </a:solidFill>
                <a:effectLst/>
                <a:latin typeface="+mj-ea"/>
                <a:ea typeface="+mj-ea"/>
                <a:cs typeface="Times New Roman" pitchFamily="18" charset="0"/>
              </a:defRPr>
            </a:lvl1pPr>
            <a:lvl2pPr marL="804863" indent="-347663">
              <a:spcBef>
                <a:spcPts val="800"/>
              </a:spcBef>
              <a:buFontTx/>
              <a:buBlip>
                <a:blip r:embed="rId2"/>
              </a:buBlip>
              <a:defRPr sz="20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  <a:cs typeface="Times New Roman" pitchFamily="18" charset="0"/>
              </a:defRPr>
            </a:lvl2pPr>
            <a:lvl3pPr marL="1168400" indent="-254000">
              <a:spcBef>
                <a:spcPts val="700"/>
              </a:spcBef>
              <a:defRPr sz="1800" baseline="0">
                <a:latin typeface="+mj-ea"/>
                <a:ea typeface="+mj-ea"/>
              </a:defRPr>
            </a:lvl3pPr>
            <a:lvl4pPr>
              <a:spcBef>
                <a:spcPts val="600"/>
              </a:spcBef>
              <a:defRPr sz="1800" baseline="0">
                <a:latin typeface="+mj-ea"/>
                <a:ea typeface="+mj-ea"/>
              </a:defRPr>
            </a:lvl4pPr>
            <a:lvl5pPr>
              <a:spcBef>
                <a:spcPts val="500"/>
              </a:spcBef>
              <a:defRPr sz="1600" baseline="0">
                <a:latin typeface="+mj-ea"/>
                <a:ea typeface="+mj-ea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grpSp>
        <p:nvGrpSpPr>
          <p:cNvPr id="23" name="그룹 22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4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03642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1048502" y="782638"/>
            <a:ext cx="7935161" cy="90487"/>
          </a:xfrm>
          <a:prstGeom prst="rect">
            <a:avLst/>
          </a:prstGeom>
          <a:solidFill>
            <a:schemeClr val="tx1"/>
          </a:solidFill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latin typeface="Calibri" pitchFamily="34" charset="0"/>
            </a:endParaRPr>
          </a:p>
        </p:txBody>
      </p:sp>
      <p:sp>
        <p:nvSpPr>
          <p:cNvPr id="18" name="제목 1"/>
          <p:cNvSpPr>
            <a:spLocks noGrp="1"/>
          </p:cNvSpPr>
          <p:nvPr>
            <p:ph type="title"/>
          </p:nvPr>
        </p:nvSpPr>
        <p:spPr>
          <a:xfrm>
            <a:off x="1151620" y="220646"/>
            <a:ext cx="7838453" cy="615931"/>
          </a:xfrm>
        </p:spPr>
        <p:txBody>
          <a:bodyPr>
            <a:normAutofit/>
          </a:bodyPr>
          <a:lstStyle>
            <a:lvl1pPr algn="l">
              <a:defRPr sz="2800" b="1" i="0" baseline="0">
                <a:solidFill>
                  <a:schemeClr val="tx1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2" name="그룹 1"/>
          <p:cNvGrpSpPr/>
          <p:nvPr userDrawn="1"/>
        </p:nvGrpSpPr>
        <p:grpSpPr>
          <a:xfrm>
            <a:off x="190949" y="158986"/>
            <a:ext cx="672639" cy="698549"/>
            <a:chOff x="226953" y="129332"/>
            <a:chExt cx="777856" cy="803286"/>
          </a:xfrm>
        </p:grpSpPr>
        <p:sp>
          <p:nvSpPr>
            <p:cNvPr id="24" name="모서리가 둥근 직사각형 23"/>
            <p:cNvSpPr/>
            <p:nvPr userDrawn="1"/>
          </p:nvSpPr>
          <p:spPr>
            <a:xfrm>
              <a:off x="361841" y="129332"/>
              <a:ext cx="500066" cy="428628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5" name="모서리가 둥근 직사각형 24"/>
            <p:cNvSpPr/>
            <p:nvPr userDrawn="1"/>
          </p:nvSpPr>
          <p:spPr>
            <a:xfrm>
              <a:off x="504743" y="353148"/>
              <a:ext cx="500066" cy="428628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  <p:sp>
          <p:nvSpPr>
            <p:cNvPr id="26" name="모서리가 둥근 직사각형 25"/>
            <p:cNvSpPr/>
            <p:nvPr userDrawn="1"/>
          </p:nvSpPr>
          <p:spPr>
            <a:xfrm>
              <a:off x="226953" y="503990"/>
              <a:ext cx="500066" cy="428628"/>
            </a:xfrm>
            <a:prstGeom prst="round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>
                <a:latin typeface="Calibri" pitchFamily="34" charset="0"/>
              </a:endParaRPr>
            </a:p>
          </p:txBody>
        </p:sp>
      </p:grpSp>
      <p:sp>
        <p:nvSpPr>
          <p:cNvPr id="12" name="슬라이드 번호 개체 틀 5"/>
          <p:cNvSpPr>
            <a:spLocks noGrp="1"/>
          </p:cNvSpPr>
          <p:nvPr>
            <p:ph type="sldNum" sz="quarter" idx="10"/>
          </p:nvPr>
        </p:nvSpPr>
        <p:spPr>
          <a:xfrm>
            <a:off x="8358188" y="6581104"/>
            <a:ext cx="785812" cy="257113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  <a:latin typeface="Calibri" pitchFamily="34" charset="0"/>
                <a:cs typeface="Times New Roman" pitchFamily="18" charset="0"/>
              </a:defRPr>
            </a:lvl1pPr>
          </a:lstStyle>
          <a:p>
            <a:pPr>
              <a:defRPr/>
            </a:pPr>
            <a:fld id="{7092A07C-4710-46A3-9C28-806B597ACB9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7925012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D88BC96-86ED-4F8B-B297-F70E08D8F793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7676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7" r:id="rId2"/>
    <p:sldLayoutId id="2147483835" r:id="rId3"/>
    <p:sldLayoutId id="2147483836" r:id="rId4"/>
  </p:sldLayoutIdLst>
  <p:transition>
    <p:fade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altLang="ko-KR" dirty="0"/>
              <a:t>End-to-End Semi-Supervised Object Detection with Soft Teacher</a:t>
            </a:r>
            <a:endParaRPr lang="ko-KR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>
          <a:xfrm>
            <a:off x="1893075" y="4149080"/>
            <a:ext cx="6715172" cy="2071702"/>
          </a:xfrm>
        </p:spPr>
        <p:txBody>
          <a:bodyPr>
            <a:normAutofit lnSpcReduction="10000"/>
          </a:bodyPr>
          <a:lstStyle/>
          <a:p>
            <a:r>
              <a:rPr lang="en-US" altLang="ko-KR" sz="1200" dirty="0" err="1">
                <a:solidFill>
                  <a:schemeClr val="tx1"/>
                </a:solidFill>
                <a:cs typeface="Arial Unicode MS" panose="020B0604020202020204" pitchFamily="50" charset="-127"/>
              </a:rPr>
              <a:t>Mengde</a:t>
            </a:r>
            <a:r>
              <a:rPr lang="en-US" altLang="ko-KR" sz="1200" dirty="0">
                <a:solidFill>
                  <a:schemeClr val="tx1"/>
                </a:solidFill>
                <a:cs typeface="Arial Unicode MS" panose="020B0604020202020204" pitchFamily="50" charset="-127"/>
              </a:rPr>
              <a:t> Xu, Zheng Zhang, Han Hu</a:t>
            </a:r>
          </a:p>
          <a:p>
            <a:r>
              <a:rPr lang="en-US" altLang="ko-KR" sz="1200" dirty="0" err="1">
                <a:solidFill>
                  <a:schemeClr val="tx1"/>
                </a:solidFill>
                <a:cs typeface="Arial Unicode MS" panose="020B0604020202020204" pitchFamily="50" charset="-127"/>
              </a:rPr>
              <a:t>Jianfeng</a:t>
            </a:r>
            <a:r>
              <a:rPr lang="en-US" altLang="ko-KR" sz="1200" dirty="0">
                <a:solidFill>
                  <a:schemeClr val="tx1"/>
                </a:solidFill>
                <a:cs typeface="Arial Unicode MS" panose="020B0604020202020204" pitchFamily="50" charset="-127"/>
              </a:rPr>
              <a:t> Wang, </a:t>
            </a:r>
            <a:r>
              <a:rPr lang="en-US" altLang="ko-KR" sz="1200" dirty="0" err="1">
                <a:solidFill>
                  <a:schemeClr val="tx1"/>
                </a:solidFill>
                <a:cs typeface="Arial Unicode MS" panose="020B0604020202020204" pitchFamily="50" charset="-127"/>
              </a:rPr>
              <a:t>Lijuan</a:t>
            </a:r>
            <a:r>
              <a:rPr lang="en-US" altLang="ko-KR" sz="1200" dirty="0">
                <a:solidFill>
                  <a:schemeClr val="tx1"/>
                </a:solidFill>
                <a:cs typeface="Arial Unicode MS" panose="020B0604020202020204" pitchFamily="50" charset="-127"/>
              </a:rPr>
              <a:t> Wang, </a:t>
            </a:r>
            <a:r>
              <a:rPr lang="en-US" altLang="ko-KR" sz="1200" dirty="0" err="1">
                <a:solidFill>
                  <a:schemeClr val="tx1"/>
                </a:solidFill>
                <a:cs typeface="Arial Unicode MS" panose="020B0604020202020204" pitchFamily="50" charset="-127"/>
              </a:rPr>
              <a:t>Fangyun</a:t>
            </a:r>
            <a:r>
              <a:rPr lang="en-US" altLang="ko-KR" sz="1200" dirty="0">
                <a:solidFill>
                  <a:schemeClr val="tx1"/>
                </a:solidFill>
                <a:cs typeface="Arial Unicode MS" panose="020B0604020202020204" pitchFamily="50" charset="-127"/>
              </a:rPr>
              <a:t> Wei</a:t>
            </a:r>
          </a:p>
          <a:p>
            <a:r>
              <a:rPr lang="en-US" altLang="ko-KR" sz="1200" dirty="0">
                <a:solidFill>
                  <a:schemeClr val="tx1"/>
                </a:solidFill>
                <a:cs typeface="Arial Unicode MS" panose="020B0604020202020204" pitchFamily="50" charset="-127"/>
              </a:rPr>
              <a:t>Xiang Bai, </a:t>
            </a:r>
            <a:r>
              <a:rPr lang="en-US" altLang="ko-KR" sz="1200" dirty="0" err="1">
                <a:solidFill>
                  <a:schemeClr val="tx1"/>
                </a:solidFill>
                <a:cs typeface="Arial Unicode MS" panose="020B0604020202020204" pitchFamily="50" charset="-127"/>
              </a:rPr>
              <a:t>Zicheng</a:t>
            </a:r>
            <a:r>
              <a:rPr lang="en-US" altLang="ko-KR" sz="1200" dirty="0">
                <a:solidFill>
                  <a:schemeClr val="tx1"/>
                </a:solidFill>
                <a:cs typeface="Arial Unicode MS" panose="020B0604020202020204" pitchFamily="50" charset="-127"/>
              </a:rPr>
              <a:t> Liu</a:t>
            </a:r>
          </a:p>
          <a:p>
            <a:r>
              <a:rPr lang="en-US" altLang="ko-KR" sz="1200" b="1" dirty="0">
                <a:solidFill>
                  <a:schemeClr val="tx1"/>
                </a:solidFill>
                <a:cs typeface="Arial Unicode MS" panose="020B0604020202020204" pitchFamily="50" charset="-127"/>
              </a:rPr>
              <a:t>Huazhong University of Science and Technology</a:t>
            </a:r>
          </a:p>
          <a:p>
            <a:r>
              <a:rPr lang="en-US" altLang="ko-KR" sz="1200" b="1" dirty="0">
                <a:solidFill>
                  <a:schemeClr val="tx1"/>
                </a:solidFill>
                <a:cs typeface="Arial Unicode MS" panose="020B0604020202020204" pitchFamily="50" charset="-127"/>
              </a:rPr>
              <a:t>Microsoft</a:t>
            </a:r>
          </a:p>
          <a:p>
            <a:endParaRPr lang="en-US" altLang="ko-KR" sz="1200" b="1" dirty="0">
              <a:solidFill>
                <a:schemeClr val="tx1"/>
              </a:solidFill>
              <a:cs typeface="Arial Unicode MS" panose="020B0604020202020204" pitchFamily="50" charset="-127"/>
            </a:endParaRPr>
          </a:p>
          <a:p>
            <a:r>
              <a:rPr lang="ko-KR" altLang="en-US" b="1" dirty="0">
                <a:solidFill>
                  <a:schemeClr val="tx1"/>
                </a:solidFill>
                <a:cs typeface="Arial Unicode MS" panose="020B0604020202020204" pitchFamily="50" charset="-127"/>
              </a:rPr>
              <a:t>발표자 </a:t>
            </a:r>
            <a:r>
              <a:rPr lang="en-US" altLang="ko-KR" b="1" dirty="0">
                <a:solidFill>
                  <a:schemeClr val="tx1"/>
                </a:solidFill>
                <a:cs typeface="Arial Unicode MS" panose="020B0604020202020204" pitchFamily="50" charset="-127"/>
              </a:rPr>
              <a:t>: </a:t>
            </a:r>
            <a:r>
              <a:rPr lang="ko-KR" altLang="en-US" b="1" dirty="0">
                <a:solidFill>
                  <a:schemeClr val="tx1"/>
                </a:solidFill>
                <a:cs typeface="Arial Unicode MS" panose="020B0604020202020204" pitchFamily="50" charset="-127"/>
              </a:rPr>
              <a:t>김병현 </a:t>
            </a:r>
            <a:endParaRPr lang="en-US" altLang="ko-KR" b="1" dirty="0">
              <a:solidFill>
                <a:schemeClr val="tx1"/>
              </a:solidFill>
              <a:cs typeface="Arial Unicode MS" panose="020B0604020202020204" pitchFamily="50" charset="-127"/>
            </a:endParaRPr>
          </a:p>
          <a:p>
            <a:r>
              <a:rPr lang="ko-KR" altLang="en-US" b="1" dirty="0">
                <a:solidFill>
                  <a:schemeClr val="tx1"/>
                </a:solidFill>
                <a:cs typeface="Arial Unicode MS" panose="020B0604020202020204" pitchFamily="50" charset="-127"/>
              </a:rPr>
              <a:t>이미지처리팀 </a:t>
            </a:r>
            <a:r>
              <a:rPr lang="en-US" altLang="ko-KR" b="1" dirty="0">
                <a:solidFill>
                  <a:schemeClr val="tx1"/>
                </a:solidFill>
                <a:cs typeface="Arial Unicode MS" panose="020B0604020202020204" pitchFamily="50" charset="-127"/>
              </a:rPr>
              <a:t>: </a:t>
            </a:r>
            <a:r>
              <a:rPr lang="ko-KR" altLang="en-US" b="1" dirty="0">
                <a:solidFill>
                  <a:schemeClr val="tx1"/>
                </a:solidFill>
                <a:cs typeface="Arial Unicode MS" panose="020B0604020202020204" pitchFamily="50" charset="-127"/>
              </a:rPr>
              <a:t>김선옥</a:t>
            </a:r>
            <a:r>
              <a:rPr lang="en-US" altLang="ko-KR" b="1" dirty="0">
                <a:solidFill>
                  <a:schemeClr val="tx1"/>
                </a:solidFill>
                <a:cs typeface="Arial Unicode MS" panose="020B0604020202020204" pitchFamily="50" charset="-127"/>
              </a:rPr>
              <a:t>, </a:t>
            </a:r>
            <a:r>
              <a:rPr lang="ko-KR" altLang="en-US" b="1" dirty="0" err="1">
                <a:solidFill>
                  <a:schemeClr val="tx1"/>
                </a:solidFill>
                <a:cs typeface="Arial Unicode MS" panose="020B0604020202020204" pitchFamily="50" charset="-127"/>
              </a:rPr>
              <a:t>안종식</a:t>
            </a:r>
            <a:r>
              <a:rPr lang="en-US" altLang="ko-KR" b="1" dirty="0">
                <a:solidFill>
                  <a:schemeClr val="tx1"/>
                </a:solidFill>
                <a:cs typeface="Arial Unicode MS" panose="020B0604020202020204" pitchFamily="50" charset="-127"/>
              </a:rPr>
              <a:t>, </a:t>
            </a:r>
            <a:r>
              <a:rPr lang="ko-KR" altLang="en-US" b="1" dirty="0" err="1">
                <a:solidFill>
                  <a:schemeClr val="tx1"/>
                </a:solidFill>
                <a:cs typeface="Arial Unicode MS" panose="020B0604020202020204" pitchFamily="50" charset="-127"/>
              </a:rPr>
              <a:t>이찬혁</a:t>
            </a:r>
            <a:r>
              <a:rPr lang="en-US" altLang="ko-KR" b="1" dirty="0">
                <a:solidFill>
                  <a:schemeClr val="tx1"/>
                </a:solidFill>
                <a:cs typeface="Arial Unicode MS" panose="020B0604020202020204" pitchFamily="50" charset="-127"/>
              </a:rPr>
              <a:t>, </a:t>
            </a:r>
            <a:r>
              <a:rPr lang="ko-KR" altLang="en-US" b="1" dirty="0" err="1">
                <a:solidFill>
                  <a:schemeClr val="tx1"/>
                </a:solidFill>
                <a:cs typeface="Arial Unicode MS" panose="020B0604020202020204" pitchFamily="50" charset="-127"/>
              </a:rPr>
              <a:t>홍은기</a:t>
            </a:r>
            <a:endParaRPr lang="en-US" altLang="ko-KR" b="1" dirty="0">
              <a:solidFill>
                <a:schemeClr val="tx1"/>
              </a:solidFill>
              <a:cs typeface="Arial Unicode MS" panose="020B0604020202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5769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Brief Introduction of Soft Teacher</a:t>
            </a:r>
            <a:endParaRPr lang="ko-KR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End-to-End Semi-Supervised Object Detection </a:t>
            </a:r>
          </a:p>
          <a:p>
            <a:pPr lvl="1"/>
            <a:r>
              <a:rPr lang="en-US" altLang="ko-KR" dirty="0"/>
              <a:t>Training Method for Semi-Supervised Object Detection Model</a:t>
            </a:r>
          </a:p>
          <a:p>
            <a:pPr lvl="1"/>
            <a:r>
              <a:rPr lang="en-US" altLang="ko-KR" dirty="0"/>
              <a:t>Currently ranked 1</a:t>
            </a:r>
            <a:r>
              <a:rPr lang="en-US" altLang="ko-KR" baseline="30000" dirty="0"/>
              <a:t>st</a:t>
            </a:r>
            <a:r>
              <a:rPr lang="en-US" altLang="ko-KR" dirty="0"/>
              <a:t> place in COCO test-dev and COCO </a:t>
            </a:r>
            <a:r>
              <a:rPr lang="en-US" altLang="ko-KR" dirty="0" err="1"/>
              <a:t>minival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(Papers with code)</a:t>
            </a:r>
          </a:p>
          <a:p>
            <a:endParaRPr lang="ko-KR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2B4E8B-BCAC-43EC-A7A9-5C9AE0330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582" y="2830245"/>
            <a:ext cx="4177426" cy="38320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3E5564-98A7-425C-BA37-908ADB0A2210}"/>
              </a:ext>
            </a:extLst>
          </p:cNvPr>
          <p:cNvSpPr txBox="1"/>
          <p:nvPr/>
        </p:nvSpPr>
        <p:spPr>
          <a:xfrm>
            <a:off x="4653404" y="6051844"/>
            <a:ext cx="4375217" cy="439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Example of Semi-supervised learning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960D2C-B5A4-43EA-87D5-C21D28724560}"/>
              </a:ext>
            </a:extLst>
          </p:cNvPr>
          <p:cNvSpPr txBox="1"/>
          <p:nvPr/>
        </p:nvSpPr>
        <p:spPr>
          <a:xfrm>
            <a:off x="5027387" y="5657685"/>
            <a:ext cx="1799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56B371-B15D-40E2-A3FA-532C3D68AB5C}"/>
              </a:ext>
            </a:extLst>
          </p:cNvPr>
          <p:cNvSpPr txBox="1"/>
          <p:nvPr/>
        </p:nvSpPr>
        <p:spPr>
          <a:xfrm>
            <a:off x="6950978" y="5673086"/>
            <a:ext cx="17994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Unlabeled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B26051ED-91F9-4512-84ED-3192016B4833}"/>
              </a:ext>
            </a:extLst>
          </p:cNvPr>
          <p:cNvGrpSpPr/>
          <p:nvPr/>
        </p:nvGrpSpPr>
        <p:grpSpPr>
          <a:xfrm>
            <a:off x="4873412" y="3597381"/>
            <a:ext cx="4111627" cy="1898844"/>
            <a:chOff x="4873412" y="3597381"/>
            <a:chExt cx="4111627" cy="1898844"/>
          </a:xfrm>
        </p:grpSpPr>
        <p:pic>
          <p:nvPicPr>
            <p:cNvPr id="2052" name="Picture 4" descr="Organic Pet-Food Recipes: Peanut Butter Treats - The Green Life">
              <a:extLst>
                <a:ext uri="{FF2B5EF4-FFF2-40B4-BE49-F238E27FC236}">
                  <a16:creationId xmlns:a16="http://schemas.microsoft.com/office/drawing/2014/main" id="{7E5368CD-5DA1-4D6F-8CE4-13E8D14709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583" y="3783220"/>
              <a:ext cx="1862606" cy="168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2054" name="Picture 6" descr="National cat and dog food shortage due to pandemic, Brexit and lockdown pet  rise | UK News | Sky News">
              <a:extLst>
                <a:ext uri="{FF2B5EF4-FFF2-40B4-BE49-F238E27FC236}">
                  <a16:creationId xmlns:a16="http://schemas.microsoft.com/office/drawing/2014/main" id="{1621CB27-4B78-4D0D-A234-82C66A3C4EF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19" r="28344" b="18500"/>
            <a:stretch/>
          </p:blipFill>
          <p:spPr bwMode="auto">
            <a:xfrm>
              <a:off x="6743189" y="3788787"/>
              <a:ext cx="2241850" cy="1694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E8EAB63-042D-44F7-9D45-EBA8DE3D7E56}"/>
                </a:ext>
              </a:extLst>
            </p:cNvPr>
            <p:cNvSpPr/>
            <p:nvPr/>
          </p:nvSpPr>
          <p:spPr>
            <a:xfrm>
              <a:off x="4873412" y="3915133"/>
              <a:ext cx="994732" cy="1581092"/>
            </a:xfrm>
            <a:prstGeom prst="rect">
              <a:avLst/>
            </a:prstGeom>
            <a:noFill/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7C2E818-2740-4EA7-9988-2A70B19FCAC8}"/>
                </a:ext>
              </a:extLst>
            </p:cNvPr>
            <p:cNvSpPr txBox="1"/>
            <p:nvPr/>
          </p:nvSpPr>
          <p:spPr>
            <a:xfrm>
              <a:off x="4880583" y="3597381"/>
              <a:ext cx="859662" cy="338554"/>
            </a:xfrm>
            <a:prstGeom prst="rect">
              <a:avLst/>
            </a:prstGeom>
            <a:solidFill>
              <a:srgbClr val="66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2E9BBF3-9A27-4FF8-ACFF-9E7C85D36026}"/>
                </a:ext>
              </a:extLst>
            </p:cNvPr>
            <p:cNvSpPr/>
            <p:nvPr/>
          </p:nvSpPr>
          <p:spPr>
            <a:xfrm>
              <a:off x="5875315" y="4574538"/>
              <a:ext cx="840409" cy="89730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0C566F-0B59-4D46-96BD-6DDB5F9891E5}"/>
                </a:ext>
              </a:extLst>
            </p:cNvPr>
            <p:cNvSpPr txBox="1"/>
            <p:nvPr/>
          </p:nvSpPr>
          <p:spPr>
            <a:xfrm>
              <a:off x="5892618" y="4223087"/>
              <a:ext cx="570202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8004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4DDB1-554A-4C56-AF3F-FA654B837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Expensive Labeling Cost in Deep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3B98E5-BC5B-4600-98C4-E2C61D051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Data Labeling can be a bottleneck ….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7E7006-FBF6-4A8C-BB7E-5BE107A8C0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</a:t>
            </a:fld>
            <a:endParaRPr lang="ko-KR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B7946FF-04E5-4AA4-A3DC-9CC4BFFA3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2" y="1690266"/>
            <a:ext cx="8177422" cy="489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DC7FEFF-5B41-4EBB-80EE-A08279FB6AF6}"/>
              </a:ext>
            </a:extLst>
          </p:cNvPr>
          <p:cNvSpPr txBox="1"/>
          <p:nvPr/>
        </p:nvSpPr>
        <p:spPr>
          <a:xfrm>
            <a:off x="4115836" y="6577476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https://www.youtube.com/watch?v=y57wwucbXR8&amp;t=512s&amp;ab_channel=Databricks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AE4095C-F3EA-42EB-8629-D8E8884B9865}"/>
              </a:ext>
            </a:extLst>
          </p:cNvPr>
          <p:cNvGrpSpPr/>
          <p:nvPr/>
        </p:nvGrpSpPr>
        <p:grpSpPr>
          <a:xfrm>
            <a:off x="2724358" y="3739971"/>
            <a:ext cx="1404644" cy="978090"/>
            <a:chOff x="2724358" y="3739971"/>
            <a:chExt cx="1404644" cy="97809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E9D6D6F-EE84-4D07-A2BB-E3341D4FD9A9}"/>
                </a:ext>
              </a:extLst>
            </p:cNvPr>
            <p:cNvGrpSpPr/>
            <p:nvPr/>
          </p:nvGrpSpPr>
          <p:grpSpPr>
            <a:xfrm>
              <a:off x="2724847" y="3739971"/>
              <a:ext cx="1404155" cy="573690"/>
              <a:chOff x="3075909" y="3955837"/>
              <a:chExt cx="1924091" cy="573690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511E6297-2012-43F1-8537-1534C14A1EF7}"/>
                  </a:ext>
                </a:extLst>
              </p:cNvPr>
              <p:cNvSpPr/>
              <p:nvPr/>
            </p:nvSpPr>
            <p:spPr>
              <a:xfrm>
                <a:off x="3075909" y="3975107"/>
                <a:ext cx="1776085" cy="554420"/>
              </a:xfrm>
              <a:prstGeom prst="rect">
                <a:avLst/>
              </a:prstGeom>
              <a:solidFill>
                <a:srgbClr val="F8F8F8"/>
              </a:solidFill>
              <a:ln>
                <a:solidFill>
                  <a:srgbClr val="F8F8F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5BF8DC7-A1AD-4DE9-9C43-C949F036C817}"/>
                  </a:ext>
                </a:extLst>
              </p:cNvPr>
              <p:cNvGrpSpPr/>
              <p:nvPr/>
            </p:nvGrpSpPr>
            <p:grpSpPr>
              <a:xfrm>
                <a:off x="3105169" y="3955837"/>
                <a:ext cx="1894831" cy="338554"/>
                <a:chOff x="2856035" y="4689140"/>
                <a:chExt cx="1894831" cy="338554"/>
              </a:xfrm>
            </p:grpSpPr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B9DF603B-D6B7-4F16-A07D-5C8ACD148381}"/>
                    </a:ext>
                  </a:extLst>
                </p:cNvPr>
                <p:cNvSpPr/>
                <p:nvPr/>
              </p:nvSpPr>
              <p:spPr>
                <a:xfrm>
                  <a:off x="2856035" y="4728866"/>
                  <a:ext cx="396044" cy="28803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262BE60-9DD9-4BF8-9EE9-FD83B2E5DE96}"/>
                    </a:ext>
                  </a:extLst>
                </p:cNvPr>
                <p:cNvSpPr txBox="1"/>
                <p:nvPr/>
              </p:nvSpPr>
              <p:spPr>
                <a:xfrm>
                  <a:off x="3347864" y="4689140"/>
                  <a:ext cx="140300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60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rPr>
                    <a:t>Datasets</a:t>
                  </a:r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153579E-C174-4824-B24E-4FF4C830B5E2}"/>
                </a:ext>
              </a:extLst>
            </p:cNvPr>
            <p:cNvGrpSpPr/>
            <p:nvPr/>
          </p:nvGrpSpPr>
          <p:grpSpPr>
            <a:xfrm>
              <a:off x="2724358" y="4144371"/>
              <a:ext cx="1404155" cy="573690"/>
              <a:chOff x="3075909" y="3955837"/>
              <a:chExt cx="1924091" cy="57369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C6BFC47-D066-4953-A821-2B72895BEB7F}"/>
                  </a:ext>
                </a:extLst>
              </p:cNvPr>
              <p:cNvSpPr/>
              <p:nvPr/>
            </p:nvSpPr>
            <p:spPr>
              <a:xfrm>
                <a:off x="3075909" y="3975107"/>
                <a:ext cx="1776085" cy="554420"/>
              </a:xfrm>
              <a:prstGeom prst="rect">
                <a:avLst/>
              </a:prstGeom>
              <a:solidFill>
                <a:srgbClr val="F8F8F8"/>
              </a:solidFill>
              <a:ln>
                <a:solidFill>
                  <a:srgbClr val="F8F8F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E1343DD3-F351-45C1-8EF1-7F890B8C9BA2}"/>
                  </a:ext>
                </a:extLst>
              </p:cNvPr>
              <p:cNvGrpSpPr/>
              <p:nvPr/>
            </p:nvGrpSpPr>
            <p:grpSpPr>
              <a:xfrm>
                <a:off x="3105169" y="3955837"/>
                <a:ext cx="1894831" cy="338554"/>
                <a:chOff x="2856035" y="4689140"/>
                <a:chExt cx="1894831" cy="338554"/>
              </a:xfrm>
            </p:grpSpPr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40FEBA7B-BCB8-4EA9-9951-B01553D84234}"/>
                    </a:ext>
                  </a:extLst>
                </p:cNvPr>
                <p:cNvSpPr/>
                <p:nvPr/>
              </p:nvSpPr>
              <p:spPr>
                <a:xfrm>
                  <a:off x="2856035" y="4728866"/>
                  <a:ext cx="396044" cy="288032"/>
                </a:xfrm>
                <a:prstGeom prst="rect">
                  <a:avLst/>
                </a:prstGeom>
                <a:solidFill>
                  <a:srgbClr val="0000FF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0675B8E-5311-4212-BDAB-66623B136E93}"/>
                    </a:ext>
                  </a:extLst>
                </p:cNvPr>
                <p:cNvSpPr txBox="1"/>
                <p:nvPr/>
              </p:nvSpPr>
              <p:spPr>
                <a:xfrm>
                  <a:off x="3347864" y="4689140"/>
                  <a:ext cx="140300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60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rPr>
                    <a:t>Model</a:t>
                  </a:r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p:grp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8D1228-6866-4003-AE9D-D09980172C26}"/>
              </a:ext>
            </a:extLst>
          </p:cNvPr>
          <p:cNvGrpSpPr/>
          <p:nvPr/>
        </p:nvGrpSpPr>
        <p:grpSpPr>
          <a:xfrm>
            <a:off x="7346450" y="3752981"/>
            <a:ext cx="1404644" cy="978090"/>
            <a:chOff x="2724358" y="3739971"/>
            <a:chExt cx="1404644" cy="97809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BA98C81E-AC47-4454-AE32-40A11B476DBD}"/>
                </a:ext>
              </a:extLst>
            </p:cNvPr>
            <p:cNvGrpSpPr/>
            <p:nvPr/>
          </p:nvGrpSpPr>
          <p:grpSpPr>
            <a:xfrm>
              <a:off x="2724847" y="3739971"/>
              <a:ext cx="1404155" cy="573690"/>
              <a:chOff x="3075909" y="3955837"/>
              <a:chExt cx="1924091" cy="57369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189B6C2-C34E-4443-8C8F-4E0B7D883332}"/>
                  </a:ext>
                </a:extLst>
              </p:cNvPr>
              <p:cNvSpPr/>
              <p:nvPr/>
            </p:nvSpPr>
            <p:spPr>
              <a:xfrm>
                <a:off x="3075909" y="3975107"/>
                <a:ext cx="1776085" cy="554420"/>
              </a:xfrm>
              <a:prstGeom prst="rect">
                <a:avLst/>
              </a:prstGeom>
              <a:solidFill>
                <a:srgbClr val="F8F8F8"/>
              </a:solidFill>
              <a:ln>
                <a:solidFill>
                  <a:srgbClr val="F8F8F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BEE2320-2EE2-4B25-888A-25BD514CF004}"/>
                  </a:ext>
                </a:extLst>
              </p:cNvPr>
              <p:cNvGrpSpPr/>
              <p:nvPr/>
            </p:nvGrpSpPr>
            <p:grpSpPr>
              <a:xfrm>
                <a:off x="3105169" y="3955837"/>
                <a:ext cx="1894831" cy="338554"/>
                <a:chOff x="2856035" y="4689140"/>
                <a:chExt cx="1894831" cy="338554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4BF7FBFB-B5E3-4055-812D-7C37FF32368E}"/>
                    </a:ext>
                  </a:extLst>
                </p:cNvPr>
                <p:cNvSpPr/>
                <p:nvPr/>
              </p:nvSpPr>
              <p:spPr>
                <a:xfrm>
                  <a:off x="2856035" y="4728866"/>
                  <a:ext cx="396044" cy="288032"/>
                </a:xfrm>
                <a:prstGeom prst="rect">
                  <a:avLst/>
                </a:prstGeom>
                <a:solidFill>
                  <a:srgbClr val="FF0000"/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1CD2212-34B2-4522-AF16-2926F15890E8}"/>
                    </a:ext>
                  </a:extLst>
                </p:cNvPr>
                <p:cNvSpPr txBox="1"/>
                <p:nvPr/>
              </p:nvSpPr>
              <p:spPr>
                <a:xfrm>
                  <a:off x="3347864" y="4689140"/>
                  <a:ext cx="140300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60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rPr>
                    <a:t>Datasets</a:t>
                  </a:r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p:grp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A87165D7-7A00-4009-B321-581B29A9C8F9}"/>
                </a:ext>
              </a:extLst>
            </p:cNvPr>
            <p:cNvGrpSpPr/>
            <p:nvPr/>
          </p:nvGrpSpPr>
          <p:grpSpPr>
            <a:xfrm>
              <a:off x="2724358" y="4144371"/>
              <a:ext cx="1404155" cy="573690"/>
              <a:chOff x="3075909" y="3955837"/>
              <a:chExt cx="1924091" cy="57369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DB6F1EE7-809F-4DE6-9509-4071C221DED7}"/>
                  </a:ext>
                </a:extLst>
              </p:cNvPr>
              <p:cNvSpPr/>
              <p:nvPr/>
            </p:nvSpPr>
            <p:spPr>
              <a:xfrm>
                <a:off x="3075909" y="3975107"/>
                <a:ext cx="1776085" cy="554420"/>
              </a:xfrm>
              <a:prstGeom prst="rect">
                <a:avLst/>
              </a:prstGeom>
              <a:solidFill>
                <a:srgbClr val="F8F8F8"/>
              </a:solidFill>
              <a:ln>
                <a:solidFill>
                  <a:srgbClr val="F8F8F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7A7C811-1945-4D64-ACC3-6488C4F0D85F}"/>
                  </a:ext>
                </a:extLst>
              </p:cNvPr>
              <p:cNvGrpSpPr/>
              <p:nvPr/>
            </p:nvGrpSpPr>
            <p:grpSpPr>
              <a:xfrm>
                <a:off x="3105169" y="3955837"/>
                <a:ext cx="1894831" cy="338554"/>
                <a:chOff x="2856035" y="4689140"/>
                <a:chExt cx="1894831" cy="338554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02D3907-6440-4867-96EB-3F8705C0B033}"/>
                    </a:ext>
                  </a:extLst>
                </p:cNvPr>
                <p:cNvSpPr/>
                <p:nvPr/>
              </p:nvSpPr>
              <p:spPr>
                <a:xfrm>
                  <a:off x="2856035" y="4728866"/>
                  <a:ext cx="396044" cy="288032"/>
                </a:xfrm>
                <a:prstGeom prst="rect">
                  <a:avLst/>
                </a:prstGeom>
                <a:solidFill>
                  <a:srgbClr val="0000FF"/>
                </a:solidFill>
                <a:ln>
                  <a:solidFill>
                    <a:srgbClr val="0000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D279ABE5-B582-478F-BB02-5B0D01C85A1A}"/>
                    </a:ext>
                  </a:extLst>
                </p:cNvPr>
                <p:cNvSpPr txBox="1"/>
                <p:nvPr/>
              </p:nvSpPr>
              <p:spPr>
                <a:xfrm>
                  <a:off x="3347864" y="4689140"/>
                  <a:ext cx="140300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US" altLang="ko-KR" sz="1600">
                      <a:latin typeface="Calibri" panose="020F0502020204030204" pitchFamily="34" charset="0"/>
                      <a:ea typeface="08서울남산체 B" panose="02020603020101020101" pitchFamily="18" charset="-127"/>
                      <a:cs typeface="Times New Roman" pitchFamily="18" charset="0"/>
                    </a:rPr>
                    <a:t>Model</a:t>
                  </a:r>
                  <a:endParaRPr lang="ko-KR" altLang="en-US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179832366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92D6B-9558-46F5-8C09-5A815BFA3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Expensive Labeling Cost in Deep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E3B20-EBA9-4A3E-891F-C915AF3A5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00" y="1092168"/>
            <a:ext cx="8786874" cy="5408666"/>
          </a:xfrm>
        </p:spPr>
        <p:txBody>
          <a:bodyPr/>
          <a:lstStyle/>
          <a:p>
            <a:r>
              <a:rPr lang="en-US" altLang="ko-KR" dirty="0"/>
              <a:t>Data Labeling can be a bottleneck ….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BB2113-6101-4E3B-8C35-0F55C05AD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1A26A63-F986-487B-BCA3-35FB09BA1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79" y="1988840"/>
            <a:ext cx="7668853" cy="43822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E58576-9103-40D8-87D7-969465A0117C}"/>
              </a:ext>
            </a:extLst>
          </p:cNvPr>
          <p:cNvSpPr txBox="1"/>
          <p:nvPr/>
        </p:nvSpPr>
        <p:spPr>
          <a:xfrm>
            <a:off x="1065895" y="1908570"/>
            <a:ext cx="2628292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ko-KR" sz="28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“Label lane lines”</a:t>
            </a:r>
            <a:endParaRPr lang="ko-KR" altLang="en-US" sz="28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51539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92D6B-9558-46F5-8C09-5A815BFA3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Expensive Labeling Cost in Deep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E3B20-EBA9-4A3E-891F-C915AF3A5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00" y="1092168"/>
            <a:ext cx="8786874" cy="5408666"/>
          </a:xfrm>
        </p:spPr>
        <p:txBody>
          <a:bodyPr/>
          <a:lstStyle/>
          <a:p>
            <a:r>
              <a:rPr lang="en-US" altLang="ko-KR" dirty="0"/>
              <a:t>Data Labeling can be a bottleneck ….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BB2113-6101-4E3B-8C35-0F55C05AD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5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EAF23CA-A4F8-4CFF-96CE-D35BD575A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775181"/>
            <a:ext cx="8313964" cy="470930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BB0C3EC-FA0A-4FDE-80C9-2EC4154975C7}"/>
              </a:ext>
            </a:extLst>
          </p:cNvPr>
          <p:cNvSpPr txBox="1"/>
          <p:nvPr/>
        </p:nvSpPr>
        <p:spPr>
          <a:xfrm>
            <a:off x="683568" y="1758837"/>
            <a:ext cx="428447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ko-KR" sz="28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“Label lane lines…..??”</a:t>
            </a:r>
            <a:endParaRPr lang="ko-KR" altLang="en-US" sz="28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7180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92D6B-9558-46F5-8C09-5A815BFA3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Expensive Labeling Cost in Deep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E3B20-EBA9-4A3E-891F-C915AF3A5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00" y="1092168"/>
            <a:ext cx="8786874" cy="5408666"/>
          </a:xfrm>
        </p:spPr>
        <p:txBody>
          <a:bodyPr/>
          <a:lstStyle/>
          <a:p>
            <a:r>
              <a:rPr lang="en-US" altLang="ko-KR" dirty="0"/>
              <a:t>Data Labeling can be a bottleneck ….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BB2113-6101-4E3B-8C35-0F55C05AD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6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BD328F1-FADC-4CA1-89D6-697EEC433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40" y="1808820"/>
            <a:ext cx="8117051" cy="46085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017FC8-19DE-4EA3-9D49-801B4DF8CC6D}"/>
              </a:ext>
            </a:extLst>
          </p:cNvPr>
          <p:cNvSpPr txBox="1"/>
          <p:nvPr/>
        </p:nvSpPr>
        <p:spPr>
          <a:xfrm>
            <a:off x="683568" y="1758837"/>
            <a:ext cx="428447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ko-KR" sz="28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“Label lane lines…..??”</a:t>
            </a:r>
            <a:endParaRPr lang="ko-KR" altLang="en-US" sz="28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1871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892D6B-9558-46F5-8C09-5A815BFA3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Expensive Labeling Cost in Deep Learning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E3B20-EBA9-4A3E-891F-C915AF3A5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0100" y="1092168"/>
            <a:ext cx="8786874" cy="5408666"/>
          </a:xfrm>
        </p:spPr>
        <p:txBody>
          <a:bodyPr/>
          <a:lstStyle/>
          <a:p>
            <a:r>
              <a:rPr lang="en-US" altLang="ko-KR" dirty="0"/>
              <a:t>Data Labeling can be a bottleneck ….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BB2113-6101-4E3B-8C35-0F55C05AD7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7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1A26A63-F986-487B-BCA3-35FB09BA12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5" y="1808821"/>
            <a:ext cx="3780421" cy="216024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AF23CA-A4F8-4CFF-96CE-D35BD575A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612" y="1795794"/>
            <a:ext cx="3646067" cy="206525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BD328F1-FADC-4CA1-89D6-697EEC433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89" y="4257092"/>
            <a:ext cx="3804868" cy="216024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2092E09-5B53-4174-98E4-BC17B6FCDE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693" y="1681840"/>
            <a:ext cx="8097380" cy="46393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2B1C36-3940-4E45-B780-BFAE36B5FE66}"/>
              </a:ext>
            </a:extLst>
          </p:cNvPr>
          <p:cNvSpPr txBox="1"/>
          <p:nvPr/>
        </p:nvSpPr>
        <p:spPr>
          <a:xfrm>
            <a:off x="786370" y="1629149"/>
            <a:ext cx="428447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l"/>
            <a:r>
              <a:rPr lang="en-US" altLang="ko-KR" sz="28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“Label speed limit sign…..??”</a:t>
            </a:r>
            <a:endParaRPr lang="ko-KR" altLang="en-US" sz="28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C53306-9935-4CE0-8ABF-0C178AF44774}"/>
              </a:ext>
            </a:extLst>
          </p:cNvPr>
          <p:cNvSpPr txBox="1"/>
          <p:nvPr/>
        </p:nvSpPr>
        <p:spPr>
          <a:xfrm>
            <a:off x="5832140" y="4993859"/>
            <a:ext cx="2239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dirty="0">
                <a:solidFill>
                  <a:srgbClr val="FF0000"/>
                </a:solidFill>
                <a:effectLst>
                  <a:glow rad="101600">
                    <a:schemeClr val="bg1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Math?????</a:t>
            </a:r>
            <a:endParaRPr lang="ko-KR" altLang="en-US" sz="3200" dirty="0">
              <a:solidFill>
                <a:srgbClr val="FF0000"/>
              </a:solidFill>
              <a:effectLst>
                <a:glow rad="101600">
                  <a:schemeClr val="bg1"/>
                </a:glow>
              </a:effectLst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2E5C46-9C2C-4548-830C-0261320BD331}"/>
              </a:ext>
            </a:extLst>
          </p:cNvPr>
          <p:cNvSpPr txBox="1"/>
          <p:nvPr/>
        </p:nvSpPr>
        <p:spPr>
          <a:xfrm>
            <a:off x="2831699" y="5492085"/>
            <a:ext cx="2239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rgbClr val="FF0000"/>
                </a:solidFill>
                <a:effectLst>
                  <a:glow rad="101600">
                    <a:schemeClr val="bg1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defRPr>
            </a:lvl1pPr>
          </a:lstStyle>
          <a:p>
            <a:r>
              <a:rPr lang="en-US" altLang="ko-KR" dirty="0"/>
              <a:t>What time…?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CDA47-489A-4266-937A-5D845CB190B5}"/>
              </a:ext>
            </a:extLst>
          </p:cNvPr>
          <p:cNvSpPr txBox="1"/>
          <p:nvPr/>
        </p:nvSpPr>
        <p:spPr>
          <a:xfrm>
            <a:off x="971600" y="3763569"/>
            <a:ext cx="2239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3200">
                <a:solidFill>
                  <a:srgbClr val="FF0000"/>
                </a:solidFill>
                <a:effectLst>
                  <a:glow rad="101600">
                    <a:schemeClr val="bg1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defRPr>
            </a:lvl1pPr>
          </a:lstStyle>
          <a:p>
            <a:r>
              <a:rPr lang="en-US" altLang="ko-KR" dirty="0"/>
              <a:t>9½..?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15191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597FB-FECE-4FA5-8045-E5EDD423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Efforts to Reduce Labeling Cost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29250F-6AB9-40BA-8859-E0BCF8C8C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964479"/>
            <a:ext cx="8786874" cy="5408666"/>
          </a:xfrm>
        </p:spPr>
        <p:txBody>
          <a:bodyPr/>
          <a:lstStyle/>
          <a:p>
            <a:r>
              <a:rPr lang="en-US" altLang="ko-KR" sz="2000" dirty="0"/>
              <a:t>Training Deep Learning Model with </a:t>
            </a:r>
            <a:r>
              <a:rPr lang="en-US" altLang="ko-KR" sz="2000" u="sng" dirty="0"/>
              <a:t>Weak or Semi Supervision</a:t>
            </a:r>
            <a:endParaRPr lang="ko-KR" altLang="en-US" sz="2000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64CCD-82BD-4B4F-B497-1CDC2BA0C8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8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69F57-4A37-4E8C-9D4F-629AF41C9DD2}"/>
              </a:ext>
            </a:extLst>
          </p:cNvPr>
          <p:cNvSpPr txBox="1"/>
          <p:nvPr/>
        </p:nvSpPr>
        <p:spPr>
          <a:xfrm>
            <a:off x="2160550" y="6394967"/>
            <a:ext cx="5076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Different types of object detection settings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9683F-C093-4147-B724-C54B66AD6F2D}"/>
              </a:ext>
            </a:extLst>
          </p:cNvPr>
          <p:cNvSpPr txBox="1"/>
          <p:nvPr/>
        </p:nvSpPr>
        <p:spPr>
          <a:xfrm>
            <a:off x="1297786" y="3821665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Semi-supervision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12DB48-93D0-4BFC-81B0-00BB88CD0689}"/>
              </a:ext>
            </a:extLst>
          </p:cNvPr>
          <p:cNvSpPr txBox="1"/>
          <p:nvPr/>
        </p:nvSpPr>
        <p:spPr>
          <a:xfrm>
            <a:off x="1911714" y="3356993"/>
            <a:ext cx="1437333" cy="28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A7EB60-FA53-4159-90CD-2415DF2633AF}"/>
              </a:ext>
            </a:extLst>
          </p:cNvPr>
          <p:cNvSpPr txBox="1"/>
          <p:nvPr/>
        </p:nvSpPr>
        <p:spPr>
          <a:xfrm>
            <a:off x="1172120" y="5946804"/>
            <a:ext cx="1351011" cy="30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242F3-A87E-4592-BF83-01B7BDAA2A84}"/>
              </a:ext>
            </a:extLst>
          </p:cNvPr>
          <p:cNvSpPr txBox="1"/>
          <p:nvPr/>
        </p:nvSpPr>
        <p:spPr>
          <a:xfrm>
            <a:off x="2616343" y="5958366"/>
            <a:ext cx="1351011" cy="30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Unlabeled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1A604D-23AC-461F-B6BA-33460569EDC4}"/>
              </a:ext>
            </a:extLst>
          </p:cNvPr>
          <p:cNvSpPr txBox="1"/>
          <p:nvPr/>
        </p:nvSpPr>
        <p:spPr>
          <a:xfrm>
            <a:off x="5360309" y="3373090"/>
            <a:ext cx="264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No bounding box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D256C5-70CC-40FE-9E29-713A16242C2C}"/>
              </a:ext>
            </a:extLst>
          </p:cNvPr>
          <p:cNvSpPr txBox="1"/>
          <p:nvPr/>
        </p:nvSpPr>
        <p:spPr>
          <a:xfrm>
            <a:off x="5256076" y="5893056"/>
            <a:ext cx="1437333" cy="28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9C386C-D1C3-4CAD-88D3-80568A5D66AB}"/>
              </a:ext>
            </a:extLst>
          </p:cNvPr>
          <p:cNvSpPr txBox="1"/>
          <p:nvPr/>
        </p:nvSpPr>
        <p:spPr>
          <a:xfrm>
            <a:off x="6455392" y="5903984"/>
            <a:ext cx="195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No bounding box</a:t>
            </a:r>
            <a:endParaRPr lang="ko-KR" altLang="en-US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1342F4-058C-4A83-B59B-C39E4DE47A7B}"/>
              </a:ext>
            </a:extLst>
          </p:cNvPr>
          <p:cNvSpPr txBox="1"/>
          <p:nvPr/>
        </p:nvSpPr>
        <p:spPr>
          <a:xfrm>
            <a:off x="5333471" y="3810768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Weakly Semi-Supervision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162C0E-49B0-4720-A5E9-E3464610CEB7}"/>
              </a:ext>
            </a:extLst>
          </p:cNvPr>
          <p:cNvSpPr txBox="1"/>
          <p:nvPr/>
        </p:nvSpPr>
        <p:spPr>
          <a:xfrm>
            <a:off x="5289947" y="1396837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Weakly-Supervision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8F47C3-B623-4C68-B20B-162A1EAACF37}"/>
              </a:ext>
            </a:extLst>
          </p:cNvPr>
          <p:cNvSpPr txBox="1"/>
          <p:nvPr/>
        </p:nvSpPr>
        <p:spPr>
          <a:xfrm>
            <a:off x="1269975" y="1415460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EE9F559-554C-4719-B40B-5C5DFAEC2978}"/>
              </a:ext>
            </a:extLst>
          </p:cNvPr>
          <p:cNvGrpSpPr/>
          <p:nvPr/>
        </p:nvGrpSpPr>
        <p:grpSpPr>
          <a:xfrm>
            <a:off x="971600" y="4333498"/>
            <a:ext cx="3528392" cy="1505950"/>
            <a:chOff x="4873412" y="3597381"/>
            <a:chExt cx="4111627" cy="1898844"/>
          </a:xfrm>
        </p:grpSpPr>
        <p:pic>
          <p:nvPicPr>
            <p:cNvPr id="52" name="Picture 4" descr="Organic Pet-Food Recipes: Peanut Butter Treats - The Green Life">
              <a:extLst>
                <a:ext uri="{FF2B5EF4-FFF2-40B4-BE49-F238E27FC236}">
                  <a16:creationId xmlns:a16="http://schemas.microsoft.com/office/drawing/2014/main" id="{5D2C8E23-64BC-4458-A981-C3B87CD14D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583" y="3783220"/>
              <a:ext cx="1862606" cy="168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53" name="Picture 6" descr="National cat and dog food shortage due to pandemic, Brexit and lockdown pet  rise | UK News | Sky News">
              <a:extLst>
                <a:ext uri="{FF2B5EF4-FFF2-40B4-BE49-F238E27FC236}">
                  <a16:creationId xmlns:a16="http://schemas.microsoft.com/office/drawing/2014/main" id="{B8588D5B-BB20-4593-9262-20B5EBAAF4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19" r="28344" b="18500"/>
            <a:stretch/>
          </p:blipFill>
          <p:spPr bwMode="auto">
            <a:xfrm>
              <a:off x="6743189" y="3788787"/>
              <a:ext cx="2241850" cy="1694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6358D69-65B7-4F0E-AB42-9A76AEF33AA6}"/>
                </a:ext>
              </a:extLst>
            </p:cNvPr>
            <p:cNvSpPr/>
            <p:nvPr/>
          </p:nvSpPr>
          <p:spPr>
            <a:xfrm>
              <a:off x="4873412" y="3915133"/>
              <a:ext cx="994732" cy="1581092"/>
            </a:xfrm>
            <a:prstGeom prst="rect">
              <a:avLst/>
            </a:prstGeom>
            <a:noFill/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370BFB9-1682-4314-A21B-12C0A4A7B2EA}"/>
                </a:ext>
              </a:extLst>
            </p:cNvPr>
            <p:cNvSpPr txBox="1"/>
            <p:nvPr/>
          </p:nvSpPr>
          <p:spPr>
            <a:xfrm>
              <a:off x="4880583" y="3597381"/>
              <a:ext cx="859662" cy="338554"/>
            </a:xfrm>
            <a:prstGeom prst="rect">
              <a:avLst/>
            </a:prstGeom>
            <a:solidFill>
              <a:srgbClr val="66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AC8DFE1-8DF7-4BA2-B5BE-12999890E4CA}"/>
                </a:ext>
              </a:extLst>
            </p:cNvPr>
            <p:cNvSpPr/>
            <p:nvPr/>
          </p:nvSpPr>
          <p:spPr>
            <a:xfrm>
              <a:off x="5875315" y="4574538"/>
              <a:ext cx="840409" cy="89730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4E24DB3-D5FE-4E66-B821-8EB047400857}"/>
                </a:ext>
              </a:extLst>
            </p:cNvPr>
            <p:cNvSpPr txBox="1"/>
            <p:nvPr/>
          </p:nvSpPr>
          <p:spPr>
            <a:xfrm>
              <a:off x="5892618" y="4223087"/>
              <a:ext cx="570202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813D786-C3E8-4D0A-A306-5CB05CB99491}"/>
              </a:ext>
            </a:extLst>
          </p:cNvPr>
          <p:cNvGrpSpPr/>
          <p:nvPr/>
        </p:nvGrpSpPr>
        <p:grpSpPr>
          <a:xfrm>
            <a:off x="866184" y="1831024"/>
            <a:ext cx="3528392" cy="1505950"/>
            <a:chOff x="866184" y="1831024"/>
            <a:chExt cx="3528392" cy="1505950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4EEDE40B-FC09-4B1C-82F0-25A75B33F527}"/>
                </a:ext>
              </a:extLst>
            </p:cNvPr>
            <p:cNvGrpSpPr/>
            <p:nvPr/>
          </p:nvGrpSpPr>
          <p:grpSpPr>
            <a:xfrm>
              <a:off x="866184" y="1831024"/>
              <a:ext cx="3528392" cy="1505950"/>
              <a:chOff x="4873412" y="3597381"/>
              <a:chExt cx="4111627" cy="1898844"/>
            </a:xfrm>
          </p:grpSpPr>
          <p:pic>
            <p:nvPicPr>
              <p:cNvPr id="59" name="Picture 4" descr="Organic Pet-Food Recipes: Peanut Butter Treats - The Green Life">
                <a:extLst>
                  <a:ext uri="{FF2B5EF4-FFF2-40B4-BE49-F238E27FC236}">
                    <a16:creationId xmlns:a16="http://schemas.microsoft.com/office/drawing/2014/main" id="{AF36B432-5F77-4597-9549-22CF35AB75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80583" y="3783220"/>
                <a:ext cx="1862606" cy="16886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</p:pic>
          <p:pic>
            <p:nvPicPr>
              <p:cNvPr id="60" name="Picture 6" descr="National cat and dog food shortage due to pandemic, Brexit and lockdown pet  rise | UK News | Sky News">
                <a:extLst>
                  <a:ext uri="{FF2B5EF4-FFF2-40B4-BE49-F238E27FC236}">
                    <a16:creationId xmlns:a16="http://schemas.microsoft.com/office/drawing/2014/main" id="{2FDA273F-10A8-470F-9349-7711EBC8BD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019" r="28344" b="18500"/>
              <a:stretch/>
            </p:blipFill>
            <p:spPr bwMode="auto">
              <a:xfrm>
                <a:off x="6743189" y="3788787"/>
                <a:ext cx="2241850" cy="16949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D505A351-2B3A-4695-B081-ADEB3A512BD5}"/>
                  </a:ext>
                </a:extLst>
              </p:cNvPr>
              <p:cNvSpPr/>
              <p:nvPr/>
            </p:nvSpPr>
            <p:spPr>
              <a:xfrm>
                <a:off x="4873412" y="3915133"/>
                <a:ext cx="994732" cy="1581092"/>
              </a:xfrm>
              <a:prstGeom prst="rect">
                <a:avLst/>
              </a:prstGeom>
              <a:noFill/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1C523AB-67BE-4CE6-BC0A-60EBA228E85F}"/>
                  </a:ext>
                </a:extLst>
              </p:cNvPr>
              <p:cNvSpPr txBox="1"/>
              <p:nvPr/>
            </p:nvSpPr>
            <p:spPr>
              <a:xfrm>
                <a:off x="4880583" y="3597381"/>
                <a:ext cx="859662" cy="338554"/>
              </a:xfrm>
              <a:prstGeom prst="rect">
                <a:avLst/>
              </a:prstGeom>
              <a:solidFill>
                <a:srgbClr val="66FF33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rPr>
                  <a:t>Dog</a:t>
                </a:r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32816C60-6895-48A9-94AE-50C2DEFC5D83}"/>
                  </a:ext>
                </a:extLst>
              </p:cNvPr>
              <p:cNvSpPr/>
              <p:nvPr/>
            </p:nvSpPr>
            <p:spPr>
              <a:xfrm>
                <a:off x="5875315" y="4574538"/>
                <a:ext cx="840409" cy="8973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A4BEFF3-459B-4BF8-AF59-AB78DFA0DB88}"/>
                  </a:ext>
                </a:extLst>
              </p:cNvPr>
              <p:cNvSpPr txBox="1"/>
              <p:nvPr/>
            </p:nvSpPr>
            <p:spPr>
              <a:xfrm>
                <a:off x="5892618" y="4223087"/>
                <a:ext cx="570202" cy="338554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rPr>
                  <a:t>Cat</a:t>
                </a:r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p:grp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17231C0-101E-4C27-B1D7-6C5D83796794}"/>
                </a:ext>
              </a:extLst>
            </p:cNvPr>
            <p:cNvSpPr/>
            <p:nvPr/>
          </p:nvSpPr>
          <p:spPr>
            <a:xfrm>
              <a:off x="2447165" y="2211422"/>
              <a:ext cx="894488" cy="11062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6C24584-7ACF-402A-93AE-E1C4B03878EB}"/>
                </a:ext>
              </a:extLst>
            </p:cNvPr>
            <p:cNvSpPr txBox="1"/>
            <p:nvPr/>
          </p:nvSpPr>
          <p:spPr>
            <a:xfrm>
              <a:off x="2635303" y="1932691"/>
              <a:ext cx="489319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6E05FA9-289A-4D66-9990-0A066AE2DDC5}"/>
                </a:ext>
              </a:extLst>
            </p:cNvPr>
            <p:cNvGrpSpPr/>
            <p:nvPr/>
          </p:nvGrpSpPr>
          <p:grpSpPr>
            <a:xfrm>
              <a:off x="3348700" y="1831024"/>
              <a:ext cx="1018199" cy="1486614"/>
              <a:chOff x="1018584" y="2002760"/>
              <a:chExt cx="853629" cy="1486614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C0F767BC-B9BB-4D27-87BF-F7DF995A8A29}"/>
                  </a:ext>
                </a:extLst>
              </p:cNvPr>
              <p:cNvSpPr/>
              <p:nvPr/>
            </p:nvSpPr>
            <p:spPr>
              <a:xfrm>
                <a:off x="1018584" y="2235429"/>
                <a:ext cx="853629" cy="1253945"/>
              </a:xfrm>
              <a:prstGeom prst="rect">
                <a:avLst/>
              </a:prstGeom>
              <a:noFill/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1C4EFBB-5E01-4C3E-8256-1354F1407449}"/>
                  </a:ext>
                </a:extLst>
              </p:cNvPr>
              <p:cNvSpPr txBox="1"/>
              <p:nvPr/>
            </p:nvSpPr>
            <p:spPr>
              <a:xfrm>
                <a:off x="1024738" y="2002760"/>
                <a:ext cx="618483" cy="338554"/>
              </a:xfrm>
              <a:prstGeom prst="rect">
                <a:avLst/>
              </a:prstGeom>
              <a:solidFill>
                <a:srgbClr val="66FF33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rPr>
                  <a:t>Dog</a:t>
                </a:r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p:grpSp>
      </p:grpSp>
      <p:pic>
        <p:nvPicPr>
          <p:cNvPr id="76" name="Picture 4" descr="Organic Pet-Food Recipes: Peanut Butter Treats - The Green Life">
            <a:extLst>
              <a:ext uri="{FF2B5EF4-FFF2-40B4-BE49-F238E27FC236}">
                <a16:creationId xmlns:a16="http://schemas.microsoft.com/office/drawing/2014/main" id="{FF14859F-CFFC-4BF4-997C-17C2D95E1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338" y="1950576"/>
            <a:ext cx="1598395" cy="13392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7" name="Picture 6" descr="National cat and dog food shortage due to pandemic, Brexit and lockdown pet  rise | UK News | Sky News">
            <a:extLst>
              <a:ext uri="{FF2B5EF4-FFF2-40B4-BE49-F238E27FC236}">
                <a16:creationId xmlns:a16="http://schemas.microsoft.com/office/drawing/2014/main" id="{3DDF2531-A7D2-4369-A676-A5079602C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9" r="28344" b="18500"/>
          <a:stretch/>
        </p:blipFill>
        <p:spPr bwMode="auto">
          <a:xfrm>
            <a:off x="6622733" y="1954991"/>
            <a:ext cx="1923843" cy="13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FFB4255-BCD5-45B0-97E4-FCDEE5E8E943}"/>
              </a:ext>
            </a:extLst>
          </p:cNvPr>
          <p:cNvSpPr txBox="1"/>
          <p:nvPr/>
        </p:nvSpPr>
        <p:spPr>
          <a:xfrm>
            <a:off x="5170067" y="3171325"/>
            <a:ext cx="737719" cy="268503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E17210-009E-4C14-82DA-9B04BE026778}"/>
              </a:ext>
            </a:extLst>
          </p:cNvPr>
          <p:cNvSpPr txBox="1"/>
          <p:nvPr/>
        </p:nvSpPr>
        <p:spPr>
          <a:xfrm>
            <a:off x="5907786" y="3164959"/>
            <a:ext cx="489319" cy="268503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62EA36-13A9-4EA0-AD04-91A427E55FAE}"/>
              </a:ext>
            </a:extLst>
          </p:cNvPr>
          <p:cNvSpPr txBox="1"/>
          <p:nvPr/>
        </p:nvSpPr>
        <p:spPr>
          <a:xfrm>
            <a:off x="7791538" y="3125134"/>
            <a:ext cx="489319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114EB4D-B8CA-4A45-87CE-26C5F49D7763}"/>
              </a:ext>
            </a:extLst>
          </p:cNvPr>
          <p:cNvSpPr txBox="1"/>
          <p:nvPr/>
        </p:nvSpPr>
        <p:spPr>
          <a:xfrm>
            <a:off x="7036263" y="3137996"/>
            <a:ext cx="73772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513BBC9-C05D-4DB7-97CB-C4DAA286BBAC}"/>
              </a:ext>
            </a:extLst>
          </p:cNvPr>
          <p:cNvGrpSpPr/>
          <p:nvPr/>
        </p:nvGrpSpPr>
        <p:grpSpPr>
          <a:xfrm>
            <a:off x="4882380" y="4323155"/>
            <a:ext cx="3528392" cy="1505950"/>
            <a:chOff x="4873412" y="3597381"/>
            <a:chExt cx="4111627" cy="1898844"/>
          </a:xfrm>
        </p:grpSpPr>
        <p:pic>
          <p:nvPicPr>
            <p:cNvPr id="83" name="Picture 4" descr="Organic Pet-Food Recipes: Peanut Butter Treats - The Green Life">
              <a:extLst>
                <a:ext uri="{FF2B5EF4-FFF2-40B4-BE49-F238E27FC236}">
                  <a16:creationId xmlns:a16="http://schemas.microsoft.com/office/drawing/2014/main" id="{FF895761-880A-49C9-AB7A-6317CF1C2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583" y="3783220"/>
              <a:ext cx="1862606" cy="168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84" name="Picture 6" descr="National cat and dog food shortage due to pandemic, Brexit and lockdown pet  rise | UK News | Sky News">
              <a:extLst>
                <a:ext uri="{FF2B5EF4-FFF2-40B4-BE49-F238E27FC236}">
                  <a16:creationId xmlns:a16="http://schemas.microsoft.com/office/drawing/2014/main" id="{63CF063B-098B-43A8-BCED-A817BE836D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19" r="28344" b="18500"/>
            <a:stretch/>
          </p:blipFill>
          <p:spPr bwMode="auto">
            <a:xfrm>
              <a:off x="6743189" y="3788787"/>
              <a:ext cx="2241850" cy="1694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A330C352-A7D8-4F5E-93C2-D9DE4FCBAAC0}"/>
                </a:ext>
              </a:extLst>
            </p:cNvPr>
            <p:cNvSpPr/>
            <p:nvPr/>
          </p:nvSpPr>
          <p:spPr>
            <a:xfrm>
              <a:off x="4873412" y="3915133"/>
              <a:ext cx="994732" cy="1581092"/>
            </a:xfrm>
            <a:prstGeom prst="rect">
              <a:avLst/>
            </a:prstGeom>
            <a:noFill/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87B5C08-6D38-4F9E-A696-15264A8F5723}"/>
                </a:ext>
              </a:extLst>
            </p:cNvPr>
            <p:cNvSpPr txBox="1"/>
            <p:nvPr/>
          </p:nvSpPr>
          <p:spPr>
            <a:xfrm>
              <a:off x="4880583" y="3597381"/>
              <a:ext cx="859662" cy="338554"/>
            </a:xfrm>
            <a:prstGeom prst="rect">
              <a:avLst/>
            </a:prstGeom>
            <a:solidFill>
              <a:srgbClr val="66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1FA474D1-949E-4B9A-B566-14D0A53A3304}"/>
                </a:ext>
              </a:extLst>
            </p:cNvPr>
            <p:cNvSpPr/>
            <p:nvPr/>
          </p:nvSpPr>
          <p:spPr>
            <a:xfrm>
              <a:off x="5875315" y="4574538"/>
              <a:ext cx="840409" cy="89730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5783D81-2E34-4C2B-8FF9-4DA24279100A}"/>
                </a:ext>
              </a:extLst>
            </p:cNvPr>
            <p:cNvSpPr txBox="1"/>
            <p:nvPr/>
          </p:nvSpPr>
          <p:spPr>
            <a:xfrm>
              <a:off x="5892618" y="4223087"/>
              <a:ext cx="570202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09727C60-62EF-4E4E-A3DE-07AB6646384A}"/>
              </a:ext>
            </a:extLst>
          </p:cNvPr>
          <p:cNvSpPr txBox="1"/>
          <p:nvPr/>
        </p:nvSpPr>
        <p:spPr>
          <a:xfrm>
            <a:off x="7681723" y="5467177"/>
            <a:ext cx="489319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80611D-BA19-45CF-9A67-A12C2B518D1D}"/>
              </a:ext>
            </a:extLst>
          </p:cNvPr>
          <p:cNvSpPr txBox="1"/>
          <p:nvPr/>
        </p:nvSpPr>
        <p:spPr>
          <a:xfrm>
            <a:off x="6926448" y="5480039"/>
            <a:ext cx="73772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91" name="Oval 5">
            <a:extLst>
              <a:ext uri="{FF2B5EF4-FFF2-40B4-BE49-F238E27FC236}">
                <a16:creationId xmlns:a16="http://schemas.microsoft.com/office/drawing/2014/main" id="{EA8D66CD-F309-4F24-BE6C-5739C5B17A1B}"/>
              </a:ext>
            </a:extLst>
          </p:cNvPr>
          <p:cNvSpPr/>
          <p:nvPr/>
        </p:nvSpPr>
        <p:spPr>
          <a:xfrm>
            <a:off x="633017" y="3724841"/>
            <a:ext cx="4137699" cy="25961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4EBE0FB-618F-4B05-B5A4-6EA486F9F201}"/>
              </a:ext>
            </a:extLst>
          </p:cNvPr>
          <p:cNvSpPr txBox="1"/>
          <p:nvPr/>
        </p:nvSpPr>
        <p:spPr>
          <a:xfrm>
            <a:off x="68925" y="3377086"/>
            <a:ext cx="26545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3200" dirty="0">
                <a:solidFill>
                  <a:srgbClr val="FF0000"/>
                </a:solidFill>
                <a:effectLst>
                  <a:glow rad="101600">
                    <a:schemeClr val="bg1"/>
                  </a:glow>
                </a:effectLst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Today’s Topic</a:t>
            </a:r>
            <a:endParaRPr lang="ko-KR" altLang="en-US" sz="3200" dirty="0">
              <a:solidFill>
                <a:srgbClr val="FF0000"/>
              </a:solidFill>
              <a:effectLst>
                <a:glow rad="101600">
                  <a:schemeClr val="bg1"/>
                </a:glow>
              </a:effectLst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9314766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C597FB-FECE-4FA5-8045-E5EDD423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Efforts to Reduce Labeling Cost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429250F-6AB9-40BA-8859-E0BCF8C8C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964479"/>
            <a:ext cx="8786874" cy="5408666"/>
          </a:xfrm>
        </p:spPr>
        <p:txBody>
          <a:bodyPr/>
          <a:lstStyle/>
          <a:p>
            <a:r>
              <a:rPr lang="en-US" altLang="ko-KR" sz="2000" dirty="0"/>
              <a:t>Training Deep Learning Model with </a:t>
            </a:r>
            <a:r>
              <a:rPr lang="en-US" altLang="ko-KR" sz="2000" u="sng" dirty="0"/>
              <a:t>Weak or Semi Supervision</a:t>
            </a:r>
            <a:endParaRPr lang="ko-KR" altLang="en-US" sz="2000" u="sng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E64CCD-82BD-4B4F-B497-1CDC2BA0C8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9</a:t>
            </a:fld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669F57-4A37-4E8C-9D4F-629AF41C9DD2}"/>
              </a:ext>
            </a:extLst>
          </p:cNvPr>
          <p:cNvSpPr txBox="1"/>
          <p:nvPr/>
        </p:nvSpPr>
        <p:spPr>
          <a:xfrm>
            <a:off x="2160550" y="6394967"/>
            <a:ext cx="5076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Different types of object detection settings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59683F-C093-4147-B724-C54B66AD6F2D}"/>
              </a:ext>
            </a:extLst>
          </p:cNvPr>
          <p:cNvSpPr txBox="1"/>
          <p:nvPr/>
        </p:nvSpPr>
        <p:spPr>
          <a:xfrm>
            <a:off x="1297786" y="3821665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Semi-supervision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12DB48-93D0-4BFC-81B0-00BB88CD0689}"/>
              </a:ext>
            </a:extLst>
          </p:cNvPr>
          <p:cNvSpPr txBox="1"/>
          <p:nvPr/>
        </p:nvSpPr>
        <p:spPr>
          <a:xfrm>
            <a:off x="1911714" y="3356993"/>
            <a:ext cx="1437333" cy="28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A7EB60-FA53-4159-90CD-2415DF2633AF}"/>
              </a:ext>
            </a:extLst>
          </p:cNvPr>
          <p:cNvSpPr txBox="1"/>
          <p:nvPr/>
        </p:nvSpPr>
        <p:spPr>
          <a:xfrm>
            <a:off x="1172120" y="5946804"/>
            <a:ext cx="1351011" cy="30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8242F3-A87E-4592-BF83-01B7BDAA2A84}"/>
              </a:ext>
            </a:extLst>
          </p:cNvPr>
          <p:cNvSpPr txBox="1"/>
          <p:nvPr/>
        </p:nvSpPr>
        <p:spPr>
          <a:xfrm>
            <a:off x="2616343" y="5958366"/>
            <a:ext cx="1351011" cy="30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Unlabeled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1A604D-23AC-461F-B6BA-33460569EDC4}"/>
              </a:ext>
            </a:extLst>
          </p:cNvPr>
          <p:cNvSpPr txBox="1"/>
          <p:nvPr/>
        </p:nvSpPr>
        <p:spPr>
          <a:xfrm>
            <a:off x="5360309" y="3373090"/>
            <a:ext cx="2647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No bounding box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D256C5-70CC-40FE-9E29-713A16242C2C}"/>
              </a:ext>
            </a:extLst>
          </p:cNvPr>
          <p:cNvSpPr txBox="1"/>
          <p:nvPr/>
        </p:nvSpPr>
        <p:spPr>
          <a:xfrm>
            <a:off x="5256076" y="5893056"/>
            <a:ext cx="1437333" cy="283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Labeled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59C386C-D1C3-4CAD-88D3-80568A5D66AB}"/>
              </a:ext>
            </a:extLst>
          </p:cNvPr>
          <p:cNvSpPr txBox="1"/>
          <p:nvPr/>
        </p:nvSpPr>
        <p:spPr>
          <a:xfrm>
            <a:off x="6455392" y="5903984"/>
            <a:ext cx="1955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No bounding box</a:t>
            </a:r>
            <a:endParaRPr lang="ko-KR" altLang="en-US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01342F4-058C-4A83-B59B-C39E4DE47A7B}"/>
              </a:ext>
            </a:extLst>
          </p:cNvPr>
          <p:cNvSpPr txBox="1"/>
          <p:nvPr/>
        </p:nvSpPr>
        <p:spPr>
          <a:xfrm>
            <a:off x="5333471" y="3810768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Weakly Semi-Supervision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F162C0E-49B0-4720-A5E9-E3464610CEB7}"/>
              </a:ext>
            </a:extLst>
          </p:cNvPr>
          <p:cNvSpPr txBox="1"/>
          <p:nvPr/>
        </p:nvSpPr>
        <p:spPr>
          <a:xfrm>
            <a:off x="5289947" y="1396837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Weakly-Supervision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8F47C3-B623-4C68-B20B-162A1EAACF37}"/>
              </a:ext>
            </a:extLst>
          </p:cNvPr>
          <p:cNvSpPr txBox="1"/>
          <p:nvPr/>
        </p:nvSpPr>
        <p:spPr>
          <a:xfrm>
            <a:off x="1269975" y="1415460"/>
            <a:ext cx="2897818" cy="400110"/>
          </a:xfrm>
          <a:prstGeom prst="rect">
            <a:avLst/>
          </a:prstGeom>
          <a:solidFill>
            <a:srgbClr val="FFE6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Supervision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EE9F559-554C-4719-B40B-5C5DFAEC2978}"/>
              </a:ext>
            </a:extLst>
          </p:cNvPr>
          <p:cNvGrpSpPr/>
          <p:nvPr/>
        </p:nvGrpSpPr>
        <p:grpSpPr>
          <a:xfrm>
            <a:off x="971600" y="4333498"/>
            <a:ext cx="3528392" cy="1505950"/>
            <a:chOff x="4873412" y="3597381"/>
            <a:chExt cx="4111627" cy="1898844"/>
          </a:xfrm>
        </p:grpSpPr>
        <p:pic>
          <p:nvPicPr>
            <p:cNvPr id="52" name="Picture 4" descr="Organic Pet-Food Recipes: Peanut Butter Treats - The Green Life">
              <a:extLst>
                <a:ext uri="{FF2B5EF4-FFF2-40B4-BE49-F238E27FC236}">
                  <a16:creationId xmlns:a16="http://schemas.microsoft.com/office/drawing/2014/main" id="{5D2C8E23-64BC-4458-A981-C3B87CD14D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583" y="3783220"/>
              <a:ext cx="1862606" cy="168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53" name="Picture 6" descr="National cat and dog food shortage due to pandemic, Brexit and lockdown pet  rise | UK News | Sky News">
              <a:extLst>
                <a:ext uri="{FF2B5EF4-FFF2-40B4-BE49-F238E27FC236}">
                  <a16:creationId xmlns:a16="http://schemas.microsoft.com/office/drawing/2014/main" id="{B8588D5B-BB20-4593-9262-20B5EBAAF4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19" r="28344" b="18500"/>
            <a:stretch/>
          </p:blipFill>
          <p:spPr bwMode="auto">
            <a:xfrm>
              <a:off x="6743189" y="3788787"/>
              <a:ext cx="2241850" cy="1694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A6358D69-65B7-4F0E-AB42-9A76AEF33AA6}"/>
                </a:ext>
              </a:extLst>
            </p:cNvPr>
            <p:cNvSpPr/>
            <p:nvPr/>
          </p:nvSpPr>
          <p:spPr>
            <a:xfrm>
              <a:off x="4873412" y="3915133"/>
              <a:ext cx="994732" cy="1581092"/>
            </a:xfrm>
            <a:prstGeom prst="rect">
              <a:avLst/>
            </a:prstGeom>
            <a:noFill/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370BFB9-1682-4314-A21B-12C0A4A7B2EA}"/>
                </a:ext>
              </a:extLst>
            </p:cNvPr>
            <p:cNvSpPr txBox="1"/>
            <p:nvPr/>
          </p:nvSpPr>
          <p:spPr>
            <a:xfrm>
              <a:off x="4880583" y="3597381"/>
              <a:ext cx="859662" cy="338554"/>
            </a:xfrm>
            <a:prstGeom prst="rect">
              <a:avLst/>
            </a:prstGeom>
            <a:solidFill>
              <a:srgbClr val="66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DAC8DFE1-8DF7-4BA2-B5BE-12999890E4CA}"/>
                </a:ext>
              </a:extLst>
            </p:cNvPr>
            <p:cNvSpPr/>
            <p:nvPr/>
          </p:nvSpPr>
          <p:spPr>
            <a:xfrm>
              <a:off x="5875315" y="4574538"/>
              <a:ext cx="840409" cy="89730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4E24DB3-D5FE-4E66-B821-8EB047400857}"/>
                </a:ext>
              </a:extLst>
            </p:cNvPr>
            <p:cNvSpPr txBox="1"/>
            <p:nvPr/>
          </p:nvSpPr>
          <p:spPr>
            <a:xfrm>
              <a:off x="5892618" y="4223087"/>
              <a:ext cx="570202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813D786-C3E8-4D0A-A306-5CB05CB99491}"/>
              </a:ext>
            </a:extLst>
          </p:cNvPr>
          <p:cNvGrpSpPr/>
          <p:nvPr/>
        </p:nvGrpSpPr>
        <p:grpSpPr>
          <a:xfrm>
            <a:off x="866184" y="1831024"/>
            <a:ext cx="3528392" cy="1505950"/>
            <a:chOff x="866184" y="1831024"/>
            <a:chExt cx="3528392" cy="1505950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4EEDE40B-FC09-4B1C-82F0-25A75B33F527}"/>
                </a:ext>
              </a:extLst>
            </p:cNvPr>
            <p:cNvGrpSpPr/>
            <p:nvPr/>
          </p:nvGrpSpPr>
          <p:grpSpPr>
            <a:xfrm>
              <a:off x="866184" y="1831024"/>
              <a:ext cx="3528392" cy="1505950"/>
              <a:chOff x="4873412" y="3597381"/>
              <a:chExt cx="4111627" cy="1898844"/>
            </a:xfrm>
          </p:grpSpPr>
          <p:pic>
            <p:nvPicPr>
              <p:cNvPr id="59" name="Picture 4" descr="Organic Pet-Food Recipes: Peanut Butter Treats - The Green Life">
                <a:extLst>
                  <a:ext uri="{FF2B5EF4-FFF2-40B4-BE49-F238E27FC236}">
                    <a16:creationId xmlns:a16="http://schemas.microsoft.com/office/drawing/2014/main" id="{AF36B432-5F77-4597-9549-22CF35AB75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80583" y="3783220"/>
                <a:ext cx="1862606" cy="16886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</p:pic>
          <p:pic>
            <p:nvPicPr>
              <p:cNvPr id="60" name="Picture 6" descr="National cat and dog food shortage due to pandemic, Brexit and lockdown pet  rise | UK News | Sky News">
                <a:extLst>
                  <a:ext uri="{FF2B5EF4-FFF2-40B4-BE49-F238E27FC236}">
                    <a16:creationId xmlns:a16="http://schemas.microsoft.com/office/drawing/2014/main" id="{2FDA273F-10A8-470F-9349-7711EBC8BD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019" r="28344" b="18500"/>
              <a:stretch/>
            </p:blipFill>
            <p:spPr bwMode="auto">
              <a:xfrm>
                <a:off x="6743189" y="3788787"/>
                <a:ext cx="2241850" cy="16949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D505A351-2B3A-4695-B081-ADEB3A512BD5}"/>
                  </a:ext>
                </a:extLst>
              </p:cNvPr>
              <p:cNvSpPr/>
              <p:nvPr/>
            </p:nvSpPr>
            <p:spPr>
              <a:xfrm>
                <a:off x="4873412" y="3915133"/>
                <a:ext cx="994732" cy="1581092"/>
              </a:xfrm>
              <a:prstGeom prst="rect">
                <a:avLst/>
              </a:prstGeom>
              <a:noFill/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1C523AB-67BE-4CE6-BC0A-60EBA228E85F}"/>
                  </a:ext>
                </a:extLst>
              </p:cNvPr>
              <p:cNvSpPr txBox="1"/>
              <p:nvPr/>
            </p:nvSpPr>
            <p:spPr>
              <a:xfrm>
                <a:off x="4880583" y="3597381"/>
                <a:ext cx="859662" cy="338554"/>
              </a:xfrm>
              <a:prstGeom prst="rect">
                <a:avLst/>
              </a:prstGeom>
              <a:solidFill>
                <a:srgbClr val="66FF33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rPr>
                  <a:t>Dog</a:t>
                </a:r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32816C60-6895-48A9-94AE-50C2DEFC5D83}"/>
                  </a:ext>
                </a:extLst>
              </p:cNvPr>
              <p:cNvSpPr/>
              <p:nvPr/>
            </p:nvSpPr>
            <p:spPr>
              <a:xfrm>
                <a:off x="5875315" y="4574538"/>
                <a:ext cx="840409" cy="89730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4A4BEFF3-459B-4BF8-AF59-AB78DFA0DB88}"/>
                  </a:ext>
                </a:extLst>
              </p:cNvPr>
              <p:cNvSpPr txBox="1"/>
              <p:nvPr/>
            </p:nvSpPr>
            <p:spPr>
              <a:xfrm>
                <a:off x="5892618" y="4223087"/>
                <a:ext cx="570202" cy="338554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rPr>
                  <a:t>Cat</a:t>
                </a:r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p:grp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017231C0-101E-4C27-B1D7-6C5D83796794}"/>
                </a:ext>
              </a:extLst>
            </p:cNvPr>
            <p:cNvSpPr/>
            <p:nvPr/>
          </p:nvSpPr>
          <p:spPr>
            <a:xfrm>
              <a:off x="2447165" y="2211422"/>
              <a:ext cx="894488" cy="110621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6C24584-7ACF-402A-93AE-E1C4B03878EB}"/>
                </a:ext>
              </a:extLst>
            </p:cNvPr>
            <p:cNvSpPr txBox="1"/>
            <p:nvPr/>
          </p:nvSpPr>
          <p:spPr>
            <a:xfrm>
              <a:off x="2635303" y="1932691"/>
              <a:ext cx="489319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76E05FA9-289A-4D66-9990-0A066AE2DDC5}"/>
                </a:ext>
              </a:extLst>
            </p:cNvPr>
            <p:cNvGrpSpPr/>
            <p:nvPr/>
          </p:nvGrpSpPr>
          <p:grpSpPr>
            <a:xfrm>
              <a:off x="3348700" y="1831024"/>
              <a:ext cx="1018199" cy="1486614"/>
              <a:chOff x="1018584" y="2002760"/>
              <a:chExt cx="853629" cy="1486614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C0F767BC-B9BB-4D27-87BF-F7DF995A8A29}"/>
                  </a:ext>
                </a:extLst>
              </p:cNvPr>
              <p:cNvSpPr/>
              <p:nvPr/>
            </p:nvSpPr>
            <p:spPr>
              <a:xfrm>
                <a:off x="1018584" y="2235429"/>
                <a:ext cx="853629" cy="1253945"/>
              </a:xfrm>
              <a:prstGeom prst="rect">
                <a:avLst/>
              </a:prstGeom>
              <a:noFill/>
              <a:ln>
                <a:solidFill>
                  <a:srgbClr val="66FF3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81C4EFBB-5E01-4C3E-8256-1354F1407449}"/>
                  </a:ext>
                </a:extLst>
              </p:cNvPr>
              <p:cNvSpPr txBox="1"/>
              <p:nvPr/>
            </p:nvSpPr>
            <p:spPr>
              <a:xfrm>
                <a:off x="1024738" y="2002760"/>
                <a:ext cx="618483" cy="338554"/>
              </a:xfrm>
              <a:prstGeom prst="rect">
                <a:avLst/>
              </a:prstGeom>
              <a:solidFill>
                <a:srgbClr val="66FF33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1600" dirty="0">
                    <a:latin typeface="Calibri" panose="020F0502020204030204" pitchFamily="34" charset="0"/>
                    <a:ea typeface="08서울남산체 B" panose="02020603020101020101" pitchFamily="18" charset="-127"/>
                    <a:cs typeface="Times New Roman" pitchFamily="18" charset="0"/>
                  </a:rPr>
                  <a:t>Dog</a:t>
                </a:r>
                <a:endParaRPr lang="ko-KR" altLang="en-US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endParaRPr>
              </a:p>
            </p:txBody>
          </p:sp>
        </p:grpSp>
      </p:grpSp>
      <p:pic>
        <p:nvPicPr>
          <p:cNvPr id="76" name="Picture 4" descr="Organic Pet-Food Recipes: Peanut Butter Treats - The Green Life">
            <a:extLst>
              <a:ext uri="{FF2B5EF4-FFF2-40B4-BE49-F238E27FC236}">
                <a16:creationId xmlns:a16="http://schemas.microsoft.com/office/drawing/2014/main" id="{FF14859F-CFFC-4BF4-997C-17C2D95E1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338" y="1950576"/>
            <a:ext cx="1598395" cy="13392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77" name="Picture 6" descr="National cat and dog food shortage due to pandemic, Brexit and lockdown pet  rise | UK News | Sky News">
            <a:extLst>
              <a:ext uri="{FF2B5EF4-FFF2-40B4-BE49-F238E27FC236}">
                <a16:creationId xmlns:a16="http://schemas.microsoft.com/office/drawing/2014/main" id="{3DDF2531-A7D2-4369-A676-A5079602C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19" r="28344" b="18500"/>
          <a:stretch/>
        </p:blipFill>
        <p:spPr bwMode="auto">
          <a:xfrm>
            <a:off x="6622733" y="1954991"/>
            <a:ext cx="1923843" cy="1344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EFFB4255-BCD5-45B0-97E4-FCDEE5E8E943}"/>
              </a:ext>
            </a:extLst>
          </p:cNvPr>
          <p:cNvSpPr txBox="1"/>
          <p:nvPr/>
        </p:nvSpPr>
        <p:spPr>
          <a:xfrm>
            <a:off x="5170067" y="3171325"/>
            <a:ext cx="737719" cy="268503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9E17210-009E-4C14-82DA-9B04BE026778}"/>
              </a:ext>
            </a:extLst>
          </p:cNvPr>
          <p:cNvSpPr txBox="1"/>
          <p:nvPr/>
        </p:nvSpPr>
        <p:spPr>
          <a:xfrm>
            <a:off x="5907786" y="3164959"/>
            <a:ext cx="489319" cy="268503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62EA36-13A9-4EA0-AD04-91A427E55FAE}"/>
              </a:ext>
            </a:extLst>
          </p:cNvPr>
          <p:cNvSpPr txBox="1"/>
          <p:nvPr/>
        </p:nvSpPr>
        <p:spPr>
          <a:xfrm>
            <a:off x="7791538" y="3125134"/>
            <a:ext cx="489319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114EB4D-B8CA-4A45-87CE-26C5F49D7763}"/>
              </a:ext>
            </a:extLst>
          </p:cNvPr>
          <p:cNvSpPr txBox="1"/>
          <p:nvPr/>
        </p:nvSpPr>
        <p:spPr>
          <a:xfrm>
            <a:off x="7036263" y="3137996"/>
            <a:ext cx="73772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A513BBC9-C05D-4DB7-97CB-C4DAA286BBAC}"/>
              </a:ext>
            </a:extLst>
          </p:cNvPr>
          <p:cNvGrpSpPr/>
          <p:nvPr/>
        </p:nvGrpSpPr>
        <p:grpSpPr>
          <a:xfrm>
            <a:off x="4882380" y="4323155"/>
            <a:ext cx="3528392" cy="1505950"/>
            <a:chOff x="4873412" y="3597381"/>
            <a:chExt cx="4111627" cy="1898844"/>
          </a:xfrm>
        </p:grpSpPr>
        <p:pic>
          <p:nvPicPr>
            <p:cNvPr id="83" name="Picture 4" descr="Organic Pet-Food Recipes: Peanut Butter Treats - The Green Life">
              <a:extLst>
                <a:ext uri="{FF2B5EF4-FFF2-40B4-BE49-F238E27FC236}">
                  <a16:creationId xmlns:a16="http://schemas.microsoft.com/office/drawing/2014/main" id="{FF895761-880A-49C9-AB7A-6317CF1C2B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0583" y="3783220"/>
              <a:ext cx="1862606" cy="168862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pic>
          <p:nvPicPr>
            <p:cNvPr id="84" name="Picture 6" descr="National cat and dog food shortage due to pandemic, Brexit and lockdown pet  rise | UK News | Sky News">
              <a:extLst>
                <a:ext uri="{FF2B5EF4-FFF2-40B4-BE49-F238E27FC236}">
                  <a16:creationId xmlns:a16="http://schemas.microsoft.com/office/drawing/2014/main" id="{63CF063B-098B-43A8-BCED-A817BE836D8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019" r="28344" b="18500"/>
            <a:stretch/>
          </p:blipFill>
          <p:spPr bwMode="auto">
            <a:xfrm>
              <a:off x="6743189" y="3788787"/>
              <a:ext cx="2241850" cy="16949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A330C352-A7D8-4F5E-93C2-D9DE4FCBAAC0}"/>
                </a:ext>
              </a:extLst>
            </p:cNvPr>
            <p:cNvSpPr/>
            <p:nvPr/>
          </p:nvSpPr>
          <p:spPr>
            <a:xfrm>
              <a:off x="4873412" y="3915133"/>
              <a:ext cx="994732" cy="1581092"/>
            </a:xfrm>
            <a:prstGeom prst="rect">
              <a:avLst/>
            </a:prstGeom>
            <a:noFill/>
            <a:ln>
              <a:solidFill>
                <a:srgbClr val="66FF3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87B5C08-6D38-4F9E-A696-15264A8F5723}"/>
                </a:ext>
              </a:extLst>
            </p:cNvPr>
            <p:cNvSpPr txBox="1"/>
            <p:nvPr/>
          </p:nvSpPr>
          <p:spPr>
            <a:xfrm>
              <a:off x="4880583" y="3597381"/>
              <a:ext cx="859662" cy="338554"/>
            </a:xfrm>
            <a:prstGeom prst="rect">
              <a:avLst/>
            </a:prstGeom>
            <a:solidFill>
              <a:srgbClr val="66FF33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Dog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1FA474D1-949E-4B9A-B566-14D0A53A3304}"/>
                </a:ext>
              </a:extLst>
            </p:cNvPr>
            <p:cNvSpPr/>
            <p:nvPr/>
          </p:nvSpPr>
          <p:spPr>
            <a:xfrm>
              <a:off x="5875315" y="4574538"/>
              <a:ext cx="840409" cy="89730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5783D81-2E34-4C2B-8FF9-4DA24279100A}"/>
                </a:ext>
              </a:extLst>
            </p:cNvPr>
            <p:cNvSpPr txBox="1"/>
            <p:nvPr/>
          </p:nvSpPr>
          <p:spPr>
            <a:xfrm>
              <a:off x="5892618" y="4223087"/>
              <a:ext cx="570202" cy="33855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dirty="0">
                  <a:latin typeface="Calibri" panose="020F0502020204030204" pitchFamily="34" charset="0"/>
                  <a:ea typeface="08서울남산체 B" panose="02020603020101020101" pitchFamily="18" charset="-127"/>
                  <a:cs typeface="Times New Roman" pitchFamily="18" charset="0"/>
                </a:rPr>
                <a:t>Cat</a:t>
              </a:r>
              <a:endParaRPr lang="ko-KR" altLang="en-US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endParaRP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09727C60-62EF-4E4E-A3DE-07AB6646384A}"/>
              </a:ext>
            </a:extLst>
          </p:cNvPr>
          <p:cNvSpPr txBox="1"/>
          <p:nvPr/>
        </p:nvSpPr>
        <p:spPr>
          <a:xfrm>
            <a:off x="7681723" y="5467177"/>
            <a:ext cx="489319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Cat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80611D-BA19-45CF-9A67-A12C2B518D1D}"/>
              </a:ext>
            </a:extLst>
          </p:cNvPr>
          <p:cNvSpPr txBox="1"/>
          <p:nvPr/>
        </p:nvSpPr>
        <p:spPr>
          <a:xfrm>
            <a:off x="6926448" y="5480039"/>
            <a:ext cx="73772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Dog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77118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77B7-6D78-46F4-B749-17EA968F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Semi-Supervised Approaches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48D1-CD84-4F52-9ABD-0CAFBECB4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Consistency methods</a:t>
            </a:r>
          </a:p>
          <a:p>
            <a:pPr lvl="1"/>
            <a:r>
              <a:rPr lang="en-US" altLang="ko-KR" dirty="0"/>
              <a:t>Consistency loss using a ‘consistency’ object detection result under weak augmentation.</a:t>
            </a:r>
          </a:p>
          <a:p>
            <a:r>
              <a:rPr lang="en-US" altLang="ko-KR" dirty="0"/>
              <a:t>Pseudo-label methods</a:t>
            </a:r>
          </a:p>
          <a:p>
            <a:pPr lvl="1"/>
            <a:r>
              <a:rPr lang="en-US" altLang="ko-KR" dirty="0"/>
              <a:t>Pseudo-label generation by teacher model </a:t>
            </a:r>
          </a:p>
          <a:p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5BD45-4F74-495B-9E1C-36B875398D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10</a:t>
            </a:fld>
            <a:endParaRPr lang="ko-KR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779C81-1AF8-4C24-80E3-106B32D4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12" y="3636128"/>
            <a:ext cx="4022668" cy="2664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D643D7-19FB-462B-966A-DD00D16E9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980" y="3671072"/>
            <a:ext cx="4766755" cy="24142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6DA0C7-E0F0-4832-9EB1-F10B62D48E9D}"/>
              </a:ext>
            </a:extLst>
          </p:cNvPr>
          <p:cNvSpPr txBox="1"/>
          <p:nvPr/>
        </p:nvSpPr>
        <p:spPr>
          <a:xfrm>
            <a:off x="509741" y="6530440"/>
            <a:ext cx="3792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Jeong, J., Lee, S., Kim, J., &amp; Kwak, N. (2019). Consistency-based semi-supervised learning for object detection. </a:t>
            </a:r>
            <a:r>
              <a:rPr lang="en-US" altLang="ko-KR" sz="7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altLang="ko-KR" sz="7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altLang="ko-KR" sz="7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32</a:t>
            </a:r>
            <a:r>
              <a:rPr lang="en-US" altLang="ko-KR" sz="7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10759-10768.</a:t>
            </a:r>
            <a:endParaRPr lang="ko-KR" altLang="en-US" sz="7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050180-8D17-4C77-8495-1B7975E3328A}"/>
              </a:ext>
            </a:extLst>
          </p:cNvPr>
          <p:cNvSpPr txBox="1"/>
          <p:nvPr/>
        </p:nvSpPr>
        <p:spPr>
          <a:xfrm>
            <a:off x="5208065" y="6442502"/>
            <a:ext cx="31501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>
                <a:solidFill>
                  <a:srgbClr val="222222"/>
                </a:solidFill>
                <a:latin typeface="Arial" panose="020B0604020202020204" pitchFamily="34" charset="0"/>
              </a:rPr>
              <a:t>Sohn, K., Zhang, Z., Li, C. L., Zhang, H., Lee, C. Y., &amp; Pfister, T. (2020). A simple semi-supervised learning framework for object detection. arXiv preprint arXiv:2005.04757.</a:t>
            </a:r>
            <a:endParaRPr lang="ko-KR" altLang="en-US" sz="7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16797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77B7-6D78-46F4-B749-17EA968F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Semi-Supervised Approaches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48D1-CD84-4F52-9ABD-0CAFBECB4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Consistency methods</a:t>
            </a:r>
          </a:p>
          <a:p>
            <a:pPr lvl="1"/>
            <a:r>
              <a:rPr lang="en-US" altLang="ko-KR" dirty="0"/>
              <a:t>Consistency loss using a ‘consistency’ object detection result under weak augmentation.</a:t>
            </a:r>
          </a:p>
          <a:p>
            <a:r>
              <a:rPr lang="en-US" altLang="ko-KR" dirty="0"/>
              <a:t>Pseudo-label methods</a:t>
            </a:r>
          </a:p>
          <a:p>
            <a:pPr lvl="1"/>
            <a:r>
              <a:rPr lang="en-US" altLang="ko-KR" dirty="0"/>
              <a:t>Pseudo-label generation by teacher model </a:t>
            </a:r>
          </a:p>
          <a:p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5BD45-4F74-495B-9E1C-36B875398D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11</a:t>
            </a:fld>
            <a:endParaRPr lang="ko-KR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779C81-1AF8-4C24-80E3-106B32D4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12" y="3636128"/>
            <a:ext cx="4022668" cy="2664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D643D7-19FB-462B-966A-DD00D16E9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980" y="3671072"/>
            <a:ext cx="4766755" cy="24142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6DA0C7-E0F0-4832-9EB1-F10B62D48E9D}"/>
              </a:ext>
            </a:extLst>
          </p:cNvPr>
          <p:cNvSpPr txBox="1"/>
          <p:nvPr/>
        </p:nvSpPr>
        <p:spPr>
          <a:xfrm>
            <a:off x="509741" y="6530440"/>
            <a:ext cx="3792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Jeong, J., Lee, S., Kim, J., &amp; Kwak, N. (2019). Consistency-based semi-supervised learning for object detection. </a:t>
            </a:r>
            <a:r>
              <a:rPr lang="en-US" altLang="ko-KR" sz="7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altLang="ko-KR" sz="7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altLang="ko-KR" sz="7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32</a:t>
            </a:r>
            <a:r>
              <a:rPr lang="en-US" altLang="ko-KR" sz="7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10759-10768.</a:t>
            </a:r>
            <a:endParaRPr lang="ko-KR" altLang="en-US" sz="7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050180-8D17-4C77-8495-1B7975E3328A}"/>
              </a:ext>
            </a:extLst>
          </p:cNvPr>
          <p:cNvSpPr txBox="1"/>
          <p:nvPr/>
        </p:nvSpPr>
        <p:spPr>
          <a:xfrm>
            <a:off x="5208065" y="6442502"/>
            <a:ext cx="31501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>
                <a:solidFill>
                  <a:srgbClr val="222222"/>
                </a:solidFill>
                <a:latin typeface="Arial" panose="020B0604020202020204" pitchFamily="34" charset="0"/>
              </a:rPr>
              <a:t>Sohn, K., Zhang, Z., Li, C. L., Zhang, H., Lee, C. Y., &amp; Pfister, T. (2020). A simple semi-supervised learning framework for object detection. arXiv preprint arXiv:2005.04757.</a:t>
            </a:r>
            <a:endParaRPr lang="ko-KR" altLang="en-US" sz="7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pic>
        <p:nvPicPr>
          <p:cNvPr id="9" name="Picture 7">
            <a:extLst>
              <a:ext uri="{FF2B5EF4-FFF2-40B4-BE49-F238E27FC236}">
                <a16:creationId xmlns:a16="http://schemas.microsoft.com/office/drawing/2014/main" id="{66C30123-1DA2-43BE-BB08-3B21E8A5AE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75" t="9459" r="66440" b="48629"/>
          <a:stretch/>
        </p:blipFill>
        <p:spPr>
          <a:xfrm>
            <a:off x="1786432" y="3593764"/>
            <a:ext cx="2880321" cy="274902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E1CF0CE-C2F6-4A61-B5C4-A3550BCB81FD}"/>
              </a:ext>
            </a:extLst>
          </p:cNvPr>
          <p:cNvSpPr/>
          <p:nvPr/>
        </p:nvSpPr>
        <p:spPr>
          <a:xfrm>
            <a:off x="509741" y="3861048"/>
            <a:ext cx="1145935" cy="10081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077962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77B7-6D78-46F4-B749-17EA968F1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Semi-Supervised Approaches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48D1-CD84-4F52-9ABD-0CAFBECB4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Consistency methods</a:t>
            </a:r>
          </a:p>
          <a:p>
            <a:pPr lvl="1"/>
            <a:r>
              <a:rPr lang="en-US" altLang="ko-KR" dirty="0"/>
              <a:t>Consistency loss using a ‘consistency’ object detection result under weak augmentation.</a:t>
            </a:r>
          </a:p>
          <a:p>
            <a:r>
              <a:rPr lang="en-US" altLang="ko-KR" dirty="0"/>
              <a:t>Pseudo-label methods</a:t>
            </a:r>
          </a:p>
          <a:p>
            <a:pPr lvl="1"/>
            <a:r>
              <a:rPr lang="en-US" altLang="ko-KR" dirty="0"/>
              <a:t>Pseudo-label generation by teacher model </a:t>
            </a:r>
          </a:p>
          <a:p>
            <a:pPr lvl="2"/>
            <a:r>
              <a:rPr lang="en-US" altLang="ko-KR" sz="1800" dirty="0"/>
              <a:t>Final performance is limited to the </a:t>
            </a:r>
            <a:r>
              <a:rPr lang="en-US" altLang="ko-KR" sz="1800" b="1" u="sng" dirty="0">
                <a:solidFill>
                  <a:srgbClr val="FF0000"/>
                </a:solidFill>
              </a:rPr>
              <a:t>pseudo label generator</a:t>
            </a:r>
          </a:p>
          <a:p>
            <a:pPr lvl="2"/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5BD45-4F74-495B-9E1C-36B875398D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12</a:t>
            </a:fld>
            <a:endParaRPr lang="ko-KR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779C81-1AF8-4C24-80E3-106B32D45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12" y="3636128"/>
            <a:ext cx="4022668" cy="26642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D643D7-19FB-462B-966A-DD00D16E9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980" y="3671072"/>
            <a:ext cx="4766755" cy="241426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F6DA0C7-E0F0-4832-9EB1-F10B62D48E9D}"/>
              </a:ext>
            </a:extLst>
          </p:cNvPr>
          <p:cNvSpPr txBox="1"/>
          <p:nvPr/>
        </p:nvSpPr>
        <p:spPr>
          <a:xfrm>
            <a:off x="509741" y="6530440"/>
            <a:ext cx="379242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Jeong, J., Lee, S., Kim, J., &amp; Kwak, N. (2019). Consistency-based semi-supervised learning for object detection. </a:t>
            </a:r>
            <a:r>
              <a:rPr lang="en-US" altLang="ko-KR" sz="7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Advances in neural information processing systems</a:t>
            </a:r>
            <a:r>
              <a:rPr lang="en-US" altLang="ko-KR" sz="7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US" altLang="ko-KR" sz="700" b="0" i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32</a:t>
            </a:r>
            <a:r>
              <a:rPr lang="en-US" altLang="ko-KR" sz="700" b="0" i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10759-10768.</a:t>
            </a:r>
            <a:endParaRPr lang="ko-KR" altLang="en-US" sz="70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050180-8D17-4C77-8495-1B7975E3328A}"/>
              </a:ext>
            </a:extLst>
          </p:cNvPr>
          <p:cNvSpPr txBox="1"/>
          <p:nvPr/>
        </p:nvSpPr>
        <p:spPr>
          <a:xfrm>
            <a:off x="5208065" y="6442502"/>
            <a:ext cx="3150123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700">
                <a:solidFill>
                  <a:srgbClr val="222222"/>
                </a:solidFill>
                <a:latin typeface="Arial" panose="020B0604020202020204" pitchFamily="34" charset="0"/>
              </a:rPr>
              <a:t>Sohn, K., Zhang, Z., Li, C. L., Zhang, H., Lee, C. Y., &amp; Pfister, T. (2020). A simple semi-supervised learning framework for object detection. arXiv preprint arXiv:2005.04757.</a:t>
            </a:r>
            <a:endParaRPr lang="ko-KR" altLang="en-US" sz="70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C11DD285-B0A1-4805-9834-1C04AA7C6F8A}"/>
              </a:ext>
            </a:extLst>
          </p:cNvPr>
          <p:cNvSpPr/>
          <p:nvPr/>
        </p:nvSpPr>
        <p:spPr>
          <a:xfrm>
            <a:off x="5407205" y="3671512"/>
            <a:ext cx="1368152" cy="12700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46767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02A1-7D1E-4F95-9C33-25579ECA4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Contribution of Soft Teacher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E2CFD-EB40-4625-A66A-F8193940C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End-to-End Pseudo-Labeling Framework</a:t>
            </a:r>
          </a:p>
          <a:p>
            <a:pPr marL="809625" lvl="1" indent="-457200">
              <a:buFont typeface="Arial" panose="020B0604020202020204" pitchFamily="34" charset="0"/>
              <a:buChar char="•"/>
            </a:pPr>
            <a:r>
              <a:rPr lang="en-US" altLang="ko-KR" u="sng" dirty="0"/>
              <a:t>Teacher gets better and better</a:t>
            </a:r>
            <a:r>
              <a:rPr lang="en-US" altLang="ko-KR" dirty="0"/>
              <a:t> as the training goes on</a:t>
            </a:r>
          </a:p>
          <a:p>
            <a:pPr marL="809625" lvl="1" indent="-4572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Soft Teacher </a:t>
            </a:r>
          </a:p>
          <a:p>
            <a:pPr marL="809625" lvl="1" indent="-457200">
              <a:buFont typeface="Arial" panose="020B0604020202020204" pitchFamily="34" charset="0"/>
              <a:buChar char="•"/>
            </a:pPr>
            <a:r>
              <a:rPr lang="en-US" altLang="ko-KR" u="sng" dirty="0"/>
              <a:t>Evaluate </a:t>
            </a:r>
            <a:r>
              <a:rPr lang="en-US" altLang="ko-KR" u="sng" dirty="0">
                <a:solidFill>
                  <a:srgbClr val="FF0000"/>
                </a:solidFill>
              </a:rPr>
              <a:t>reliability of background box class</a:t>
            </a:r>
            <a:r>
              <a:rPr lang="en-US" altLang="ko-KR" dirty="0"/>
              <a:t> during training</a:t>
            </a:r>
          </a:p>
          <a:p>
            <a:pPr marL="809625" lvl="1" indent="-4572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Box Jittering </a:t>
            </a:r>
          </a:p>
          <a:p>
            <a:pPr marL="809625" marR="0" lvl="1" indent="-457200" algn="l" defTabSz="914400" rtl="0" eaLnBrk="0" fontAlgn="base" latinLnBrk="1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Evaluate </a:t>
            </a:r>
            <a:r>
              <a:rPr lang="en-US" altLang="ko-KR" u="sng" dirty="0">
                <a:solidFill>
                  <a:srgbClr val="FF0000"/>
                </a:solidFill>
              </a:rPr>
              <a:t>reliability of box regression</a:t>
            </a:r>
            <a:r>
              <a:rPr lang="en-US" altLang="ko-KR" dirty="0"/>
              <a:t> 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during training</a:t>
            </a:r>
          </a:p>
          <a:p>
            <a:pPr marL="809625" marR="0" lvl="1" indent="-457200" algn="l" defTabSz="914400" rtl="0" eaLnBrk="0" fontAlgn="base" latinLnBrk="1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en-US" altLang="ko-KR" u="sng" dirty="0"/>
              <a:t>SOTA</a:t>
            </a:r>
          </a:p>
          <a:p>
            <a:pPr marL="809625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Soft Teacher + </a:t>
            </a:r>
            <a:r>
              <a:rPr lang="en-US" altLang="ko-KR" dirty="0" err="1"/>
              <a:t>Swin</a:t>
            </a:r>
            <a:r>
              <a:rPr lang="en-US" altLang="ko-KR" dirty="0"/>
              <a:t>-L achieved </a:t>
            </a:r>
            <a:r>
              <a:rPr lang="en-US" altLang="ko-KR" dirty="0" err="1"/>
              <a:t>mAP</a:t>
            </a:r>
            <a:r>
              <a:rPr lang="en-US" altLang="ko-KR" dirty="0"/>
              <a:t> 61.3 in COCO test-dev set</a:t>
            </a:r>
            <a:br>
              <a:rPr lang="en-US" altLang="ko-KR" dirty="0"/>
            </a:br>
            <a:r>
              <a:rPr lang="en-US" altLang="ko-KR" dirty="0"/>
              <a:t>(Papers with code)</a:t>
            </a:r>
          </a:p>
          <a:p>
            <a:pPr marL="809625" lvl="1" indent="-457200">
              <a:buFont typeface="+mj-lt"/>
              <a:buAutoNum type="arabicPeriod"/>
            </a:pPr>
            <a:endParaRPr lang="ko-KR" altLang="en-US" u="sn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0AF62-8E4A-430A-BD0F-0E4AFB4B5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9790214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07B8D-5662-4AD5-8BE8-7A8FD4A0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Q &amp; A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5BC3F-5FA3-47B0-B4B7-64920F566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 marL="0" indent="0" algn="ctr">
              <a:buNone/>
            </a:pPr>
            <a:r>
              <a:rPr lang="en-US" altLang="ko-KR" sz="7200"/>
              <a:t>Q &amp; A</a:t>
            </a:r>
            <a:endParaRPr lang="ko-KR" altLang="en-US" sz="7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125E2-7568-449E-9C76-F738D86AF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309653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5F0A97-51C6-4972-B79C-9AA2949F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Overall</a:t>
            </a:r>
            <a:r>
              <a:rPr lang="ko-KR" altLang="en-US" dirty="0"/>
              <a:t> </a:t>
            </a:r>
            <a:r>
              <a:rPr lang="en-US" altLang="ko-KR" dirty="0"/>
              <a:t>Framework</a:t>
            </a:r>
            <a:r>
              <a:rPr lang="ko-KR" altLang="en-US" dirty="0"/>
              <a:t> </a:t>
            </a:r>
            <a:r>
              <a:rPr lang="en-US" altLang="ko-KR" dirty="0"/>
              <a:t>of Soft Teacher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80DCE5-9281-4F2C-9701-CB86248E7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End-to-End Pseudo-labeling Framework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658C0F-1CE3-4BC2-92B8-3DC34CF93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15</a:t>
            </a:fld>
            <a:endParaRPr lang="ko-KR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9D3531-6D8F-490A-BE88-3BBC10AF6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00" y="1807274"/>
            <a:ext cx="9081825" cy="4142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746793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E8EE7-8219-4A39-9110-1735B2764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Exponential Moving Average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808B62-BD1A-4593-AB39-79F4E0A38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98900A-A88B-4E49-A700-D18F0C7A454D}"/>
              </a:ext>
            </a:extLst>
          </p:cNvPr>
          <p:cNvSpPr txBox="1"/>
          <p:nvPr/>
        </p:nvSpPr>
        <p:spPr>
          <a:xfrm>
            <a:off x="420495" y="6064379"/>
            <a:ext cx="8521281" cy="58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 err="1"/>
              <a:t>Tarvainen</a:t>
            </a:r>
            <a:r>
              <a:rPr lang="en-US" altLang="ko-KR" sz="1400" dirty="0"/>
              <a:t> et al., 2018, </a:t>
            </a:r>
            <a:r>
              <a:rPr lang="en-US" altLang="ko-KR" sz="1400" i="1" dirty="0"/>
              <a:t>Mean teachers are better role models: Weight-averaged consistency targets improve semi-supervised deep learning results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24E8991-58F4-4B3A-930E-919FF2C13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49" y="1592796"/>
            <a:ext cx="8765227" cy="3852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20126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4A120-9BF4-4CD0-9AAF-BC093FFAC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Exponential Moving Average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8FE974-6197-4F79-9480-D5E1E3FBC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Training Result on 10% labeled images from train2017 set.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201996-16CB-4648-A19F-5A512CDF02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0921D57-FE82-4BF0-B41C-44696DCE6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224" y="2132856"/>
            <a:ext cx="7611537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560238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07B8D-5662-4AD5-8BE8-7A8FD4A0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Q &amp; A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5BC3F-5FA3-47B0-B4B7-64920F566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 marL="0" indent="0" algn="ctr">
              <a:buNone/>
            </a:pPr>
            <a:r>
              <a:rPr lang="en-US" altLang="ko-KR" sz="7200"/>
              <a:t>Q &amp; A</a:t>
            </a:r>
            <a:endParaRPr lang="ko-KR" altLang="en-US" sz="7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125E2-7568-449E-9C76-F738D86AF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6519493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45F9-B8A3-4891-B767-7401529A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Soft Teacher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B787-1DA3-4C4B-ABA8-D62F9072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Motivation for Soft Teacher</a:t>
            </a:r>
          </a:p>
          <a:p>
            <a:pPr lvl="1"/>
            <a:r>
              <a:rPr lang="en-US" altLang="ko-KR" dirty="0"/>
              <a:t>Using a higher threshold on foreground can achieve better results than using a lower threshold. </a:t>
            </a:r>
          </a:p>
          <a:p>
            <a:pPr lvl="2"/>
            <a:r>
              <a:rPr lang="en-US" altLang="ko-KR" dirty="0"/>
              <a:t>This filters out most of the student-generated box candidates with low-confidence.</a:t>
            </a:r>
          </a:p>
          <a:p>
            <a:pPr lvl="1"/>
            <a:r>
              <a:rPr lang="en-US" altLang="ko-KR" dirty="0"/>
              <a:t>Some </a:t>
            </a:r>
            <a:r>
              <a:rPr lang="en-US" altLang="ko-KR" u="sng" dirty="0"/>
              <a:t>foreground box candidates will be mistakenly assigned as negatives </a:t>
            </a:r>
            <a:r>
              <a:rPr lang="en-US" altLang="ko-KR" dirty="0"/>
              <a:t>if threshold is too high.</a:t>
            </a:r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2AE0B-08FE-4467-BD16-8ABD46533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19</a:t>
            </a:fld>
            <a:endParaRPr lang="ko-KR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617F69-1B23-48E0-A898-63E1CFD21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2402"/>
            <a:ext cx="4400311" cy="2880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BA1CC0-1DB9-45A8-BFBD-359034693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339" y="4125103"/>
            <a:ext cx="4669766" cy="1855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947489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45F9-B8A3-4891-B767-7401529A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Soft Teacher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B787-1DA3-4C4B-ABA8-D62F9072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Motivation for Soft Teacher</a:t>
            </a:r>
          </a:p>
          <a:p>
            <a:pPr lvl="1"/>
            <a:r>
              <a:rPr lang="en-US" altLang="ko-KR" dirty="0"/>
              <a:t>Using a higher threshold on foreground can achieve better results than using a lower threshold. </a:t>
            </a:r>
          </a:p>
          <a:p>
            <a:pPr lvl="2"/>
            <a:r>
              <a:rPr lang="en-US" altLang="ko-KR" dirty="0"/>
              <a:t>This filters out most of the student-generated box candidates with low-confidence.</a:t>
            </a:r>
          </a:p>
          <a:p>
            <a:pPr lvl="1"/>
            <a:r>
              <a:rPr lang="en-US" altLang="ko-KR" dirty="0"/>
              <a:t>Some </a:t>
            </a:r>
            <a:r>
              <a:rPr lang="en-US" altLang="ko-KR" u="sng" dirty="0"/>
              <a:t>foreground box candidates will be mistakenly assigned as negatives </a:t>
            </a:r>
            <a:r>
              <a:rPr lang="en-US" altLang="ko-KR" dirty="0"/>
              <a:t>if threshold is too high.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2AE0B-08FE-4467-BD16-8ABD46533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20</a:t>
            </a:fld>
            <a:endParaRPr lang="ko-KR" alt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1617F69-1B23-48E0-A898-63E1CFD21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12402"/>
            <a:ext cx="4400311" cy="288032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BA1CC0-1DB9-45A8-BFBD-359034693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7339" y="4125103"/>
            <a:ext cx="4669766" cy="1855996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66BE5F6E-2596-4764-807F-A1343976C5FF}"/>
              </a:ext>
            </a:extLst>
          </p:cNvPr>
          <p:cNvCxnSpPr/>
          <p:nvPr/>
        </p:nvCxnSpPr>
        <p:spPr>
          <a:xfrm>
            <a:off x="3499006" y="3789040"/>
            <a:ext cx="0" cy="21845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4885E6B-3176-4D3F-9C7A-9E6B96FBF1D2}"/>
              </a:ext>
            </a:extLst>
          </p:cNvPr>
          <p:cNvSpPr txBox="1"/>
          <p:nvPr/>
        </p:nvSpPr>
        <p:spPr>
          <a:xfrm>
            <a:off x="2828866" y="4365104"/>
            <a:ext cx="90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FF0000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0.9</a:t>
            </a:r>
            <a:endParaRPr lang="ko-KR" altLang="en-US" sz="1600" dirty="0">
              <a:solidFill>
                <a:srgbClr val="FF0000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1E309CC-7B85-4B67-8A84-C7A6C9A89762}"/>
              </a:ext>
            </a:extLst>
          </p:cNvPr>
          <p:cNvSpPr/>
          <p:nvPr/>
        </p:nvSpPr>
        <p:spPr>
          <a:xfrm>
            <a:off x="5112060" y="4869160"/>
            <a:ext cx="3348372" cy="21602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5751199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45F9-B8A3-4891-B767-7401529A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Soft Teacher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B787-1DA3-4C4B-ABA8-D62F9072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Motivation for Soft Teacher </a:t>
            </a:r>
          </a:p>
          <a:p>
            <a:pPr lvl="1"/>
            <a:r>
              <a:rPr lang="en-US" altLang="ko-KR" sz="1600"/>
              <a:t>High foreground threshold may hinder training and harm the performance </a:t>
            </a:r>
            <a:endParaRPr lang="ko-KR" altLang="en-US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2AE0B-08FE-4467-BD16-8ABD46533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21</a:t>
            </a:fld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CE92B-EE89-4EFF-9D94-0FD6A8A5CD0F}"/>
              </a:ext>
            </a:extLst>
          </p:cNvPr>
          <p:cNvGrpSpPr/>
          <p:nvPr/>
        </p:nvGrpSpPr>
        <p:grpSpPr>
          <a:xfrm>
            <a:off x="1151620" y="2035521"/>
            <a:ext cx="6948772" cy="4358513"/>
            <a:chOff x="863588" y="1748348"/>
            <a:chExt cx="7704857" cy="4832756"/>
          </a:xfrm>
        </p:grpSpPr>
        <p:sp>
          <p:nvSpPr>
            <p:cNvPr id="5" name="사다리꼴 6">
              <a:extLst>
                <a:ext uri="{FF2B5EF4-FFF2-40B4-BE49-F238E27FC236}">
                  <a16:creationId xmlns:a16="http://schemas.microsoft.com/office/drawing/2014/main" id="{7EED8A70-87CD-48B0-825B-89D6FE5A9C43}"/>
                </a:ext>
              </a:extLst>
            </p:cNvPr>
            <p:cNvSpPr/>
            <p:nvPr/>
          </p:nvSpPr>
          <p:spPr>
            <a:xfrm rot="5400000">
              <a:off x="1436132" y="5237953"/>
              <a:ext cx="1064345" cy="1040694"/>
            </a:xfrm>
            <a:prstGeom prst="trapezoid">
              <a:avLst/>
            </a:prstGeom>
            <a:solidFill>
              <a:srgbClr val="A9D18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08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Student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사다리꼴 4">
              <a:extLst>
                <a:ext uri="{FF2B5EF4-FFF2-40B4-BE49-F238E27FC236}">
                  <a16:creationId xmlns:a16="http://schemas.microsoft.com/office/drawing/2014/main" id="{85096EB1-8E72-4670-A967-C3FC1D1931EE}"/>
                </a:ext>
              </a:extLst>
            </p:cNvPr>
            <p:cNvSpPr/>
            <p:nvPr/>
          </p:nvSpPr>
          <p:spPr>
            <a:xfrm rot="5400000">
              <a:off x="1431835" y="3968119"/>
              <a:ext cx="1064345" cy="1040694"/>
            </a:xfrm>
            <a:prstGeom prst="trapezoid">
              <a:avLst/>
            </a:prstGeom>
            <a:solidFill>
              <a:srgbClr val="FFE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44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Soft Teacher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직선 화살표 연결선 39">
              <a:extLst>
                <a:ext uri="{FF2B5EF4-FFF2-40B4-BE49-F238E27FC236}">
                  <a16:creationId xmlns:a16="http://schemas.microsoft.com/office/drawing/2014/main" id="{D87C1A02-9E70-4102-8F70-880A96B25192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484355" y="4488466"/>
              <a:ext cx="890590" cy="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 descr="Why Play | Playworks">
              <a:extLst>
                <a:ext uri="{FF2B5EF4-FFF2-40B4-BE49-F238E27FC236}">
                  <a16:creationId xmlns:a16="http://schemas.microsoft.com/office/drawing/2014/main" id="{AFE48350-45E6-4F1E-AA2A-EF1A126652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588" y="1748348"/>
              <a:ext cx="2200840" cy="1470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Why Play | Playworks">
              <a:extLst>
                <a:ext uri="{FF2B5EF4-FFF2-40B4-BE49-F238E27FC236}">
                  <a16:creationId xmlns:a16="http://schemas.microsoft.com/office/drawing/2014/main" id="{1565C4A5-6169-49B6-B29D-C455A8D181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4675" y="3325155"/>
              <a:ext cx="4873770" cy="3255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70261B1-F420-42B5-8389-18A8C0E4F6E3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1964008" y="3218632"/>
              <a:ext cx="0" cy="8590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FB66E6-D8A4-4A9D-804B-1B47E047AA58}"/>
                </a:ext>
              </a:extLst>
            </p:cNvPr>
            <p:cNvSpPr/>
            <p:nvPr/>
          </p:nvSpPr>
          <p:spPr>
            <a:xfrm>
              <a:off x="5148064" y="4401108"/>
              <a:ext cx="360040" cy="9721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B65A1F-4A28-4405-A725-A079623CF7A1}"/>
                </a:ext>
              </a:extLst>
            </p:cNvPr>
            <p:cNvSpPr/>
            <p:nvPr/>
          </p:nvSpPr>
          <p:spPr>
            <a:xfrm>
              <a:off x="7596335" y="4689140"/>
              <a:ext cx="637317" cy="12241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AC0C82E-EBAC-488F-B9E8-C991913077C8}"/>
              </a:ext>
            </a:extLst>
          </p:cNvPr>
          <p:cNvSpPr txBox="1"/>
          <p:nvPr/>
        </p:nvSpPr>
        <p:spPr>
          <a:xfrm>
            <a:off x="3344850" y="2840028"/>
            <a:ext cx="5115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Teacher model generates pseudo-labels</a:t>
            </a:r>
            <a:endParaRPr lang="ko-KR" altLang="en-US" sz="2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07460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45F9-B8A3-4891-B767-7401529A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Soft Teacher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B787-1DA3-4C4B-ABA8-D62F9072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Motivation for Soft Teacher </a:t>
            </a:r>
          </a:p>
          <a:p>
            <a:pPr lvl="1"/>
            <a:r>
              <a:rPr lang="en-US" altLang="ko-KR" sz="1600"/>
              <a:t>High foreground threshold may hinder training and harm the performance </a:t>
            </a:r>
            <a:endParaRPr lang="ko-KR" altLang="en-US" sz="16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2AE0B-08FE-4467-BD16-8ABD46533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22</a:t>
            </a:fld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CE92B-EE89-4EFF-9D94-0FD6A8A5CD0F}"/>
              </a:ext>
            </a:extLst>
          </p:cNvPr>
          <p:cNvGrpSpPr/>
          <p:nvPr/>
        </p:nvGrpSpPr>
        <p:grpSpPr>
          <a:xfrm>
            <a:off x="1151620" y="2035521"/>
            <a:ext cx="6948772" cy="4358513"/>
            <a:chOff x="863588" y="1748348"/>
            <a:chExt cx="7704857" cy="4832756"/>
          </a:xfrm>
        </p:grpSpPr>
        <p:sp>
          <p:nvSpPr>
            <p:cNvPr id="5" name="사다리꼴 6">
              <a:extLst>
                <a:ext uri="{FF2B5EF4-FFF2-40B4-BE49-F238E27FC236}">
                  <a16:creationId xmlns:a16="http://schemas.microsoft.com/office/drawing/2014/main" id="{7EED8A70-87CD-48B0-825B-89D6FE5A9C43}"/>
                </a:ext>
              </a:extLst>
            </p:cNvPr>
            <p:cNvSpPr/>
            <p:nvPr/>
          </p:nvSpPr>
          <p:spPr>
            <a:xfrm rot="5400000">
              <a:off x="1436132" y="5237953"/>
              <a:ext cx="1064345" cy="1040694"/>
            </a:xfrm>
            <a:prstGeom prst="trapezoid">
              <a:avLst/>
            </a:prstGeom>
            <a:solidFill>
              <a:srgbClr val="A9D18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08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Student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사다리꼴 4">
              <a:extLst>
                <a:ext uri="{FF2B5EF4-FFF2-40B4-BE49-F238E27FC236}">
                  <a16:creationId xmlns:a16="http://schemas.microsoft.com/office/drawing/2014/main" id="{85096EB1-8E72-4670-A967-C3FC1D1931EE}"/>
                </a:ext>
              </a:extLst>
            </p:cNvPr>
            <p:cNvSpPr/>
            <p:nvPr/>
          </p:nvSpPr>
          <p:spPr>
            <a:xfrm rot="5400000">
              <a:off x="1431835" y="3968119"/>
              <a:ext cx="1064345" cy="1040694"/>
            </a:xfrm>
            <a:prstGeom prst="trapezoid">
              <a:avLst/>
            </a:prstGeom>
            <a:solidFill>
              <a:srgbClr val="FFE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44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Soft Teacher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직선 화살표 연결선 39">
              <a:extLst>
                <a:ext uri="{FF2B5EF4-FFF2-40B4-BE49-F238E27FC236}">
                  <a16:creationId xmlns:a16="http://schemas.microsoft.com/office/drawing/2014/main" id="{D87C1A02-9E70-4102-8F70-880A96B25192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484355" y="4488466"/>
              <a:ext cx="890590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 descr="Why Play | Playworks">
              <a:extLst>
                <a:ext uri="{FF2B5EF4-FFF2-40B4-BE49-F238E27FC236}">
                  <a16:creationId xmlns:a16="http://schemas.microsoft.com/office/drawing/2014/main" id="{AFE48350-45E6-4F1E-AA2A-EF1A126652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588" y="1748348"/>
              <a:ext cx="2200840" cy="1470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Why Play | Playworks">
              <a:extLst>
                <a:ext uri="{FF2B5EF4-FFF2-40B4-BE49-F238E27FC236}">
                  <a16:creationId xmlns:a16="http://schemas.microsoft.com/office/drawing/2014/main" id="{1565C4A5-6169-49B6-B29D-C455A8D181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4675" y="3325155"/>
              <a:ext cx="4873770" cy="3255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70261B1-F420-42B5-8389-18A8C0E4F6E3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1964008" y="3218632"/>
              <a:ext cx="0" cy="8590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FB66E6-D8A4-4A9D-804B-1B47E047AA58}"/>
                </a:ext>
              </a:extLst>
            </p:cNvPr>
            <p:cNvSpPr/>
            <p:nvPr/>
          </p:nvSpPr>
          <p:spPr>
            <a:xfrm>
              <a:off x="5148064" y="4401108"/>
              <a:ext cx="360040" cy="9721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B65A1F-4A28-4405-A725-A079623CF7A1}"/>
                </a:ext>
              </a:extLst>
            </p:cNvPr>
            <p:cNvSpPr/>
            <p:nvPr/>
          </p:nvSpPr>
          <p:spPr>
            <a:xfrm>
              <a:off x="7596335" y="4689140"/>
              <a:ext cx="637317" cy="12241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AC0C82E-EBAC-488F-B9E8-C991913077C8}"/>
              </a:ext>
            </a:extLst>
          </p:cNvPr>
          <p:cNvSpPr txBox="1"/>
          <p:nvPr/>
        </p:nvSpPr>
        <p:spPr>
          <a:xfrm>
            <a:off x="3344850" y="2840028"/>
            <a:ext cx="5115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Student makes predictions</a:t>
            </a:r>
            <a:endParaRPr lang="ko-KR" altLang="en-US" sz="2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73AC1ABF-70CF-4457-BFD2-3AB0EA492D91}"/>
              </a:ext>
            </a:extLst>
          </p:cNvPr>
          <p:cNvSpPr/>
          <p:nvPr/>
        </p:nvSpPr>
        <p:spPr>
          <a:xfrm>
            <a:off x="4977369" y="4464160"/>
            <a:ext cx="324709" cy="876714"/>
          </a:xfrm>
          <a:prstGeom prst="rect">
            <a:avLst/>
          </a:prstGeom>
          <a:noFill/>
          <a:ln>
            <a:solidFill>
              <a:srgbClr val="66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AD6E989F-1B2B-4421-A86D-ECE3C57DC36B}"/>
              </a:ext>
            </a:extLst>
          </p:cNvPr>
          <p:cNvSpPr/>
          <p:nvPr/>
        </p:nvSpPr>
        <p:spPr>
          <a:xfrm>
            <a:off x="7185390" y="4723927"/>
            <a:ext cx="574776" cy="876714"/>
          </a:xfrm>
          <a:prstGeom prst="rect">
            <a:avLst/>
          </a:prstGeom>
          <a:noFill/>
          <a:ln>
            <a:solidFill>
              <a:srgbClr val="66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42">
            <a:extLst>
              <a:ext uri="{FF2B5EF4-FFF2-40B4-BE49-F238E27FC236}">
                <a16:creationId xmlns:a16="http://schemas.microsoft.com/office/drawing/2014/main" id="{FA94855C-6086-4FD9-A619-D8345780D76D}"/>
              </a:ext>
            </a:extLst>
          </p:cNvPr>
          <p:cNvCxnSpPr>
            <a:cxnSpLocks/>
          </p:cNvCxnSpPr>
          <p:nvPr/>
        </p:nvCxnSpPr>
        <p:spPr>
          <a:xfrm>
            <a:off x="2617214" y="5651973"/>
            <a:ext cx="799321" cy="0"/>
          </a:xfrm>
          <a:prstGeom prst="straightConnector1">
            <a:avLst/>
          </a:prstGeom>
          <a:noFill/>
          <a:ln>
            <a:solidFill>
              <a:srgbClr val="66FF33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03629507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45F9-B8A3-4891-B767-7401529A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Soft Teacher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B787-1DA3-4C4B-ABA8-D62F9072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Motivation for Soft Teacher </a:t>
            </a:r>
          </a:p>
          <a:p>
            <a:pPr lvl="1"/>
            <a:r>
              <a:rPr lang="en-US" altLang="ko-KR" sz="1600" dirty="0"/>
              <a:t>High foreground threshold may hinder training and harm the performance </a:t>
            </a:r>
            <a:endParaRPr lang="ko-KR" alt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2AE0B-08FE-4467-BD16-8ABD46533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23</a:t>
            </a:fld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CE92B-EE89-4EFF-9D94-0FD6A8A5CD0F}"/>
              </a:ext>
            </a:extLst>
          </p:cNvPr>
          <p:cNvGrpSpPr/>
          <p:nvPr/>
        </p:nvGrpSpPr>
        <p:grpSpPr>
          <a:xfrm>
            <a:off x="1151620" y="2035521"/>
            <a:ext cx="6948772" cy="4358513"/>
            <a:chOff x="863588" y="1748348"/>
            <a:chExt cx="7704857" cy="4832756"/>
          </a:xfrm>
        </p:grpSpPr>
        <p:sp>
          <p:nvSpPr>
            <p:cNvPr id="5" name="사다리꼴 6">
              <a:extLst>
                <a:ext uri="{FF2B5EF4-FFF2-40B4-BE49-F238E27FC236}">
                  <a16:creationId xmlns:a16="http://schemas.microsoft.com/office/drawing/2014/main" id="{7EED8A70-87CD-48B0-825B-89D6FE5A9C43}"/>
                </a:ext>
              </a:extLst>
            </p:cNvPr>
            <p:cNvSpPr/>
            <p:nvPr/>
          </p:nvSpPr>
          <p:spPr>
            <a:xfrm rot="5400000">
              <a:off x="1436132" y="5237953"/>
              <a:ext cx="1064345" cy="1040694"/>
            </a:xfrm>
            <a:prstGeom prst="trapezoid">
              <a:avLst/>
            </a:prstGeom>
            <a:solidFill>
              <a:srgbClr val="A9D18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08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Student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사다리꼴 4">
              <a:extLst>
                <a:ext uri="{FF2B5EF4-FFF2-40B4-BE49-F238E27FC236}">
                  <a16:creationId xmlns:a16="http://schemas.microsoft.com/office/drawing/2014/main" id="{85096EB1-8E72-4670-A967-C3FC1D1931EE}"/>
                </a:ext>
              </a:extLst>
            </p:cNvPr>
            <p:cNvSpPr/>
            <p:nvPr/>
          </p:nvSpPr>
          <p:spPr>
            <a:xfrm rot="5400000">
              <a:off x="1431835" y="3968119"/>
              <a:ext cx="1064345" cy="1040694"/>
            </a:xfrm>
            <a:prstGeom prst="trapezoid">
              <a:avLst/>
            </a:prstGeom>
            <a:solidFill>
              <a:srgbClr val="FFE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44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Soft Teacher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7" name="직선 화살표 연결선 39">
              <a:extLst>
                <a:ext uri="{FF2B5EF4-FFF2-40B4-BE49-F238E27FC236}">
                  <a16:creationId xmlns:a16="http://schemas.microsoft.com/office/drawing/2014/main" id="{D87C1A02-9E70-4102-8F70-880A96B25192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2484355" y="4488466"/>
              <a:ext cx="890590" cy="1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" name="Picture 8" descr="Why Play | Playworks">
              <a:extLst>
                <a:ext uri="{FF2B5EF4-FFF2-40B4-BE49-F238E27FC236}">
                  <a16:creationId xmlns:a16="http://schemas.microsoft.com/office/drawing/2014/main" id="{AFE48350-45E6-4F1E-AA2A-EF1A126652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588" y="1748348"/>
              <a:ext cx="2200840" cy="1470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Why Play | Playworks">
              <a:extLst>
                <a:ext uri="{FF2B5EF4-FFF2-40B4-BE49-F238E27FC236}">
                  <a16:creationId xmlns:a16="http://schemas.microsoft.com/office/drawing/2014/main" id="{1565C4A5-6169-49B6-B29D-C455A8D181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4675" y="3325155"/>
              <a:ext cx="4873770" cy="3255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70261B1-F420-42B5-8389-18A8C0E4F6E3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1964008" y="3218632"/>
              <a:ext cx="0" cy="8590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6FB66E6-D8A4-4A9D-804B-1B47E047AA58}"/>
                </a:ext>
              </a:extLst>
            </p:cNvPr>
            <p:cNvSpPr/>
            <p:nvPr/>
          </p:nvSpPr>
          <p:spPr>
            <a:xfrm>
              <a:off x="5148064" y="4401108"/>
              <a:ext cx="360040" cy="9721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0B65A1F-4A28-4405-A725-A079623CF7A1}"/>
                </a:ext>
              </a:extLst>
            </p:cNvPr>
            <p:cNvSpPr/>
            <p:nvPr/>
          </p:nvSpPr>
          <p:spPr>
            <a:xfrm>
              <a:off x="7596335" y="4689140"/>
              <a:ext cx="637317" cy="122413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AC0C82E-EBAC-488F-B9E8-C991913077C8}"/>
              </a:ext>
            </a:extLst>
          </p:cNvPr>
          <p:cNvSpPr txBox="1"/>
          <p:nvPr/>
        </p:nvSpPr>
        <p:spPr>
          <a:xfrm>
            <a:off x="3344850" y="2840028"/>
            <a:ext cx="51155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Student makes predictions</a:t>
            </a:r>
            <a:endParaRPr lang="ko-KR" altLang="en-US" sz="2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16" name="Rectangle 13">
            <a:extLst>
              <a:ext uri="{FF2B5EF4-FFF2-40B4-BE49-F238E27FC236}">
                <a16:creationId xmlns:a16="http://schemas.microsoft.com/office/drawing/2014/main" id="{73AC1ABF-70CF-4457-BFD2-3AB0EA492D91}"/>
              </a:ext>
            </a:extLst>
          </p:cNvPr>
          <p:cNvSpPr/>
          <p:nvPr/>
        </p:nvSpPr>
        <p:spPr>
          <a:xfrm>
            <a:off x="4977369" y="4464160"/>
            <a:ext cx="324709" cy="876714"/>
          </a:xfrm>
          <a:prstGeom prst="rect">
            <a:avLst/>
          </a:prstGeom>
          <a:noFill/>
          <a:ln>
            <a:solidFill>
              <a:srgbClr val="66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AD6E989F-1B2B-4421-A86D-ECE3C57DC36B}"/>
              </a:ext>
            </a:extLst>
          </p:cNvPr>
          <p:cNvSpPr/>
          <p:nvPr/>
        </p:nvSpPr>
        <p:spPr>
          <a:xfrm>
            <a:off x="7185390" y="4723927"/>
            <a:ext cx="574776" cy="876714"/>
          </a:xfrm>
          <a:prstGeom prst="rect">
            <a:avLst/>
          </a:prstGeom>
          <a:noFill/>
          <a:ln>
            <a:solidFill>
              <a:srgbClr val="66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42">
            <a:extLst>
              <a:ext uri="{FF2B5EF4-FFF2-40B4-BE49-F238E27FC236}">
                <a16:creationId xmlns:a16="http://schemas.microsoft.com/office/drawing/2014/main" id="{FA94855C-6086-4FD9-A619-D8345780D76D}"/>
              </a:ext>
            </a:extLst>
          </p:cNvPr>
          <p:cNvCxnSpPr>
            <a:cxnSpLocks/>
          </p:cNvCxnSpPr>
          <p:nvPr/>
        </p:nvCxnSpPr>
        <p:spPr>
          <a:xfrm>
            <a:off x="2617214" y="5651973"/>
            <a:ext cx="799321" cy="0"/>
          </a:xfrm>
          <a:prstGeom prst="straightConnector1">
            <a:avLst/>
          </a:prstGeom>
          <a:noFill/>
          <a:ln>
            <a:solidFill>
              <a:srgbClr val="66FF33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2CA3A90-5986-40F6-BBBF-0BAAAAACF841}"/>
              </a:ext>
            </a:extLst>
          </p:cNvPr>
          <p:cNvSpPr txBox="1"/>
          <p:nvPr/>
        </p:nvSpPr>
        <p:spPr>
          <a:xfrm>
            <a:off x="4463973" y="3619530"/>
            <a:ext cx="1434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Determined as foreground</a:t>
            </a:r>
            <a:br>
              <a:rPr lang="en-US" altLang="ko-KR" sz="1600" dirty="0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</a:t>
            </a:r>
            <a:r>
              <a:rPr lang="en-US" altLang="ko-KR" sz="1600" dirty="0" err="1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IoU</a:t>
            </a:r>
            <a:r>
              <a:rPr lang="en-US" altLang="ko-KR" sz="1600" dirty="0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&gt; 0.9)</a:t>
            </a:r>
            <a:endParaRPr lang="ko-KR" altLang="en-US" sz="1600" dirty="0">
              <a:solidFill>
                <a:schemeClr val="bg1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996108-2F0E-46B4-A7FC-7591D5FEDC5E}"/>
              </a:ext>
            </a:extLst>
          </p:cNvPr>
          <p:cNvSpPr txBox="1"/>
          <p:nvPr/>
        </p:nvSpPr>
        <p:spPr>
          <a:xfrm>
            <a:off x="6579648" y="3890973"/>
            <a:ext cx="1434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Determined as background</a:t>
            </a:r>
            <a:br>
              <a:rPr lang="en-US" altLang="ko-KR" sz="1600" dirty="0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1600" dirty="0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</a:t>
            </a:r>
            <a:r>
              <a:rPr lang="en-US" altLang="ko-KR" sz="1600" dirty="0" err="1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IoU</a:t>
            </a:r>
            <a:r>
              <a:rPr lang="en-US" altLang="ko-KR" sz="1600" dirty="0">
                <a:solidFill>
                  <a:schemeClr val="bg1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 &lt; 0.9)</a:t>
            </a:r>
            <a:endParaRPr lang="ko-KR" altLang="en-US" sz="1600" dirty="0">
              <a:solidFill>
                <a:schemeClr val="bg1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319427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45F9-B8A3-4891-B767-7401529A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Soft Teacher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B787-1DA3-4C4B-ABA8-D62F9072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Soft Teacher Assess Background Reliability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2AE0B-08FE-4467-BD16-8ABD46533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24</a:t>
            </a:fld>
            <a:endParaRPr lang="ko-KR" alt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4BCE92B-EE89-4EFF-9D94-0FD6A8A5CD0F}"/>
              </a:ext>
            </a:extLst>
          </p:cNvPr>
          <p:cNvGrpSpPr/>
          <p:nvPr/>
        </p:nvGrpSpPr>
        <p:grpSpPr>
          <a:xfrm>
            <a:off x="1151620" y="2035521"/>
            <a:ext cx="6948772" cy="4358513"/>
            <a:chOff x="863588" y="1748348"/>
            <a:chExt cx="7704857" cy="4832756"/>
          </a:xfrm>
        </p:grpSpPr>
        <p:sp>
          <p:nvSpPr>
            <p:cNvPr id="5" name="사다리꼴 6">
              <a:extLst>
                <a:ext uri="{FF2B5EF4-FFF2-40B4-BE49-F238E27FC236}">
                  <a16:creationId xmlns:a16="http://schemas.microsoft.com/office/drawing/2014/main" id="{7EED8A70-87CD-48B0-825B-89D6FE5A9C43}"/>
                </a:ext>
              </a:extLst>
            </p:cNvPr>
            <p:cNvSpPr/>
            <p:nvPr/>
          </p:nvSpPr>
          <p:spPr>
            <a:xfrm rot="5400000">
              <a:off x="1436132" y="5237953"/>
              <a:ext cx="1064345" cy="1040694"/>
            </a:xfrm>
            <a:prstGeom prst="trapezoid">
              <a:avLst/>
            </a:prstGeom>
            <a:solidFill>
              <a:srgbClr val="A9D18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08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Student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6" name="사다리꼴 4">
              <a:extLst>
                <a:ext uri="{FF2B5EF4-FFF2-40B4-BE49-F238E27FC236}">
                  <a16:creationId xmlns:a16="http://schemas.microsoft.com/office/drawing/2014/main" id="{85096EB1-8E72-4670-A967-C3FC1D1931EE}"/>
                </a:ext>
              </a:extLst>
            </p:cNvPr>
            <p:cNvSpPr/>
            <p:nvPr/>
          </p:nvSpPr>
          <p:spPr>
            <a:xfrm rot="5400000">
              <a:off x="1431835" y="3968119"/>
              <a:ext cx="1064345" cy="1040694"/>
            </a:xfrm>
            <a:prstGeom prst="trapezoid">
              <a:avLst/>
            </a:prstGeom>
            <a:solidFill>
              <a:srgbClr val="FFE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44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Soft Teacher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pic>
          <p:nvPicPr>
            <p:cNvPr id="9" name="Picture 8" descr="Why Play | Playworks">
              <a:extLst>
                <a:ext uri="{FF2B5EF4-FFF2-40B4-BE49-F238E27FC236}">
                  <a16:creationId xmlns:a16="http://schemas.microsoft.com/office/drawing/2014/main" id="{AFE48350-45E6-4F1E-AA2A-EF1A126652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588" y="1748348"/>
              <a:ext cx="2200840" cy="1470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 descr="Why Play | Playworks">
              <a:extLst>
                <a:ext uri="{FF2B5EF4-FFF2-40B4-BE49-F238E27FC236}">
                  <a16:creationId xmlns:a16="http://schemas.microsoft.com/office/drawing/2014/main" id="{1565C4A5-6169-49B6-B29D-C455A8D181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4675" y="3325155"/>
              <a:ext cx="4873770" cy="3255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70261B1-F420-42B5-8389-18A8C0E4F6E3}"/>
                </a:ext>
              </a:extLst>
            </p:cNvPr>
            <p:cNvCxnSpPr>
              <a:stCxn id="9" idx="2"/>
            </p:cNvCxnSpPr>
            <p:nvPr/>
          </p:nvCxnSpPr>
          <p:spPr>
            <a:xfrm>
              <a:off x="1964008" y="3218632"/>
              <a:ext cx="0" cy="8590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5">
            <a:extLst>
              <a:ext uri="{FF2B5EF4-FFF2-40B4-BE49-F238E27FC236}">
                <a16:creationId xmlns:a16="http://schemas.microsoft.com/office/drawing/2014/main" id="{AD6E989F-1B2B-4421-A86D-ECE3C57DC36B}"/>
              </a:ext>
            </a:extLst>
          </p:cNvPr>
          <p:cNvSpPr/>
          <p:nvPr/>
        </p:nvSpPr>
        <p:spPr>
          <a:xfrm>
            <a:off x="7185390" y="4723927"/>
            <a:ext cx="574776" cy="876714"/>
          </a:xfrm>
          <a:prstGeom prst="rect">
            <a:avLst/>
          </a:prstGeom>
          <a:noFill/>
          <a:ln>
            <a:solidFill>
              <a:srgbClr val="66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화살표: 아래로 구부러짐 7">
            <a:extLst>
              <a:ext uri="{FF2B5EF4-FFF2-40B4-BE49-F238E27FC236}">
                <a16:creationId xmlns:a16="http://schemas.microsoft.com/office/drawing/2014/main" id="{9A421DC9-33DB-48B4-9D4D-63D2858C66C7}"/>
              </a:ext>
            </a:extLst>
          </p:cNvPr>
          <p:cNvSpPr/>
          <p:nvPr/>
        </p:nvSpPr>
        <p:spPr>
          <a:xfrm rot="312443" flipH="1">
            <a:off x="2089432" y="3308623"/>
            <a:ext cx="5430595" cy="1078029"/>
          </a:xfrm>
          <a:prstGeom prst="curvedDownArrow">
            <a:avLst>
              <a:gd name="adj1" fmla="val 16481"/>
              <a:gd name="adj2" fmla="val 49417"/>
              <a:gd name="adj3" fmla="val 35886"/>
            </a:avLst>
          </a:prstGeom>
          <a:solidFill>
            <a:srgbClr val="0000FF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4BA3CF-A09E-4CDC-8223-078F4BBCA4C8}"/>
              </a:ext>
            </a:extLst>
          </p:cNvPr>
          <p:cNvSpPr txBox="1"/>
          <p:nvPr/>
        </p:nvSpPr>
        <p:spPr>
          <a:xfrm>
            <a:off x="3100957" y="2470485"/>
            <a:ext cx="60421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Soft Teacher re-calculates </a:t>
            </a:r>
            <a:b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student-generated boxes’ background confidence.  </a:t>
            </a:r>
            <a:endParaRPr lang="ko-KR" altLang="en-US" sz="20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8BC037C8-1546-417D-9788-BE3D3D491166}"/>
              </a:ext>
            </a:extLst>
          </p:cNvPr>
          <p:cNvCxnSpPr>
            <a:cxnSpLocks/>
            <a:stCxn id="6" idx="0"/>
            <a:endCxn id="26" idx="1"/>
          </p:cNvCxnSpPr>
          <p:nvPr/>
        </p:nvCxnSpPr>
        <p:spPr>
          <a:xfrm>
            <a:off x="2613339" y="4506749"/>
            <a:ext cx="4059178" cy="1283223"/>
          </a:xfrm>
          <a:prstGeom prst="bentConnector3">
            <a:avLst/>
          </a:prstGeom>
          <a:ln w="2222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CCF5917-7F50-4995-9E00-1A273792A5DC}"/>
              </a:ext>
            </a:extLst>
          </p:cNvPr>
          <p:cNvSpPr txBox="1"/>
          <p:nvPr/>
        </p:nvSpPr>
        <p:spPr>
          <a:xfrm>
            <a:off x="6672517" y="5620695"/>
            <a:ext cx="1695370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Background 0.1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4A9720-020A-49B4-813C-4786B59A2D4F}"/>
              </a:ext>
            </a:extLst>
          </p:cNvPr>
          <p:cNvSpPr txBox="1"/>
          <p:nvPr/>
        </p:nvSpPr>
        <p:spPr>
          <a:xfrm>
            <a:off x="6625093" y="4369868"/>
            <a:ext cx="1695370" cy="338554"/>
          </a:xfrm>
          <a:prstGeom prst="rect">
            <a:avLst/>
          </a:prstGeom>
          <a:solidFill>
            <a:srgbClr val="66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Background 0.3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B7A973F8-DECB-445E-A110-C76AEADF3AE2}"/>
              </a:ext>
            </a:extLst>
          </p:cNvPr>
          <p:cNvCxnSpPr>
            <a:stCxn id="5" idx="0"/>
            <a:endCxn id="27" idx="1"/>
          </p:cNvCxnSpPr>
          <p:nvPr/>
        </p:nvCxnSpPr>
        <p:spPr>
          <a:xfrm flipV="1">
            <a:off x="2617215" y="4539145"/>
            <a:ext cx="4007878" cy="1112828"/>
          </a:xfrm>
          <a:prstGeom prst="bentConnector3">
            <a:avLst/>
          </a:prstGeom>
          <a:noFill/>
          <a:ln>
            <a:solidFill>
              <a:srgbClr val="66FF33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679364229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45F9-B8A3-4891-B767-7401529A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Soft Teacher 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B787-1DA3-4C4B-ABA8-D62F9072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Soft Teacher Assess Background Reliability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2AE0B-08FE-4467-BD16-8ABD46533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25</a:t>
            </a:fld>
            <a:endParaRPr lang="ko-KR" altLang="en-US" dirty="0"/>
          </a:p>
        </p:txBody>
      </p:sp>
      <p:sp>
        <p:nvSpPr>
          <p:cNvPr id="5" name="사다리꼴 6">
            <a:extLst>
              <a:ext uri="{FF2B5EF4-FFF2-40B4-BE49-F238E27FC236}">
                <a16:creationId xmlns:a16="http://schemas.microsoft.com/office/drawing/2014/main" id="{7EED8A70-87CD-48B0-825B-89D6FE5A9C43}"/>
              </a:ext>
            </a:extLst>
          </p:cNvPr>
          <p:cNvSpPr/>
          <p:nvPr/>
        </p:nvSpPr>
        <p:spPr>
          <a:xfrm rot="5400000">
            <a:off x="1667980" y="5182688"/>
            <a:ext cx="959900" cy="938570"/>
          </a:xfrm>
          <a:prstGeom prst="trapezoid">
            <a:avLst/>
          </a:prstGeom>
          <a:solidFill>
            <a:srgbClr val="A9D18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108000"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Student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사다리꼴 4">
            <a:extLst>
              <a:ext uri="{FF2B5EF4-FFF2-40B4-BE49-F238E27FC236}">
                <a16:creationId xmlns:a16="http://schemas.microsoft.com/office/drawing/2014/main" id="{85096EB1-8E72-4670-A967-C3FC1D1931EE}"/>
              </a:ext>
            </a:extLst>
          </p:cNvPr>
          <p:cNvSpPr/>
          <p:nvPr/>
        </p:nvSpPr>
        <p:spPr>
          <a:xfrm rot="5400000">
            <a:off x="1664104" y="4037464"/>
            <a:ext cx="959900" cy="938570"/>
          </a:xfrm>
          <a:prstGeom prst="trapezoid">
            <a:avLst/>
          </a:prstGeom>
          <a:solidFill>
            <a:srgbClr val="FFE6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144000"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Soft Teacher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" name="직선 화살표 연결선 39">
            <a:extLst>
              <a:ext uri="{FF2B5EF4-FFF2-40B4-BE49-F238E27FC236}">
                <a16:creationId xmlns:a16="http://schemas.microsoft.com/office/drawing/2014/main" id="{D87C1A02-9E70-4102-8F70-880A96B2519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613340" y="4506749"/>
            <a:ext cx="803196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42">
            <a:extLst>
              <a:ext uri="{FF2B5EF4-FFF2-40B4-BE49-F238E27FC236}">
                <a16:creationId xmlns:a16="http://schemas.microsoft.com/office/drawing/2014/main" id="{5708D3A5-050A-4E0F-AD66-A023F8C28455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2617214" y="5651973"/>
            <a:ext cx="799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Why Play | Playworks">
            <a:extLst>
              <a:ext uri="{FF2B5EF4-FFF2-40B4-BE49-F238E27FC236}">
                <a16:creationId xmlns:a16="http://schemas.microsoft.com/office/drawing/2014/main" id="{AFE48350-45E6-4F1E-AA2A-EF1A1266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620" y="2035521"/>
            <a:ext cx="1984869" cy="1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Why Play | Playworks">
            <a:extLst>
              <a:ext uri="{FF2B5EF4-FFF2-40B4-BE49-F238E27FC236}">
                <a16:creationId xmlns:a16="http://schemas.microsoft.com/office/drawing/2014/main" id="{1565C4A5-6169-49B6-B29D-C455A8D18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890" y="3457594"/>
            <a:ext cx="4395502" cy="293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0261B1-F420-42B5-8389-18A8C0E4F6E3}"/>
              </a:ext>
            </a:extLst>
          </p:cNvPr>
          <p:cNvCxnSpPr>
            <a:stCxn id="9" idx="2"/>
          </p:cNvCxnSpPr>
          <p:nvPr/>
        </p:nvCxnSpPr>
        <p:spPr>
          <a:xfrm>
            <a:off x="2144055" y="3361525"/>
            <a:ext cx="0" cy="774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52828E88-5592-4827-AF0A-7CB732840CC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3534"/>
          <a:stretch/>
        </p:blipFill>
        <p:spPr>
          <a:xfrm>
            <a:off x="3243050" y="2298675"/>
            <a:ext cx="5319181" cy="9612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FA07BA5-3EB4-4C5C-8259-DE275D4C7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741" y="3531332"/>
            <a:ext cx="1977403" cy="1013419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sp>
        <p:nvSpPr>
          <p:cNvPr id="21" name="Rectangle 15">
            <a:extLst>
              <a:ext uri="{FF2B5EF4-FFF2-40B4-BE49-F238E27FC236}">
                <a16:creationId xmlns:a16="http://schemas.microsoft.com/office/drawing/2014/main" id="{D8863469-2EF0-428F-B244-60A9F9A48E94}"/>
              </a:ext>
            </a:extLst>
          </p:cNvPr>
          <p:cNvSpPr/>
          <p:nvPr/>
        </p:nvSpPr>
        <p:spPr>
          <a:xfrm>
            <a:off x="7185390" y="4723927"/>
            <a:ext cx="574776" cy="876714"/>
          </a:xfrm>
          <a:prstGeom prst="rect">
            <a:avLst/>
          </a:prstGeom>
          <a:noFill/>
          <a:ln>
            <a:solidFill>
              <a:srgbClr val="66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42">
            <a:extLst>
              <a:ext uri="{FF2B5EF4-FFF2-40B4-BE49-F238E27FC236}">
                <a16:creationId xmlns:a16="http://schemas.microsoft.com/office/drawing/2014/main" id="{F01510F3-DA53-4152-9DC7-C11425E0EA6E}"/>
              </a:ext>
            </a:extLst>
          </p:cNvPr>
          <p:cNvCxnSpPr>
            <a:cxnSpLocks/>
          </p:cNvCxnSpPr>
          <p:nvPr/>
        </p:nvCxnSpPr>
        <p:spPr>
          <a:xfrm>
            <a:off x="2613339" y="5651973"/>
            <a:ext cx="799321" cy="0"/>
          </a:xfrm>
          <a:prstGeom prst="straightConnector1">
            <a:avLst/>
          </a:prstGeom>
          <a:noFill/>
          <a:ln>
            <a:solidFill>
              <a:srgbClr val="66FF33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21DD6C5-F5A8-4DBE-B6B2-88D231922723}"/>
              </a:ext>
            </a:extLst>
          </p:cNvPr>
          <p:cNvSpPr txBox="1"/>
          <p:nvPr/>
        </p:nvSpPr>
        <p:spPr>
          <a:xfrm>
            <a:off x="3919281" y="173440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Loss for bounding box classification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838EF2C-D3B2-4C10-884A-B222A9B65C72}"/>
              </a:ext>
            </a:extLst>
          </p:cNvPr>
          <p:cNvCxnSpPr/>
          <p:nvPr/>
        </p:nvCxnSpPr>
        <p:spPr>
          <a:xfrm>
            <a:off x="4073827" y="3176972"/>
            <a:ext cx="2298373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A81A08F-A30C-48AB-BE7B-C408BDD524F4}"/>
              </a:ext>
            </a:extLst>
          </p:cNvPr>
          <p:cNvSpPr txBox="1"/>
          <p:nvPr/>
        </p:nvSpPr>
        <p:spPr>
          <a:xfrm>
            <a:off x="4281606" y="3144077"/>
            <a:ext cx="1795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Foreground</a:t>
            </a:r>
            <a:endParaRPr lang="ko-KR" altLang="en-US" sz="1600" dirty="0">
              <a:solidFill>
                <a:srgbClr val="0000FF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CFB1D5-43C7-44F3-AF65-E6673B2EA1EC}"/>
              </a:ext>
            </a:extLst>
          </p:cNvPr>
          <p:cNvSpPr txBox="1"/>
          <p:nvPr/>
        </p:nvSpPr>
        <p:spPr>
          <a:xfrm>
            <a:off x="6768295" y="3119040"/>
            <a:ext cx="1795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background</a:t>
            </a:r>
            <a:endParaRPr lang="ko-KR" altLang="en-US" sz="1600" dirty="0">
              <a:solidFill>
                <a:srgbClr val="0000FF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2D5B51F-D376-4E10-AFB6-C4484F4C18CE}"/>
              </a:ext>
            </a:extLst>
          </p:cNvPr>
          <p:cNvSpPr/>
          <p:nvPr/>
        </p:nvSpPr>
        <p:spPr>
          <a:xfrm>
            <a:off x="6912260" y="2561962"/>
            <a:ext cx="396044" cy="4833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3187A0-CF39-4AAF-94A6-A615BA2ABFFB}"/>
              </a:ext>
            </a:extLst>
          </p:cNvPr>
          <p:cNvSpPr txBox="1"/>
          <p:nvPr/>
        </p:nvSpPr>
        <p:spPr>
          <a:xfrm>
            <a:off x="6672517" y="5620695"/>
            <a:ext cx="1695370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Background 0.1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F65AAA61-14E5-4957-B552-F1BC57A2A1CB}"/>
              </a:ext>
            </a:extLst>
          </p:cNvPr>
          <p:cNvCxnSpPr>
            <a:cxnSpLocks/>
            <a:stCxn id="31" idx="3"/>
            <a:endCxn id="34" idx="3"/>
          </p:cNvCxnSpPr>
          <p:nvPr/>
        </p:nvCxnSpPr>
        <p:spPr>
          <a:xfrm flipH="1" flipV="1">
            <a:off x="6643524" y="3816721"/>
            <a:ext cx="1724363" cy="1973251"/>
          </a:xfrm>
          <a:prstGeom prst="bentConnector3">
            <a:avLst>
              <a:gd name="adj1" fmla="val -13257"/>
            </a:avLst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9A98E89-3EC2-4C67-A43C-16A09AF0C5CC}"/>
              </a:ext>
            </a:extLst>
          </p:cNvPr>
          <p:cNvSpPr/>
          <p:nvPr/>
        </p:nvSpPr>
        <p:spPr>
          <a:xfrm>
            <a:off x="6048164" y="3628378"/>
            <a:ext cx="595360" cy="3766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97650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45F9-B8A3-4891-B767-7401529A5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Soft Teacher 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DB787-1DA3-4C4B-ABA8-D62F90725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Soft Teacher Assess Background Reliability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E2AE0B-08FE-4467-BD16-8ABD46533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26</a:t>
            </a:fld>
            <a:endParaRPr lang="ko-KR" altLang="en-US" dirty="0"/>
          </a:p>
        </p:txBody>
      </p:sp>
      <p:sp>
        <p:nvSpPr>
          <p:cNvPr id="5" name="사다리꼴 6">
            <a:extLst>
              <a:ext uri="{FF2B5EF4-FFF2-40B4-BE49-F238E27FC236}">
                <a16:creationId xmlns:a16="http://schemas.microsoft.com/office/drawing/2014/main" id="{7EED8A70-87CD-48B0-825B-89D6FE5A9C43}"/>
              </a:ext>
            </a:extLst>
          </p:cNvPr>
          <p:cNvSpPr/>
          <p:nvPr/>
        </p:nvSpPr>
        <p:spPr>
          <a:xfrm rot="5400000">
            <a:off x="1667980" y="5182688"/>
            <a:ext cx="959900" cy="938570"/>
          </a:xfrm>
          <a:prstGeom prst="trapezoid">
            <a:avLst/>
          </a:prstGeom>
          <a:solidFill>
            <a:srgbClr val="A9D18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108000"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Student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사다리꼴 4">
            <a:extLst>
              <a:ext uri="{FF2B5EF4-FFF2-40B4-BE49-F238E27FC236}">
                <a16:creationId xmlns:a16="http://schemas.microsoft.com/office/drawing/2014/main" id="{85096EB1-8E72-4670-A967-C3FC1D1931EE}"/>
              </a:ext>
            </a:extLst>
          </p:cNvPr>
          <p:cNvSpPr/>
          <p:nvPr/>
        </p:nvSpPr>
        <p:spPr>
          <a:xfrm rot="5400000">
            <a:off x="1664104" y="4037464"/>
            <a:ext cx="959900" cy="938570"/>
          </a:xfrm>
          <a:prstGeom prst="trapezoid">
            <a:avLst/>
          </a:prstGeom>
          <a:solidFill>
            <a:srgbClr val="FFE6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144000"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Soft Teacher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" name="직선 화살표 연결선 39">
            <a:extLst>
              <a:ext uri="{FF2B5EF4-FFF2-40B4-BE49-F238E27FC236}">
                <a16:creationId xmlns:a16="http://schemas.microsoft.com/office/drawing/2014/main" id="{D87C1A02-9E70-4102-8F70-880A96B25192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2613340" y="4506749"/>
            <a:ext cx="803196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42">
            <a:extLst>
              <a:ext uri="{FF2B5EF4-FFF2-40B4-BE49-F238E27FC236}">
                <a16:creationId xmlns:a16="http://schemas.microsoft.com/office/drawing/2014/main" id="{5708D3A5-050A-4E0F-AD66-A023F8C28455}"/>
              </a:ext>
            </a:extLst>
          </p:cNvPr>
          <p:cNvCxnSpPr>
            <a:cxnSpLocks/>
            <a:stCxn id="5" idx="0"/>
          </p:cNvCxnSpPr>
          <p:nvPr/>
        </p:nvCxnSpPr>
        <p:spPr>
          <a:xfrm>
            <a:off x="2617214" y="5651973"/>
            <a:ext cx="799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Why Play | Playworks">
            <a:extLst>
              <a:ext uri="{FF2B5EF4-FFF2-40B4-BE49-F238E27FC236}">
                <a16:creationId xmlns:a16="http://schemas.microsoft.com/office/drawing/2014/main" id="{AFE48350-45E6-4F1E-AA2A-EF1A126652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620" y="2035521"/>
            <a:ext cx="1984869" cy="1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Why Play | Playworks">
            <a:extLst>
              <a:ext uri="{FF2B5EF4-FFF2-40B4-BE49-F238E27FC236}">
                <a16:creationId xmlns:a16="http://schemas.microsoft.com/office/drawing/2014/main" id="{1565C4A5-6169-49B6-B29D-C455A8D18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890" y="3457594"/>
            <a:ext cx="4395502" cy="2936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0261B1-F420-42B5-8389-18A8C0E4F6E3}"/>
              </a:ext>
            </a:extLst>
          </p:cNvPr>
          <p:cNvCxnSpPr>
            <a:stCxn id="9" idx="2"/>
          </p:cNvCxnSpPr>
          <p:nvPr/>
        </p:nvCxnSpPr>
        <p:spPr>
          <a:xfrm>
            <a:off x="2144055" y="3361525"/>
            <a:ext cx="0" cy="774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52828E88-5592-4827-AF0A-7CB732840CC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3534"/>
          <a:stretch/>
        </p:blipFill>
        <p:spPr>
          <a:xfrm>
            <a:off x="3243050" y="2298675"/>
            <a:ext cx="5319181" cy="96127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FA07BA5-3EB4-4C5C-8259-DE275D4C72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741" y="3531332"/>
            <a:ext cx="1977403" cy="1013419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sp>
        <p:nvSpPr>
          <p:cNvPr id="21" name="Rectangle 15">
            <a:extLst>
              <a:ext uri="{FF2B5EF4-FFF2-40B4-BE49-F238E27FC236}">
                <a16:creationId xmlns:a16="http://schemas.microsoft.com/office/drawing/2014/main" id="{D8863469-2EF0-428F-B244-60A9F9A48E94}"/>
              </a:ext>
            </a:extLst>
          </p:cNvPr>
          <p:cNvSpPr/>
          <p:nvPr/>
        </p:nvSpPr>
        <p:spPr>
          <a:xfrm>
            <a:off x="7185390" y="4723927"/>
            <a:ext cx="574776" cy="876714"/>
          </a:xfrm>
          <a:prstGeom prst="rect">
            <a:avLst/>
          </a:prstGeom>
          <a:noFill/>
          <a:ln>
            <a:solidFill>
              <a:srgbClr val="66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3" name="직선 화살표 연결선 42">
            <a:extLst>
              <a:ext uri="{FF2B5EF4-FFF2-40B4-BE49-F238E27FC236}">
                <a16:creationId xmlns:a16="http://schemas.microsoft.com/office/drawing/2014/main" id="{F01510F3-DA53-4152-9DC7-C11425E0EA6E}"/>
              </a:ext>
            </a:extLst>
          </p:cNvPr>
          <p:cNvCxnSpPr>
            <a:cxnSpLocks/>
          </p:cNvCxnSpPr>
          <p:nvPr/>
        </p:nvCxnSpPr>
        <p:spPr>
          <a:xfrm>
            <a:off x="2613339" y="5651973"/>
            <a:ext cx="799321" cy="0"/>
          </a:xfrm>
          <a:prstGeom prst="straightConnector1">
            <a:avLst/>
          </a:prstGeom>
          <a:noFill/>
          <a:ln>
            <a:solidFill>
              <a:srgbClr val="66FF33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21DD6C5-F5A8-4DBE-B6B2-88D231922723}"/>
              </a:ext>
            </a:extLst>
          </p:cNvPr>
          <p:cNvSpPr txBox="1"/>
          <p:nvPr/>
        </p:nvSpPr>
        <p:spPr>
          <a:xfrm>
            <a:off x="3919281" y="1734404"/>
            <a:ext cx="41764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Loss for bounding box classification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838EF2C-D3B2-4C10-884A-B222A9B65C72}"/>
              </a:ext>
            </a:extLst>
          </p:cNvPr>
          <p:cNvCxnSpPr/>
          <p:nvPr/>
        </p:nvCxnSpPr>
        <p:spPr>
          <a:xfrm>
            <a:off x="4073827" y="3176972"/>
            <a:ext cx="2298373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A81A08F-A30C-48AB-BE7B-C408BDD524F4}"/>
              </a:ext>
            </a:extLst>
          </p:cNvPr>
          <p:cNvSpPr txBox="1"/>
          <p:nvPr/>
        </p:nvSpPr>
        <p:spPr>
          <a:xfrm>
            <a:off x="4281606" y="3144077"/>
            <a:ext cx="1795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Foreground</a:t>
            </a:r>
            <a:endParaRPr lang="ko-KR" altLang="en-US" sz="1600" dirty="0">
              <a:solidFill>
                <a:srgbClr val="0000FF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CFB1D5-43C7-44F3-AF65-E6673B2EA1EC}"/>
              </a:ext>
            </a:extLst>
          </p:cNvPr>
          <p:cNvSpPr txBox="1"/>
          <p:nvPr/>
        </p:nvSpPr>
        <p:spPr>
          <a:xfrm>
            <a:off x="6768295" y="3119040"/>
            <a:ext cx="1795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Background</a:t>
            </a:r>
            <a:endParaRPr lang="ko-KR" altLang="en-US" sz="1600" dirty="0">
              <a:solidFill>
                <a:srgbClr val="0000FF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2D5B51F-D376-4E10-AFB6-C4484F4C18CE}"/>
              </a:ext>
            </a:extLst>
          </p:cNvPr>
          <p:cNvSpPr/>
          <p:nvPr/>
        </p:nvSpPr>
        <p:spPr>
          <a:xfrm>
            <a:off x="6912260" y="2561962"/>
            <a:ext cx="396044" cy="48334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43187A0-CF39-4AAF-94A6-A615BA2ABFFB}"/>
              </a:ext>
            </a:extLst>
          </p:cNvPr>
          <p:cNvSpPr txBox="1"/>
          <p:nvPr/>
        </p:nvSpPr>
        <p:spPr>
          <a:xfrm>
            <a:off x="6672517" y="5620695"/>
            <a:ext cx="1695370" cy="338554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Background 0.1</a:t>
            </a:r>
            <a:endParaRPr lang="ko-KR" altLang="en-US" sz="16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F65AAA61-14E5-4957-B552-F1BC57A2A1CB}"/>
              </a:ext>
            </a:extLst>
          </p:cNvPr>
          <p:cNvCxnSpPr>
            <a:cxnSpLocks/>
            <a:stCxn id="31" idx="3"/>
            <a:endCxn id="34" idx="3"/>
          </p:cNvCxnSpPr>
          <p:nvPr/>
        </p:nvCxnSpPr>
        <p:spPr>
          <a:xfrm flipH="1" flipV="1">
            <a:off x="6643524" y="3816721"/>
            <a:ext cx="1724363" cy="1973251"/>
          </a:xfrm>
          <a:prstGeom prst="bentConnector3">
            <a:avLst>
              <a:gd name="adj1" fmla="val -13257"/>
            </a:avLst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9A98E89-3EC2-4C67-A43C-16A09AF0C5CC}"/>
              </a:ext>
            </a:extLst>
          </p:cNvPr>
          <p:cNvSpPr/>
          <p:nvPr/>
        </p:nvSpPr>
        <p:spPr>
          <a:xfrm>
            <a:off x="6048164" y="3628378"/>
            <a:ext cx="595360" cy="37668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97329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3ECC1-F3EC-471E-9664-9FCA4C32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Soft Teacher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314594-06FC-41AB-AA48-46E3B022A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Ablation Study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0395F4-BD30-48B2-BB32-2FE9E8CAE0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3A4A0E-415D-41A6-8A9A-58905F7A2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4" y="2474968"/>
            <a:ext cx="4644516" cy="4164837"/>
          </a:xfrm>
          <a:prstGeom prst="rect">
            <a:avLst/>
          </a:prstGeom>
        </p:spPr>
      </p:pic>
      <p:pic>
        <p:nvPicPr>
          <p:cNvPr id="7" name="Picture 21">
            <a:extLst>
              <a:ext uri="{FF2B5EF4-FFF2-40B4-BE49-F238E27FC236}">
                <a16:creationId xmlns:a16="http://schemas.microsoft.com/office/drawing/2014/main" id="{39DD1AA0-121E-422C-80B4-3780CA7CF5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997" y="1572851"/>
            <a:ext cx="1800200" cy="922602"/>
          </a:xfrm>
          <a:prstGeom prst="rect">
            <a:avLst/>
          </a:prstGeom>
          <a:effectLst>
            <a:glow rad="114300">
              <a:schemeClr val="bg1"/>
            </a:glow>
          </a:effectLst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001B788B-6E5E-4826-AEFB-8FB4084F397F}"/>
              </a:ext>
            </a:extLst>
          </p:cNvPr>
          <p:cNvSpPr/>
          <p:nvPr/>
        </p:nvSpPr>
        <p:spPr>
          <a:xfrm>
            <a:off x="2627120" y="1667361"/>
            <a:ext cx="324036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E2295D7-74D3-42C9-85E1-1FB72B4F86FE}"/>
              </a:ext>
            </a:extLst>
          </p:cNvPr>
          <p:cNvCxnSpPr>
            <a:cxnSpLocks/>
          </p:cNvCxnSpPr>
          <p:nvPr/>
        </p:nvCxnSpPr>
        <p:spPr>
          <a:xfrm>
            <a:off x="502884" y="2783485"/>
            <a:ext cx="3348372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FAE559E-2C27-4042-8522-1986C3B111D3}"/>
              </a:ext>
            </a:extLst>
          </p:cNvPr>
          <p:cNvCxnSpPr>
            <a:cxnSpLocks/>
          </p:cNvCxnSpPr>
          <p:nvPr/>
        </p:nvCxnSpPr>
        <p:spPr>
          <a:xfrm>
            <a:off x="430876" y="3611577"/>
            <a:ext cx="266429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68D7C12E-2734-4273-AD70-FD08DC0C745E}"/>
              </a:ext>
            </a:extLst>
          </p:cNvPr>
          <p:cNvCxnSpPr>
            <a:cxnSpLocks/>
          </p:cNvCxnSpPr>
          <p:nvPr/>
        </p:nvCxnSpPr>
        <p:spPr>
          <a:xfrm>
            <a:off x="1508043" y="5015733"/>
            <a:ext cx="223224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542D1F4-9700-4DBA-B69B-7E674715194A}"/>
              </a:ext>
            </a:extLst>
          </p:cNvPr>
          <p:cNvCxnSpPr>
            <a:cxnSpLocks/>
          </p:cNvCxnSpPr>
          <p:nvPr/>
        </p:nvCxnSpPr>
        <p:spPr>
          <a:xfrm>
            <a:off x="502884" y="6275873"/>
            <a:ext cx="1908213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20CD4D62-12AE-4395-9F87-D55CD9750F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876" y="3056043"/>
            <a:ext cx="4328718" cy="2065145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80673D-F117-4F74-AE58-BD2C2CFF9434}"/>
              </a:ext>
            </a:extLst>
          </p:cNvPr>
          <p:cNvSpPr/>
          <p:nvPr/>
        </p:nvSpPr>
        <p:spPr>
          <a:xfrm>
            <a:off x="5292080" y="4509120"/>
            <a:ext cx="3384376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277602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07B8D-5662-4AD5-8BE8-7A8FD4A0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Q &amp; A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5BC3F-5FA3-47B0-B4B7-64920F566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 marL="0" indent="0" algn="ctr">
              <a:buNone/>
            </a:pPr>
            <a:r>
              <a:rPr lang="en-US" altLang="ko-KR" sz="7200"/>
              <a:t>Q &amp; A</a:t>
            </a:r>
            <a:endParaRPr lang="ko-KR" altLang="en-US" sz="7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125E2-7568-449E-9C76-F738D86AF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190052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47E47-A69C-4418-8CDC-561E5DA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 Jittering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56F37-1AD1-45F8-AFA0-D2FDAA2D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29</a:t>
            </a:fld>
            <a:endParaRPr lang="ko-KR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4D99A-A141-48FB-B79D-1EFCF05D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/>
          <a:p>
            <a:r>
              <a:rPr lang="en-US" altLang="ko-KR" dirty="0"/>
              <a:t>Motivation for Box Jittering </a:t>
            </a:r>
          </a:p>
          <a:p>
            <a:pPr marL="804863" marR="0" lvl="1" indent="-347663" algn="l" defTabSz="914400" rtl="0" eaLnBrk="0" fontAlgn="base" latinLnBrk="1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The localization accuracy (IOU) and the foreground score of the box candidates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do not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 show a strong positive correlation.</a:t>
            </a:r>
          </a:p>
          <a:p>
            <a:pPr marL="804863" marR="0" lvl="1" indent="-347663" algn="l" defTabSz="914400" rtl="0" eaLnBrk="0" fontAlgn="base" latinLnBrk="1" hangingPunct="0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Tx/>
              <a:buSzTx/>
              <a:buFontTx/>
              <a:buBlip>
                <a:blip r:embed="rId2"/>
              </a:buBlip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This indicates that the selection of the teacher-generated pseudo boxes according to the foreground score is not suitable for box regression, </a:t>
            </a:r>
            <a:r>
              <a:rPr kumimoji="0" lang="en-US" altLang="ko-KR" sz="2000" b="1" i="0" u="sng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Times New Roman" pitchFamily="18" charset="0"/>
              </a:rPr>
              <a:t>and a better criterion is needed.</a:t>
            </a:r>
          </a:p>
          <a:p>
            <a:pPr lvl="1"/>
            <a:endParaRPr lang="ko-KR" altLang="en-US" sz="16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33F7DE-B75E-4095-84F4-60EDE6A08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564" y="3811078"/>
            <a:ext cx="8028669" cy="260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942479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47E47-A69C-4418-8CDC-561E5DA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 Jittering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56F37-1AD1-45F8-AFA0-D2FDAA2D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30</a:t>
            </a:fld>
            <a:endParaRPr lang="ko-KR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4D99A-A141-48FB-B79D-1EFCF05D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/>
          <a:p>
            <a:r>
              <a:rPr lang="en-US" altLang="ko-KR" dirty="0"/>
              <a:t>Motivation for Box Jittering </a:t>
            </a:r>
          </a:p>
          <a:p>
            <a:pPr lvl="1"/>
            <a:r>
              <a:rPr lang="en-US" altLang="ko-KR" dirty="0"/>
              <a:t>The localization accuracy (IOU) and the foreground score of the box candidates </a:t>
            </a:r>
            <a:r>
              <a:rPr lang="en-US" altLang="ko-KR" u="sng" dirty="0">
                <a:solidFill>
                  <a:srgbClr val="FF0000"/>
                </a:solidFill>
              </a:rPr>
              <a:t>do not</a:t>
            </a:r>
            <a:r>
              <a:rPr lang="en-US" altLang="ko-KR" u="sng" dirty="0"/>
              <a:t> show a strong positive correlation.</a:t>
            </a:r>
          </a:p>
          <a:p>
            <a:pPr lvl="1"/>
            <a:r>
              <a:rPr lang="en-US" altLang="ko-KR" dirty="0"/>
              <a:t>This indicates that the selection of the teacher-generated pseudo boxes according to the foreground score is not suitable for box regression, </a:t>
            </a:r>
            <a:r>
              <a:rPr lang="en-US" altLang="ko-KR" u="sng" dirty="0"/>
              <a:t>and a better criterion is needed.</a:t>
            </a:r>
          </a:p>
          <a:p>
            <a:pPr lvl="1"/>
            <a:endParaRPr lang="ko-KR" altLang="en-US" sz="1600" u="sn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33F7DE-B75E-4095-84F4-60EDE6A08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64" y="3811078"/>
            <a:ext cx="8028669" cy="2601501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4AB6A03-DDEA-489C-AF5B-CC72CD9CB7DE}"/>
              </a:ext>
            </a:extLst>
          </p:cNvPr>
          <p:cNvCxnSpPr/>
          <p:nvPr/>
        </p:nvCxnSpPr>
        <p:spPr>
          <a:xfrm flipV="1">
            <a:off x="1475656" y="4185084"/>
            <a:ext cx="2520280" cy="1548172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7B9494-CABD-495E-B310-8640614967C1}"/>
              </a:ext>
            </a:extLst>
          </p:cNvPr>
          <p:cNvCxnSpPr>
            <a:cxnSpLocks/>
          </p:cNvCxnSpPr>
          <p:nvPr/>
        </p:nvCxnSpPr>
        <p:spPr>
          <a:xfrm>
            <a:off x="5835151" y="4185084"/>
            <a:ext cx="2337249" cy="1580748"/>
          </a:xfrm>
          <a:prstGeom prst="straightConnector1">
            <a:avLst/>
          </a:prstGeom>
          <a:ln w="19050">
            <a:solidFill>
              <a:srgbClr val="0000FF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B553456-323D-4189-9A6D-03C30B529590}"/>
              </a:ext>
            </a:extLst>
          </p:cNvPr>
          <p:cNvSpPr txBox="1"/>
          <p:nvPr/>
        </p:nvSpPr>
        <p:spPr>
          <a:xfrm>
            <a:off x="1578202" y="5382099"/>
            <a:ext cx="270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u="sng">
                <a:solidFill>
                  <a:srgbClr val="FF0000"/>
                </a:solidFill>
              </a:rPr>
              <a:t>positive correlation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F1521CB-F205-4CA2-8BF9-2571D713C2AC}"/>
              </a:ext>
            </a:extLst>
          </p:cNvPr>
          <p:cNvSpPr txBox="1"/>
          <p:nvPr/>
        </p:nvSpPr>
        <p:spPr>
          <a:xfrm>
            <a:off x="5337321" y="5395376"/>
            <a:ext cx="2700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u="sng">
                <a:solidFill>
                  <a:srgbClr val="0000FF"/>
                </a:solidFill>
              </a:rPr>
              <a:t>negative correlation</a:t>
            </a:r>
            <a:endParaRPr lang="ko-KR" altLang="en-US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417142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47E47-A69C-4418-8CDC-561E5DA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 Jittering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56F37-1AD1-45F8-AFA0-D2FDAA2D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31</a:t>
            </a:fld>
            <a:endParaRPr lang="ko-KR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4D99A-A141-48FB-B79D-1EFCF05D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Box Jittering Estimates Localization Reliability </a:t>
            </a:r>
            <a:endParaRPr lang="en-US" altLang="ko-KR" sz="1600" u="sng" dirty="0">
              <a:solidFill>
                <a:srgbClr val="FF0000"/>
              </a:solidFill>
            </a:endParaRPr>
          </a:p>
          <a:p>
            <a:pPr lvl="1"/>
            <a:endParaRPr lang="ko-KR" altLang="en-US" sz="1600" u="sng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6F1ACE-BF7B-4B9B-BFC8-EEEA3E441EF4}"/>
              </a:ext>
            </a:extLst>
          </p:cNvPr>
          <p:cNvGrpSpPr/>
          <p:nvPr/>
        </p:nvGrpSpPr>
        <p:grpSpPr>
          <a:xfrm>
            <a:off x="1151620" y="2035521"/>
            <a:ext cx="6948772" cy="4358513"/>
            <a:chOff x="863588" y="1748348"/>
            <a:chExt cx="7704857" cy="4832756"/>
          </a:xfrm>
        </p:grpSpPr>
        <p:sp>
          <p:nvSpPr>
            <p:cNvPr id="13" name="사다리꼴 6">
              <a:extLst>
                <a:ext uri="{FF2B5EF4-FFF2-40B4-BE49-F238E27FC236}">
                  <a16:creationId xmlns:a16="http://schemas.microsoft.com/office/drawing/2014/main" id="{291427DA-A6C2-4E14-8998-B1F28AA08898}"/>
                </a:ext>
              </a:extLst>
            </p:cNvPr>
            <p:cNvSpPr/>
            <p:nvPr/>
          </p:nvSpPr>
          <p:spPr>
            <a:xfrm rot="5400000">
              <a:off x="1436132" y="5237953"/>
              <a:ext cx="1064345" cy="1040694"/>
            </a:xfrm>
            <a:prstGeom prst="trapezoid">
              <a:avLst/>
            </a:prstGeom>
            <a:solidFill>
              <a:srgbClr val="A9D18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08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Student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사다리꼴 4">
              <a:extLst>
                <a:ext uri="{FF2B5EF4-FFF2-40B4-BE49-F238E27FC236}">
                  <a16:creationId xmlns:a16="http://schemas.microsoft.com/office/drawing/2014/main" id="{0891E4BC-F237-48B3-9E2E-F4BCE0CD7396}"/>
                </a:ext>
              </a:extLst>
            </p:cNvPr>
            <p:cNvSpPr/>
            <p:nvPr/>
          </p:nvSpPr>
          <p:spPr>
            <a:xfrm rot="5400000">
              <a:off x="1431835" y="3968119"/>
              <a:ext cx="1064345" cy="1040694"/>
            </a:xfrm>
            <a:prstGeom prst="trapezoid">
              <a:avLst/>
            </a:prstGeom>
            <a:solidFill>
              <a:srgbClr val="FFE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44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Soft Teacher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화살표 연결선 39">
              <a:extLst>
                <a:ext uri="{FF2B5EF4-FFF2-40B4-BE49-F238E27FC236}">
                  <a16:creationId xmlns:a16="http://schemas.microsoft.com/office/drawing/2014/main" id="{5FF537B9-67FF-412B-BBDC-3AF952F613CB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2484355" y="4488466"/>
              <a:ext cx="890590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42">
              <a:extLst>
                <a:ext uri="{FF2B5EF4-FFF2-40B4-BE49-F238E27FC236}">
                  <a16:creationId xmlns:a16="http://schemas.microsoft.com/office/drawing/2014/main" id="{4C73E294-77D6-46AE-BE38-E2914103194C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>
              <a:off x="2488651" y="5758301"/>
              <a:ext cx="8862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 descr="Why Play | Playworks">
              <a:extLst>
                <a:ext uri="{FF2B5EF4-FFF2-40B4-BE49-F238E27FC236}">
                  <a16:creationId xmlns:a16="http://schemas.microsoft.com/office/drawing/2014/main" id="{9BF96261-13B9-40DD-A57A-3BA5930EE0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588" y="1748348"/>
              <a:ext cx="2200840" cy="1470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Why Play | Playworks">
              <a:extLst>
                <a:ext uri="{FF2B5EF4-FFF2-40B4-BE49-F238E27FC236}">
                  <a16:creationId xmlns:a16="http://schemas.microsoft.com/office/drawing/2014/main" id="{50D2AFB1-091D-46C2-A41D-ACB0BF8714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4675" y="3325155"/>
              <a:ext cx="4873770" cy="3255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D1CF537-0AEF-4FCA-A334-D3B036032D4B}"/>
                </a:ext>
              </a:extLst>
            </p:cNvPr>
            <p:cNvCxnSpPr>
              <a:stCxn id="17" idx="2"/>
            </p:cNvCxnSpPr>
            <p:nvPr/>
          </p:nvCxnSpPr>
          <p:spPr>
            <a:xfrm>
              <a:off x="1964008" y="3218632"/>
              <a:ext cx="0" cy="8590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2D9847-BC28-4274-AC65-C1B377130551}"/>
                </a:ext>
              </a:extLst>
            </p:cNvPr>
            <p:cNvSpPr/>
            <p:nvPr/>
          </p:nvSpPr>
          <p:spPr>
            <a:xfrm>
              <a:off x="5148064" y="4401108"/>
              <a:ext cx="360040" cy="97210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D944549-F6A6-4B94-A6E4-6F4631E32A71}"/>
              </a:ext>
            </a:extLst>
          </p:cNvPr>
          <p:cNvSpPr txBox="1"/>
          <p:nvPr/>
        </p:nvSpPr>
        <p:spPr>
          <a:xfrm>
            <a:off x="3360749" y="2608734"/>
            <a:ext cx="5439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Teacher model generates a pseudo-label.</a:t>
            </a:r>
            <a:b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(Good regression result)</a:t>
            </a:r>
            <a:endParaRPr lang="ko-KR" altLang="en-US" sz="2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43933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47E47-A69C-4418-8CDC-561E5DA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 Jittering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56F37-1AD1-45F8-AFA0-D2FDAA2D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32</a:t>
            </a:fld>
            <a:endParaRPr lang="ko-KR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4D99A-A141-48FB-B79D-1EFCF05D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/>
          <a:p>
            <a:r>
              <a:rPr lang="en-US" altLang="ko-KR">
                <a:solidFill>
                  <a:srgbClr val="FF0000"/>
                </a:solidFill>
              </a:rPr>
              <a:t>Box Jittering Estimates Localization Reliability </a:t>
            </a:r>
            <a:endParaRPr lang="en-US" altLang="ko-KR" sz="1600" u="sng">
              <a:solidFill>
                <a:srgbClr val="FF0000"/>
              </a:solidFill>
            </a:endParaRPr>
          </a:p>
          <a:p>
            <a:pPr lvl="1"/>
            <a:endParaRPr lang="ko-KR" altLang="en-US" sz="1600" u="sng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6F1ACE-BF7B-4B9B-BFC8-EEEA3E441EF4}"/>
              </a:ext>
            </a:extLst>
          </p:cNvPr>
          <p:cNvGrpSpPr/>
          <p:nvPr/>
        </p:nvGrpSpPr>
        <p:grpSpPr>
          <a:xfrm>
            <a:off x="1151620" y="2035521"/>
            <a:ext cx="6948772" cy="4358514"/>
            <a:chOff x="863588" y="1748348"/>
            <a:chExt cx="7704857" cy="4832757"/>
          </a:xfrm>
        </p:grpSpPr>
        <p:sp>
          <p:nvSpPr>
            <p:cNvPr id="13" name="사다리꼴 6">
              <a:extLst>
                <a:ext uri="{FF2B5EF4-FFF2-40B4-BE49-F238E27FC236}">
                  <a16:creationId xmlns:a16="http://schemas.microsoft.com/office/drawing/2014/main" id="{291427DA-A6C2-4E14-8998-B1F28AA08898}"/>
                </a:ext>
              </a:extLst>
            </p:cNvPr>
            <p:cNvSpPr/>
            <p:nvPr/>
          </p:nvSpPr>
          <p:spPr>
            <a:xfrm rot="5400000">
              <a:off x="1436132" y="5237953"/>
              <a:ext cx="1064345" cy="1040694"/>
            </a:xfrm>
            <a:prstGeom prst="trapezoid">
              <a:avLst/>
            </a:prstGeom>
            <a:solidFill>
              <a:srgbClr val="A9D18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08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Student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사다리꼴 4">
              <a:extLst>
                <a:ext uri="{FF2B5EF4-FFF2-40B4-BE49-F238E27FC236}">
                  <a16:creationId xmlns:a16="http://schemas.microsoft.com/office/drawing/2014/main" id="{0891E4BC-F237-48B3-9E2E-F4BCE0CD7396}"/>
                </a:ext>
              </a:extLst>
            </p:cNvPr>
            <p:cNvSpPr/>
            <p:nvPr/>
          </p:nvSpPr>
          <p:spPr>
            <a:xfrm rot="5400000">
              <a:off x="1431835" y="3968119"/>
              <a:ext cx="1064345" cy="1040694"/>
            </a:xfrm>
            <a:prstGeom prst="trapezoid">
              <a:avLst/>
            </a:prstGeom>
            <a:solidFill>
              <a:srgbClr val="FFE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44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Soft Teacher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화살표 연결선 39">
              <a:extLst>
                <a:ext uri="{FF2B5EF4-FFF2-40B4-BE49-F238E27FC236}">
                  <a16:creationId xmlns:a16="http://schemas.microsoft.com/office/drawing/2014/main" id="{5FF537B9-67FF-412B-BBDC-3AF952F613CB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2484355" y="4488466"/>
              <a:ext cx="890590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42">
              <a:extLst>
                <a:ext uri="{FF2B5EF4-FFF2-40B4-BE49-F238E27FC236}">
                  <a16:creationId xmlns:a16="http://schemas.microsoft.com/office/drawing/2014/main" id="{4C73E294-77D6-46AE-BE38-E2914103194C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>
              <a:off x="2488651" y="5758301"/>
              <a:ext cx="8862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 descr="Why Play | Playworks">
              <a:extLst>
                <a:ext uri="{FF2B5EF4-FFF2-40B4-BE49-F238E27FC236}">
                  <a16:creationId xmlns:a16="http://schemas.microsoft.com/office/drawing/2014/main" id="{9BF96261-13B9-40DD-A57A-3BA5930EE0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588" y="1748348"/>
              <a:ext cx="2200840" cy="1470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Why Play | Playworks">
              <a:extLst>
                <a:ext uri="{FF2B5EF4-FFF2-40B4-BE49-F238E27FC236}">
                  <a16:creationId xmlns:a16="http://schemas.microsoft.com/office/drawing/2014/main" id="{50D2AFB1-091D-46C2-A41D-ACB0BF8714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4675" y="3325155"/>
              <a:ext cx="4873770" cy="3255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D1CF537-0AEF-4FCA-A334-D3B036032D4B}"/>
                </a:ext>
              </a:extLst>
            </p:cNvPr>
            <p:cNvCxnSpPr>
              <a:stCxn id="17" idx="2"/>
            </p:cNvCxnSpPr>
            <p:nvPr/>
          </p:nvCxnSpPr>
          <p:spPr>
            <a:xfrm>
              <a:off x="1964008" y="3218632"/>
              <a:ext cx="0" cy="8590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2D9847-BC28-4274-AC65-C1B377130551}"/>
                </a:ext>
              </a:extLst>
            </p:cNvPr>
            <p:cNvSpPr/>
            <p:nvPr/>
          </p:nvSpPr>
          <p:spPr>
            <a:xfrm>
              <a:off x="5209259" y="4371331"/>
              <a:ext cx="360040" cy="972108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8EA4CC9-1430-4718-B5DC-B2EA21CA6ADF}"/>
              </a:ext>
            </a:extLst>
          </p:cNvPr>
          <p:cNvSpPr/>
          <p:nvPr/>
        </p:nvSpPr>
        <p:spPr>
          <a:xfrm>
            <a:off x="4974945" y="4295309"/>
            <a:ext cx="324709" cy="876714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DAB00BB-9D7F-4EA5-93B3-9DAD67FB24BC}"/>
              </a:ext>
            </a:extLst>
          </p:cNvPr>
          <p:cNvSpPr/>
          <p:nvPr/>
        </p:nvSpPr>
        <p:spPr>
          <a:xfrm>
            <a:off x="5028915" y="4545124"/>
            <a:ext cx="324709" cy="876714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AC404A-C312-4B37-8D0D-00D30830D552}"/>
              </a:ext>
            </a:extLst>
          </p:cNvPr>
          <p:cNvSpPr/>
          <p:nvPr/>
        </p:nvSpPr>
        <p:spPr>
          <a:xfrm>
            <a:off x="4895363" y="4437112"/>
            <a:ext cx="324709" cy="876714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7C091F-82CD-4724-A535-E6DD2B7C0250}"/>
              </a:ext>
            </a:extLst>
          </p:cNvPr>
          <p:cNvSpPr/>
          <p:nvPr/>
        </p:nvSpPr>
        <p:spPr>
          <a:xfrm>
            <a:off x="5162467" y="4568475"/>
            <a:ext cx="324709" cy="709347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화살표: 아래로 구부러짐 27">
            <a:extLst>
              <a:ext uri="{FF2B5EF4-FFF2-40B4-BE49-F238E27FC236}">
                <a16:creationId xmlns:a16="http://schemas.microsoft.com/office/drawing/2014/main" id="{C43E02D5-4F39-4A34-8049-B0B4BB79409F}"/>
              </a:ext>
            </a:extLst>
          </p:cNvPr>
          <p:cNvSpPr/>
          <p:nvPr/>
        </p:nvSpPr>
        <p:spPr>
          <a:xfrm flipH="1">
            <a:off x="2593392" y="3727649"/>
            <a:ext cx="2428994" cy="5531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EB5587-DE7F-445D-BCE7-800E680DB76E}"/>
              </a:ext>
            </a:extLst>
          </p:cNvPr>
          <p:cNvSpPr txBox="1"/>
          <p:nvPr/>
        </p:nvSpPr>
        <p:spPr>
          <a:xfrm>
            <a:off x="3287704" y="2512665"/>
            <a:ext cx="5439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Jittered boxes are made </a:t>
            </a:r>
            <a:b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from original prediction.</a:t>
            </a:r>
            <a:endParaRPr lang="ko-KR" altLang="en-US" sz="2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360918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47E47-A69C-4418-8CDC-561E5DA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 Jittering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56F37-1AD1-45F8-AFA0-D2FDAA2D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33</a:t>
            </a:fld>
            <a:endParaRPr lang="ko-KR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4D99A-A141-48FB-B79D-1EFCF05D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Box Jittering Estimates Localization Reliability </a:t>
            </a:r>
            <a:endParaRPr lang="en-US" altLang="ko-KR" sz="1600" u="sng" dirty="0">
              <a:solidFill>
                <a:srgbClr val="FF0000"/>
              </a:solidFill>
            </a:endParaRPr>
          </a:p>
          <a:p>
            <a:pPr lvl="1"/>
            <a:endParaRPr lang="ko-KR" altLang="en-US" sz="1600" u="sng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6F1ACE-BF7B-4B9B-BFC8-EEEA3E441EF4}"/>
              </a:ext>
            </a:extLst>
          </p:cNvPr>
          <p:cNvGrpSpPr/>
          <p:nvPr/>
        </p:nvGrpSpPr>
        <p:grpSpPr>
          <a:xfrm>
            <a:off x="1151620" y="2035521"/>
            <a:ext cx="6948772" cy="4358514"/>
            <a:chOff x="863588" y="1748348"/>
            <a:chExt cx="7704857" cy="4832757"/>
          </a:xfrm>
        </p:grpSpPr>
        <p:sp>
          <p:nvSpPr>
            <p:cNvPr id="13" name="사다리꼴 6">
              <a:extLst>
                <a:ext uri="{FF2B5EF4-FFF2-40B4-BE49-F238E27FC236}">
                  <a16:creationId xmlns:a16="http://schemas.microsoft.com/office/drawing/2014/main" id="{291427DA-A6C2-4E14-8998-B1F28AA08898}"/>
                </a:ext>
              </a:extLst>
            </p:cNvPr>
            <p:cNvSpPr/>
            <p:nvPr/>
          </p:nvSpPr>
          <p:spPr>
            <a:xfrm rot="5400000">
              <a:off x="1436132" y="5237953"/>
              <a:ext cx="1064345" cy="1040694"/>
            </a:xfrm>
            <a:prstGeom prst="trapezoid">
              <a:avLst/>
            </a:prstGeom>
            <a:solidFill>
              <a:srgbClr val="A9D18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08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Student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사다리꼴 4">
              <a:extLst>
                <a:ext uri="{FF2B5EF4-FFF2-40B4-BE49-F238E27FC236}">
                  <a16:creationId xmlns:a16="http://schemas.microsoft.com/office/drawing/2014/main" id="{0891E4BC-F237-48B3-9E2E-F4BCE0CD7396}"/>
                </a:ext>
              </a:extLst>
            </p:cNvPr>
            <p:cNvSpPr/>
            <p:nvPr/>
          </p:nvSpPr>
          <p:spPr>
            <a:xfrm rot="5400000">
              <a:off x="1431835" y="3968119"/>
              <a:ext cx="1064345" cy="1040694"/>
            </a:xfrm>
            <a:prstGeom prst="trapezoid">
              <a:avLst/>
            </a:prstGeom>
            <a:solidFill>
              <a:srgbClr val="FFE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44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Soft Teacher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화살표 연결선 39">
              <a:extLst>
                <a:ext uri="{FF2B5EF4-FFF2-40B4-BE49-F238E27FC236}">
                  <a16:creationId xmlns:a16="http://schemas.microsoft.com/office/drawing/2014/main" id="{5FF537B9-67FF-412B-BBDC-3AF952F613CB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2484355" y="4488466"/>
              <a:ext cx="890590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42">
              <a:extLst>
                <a:ext uri="{FF2B5EF4-FFF2-40B4-BE49-F238E27FC236}">
                  <a16:creationId xmlns:a16="http://schemas.microsoft.com/office/drawing/2014/main" id="{4C73E294-77D6-46AE-BE38-E2914103194C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>
              <a:off x="2488651" y="5758301"/>
              <a:ext cx="8862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 descr="Why Play | Playworks">
              <a:extLst>
                <a:ext uri="{FF2B5EF4-FFF2-40B4-BE49-F238E27FC236}">
                  <a16:creationId xmlns:a16="http://schemas.microsoft.com/office/drawing/2014/main" id="{9BF96261-13B9-40DD-A57A-3BA5930EE0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588" y="1748348"/>
              <a:ext cx="2200840" cy="1470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Why Play | Playworks">
              <a:extLst>
                <a:ext uri="{FF2B5EF4-FFF2-40B4-BE49-F238E27FC236}">
                  <a16:creationId xmlns:a16="http://schemas.microsoft.com/office/drawing/2014/main" id="{50D2AFB1-091D-46C2-A41D-ACB0BF8714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4675" y="3325155"/>
              <a:ext cx="4873770" cy="3255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D1CF537-0AEF-4FCA-A334-D3B036032D4B}"/>
                </a:ext>
              </a:extLst>
            </p:cNvPr>
            <p:cNvCxnSpPr>
              <a:stCxn id="17" idx="2"/>
            </p:cNvCxnSpPr>
            <p:nvPr/>
          </p:nvCxnSpPr>
          <p:spPr>
            <a:xfrm>
              <a:off x="1964008" y="3218632"/>
              <a:ext cx="0" cy="8590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2D9847-BC28-4274-AC65-C1B377130551}"/>
                </a:ext>
              </a:extLst>
            </p:cNvPr>
            <p:cNvSpPr/>
            <p:nvPr/>
          </p:nvSpPr>
          <p:spPr>
            <a:xfrm>
              <a:off x="5209259" y="4371331"/>
              <a:ext cx="360040" cy="972108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F8EA4CC9-1430-4718-B5DC-B2EA21CA6ADF}"/>
              </a:ext>
            </a:extLst>
          </p:cNvPr>
          <p:cNvSpPr/>
          <p:nvPr/>
        </p:nvSpPr>
        <p:spPr>
          <a:xfrm>
            <a:off x="5001203" y="4401108"/>
            <a:ext cx="324709" cy="876714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FD6443A-C813-4B83-AABB-DD3458356049}"/>
              </a:ext>
            </a:extLst>
          </p:cNvPr>
          <p:cNvSpPr/>
          <p:nvPr/>
        </p:nvSpPr>
        <p:spPr>
          <a:xfrm>
            <a:off x="5070846" y="4454508"/>
            <a:ext cx="324709" cy="876714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24F64D1-D130-448E-85BC-E95C1D0AE66C}"/>
              </a:ext>
            </a:extLst>
          </p:cNvPr>
          <p:cNvSpPr/>
          <p:nvPr/>
        </p:nvSpPr>
        <p:spPr>
          <a:xfrm>
            <a:off x="5036024" y="4337094"/>
            <a:ext cx="324709" cy="876714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8126D0D-41B1-4560-92FD-9DC4EB87FE76}"/>
              </a:ext>
            </a:extLst>
          </p:cNvPr>
          <p:cNvSpPr/>
          <p:nvPr/>
        </p:nvSpPr>
        <p:spPr>
          <a:xfrm>
            <a:off x="4977370" y="4446790"/>
            <a:ext cx="324709" cy="876714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D69A27-B5B8-4E66-B889-54AC0CFC5AA5}"/>
              </a:ext>
            </a:extLst>
          </p:cNvPr>
          <p:cNvSpPr txBox="1"/>
          <p:nvPr/>
        </p:nvSpPr>
        <p:spPr>
          <a:xfrm>
            <a:off x="3287704" y="2512665"/>
            <a:ext cx="5439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Jittered boxes from a </a:t>
            </a:r>
            <a:r>
              <a:rPr lang="en-US" altLang="ko-KR" sz="2400" u="sng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well-regressed box </a:t>
            </a:r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have </a:t>
            </a:r>
            <a:r>
              <a:rPr lang="en-US" altLang="ko-KR" sz="2400" u="sng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low variance </a:t>
            </a:r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of their coordinate</a:t>
            </a:r>
            <a:endParaRPr lang="ko-KR" altLang="en-US" sz="2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F8E44A-C26D-4264-9A1A-5A5E7F687A6D}"/>
                  </a:ext>
                </a:extLst>
              </p:cNvPr>
              <p:cNvSpPr txBox="1"/>
              <p:nvPr/>
            </p:nvSpPr>
            <p:spPr>
              <a:xfrm>
                <a:off x="3732942" y="3796598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sz="1800" i="1" smtClean="0">
                          <a:solidFill>
                            <a:schemeClr val="tx1"/>
                          </a:solidFill>
                          <a:effectLst>
                            <a:glow rad="419100"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σ</m:t>
                      </m:r>
                    </m:oMath>
                  </m:oMathPara>
                </a14:m>
                <a:endParaRPr lang="ko-KR" altLang="en-US" dirty="0">
                  <a:solidFill>
                    <a:schemeClr val="tx1"/>
                  </a:solidFill>
                  <a:effectLst>
                    <a:glow rad="419100">
                      <a:schemeClr val="bg1"/>
                    </a:glow>
                  </a:effectLst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3F8E44A-C26D-4264-9A1A-5A5E7F687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942" y="3796598"/>
                <a:ext cx="4572000" cy="369332"/>
              </a:xfrm>
              <a:prstGeom prst="rect">
                <a:avLst/>
              </a:prstGeom>
              <a:blipFill>
                <a:blip r:embed="rId4"/>
                <a:stretch>
                  <a:fillRect t="-10000" b="-35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FEF78D6C-C9A9-43C9-9D9F-508B6C89A4FA}"/>
              </a:ext>
            </a:extLst>
          </p:cNvPr>
          <p:cNvCxnSpPr/>
          <p:nvPr/>
        </p:nvCxnSpPr>
        <p:spPr>
          <a:xfrm flipH="1">
            <a:off x="5360733" y="4165930"/>
            <a:ext cx="646780" cy="2885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136171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47E47-A69C-4418-8CDC-561E5DA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 Jittering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56F37-1AD1-45F8-AFA0-D2FDAA2D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34</a:t>
            </a:fld>
            <a:endParaRPr lang="ko-KR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4D99A-A141-48FB-B79D-1EFCF05D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/>
          <a:p>
            <a:r>
              <a:rPr lang="en-US" altLang="ko-KR">
                <a:solidFill>
                  <a:srgbClr val="FF0000"/>
                </a:solidFill>
              </a:rPr>
              <a:t>Box Jittering Estimates Localization Reliability </a:t>
            </a:r>
            <a:endParaRPr lang="en-US" altLang="ko-KR" sz="1600" u="sng">
              <a:solidFill>
                <a:srgbClr val="FF0000"/>
              </a:solidFill>
            </a:endParaRPr>
          </a:p>
          <a:p>
            <a:pPr lvl="1"/>
            <a:endParaRPr lang="ko-KR" altLang="en-US" sz="1600" u="sng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6F1ACE-BF7B-4B9B-BFC8-EEEA3E441EF4}"/>
              </a:ext>
            </a:extLst>
          </p:cNvPr>
          <p:cNvGrpSpPr/>
          <p:nvPr/>
        </p:nvGrpSpPr>
        <p:grpSpPr>
          <a:xfrm>
            <a:off x="1151620" y="2035521"/>
            <a:ext cx="6948772" cy="4358513"/>
            <a:chOff x="863588" y="1748348"/>
            <a:chExt cx="7704857" cy="4832756"/>
          </a:xfrm>
        </p:grpSpPr>
        <p:sp>
          <p:nvSpPr>
            <p:cNvPr id="13" name="사다리꼴 6">
              <a:extLst>
                <a:ext uri="{FF2B5EF4-FFF2-40B4-BE49-F238E27FC236}">
                  <a16:creationId xmlns:a16="http://schemas.microsoft.com/office/drawing/2014/main" id="{291427DA-A6C2-4E14-8998-B1F28AA08898}"/>
                </a:ext>
              </a:extLst>
            </p:cNvPr>
            <p:cNvSpPr/>
            <p:nvPr/>
          </p:nvSpPr>
          <p:spPr>
            <a:xfrm rot="5400000">
              <a:off x="1436132" y="5237953"/>
              <a:ext cx="1064345" cy="1040694"/>
            </a:xfrm>
            <a:prstGeom prst="trapezoid">
              <a:avLst/>
            </a:prstGeom>
            <a:solidFill>
              <a:srgbClr val="A9D18E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08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Student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4" name="사다리꼴 4">
              <a:extLst>
                <a:ext uri="{FF2B5EF4-FFF2-40B4-BE49-F238E27FC236}">
                  <a16:creationId xmlns:a16="http://schemas.microsoft.com/office/drawing/2014/main" id="{0891E4BC-F237-48B3-9E2E-F4BCE0CD7396}"/>
                </a:ext>
              </a:extLst>
            </p:cNvPr>
            <p:cNvSpPr/>
            <p:nvPr/>
          </p:nvSpPr>
          <p:spPr>
            <a:xfrm rot="5400000">
              <a:off x="1431835" y="3968119"/>
              <a:ext cx="1064345" cy="1040694"/>
            </a:xfrm>
            <a:prstGeom prst="trapezoid">
              <a:avLst/>
            </a:prstGeom>
            <a:solidFill>
              <a:srgbClr val="FFE6CC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lIns="0" tIns="0" rIns="0" bIns="144000" rtlCol="0" anchor="ctr" anchorCtr="0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Soft Teacher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cxnSp>
          <p:nvCxnSpPr>
            <p:cNvPr id="15" name="직선 화살표 연결선 39">
              <a:extLst>
                <a:ext uri="{FF2B5EF4-FFF2-40B4-BE49-F238E27FC236}">
                  <a16:creationId xmlns:a16="http://schemas.microsoft.com/office/drawing/2014/main" id="{5FF537B9-67FF-412B-BBDC-3AF952F613CB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V="1">
              <a:off x="2484355" y="4488466"/>
              <a:ext cx="890590" cy="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화살표 연결선 42">
              <a:extLst>
                <a:ext uri="{FF2B5EF4-FFF2-40B4-BE49-F238E27FC236}">
                  <a16:creationId xmlns:a16="http://schemas.microsoft.com/office/drawing/2014/main" id="{4C73E294-77D6-46AE-BE38-E2914103194C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>
              <a:off x="2488651" y="5758301"/>
              <a:ext cx="8862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16" descr="Why Play | Playworks">
              <a:extLst>
                <a:ext uri="{FF2B5EF4-FFF2-40B4-BE49-F238E27FC236}">
                  <a16:creationId xmlns:a16="http://schemas.microsoft.com/office/drawing/2014/main" id="{9BF96261-13B9-40DD-A57A-3BA5930EE0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588" y="1748348"/>
              <a:ext cx="2200840" cy="1470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7" descr="Why Play | Playworks">
              <a:extLst>
                <a:ext uri="{FF2B5EF4-FFF2-40B4-BE49-F238E27FC236}">
                  <a16:creationId xmlns:a16="http://schemas.microsoft.com/office/drawing/2014/main" id="{50D2AFB1-091D-46C2-A41D-ACB0BF8714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94675" y="3325155"/>
              <a:ext cx="4873770" cy="32559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9D1CF537-0AEF-4FCA-A334-D3B036032D4B}"/>
                </a:ext>
              </a:extLst>
            </p:cNvPr>
            <p:cNvCxnSpPr>
              <a:stCxn id="17" idx="2"/>
            </p:cNvCxnSpPr>
            <p:nvPr/>
          </p:nvCxnSpPr>
          <p:spPr>
            <a:xfrm>
              <a:off x="1964008" y="3218632"/>
              <a:ext cx="0" cy="8590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22D9847-BC28-4274-AC65-C1B377130551}"/>
                </a:ext>
              </a:extLst>
            </p:cNvPr>
            <p:cNvSpPr/>
            <p:nvPr/>
          </p:nvSpPr>
          <p:spPr>
            <a:xfrm>
              <a:off x="4975507" y="4570937"/>
              <a:ext cx="360040" cy="71858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8EC815B-4191-4927-9A54-DAB8BC41A6BB}"/>
              </a:ext>
            </a:extLst>
          </p:cNvPr>
          <p:cNvSpPr txBox="1"/>
          <p:nvPr/>
        </p:nvSpPr>
        <p:spPr>
          <a:xfrm>
            <a:off x="3360749" y="2608734"/>
            <a:ext cx="5439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Teacher model generates a pseudo-label.</a:t>
            </a:r>
            <a:br>
              <a:rPr lang="en-US" altLang="ko-KR" sz="240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(Bas regression result)</a:t>
            </a:r>
            <a:endParaRPr lang="ko-KR" altLang="en-US" sz="2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5393266"/>
      </p:ext>
    </p:extLst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47E47-A69C-4418-8CDC-561E5DA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 Jittering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56F37-1AD1-45F8-AFA0-D2FDAA2D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35</a:t>
            </a:fld>
            <a:endParaRPr lang="ko-KR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4D99A-A141-48FB-B79D-1EFCF05D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/>
          <a:p>
            <a:r>
              <a:rPr lang="en-US" altLang="ko-KR">
                <a:solidFill>
                  <a:srgbClr val="FF0000"/>
                </a:solidFill>
              </a:rPr>
              <a:t>Box Jittering Estimates Localization Reliability </a:t>
            </a:r>
            <a:endParaRPr lang="en-US" altLang="ko-KR" sz="1600" u="sng">
              <a:solidFill>
                <a:srgbClr val="FF0000"/>
              </a:solidFill>
            </a:endParaRPr>
          </a:p>
          <a:p>
            <a:pPr lvl="1"/>
            <a:endParaRPr lang="ko-KR" altLang="en-US" sz="1600" u="sng"/>
          </a:p>
        </p:txBody>
      </p:sp>
      <p:sp>
        <p:nvSpPr>
          <p:cNvPr id="13" name="사다리꼴 6">
            <a:extLst>
              <a:ext uri="{FF2B5EF4-FFF2-40B4-BE49-F238E27FC236}">
                <a16:creationId xmlns:a16="http://schemas.microsoft.com/office/drawing/2014/main" id="{291427DA-A6C2-4E14-8998-B1F28AA08898}"/>
              </a:ext>
            </a:extLst>
          </p:cNvPr>
          <p:cNvSpPr/>
          <p:nvPr/>
        </p:nvSpPr>
        <p:spPr>
          <a:xfrm rot="5400000">
            <a:off x="1667980" y="5182687"/>
            <a:ext cx="959900" cy="938570"/>
          </a:xfrm>
          <a:prstGeom prst="trapezoid">
            <a:avLst/>
          </a:prstGeom>
          <a:solidFill>
            <a:srgbClr val="A9D18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108000"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Student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사다리꼴 4">
            <a:extLst>
              <a:ext uri="{FF2B5EF4-FFF2-40B4-BE49-F238E27FC236}">
                <a16:creationId xmlns:a16="http://schemas.microsoft.com/office/drawing/2014/main" id="{0891E4BC-F237-48B3-9E2E-F4BCE0CD7396}"/>
              </a:ext>
            </a:extLst>
          </p:cNvPr>
          <p:cNvSpPr/>
          <p:nvPr/>
        </p:nvSpPr>
        <p:spPr>
          <a:xfrm rot="5400000">
            <a:off x="1664104" y="4037463"/>
            <a:ext cx="959900" cy="938570"/>
          </a:xfrm>
          <a:prstGeom prst="trapezoid">
            <a:avLst/>
          </a:prstGeom>
          <a:solidFill>
            <a:srgbClr val="FFE6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144000"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Soft Teacher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39">
            <a:extLst>
              <a:ext uri="{FF2B5EF4-FFF2-40B4-BE49-F238E27FC236}">
                <a16:creationId xmlns:a16="http://schemas.microsoft.com/office/drawing/2014/main" id="{5FF537B9-67FF-412B-BBDC-3AF952F613CB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613340" y="4506748"/>
            <a:ext cx="803196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42">
            <a:extLst>
              <a:ext uri="{FF2B5EF4-FFF2-40B4-BE49-F238E27FC236}">
                <a16:creationId xmlns:a16="http://schemas.microsoft.com/office/drawing/2014/main" id="{4C73E294-77D6-46AE-BE38-E2914103194C}"/>
              </a:ext>
            </a:extLst>
          </p:cNvPr>
          <p:cNvCxnSpPr>
            <a:cxnSpLocks/>
            <a:stCxn id="13" idx="0"/>
          </p:cNvCxnSpPr>
          <p:nvPr/>
        </p:nvCxnSpPr>
        <p:spPr>
          <a:xfrm>
            <a:off x="2617214" y="5651973"/>
            <a:ext cx="799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Why Play | Playworks">
            <a:extLst>
              <a:ext uri="{FF2B5EF4-FFF2-40B4-BE49-F238E27FC236}">
                <a16:creationId xmlns:a16="http://schemas.microsoft.com/office/drawing/2014/main" id="{9BF96261-13B9-40DD-A57A-3BA5930EE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620" y="2035521"/>
            <a:ext cx="1984869" cy="1326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Why Play | Playworks">
            <a:extLst>
              <a:ext uri="{FF2B5EF4-FFF2-40B4-BE49-F238E27FC236}">
                <a16:creationId xmlns:a16="http://schemas.microsoft.com/office/drawing/2014/main" id="{50D2AFB1-091D-46C2-A41D-ACB0BF871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890" y="3457594"/>
            <a:ext cx="4395502" cy="293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1CF537-0AEF-4FCA-A334-D3B036032D4B}"/>
              </a:ext>
            </a:extLst>
          </p:cNvPr>
          <p:cNvCxnSpPr>
            <a:stCxn id="17" idx="2"/>
          </p:cNvCxnSpPr>
          <p:nvPr/>
        </p:nvCxnSpPr>
        <p:spPr>
          <a:xfrm>
            <a:off x="2144055" y="3361524"/>
            <a:ext cx="0" cy="7747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22D9847-BC28-4274-AC65-C1B377130551}"/>
              </a:ext>
            </a:extLst>
          </p:cNvPr>
          <p:cNvSpPr/>
          <p:nvPr/>
        </p:nvSpPr>
        <p:spPr>
          <a:xfrm>
            <a:off x="4788024" y="4617131"/>
            <a:ext cx="324709" cy="480670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FB378E-89F7-4B5C-82F1-9E4ABF996912}"/>
              </a:ext>
            </a:extLst>
          </p:cNvPr>
          <p:cNvSpPr/>
          <p:nvPr/>
        </p:nvSpPr>
        <p:spPr>
          <a:xfrm>
            <a:off x="4860032" y="4746364"/>
            <a:ext cx="324709" cy="480670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0F5BFC-9692-4266-8B73-DB4D03A9A009}"/>
              </a:ext>
            </a:extLst>
          </p:cNvPr>
          <p:cNvSpPr/>
          <p:nvPr/>
        </p:nvSpPr>
        <p:spPr>
          <a:xfrm>
            <a:off x="4815015" y="4416932"/>
            <a:ext cx="324709" cy="480670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5EE4E81-C256-43C7-A192-812FE048C7D0}"/>
              </a:ext>
            </a:extLst>
          </p:cNvPr>
          <p:cNvSpPr/>
          <p:nvPr/>
        </p:nvSpPr>
        <p:spPr>
          <a:xfrm>
            <a:off x="4702969" y="4559429"/>
            <a:ext cx="324709" cy="480670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87BCE5-7492-46DB-99B6-9D3EBA5ADE1C}"/>
              </a:ext>
            </a:extLst>
          </p:cNvPr>
          <p:cNvSpPr/>
          <p:nvPr/>
        </p:nvSpPr>
        <p:spPr>
          <a:xfrm>
            <a:off x="4732740" y="4865876"/>
            <a:ext cx="324709" cy="480670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화살표: 아래로 구부러짐 27">
            <a:extLst>
              <a:ext uri="{FF2B5EF4-FFF2-40B4-BE49-F238E27FC236}">
                <a16:creationId xmlns:a16="http://schemas.microsoft.com/office/drawing/2014/main" id="{CAE509FD-0550-4164-85E6-71C1C894D58A}"/>
              </a:ext>
            </a:extLst>
          </p:cNvPr>
          <p:cNvSpPr/>
          <p:nvPr/>
        </p:nvSpPr>
        <p:spPr>
          <a:xfrm flipH="1">
            <a:off x="2593392" y="3727649"/>
            <a:ext cx="2428994" cy="553151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E29F13-2C7F-4B7C-9135-A0DFDAA4F188}"/>
              </a:ext>
            </a:extLst>
          </p:cNvPr>
          <p:cNvSpPr txBox="1"/>
          <p:nvPr/>
        </p:nvSpPr>
        <p:spPr>
          <a:xfrm>
            <a:off x="3287704" y="2512665"/>
            <a:ext cx="5439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Jittered boxes are made </a:t>
            </a:r>
            <a:b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from original prediction.</a:t>
            </a:r>
            <a:endParaRPr lang="ko-KR" altLang="en-US" sz="2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142985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47E47-A69C-4418-8CDC-561E5DA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 Jittering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56F37-1AD1-45F8-AFA0-D2FDAA2D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36</a:t>
            </a:fld>
            <a:endParaRPr lang="ko-KR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4D99A-A141-48FB-B79D-1EFCF05D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/>
          <a:p>
            <a:r>
              <a:rPr lang="en-US" altLang="ko-KR" dirty="0">
                <a:solidFill>
                  <a:srgbClr val="FF0000"/>
                </a:solidFill>
              </a:rPr>
              <a:t>Box Jittering Estimates Localization Reliability </a:t>
            </a:r>
            <a:endParaRPr lang="en-US" altLang="ko-KR" sz="1600" u="sng" dirty="0">
              <a:solidFill>
                <a:srgbClr val="FF0000"/>
              </a:solidFill>
            </a:endParaRPr>
          </a:p>
          <a:p>
            <a:pPr lvl="1"/>
            <a:endParaRPr lang="ko-KR" altLang="en-US" sz="1600" u="sng" dirty="0"/>
          </a:p>
        </p:txBody>
      </p:sp>
      <p:sp>
        <p:nvSpPr>
          <p:cNvPr id="13" name="사다리꼴 6">
            <a:extLst>
              <a:ext uri="{FF2B5EF4-FFF2-40B4-BE49-F238E27FC236}">
                <a16:creationId xmlns:a16="http://schemas.microsoft.com/office/drawing/2014/main" id="{291427DA-A6C2-4E14-8998-B1F28AA08898}"/>
              </a:ext>
            </a:extLst>
          </p:cNvPr>
          <p:cNvSpPr/>
          <p:nvPr/>
        </p:nvSpPr>
        <p:spPr>
          <a:xfrm rot="5400000">
            <a:off x="1667980" y="5182688"/>
            <a:ext cx="959900" cy="938570"/>
          </a:xfrm>
          <a:prstGeom prst="trapezoid">
            <a:avLst/>
          </a:prstGeom>
          <a:solidFill>
            <a:srgbClr val="A9D18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108000"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Student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사다리꼴 4">
            <a:extLst>
              <a:ext uri="{FF2B5EF4-FFF2-40B4-BE49-F238E27FC236}">
                <a16:creationId xmlns:a16="http://schemas.microsoft.com/office/drawing/2014/main" id="{0891E4BC-F237-48B3-9E2E-F4BCE0CD7396}"/>
              </a:ext>
            </a:extLst>
          </p:cNvPr>
          <p:cNvSpPr/>
          <p:nvPr/>
        </p:nvSpPr>
        <p:spPr>
          <a:xfrm rot="5400000">
            <a:off x="1664104" y="4037464"/>
            <a:ext cx="959900" cy="938570"/>
          </a:xfrm>
          <a:prstGeom prst="trapezoid">
            <a:avLst/>
          </a:prstGeom>
          <a:solidFill>
            <a:srgbClr val="FFE6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144000"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Soft Teacher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39">
            <a:extLst>
              <a:ext uri="{FF2B5EF4-FFF2-40B4-BE49-F238E27FC236}">
                <a16:creationId xmlns:a16="http://schemas.microsoft.com/office/drawing/2014/main" id="{5FF537B9-67FF-412B-BBDC-3AF952F613CB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613340" y="4506749"/>
            <a:ext cx="803196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42">
            <a:extLst>
              <a:ext uri="{FF2B5EF4-FFF2-40B4-BE49-F238E27FC236}">
                <a16:creationId xmlns:a16="http://schemas.microsoft.com/office/drawing/2014/main" id="{4C73E294-77D6-46AE-BE38-E2914103194C}"/>
              </a:ext>
            </a:extLst>
          </p:cNvPr>
          <p:cNvCxnSpPr>
            <a:cxnSpLocks/>
            <a:stCxn id="13" idx="0"/>
          </p:cNvCxnSpPr>
          <p:nvPr/>
        </p:nvCxnSpPr>
        <p:spPr>
          <a:xfrm>
            <a:off x="2617214" y="5651974"/>
            <a:ext cx="799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Why Play | Playworks">
            <a:extLst>
              <a:ext uri="{FF2B5EF4-FFF2-40B4-BE49-F238E27FC236}">
                <a16:creationId xmlns:a16="http://schemas.microsoft.com/office/drawing/2014/main" id="{9BF96261-13B9-40DD-A57A-3BA5930EE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620" y="2035521"/>
            <a:ext cx="1984869" cy="1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Why Play | Playworks">
            <a:extLst>
              <a:ext uri="{FF2B5EF4-FFF2-40B4-BE49-F238E27FC236}">
                <a16:creationId xmlns:a16="http://schemas.microsoft.com/office/drawing/2014/main" id="{50D2AFB1-091D-46C2-A41D-ACB0BF871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890" y="3457594"/>
            <a:ext cx="4395502" cy="293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1CF537-0AEF-4FCA-A334-D3B036032D4B}"/>
              </a:ext>
            </a:extLst>
          </p:cNvPr>
          <p:cNvCxnSpPr>
            <a:stCxn id="17" idx="2"/>
          </p:cNvCxnSpPr>
          <p:nvPr/>
        </p:nvCxnSpPr>
        <p:spPr>
          <a:xfrm>
            <a:off x="2144055" y="3361525"/>
            <a:ext cx="0" cy="774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22D9847-BC28-4274-AC65-C1B377130551}"/>
              </a:ext>
            </a:extLst>
          </p:cNvPr>
          <p:cNvSpPr/>
          <p:nvPr/>
        </p:nvSpPr>
        <p:spPr>
          <a:xfrm>
            <a:off x="4506645" y="4392114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64E30C-83E6-40F0-9ECC-C2F4319DA768}"/>
              </a:ext>
            </a:extLst>
          </p:cNvPr>
          <p:cNvSpPr/>
          <p:nvPr/>
        </p:nvSpPr>
        <p:spPr>
          <a:xfrm>
            <a:off x="4925595" y="4367672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7E3EE4-6AD1-4C58-BF1E-9D9A91CD78FD}"/>
              </a:ext>
            </a:extLst>
          </p:cNvPr>
          <p:cNvSpPr/>
          <p:nvPr/>
        </p:nvSpPr>
        <p:spPr>
          <a:xfrm>
            <a:off x="4723714" y="4252523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409CB1-5592-4BB8-89F4-22ADD290498F}"/>
              </a:ext>
            </a:extLst>
          </p:cNvPr>
          <p:cNvSpPr/>
          <p:nvPr/>
        </p:nvSpPr>
        <p:spPr>
          <a:xfrm>
            <a:off x="4846274" y="4710360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6B3C22-FE39-4F86-80A7-B169B07CECA7}"/>
              </a:ext>
            </a:extLst>
          </p:cNvPr>
          <p:cNvSpPr/>
          <p:nvPr/>
        </p:nvSpPr>
        <p:spPr>
          <a:xfrm>
            <a:off x="4531519" y="4920350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E33E58-507A-4D6C-BD6C-5F1034F935ED}"/>
              </a:ext>
            </a:extLst>
          </p:cNvPr>
          <p:cNvSpPr/>
          <p:nvPr/>
        </p:nvSpPr>
        <p:spPr>
          <a:xfrm>
            <a:off x="4908491" y="4857100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97D6E7-ACBD-441C-A04C-20ACE1B0BE42}"/>
              </a:ext>
            </a:extLst>
          </p:cNvPr>
          <p:cNvSpPr txBox="1"/>
          <p:nvPr/>
        </p:nvSpPr>
        <p:spPr>
          <a:xfrm>
            <a:off x="3287704" y="2512665"/>
            <a:ext cx="5439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Jittered boxes from a </a:t>
            </a:r>
            <a:r>
              <a:rPr lang="en-US" altLang="ko-KR" sz="2400" u="sng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poor regression </a:t>
            </a:r>
            <a:br>
              <a:rPr lang="en-US" altLang="ko-KR" sz="2400" u="sng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have </a:t>
            </a:r>
            <a:r>
              <a:rPr lang="en-US" altLang="ko-KR" sz="2400" u="sng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high variance </a:t>
            </a:r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of their coordinate</a:t>
            </a:r>
            <a:endParaRPr lang="ko-KR" altLang="en-US" sz="2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278E6-CB2F-40A9-A179-F6D3111B0866}"/>
                  </a:ext>
                </a:extLst>
              </p:cNvPr>
              <p:cNvSpPr txBox="1"/>
              <p:nvPr/>
            </p:nvSpPr>
            <p:spPr>
              <a:xfrm>
                <a:off x="5422410" y="3614731"/>
                <a:ext cx="143804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sz="3200" i="1" smtClean="0">
                          <a:solidFill>
                            <a:schemeClr val="tx1"/>
                          </a:solidFill>
                          <a:effectLst>
                            <a:glow rad="419100"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σ</m:t>
                      </m:r>
                    </m:oMath>
                  </m:oMathPara>
                </a14:m>
                <a:endParaRPr lang="ko-KR" altLang="en-US" sz="3200" dirty="0">
                  <a:solidFill>
                    <a:schemeClr val="tx1"/>
                  </a:solidFill>
                  <a:effectLst>
                    <a:glow rad="419100">
                      <a:schemeClr val="bg1"/>
                    </a:glow>
                  </a:effectLst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278E6-CB2F-40A9-A179-F6D3111B0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410" y="3614731"/>
                <a:ext cx="1438041" cy="584775"/>
              </a:xfrm>
              <a:prstGeom prst="rect">
                <a:avLst/>
              </a:prstGeom>
              <a:blipFill>
                <a:blip r:embed="rId4"/>
                <a:stretch>
                  <a:fillRect b="-177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DFB3736-0000-47E1-801C-67CEA40BA397}"/>
              </a:ext>
            </a:extLst>
          </p:cNvPr>
          <p:cNvCxnSpPr/>
          <p:nvPr/>
        </p:nvCxnSpPr>
        <p:spPr>
          <a:xfrm flipH="1">
            <a:off x="5360733" y="4165930"/>
            <a:ext cx="646780" cy="2885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45914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647E47-A69C-4418-8CDC-561E5DA9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 Jittering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56F37-1AD1-45F8-AFA0-D2FDAA2D42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37</a:t>
            </a:fld>
            <a:endParaRPr lang="ko-KR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4B4D99A-A141-48FB-B79D-1EFCF05D1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282" y="1092168"/>
            <a:ext cx="8786874" cy="5408666"/>
          </a:xfrm>
        </p:spPr>
        <p:txBody>
          <a:bodyPr/>
          <a:lstStyle/>
          <a:p>
            <a:r>
              <a:rPr lang="en-US" altLang="ko-KR">
                <a:solidFill>
                  <a:srgbClr val="FF0000"/>
                </a:solidFill>
              </a:rPr>
              <a:t>Box Jittering Estimates Localization Reliability </a:t>
            </a:r>
            <a:endParaRPr lang="en-US" altLang="ko-KR" sz="1600" u="sng">
              <a:solidFill>
                <a:srgbClr val="FF0000"/>
              </a:solidFill>
            </a:endParaRPr>
          </a:p>
          <a:p>
            <a:pPr lvl="1"/>
            <a:endParaRPr lang="ko-KR" altLang="en-US" sz="1600" u="sng"/>
          </a:p>
        </p:txBody>
      </p:sp>
      <p:sp>
        <p:nvSpPr>
          <p:cNvPr id="13" name="사다리꼴 6">
            <a:extLst>
              <a:ext uri="{FF2B5EF4-FFF2-40B4-BE49-F238E27FC236}">
                <a16:creationId xmlns:a16="http://schemas.microsoft.com/office/drawing/2014/main" id="{291427DA-A6C2-4E14-8998-B1F28AA08898}"/>
              </a:ext>
            </a:extLst>
          </p:cNvPr>
          <p:cNvSpPr/>
          <p:nvPr/>
        </p:nvSpPr>
        <p:spPr>
          <a:xfrm rot="5400000">
            <a:off x="1667980" y="5182688"/>
            <a:ext cx="959900" cy="938570"/>
          </a:xfrm>
          <a:prstGeom prst="trapezoid">
            <a:avLst/>
          </a:prstGeom>
          <a:solidFill>
            <a:srgbClr val="A9D18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108000"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Student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4" name="사다리꼴 4">
            <a:extLst>
              <a:ext uri="{FF2B5EF4-FFF2-40B4-BE49-F238E27FC236}">
                <a16:creationId xmlns:a16="http://schemas.microsoft.com/office/drawing/2014/main" id="{0891E4BC-F237-48B3-9E2E-F4BCE0CD7396}"/>
              </a:ext>
            </a:extLst>
          </p:cNvPr>
          <p:cNvSpPr/>
          <p:nvPr/>
        </p:nvSpPr>
        <p:spPr>
          <a:xfrm rot="5400000">
            <a:off x="1664104" y="4037464"/>
            <a:ext cx="959900" cy="938570"/>
          </a:xfrm>
          <a:prstGeom prst="trapezoid">
            <a:avLst/>
          </a:prstGeom>
          <a:solidFill>
            <a:srgbClr val="FFE6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lIns="0" tIns="0" rIns="0" bIns="144000" rtlCol="0" anchor="ctr" anchorCtr="0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Soft Teacher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39">
            <a:extLst>
              <a:ext uri="{FF2B5EF4-FFF2-40B4-BE49-F238E27FC236}">
                <a16:creationId xmlns:a16="http://schemas.microsoft.com/office/drawing/2014/main" id="{5FF537B9-67FF-412B-BBDC-3AF952F613CB}"/>
              </a:ext>
            </a:extLst>
          </p:cNvPr>
          <p:cNvCxnSpPr>
            <a:cxnSpLocks/>
            <a:stCxn id="14" idx="0"/>
          </p:cNvCxnSpPr>
          <p:nvPr/>
        </p:nvCxnSpPr>
        <p:spPr>
          <a:xfrm flipV="1">
            <a:off x="2613340" y="4506749"/>
            <a:ext cx="803196" cy="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42">
            <a:extLst>
              <a:ext uri="{FF2B5EF4-FFF2-40B4-BE49-F238E27FC236}">
                <a16:creationId xmlns:a16="http://schemas.microsoft.com/office/drawing/2014/main" id="{4C73E294-77D6-46AE-BE38-E2914103194C}"/>
              </a:ext>
            </a:extLst>
          </p:cNvPr>
          <p:cNvCxnSpPr>
            <a:cxnSpLocks/>
            <a:stCxn id="13" idx="0"/>
          </p:cNvCxnSpPr>
          <p:nvPr/>
        </p:nvCxnSpPr>
        <p:spPr>
          <a:xfrm>
            <a:off x="2617214" y="5651974"/>
            <a:ext cx="7993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 descr="Why Play | Playworks">
            <a:extLst>
              <a:ext uri="{FF2B5EF4-FFF2-40B4-BE49-F238E27FC236}">
                <a16:creationId xmlns:a16="http://schemas.microsoft.com/office/drawing/2014/main" id="{9BF96261-13B9-40DD-A57A-3BA5930EE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620" y="2035521"/>
            <a:ext cx="1984869" cy="132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Why Play | Playworks">
            <a:extLst>
              <a:ext uri="{FF2B5EF4-FFF2-40B4-BE49-F238E27FC236}">
                <a16:creationId xmlns:a16="http://schemas.microsoft.com/office/drawing/2014/main" id="{50D2AFB1-091D-46C2-A41D-ACB0BF871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4890" y="3457594"/>
            <a:ext cx="4395502" cy="2936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D1CF537-0AEF-4FCA-A334-D3B036032D4B}"/>
              </a:ext>
            </a:extLst>
          </p:cNvPr>
          <p:cNvCxnSpPr>
            <a:stCxn id="17" idx="2"/>
          </p:cNvCxnSpPr>
          <p:nvPr/>
        </p:nvCxnSpPr>
        <p:spPr>
          <a:xfrm>
            <a:off x="2144055" y="3361525"/>
            <a:ext cx="0" cy="774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22D9847-BC28-4274-AC65-C1B377130551}"/>
              </a:ext>
            </a:extLst>
          </p:cNvPr>
          <p:cNvSpPr/>
          <p:nvPr/>
        </p:nvSpPr>
        <p:spPr>
          <a:xfrm>
            <a:off x="4506645" y="4392114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64E30C-83E6-40F0-9ECC-C2F4319DA768}"/>
              </a:ext>
            </a:extLst>
          </p:cNvPr>
          <p:cNvSpPr/>
          <p:nvPr/>
        </p:nvSpPr>
        <p:spPr>
          <a:xfrm>
            <a:off x="4925595" y="4367672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77E3EE4-6AD1-4C58-BF1E-9D9A91CD78FD}"/>
              </a:ext>
            </a:extLst>
          </p:cNvPr>
          <p:cNvSpPr/>
          <p:nvPr/>
        </p:nvSpPr>
        <p:spPr>
          <a:xfrm>
            <a:off x="4723714" y="4252523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E409CB1-5592-4BB8-89F4-22ADD290498F}"/>
              </a:ext>
            </a:extLst>
          </p:cNvPr>
          <p:cNvSpPr/>
          <p:nvPr/>
        </p:nvSpPr>
        <p:spPr>
          <a:xfrm>
            <a:off x="4846274" y="4710360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96B3C22-FE39-4F86-80A7-B169B07CECA7}"/>
              </a:ext>
            </a:extLst>
          </p:cNvPr>
          <p:cNvSpPr/>
          <p:nvPr/>
        </p:nvSpPr>
        <p:spPr>
          <a:xfrm>
            <a:off x="4531519" y="4920350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E33E58-507A-4D6C-BD6C-5F1034F935ED}"/>
              </a:ext>
            </a:extLst>
          </p:cNvPr>
          <p:cNvSpPr/>
          <p:nvPr/>
        </p:nvSpPr>
        <p:spPr>
          <a:xfrm>
            <a:off x="4908491" y="4857100"/>
            <a:ext cx="324709" cy="552678"/>
          </a:xfrm>
          <a:prstGeom prst="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278E6-CB2F-40A9-A179-F6D3111B0866}"/>
                  </a:ext>
                </a:extLst>
              </p:cNvPr>
              <p:cNvSpPr txBox="1"/>
              <p:nvPr/>
            </p:nvSpPr>
            <p:spPr>
              <a:xfrm>
                <a:off x="5422410" y="3614731"/>
                <a:ext cx="1438041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ko-KR" sz="3200" i="1" smtClean="0">
                          <a:solidFill>
                            <a:schemeClr val="tx1"/>
                          </a:solidFill>
                          <a:effectLst>
                            <a:glow rad="419100">
                              <a:schemeClr val="bg1"/>
                            </a:glo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itchFamily="18" charset="0"/>
                        </a:rPr>
                        <m:t>σ</m:t>
                      </m:r>
                    </m:oMath>
                  </m:oMathPara>
                </a14:m>
                <a:endParaRPr lang="ko-KR" altLang="en-US" sz="3200" dirty="0">
                  <a:solidFill>
                    <a:schemeClr val="tx1"/>
                  </a:solidFill>
                  <a:effectLst>
                    <a:glow rad="419100">
                      <a:schemeClr val="bg1"/>
                    </a:glow>
                  </a:effectLst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C1278E6-CB2F-40A9-A179-F6D3111B0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2410" y="3614731"/>
                <a:ext cx="1438041" cy="584775"/>
              </a:xfrm>
              <a:prstGeom prst="rect">
                <a:avLst/>
              </a:prstGeom>
              <a:blipFill>
                <a:blip r:embed="rId4"/>
                <a:stretch>
                  <a:fillRect b="-177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DFB3736-0000-47E1-801C-67CEA40BA397}"/>
              </a:ext>
            </a:extLst>
          </p:cNvPr>
          <p:cNvCxnSpPr/>
          <p:nvPr/>
        </p:nvCxnSpPr>
        <p:spPr>
          <a:xfrm flipH="1">
            <a:off x="5360733" y="4165930"/>
            <a:ext cx="646780" cy="2885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62D68CB-1620-4C75-BC27-20503E8A7DA5}"/>
              </a:ext>
            </a:extLst>
          </p:cNvPr>
          <p:cNvSpPr txBox="1"/>
          <p:nvPr/>
        </p:nvSpPr>
        <p:spPr>
          <a:xfrm>
            <a:off x="3302406" y="2572667"/>
            <a:ext cx="54396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Boxes with low variance </a:t>
            </a:r>
            <a:b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</a:br>
            <a:r>
              <a:rPr lang="en-US" altLang="ko-KR" sz="2400" dirty="0"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are used for pseudo-labels.</a:t>
            </a:r>
            <a:endParaRPr lang="ko-KR" altLang="en-US" sz="2400" dirty="0"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pic>
        <p:nvPicPr>
          <p:cNvPr id="27" name="Picture 4">
            <a:extLst>
              <a:ext uri="{FF2B5EF4-FFF2-40B4-BE49-F238E27FC236}">
                <a16:creationId xmlns:a16="http://schemas.microsoft.com/office/drawing/2014/main" id="{0BA7508D-0C68-4B94-8245-32A5E651DC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205" y="1490192"/>
            <a:ext cx="1437528" cy="830997"/>
          </a:xfrm>
          <a:prstGeom prst="rect">
            <a:avLst/>
          </a:prstGeom>
        </p:spPr>
      </p:pic>
      <p:pic>
        <p:nvPicPr>
          <p:cNvPr id="28" name="Picture 7">
            <a:extLst>
              <a:ext uri="{FF2B5EF4-FFF2-40B4-BE49-F238E27FC236}">
                <a16:creationId xmlns:a16="http://schemas.microsoft.com/office/drawing/2014/main" id="{766FD1E3-6147-469F-841E-29AD93A1D63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7625" t="31605"/>
          <a:stretch/>
        </p:blipFill>
        <p:spPr>
          <a:xfrm>
            <a:off x="6129009" y="1765913"/>
            <a:ext cx="2217876" cy="52746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4C17C73-6221-4FC7-846F-7AB11044C66F}"/>
              </a:ext>
            </a:extLst>
          </p:cNvPr>
          <p:cNvSpPr txBox="1"/>
          <p:nvPr/>
        </p:nvSpPr>
        <p:spPr>
          <a:xfrm>
            <a:off x="3525632" y="2238992"/>
            <a:ext cx="2365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Average by coordinates </a:t>
            </a:r>
            <a:endParaRPr lang="ko-KR" altLang="en-US" sz="1600" dirty="0">
              <a:solidFill>
                <a:srgbClr val="0000FF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C6655A3-795E-4F8F-9580-78F95110EC80}"/>
              </a:ext>
            </a:extLst>
          </p:cNvPr>
          <p:cNvSpPr txBox="1"/>
          <p:nvPr/>
        </p:nvSpPr>
        <p:spPr>
          <a:xfrm>
            <a:off x="5804012" y="2257074"/>
            <a:ext cx="31989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solidFill>
                  <a:srgbClr val="0000FF"/>
                </a:solidFill>
                <a:latin typeface="Calibri" panose="020F0502020204030204" pitchFamily="34" charset="0"/>
                <a:ea typeface="08서울남산체 B" panose="02020603020101020101" pitchFamily="18" charset="-127"/>
                <a:cs typeface="Times New Roman" pitchFamily="18" charset="0"/>
              </a:rPr>
              <a:t>Normalization by width and height</a:t>
            </a:r>
            <a:endParaRPr lang="ko-KR" altLang="en-US" sz="1600" dirty="0">
              <a:solidFill>
                <a:srgbClr val="0000FF"/>
              </a:solidFill>
              <a:latin typeface="Calibri" panose="020F0502020204030204" pitchFamily="34" charset="0"/>
              <a:ea typeface="08서울남산체 B" panose="02020603020101020101" pitchFamily="18" charset="-127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2220562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E1332-900C-420B-85AA-1A7678968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Box Jittering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B70EB8-0A82-4DA7-B46C-6A1C0F17C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Ablation studies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221E95-A0BD-46CE-9E28-027741CB48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38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1CA88B3-3C95-418B-B460-4CC1036BE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700" y="1748011"/>
            <a:ext cx="5092962" cy="231151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529CA3F-F490-4A7C-8604-B84F8AD49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595" y="4187326"/>
            <a:ext cx="5964809" cy="21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66766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07B8D-5662-4AD5-8BE8-7A8FD4A0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Q &amp; A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5BC3F-5FA3-47B0-B4B7-64920F566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 marL="0" indent="0" algn="ctr">
              <a:buNone/>
            </a:pPr>
            <a:r>
              <a:rPr lang="en-US" altLang="ko-KR" sz="7200"/>
              <a:t>Q &amp; A</a:t>
            </a:r>
            <a:endParaRPr lang="ko-KR" altLang="en-US" sz="7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125E2-7568-449E-9C76-F738D86AF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8485064"/>
      </p:ext>
    </p:extLst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09095-9D95-4C2F-AEA8-8E21DCED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Experiments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63605-0F08-4E82-8EEB-9EE902CDA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State-of-the-art </a:t>
            </a:r>
          </a:p>
          <a:p>
            <a:pPr lvl="1"/>
            <a:r>
              <a:rPr lang="en-US" altLang="ko-KR"/>
              <a:t>in both Supervised and Semi-Supervisied Object Detection</a:t>
            </a: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30338-F611-44FB-8F0B-AB0AE743B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40</a:t>
            </a:fld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6E0A02-7778-4ABF-85F1-23CC812B7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525" y="2672916"/>
            <a:ext cx="9175612" cy="1980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64442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09095-9D95-4C2F-AEA8-8E21DCED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Experiments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63605-0F08-4E82-8EEB-9EE902CDA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State-of-the-art </a:t>
            </a:r>
          </a:p>
          <a:p>
            <a:pPr lvl="1"/>
            <a:r>
              <a:rPr lang="en-US" altLang="ko-KR"/>
              <a:t>in both Supervised and Semi-Supervisied Object Detection</a:t>
            </a: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30338-F611-44FB-8F0B-AB0AE743B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41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2F9700-73DB-460D-A22B-6A8C7BF92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44" y="2528900"/>
            <a:ext cx="8970138" cy="259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524502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09095-9D95-4C2F-AEA8-8E21DCED9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Experiments 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63605-0F08-4E82-8EEB-9EE902CDA0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Ablation Studies  </a:t>
            </a:r>
          </a:p>
          <a:p>
            <a:pPr lvl="1"/>
            <a:r>
              <a:rPr lang="en-US" altLang="ko-KR"/>
              <a:t>Soft Teacher and Box Jittering </a:t>
            </a:r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30338-F611-44FB-8F0B-AB0AE743B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42</a:t>
            </a:fld>
            <a:endParaRPr lang="ko-KR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AA2A1A-5938-46CE-AFF2-097A8171B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54" y="2968578"/>
            <a:ext cx="7406939" cy="219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52500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617AF-1C3D-471D-BD8F-0C768B0D6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팀원간 </a:t>
            </a:r>
            <a:r>
              <a:rPr lang="en-US" altLang="ko-KR" dirty="0"/>
              <a:t>Discussion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BAEC09-7320-4F0C-9E8C-4B9D0A3F86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altLang="ko-KR" dirty="0"/>
              <a:t>Pseudo-labeling </a:t>
            </a:r>
            <a:r>
              <a:rPr lang="ko-KR" altLang="en-US" dirty="0"/>
              <a:t>실험 셋업이 조금 아쉬움 </a:t>
            </a:r>
            <a:endParaRPr lang="en-US" altLang="ko-KR" dirty="0"/>
          </a:p>
          <a:p>
            <a:pPr marL="809625" lvl="1" indent="-457200">
              <a:buFont typeface="Arial" panose="020B0604020202020204" pitchFamily="34" charset="0"/>
              <a:buChar char="•"/>
            </a:pPr>
            <a:r>
              <a:rPr lang="en-US" altLang="ko-KR" dirty="0"/>
              <a:t>Pseudo-labeling benchmark </a:t>
            </a:r>
            <a:r>
              <a:rPr lang="ko-KR" altLang="en-US" dirty="0"/>
              <a:t>평가 자체가 여러가지 </a:t>
            </a:r>
            <a:r>
              <a:rPr lang="en-US" altLang="ko-KR" dirty="0"/>
              <a:t>Label </a:t>
            </a:r>
            <a:r>
              <a:rPr lang="ko-KR" altLang="en-US" dirty="0"/>
              <a:t>대 </a:t>
            </a:r>
            <a:r>
              <a:rPr lang="en-US" altLang="ko-KR" dirty="0"/>
              <a:t>Unlabeled </a:t>
            </a:r>
            <a:r>
              <a:rPr lang="ko-KR" altLang="en-US" dirty="0"/>
              <a:t>비율</a:t>
            </a:r>
            <a:r>
              <a:rPr lang="en-US" altLang="ko-KR" dirty="0"/>
              <a:t>(30%, 50% 80%) </a:t>
            </a:r>
            <a:r>
              <a:rPr lang="ko-KR" altLang="en-US" dirty="0"/>
              <a:t>등 다양하게 이루어졌으면 실무에 적용하는 입장에서 좋은 참고자료가 되었을 듯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앞으로도 </a:t>
            </a:r>
            <a:r>
              <a:rPr lang="en-US" altLang="ko-KR" dirty="0"/>
              <a:t>Pseudo-Label</a:t>
            </a:r>
            <a:r>
              <a:rPr lang="ko-KR" altLang="en-US" dirty="0"/>
              <a:t>의 신뢰도</a:t>
            </a:r>
            <a:r>
              <a:rPr lang="en-US" altLang="ko-KR" dirty="0"/>
              <a:t>(Reliability)</a:t>
            </a:r>
            <a:r>
              <a:rPr lang="ko-KR" altLang="en-US" dirty="0"/>
              <a:t>를 평가하는 방법론들을 중심으로 </a:t>
            </a:r>
            <a:r>
              <a:rPr lang="en-US" altLang="ko-KR" dirty="0"/>
              <a:t>Semi-supervision</a:t>
            </a:r>
            <a:r>
              <a:rPr lang="ko-KR" altLang="en-US" dirty="0"/>
              <a:t>에 대한 해결방법이 발전하지 않을까</a:t>
            </a:r>
            <a:r>
              <a:rPr lang="en-US" altLang="ko-KR" dirty="0"/>
              <a:t>? </a:t>
            </a:r>
          </a:p>
          <a:p>
            <a:pPr marL="457200" indent="-457200">
              <a:buFont typeface="+mj-lt"/>
              <a:buAutoNum type="arabicPeriod"/>
            </a:pP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9F789F-9C08-447E-89BA-BD9FCCA06B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27674154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07B8D-5662-4AD5-8BE8-7A8FD4A0C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Q &amp; A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5BC3F-5FA3-47B0-B4B7-64920F566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 anchorCtr="0"/>
          <a:lstStyle/>
          <a:p>
            <a:pPr marL="0" indent="0" algn="ctr">
              <a:buNone/>
            </a:pPr>
            <a:r>
              <a:rPr lang="en-US" altLang="ko-KR" sz="7200"/>
              <a:t>Q &amp; A</a:t>
            </a:r>
            <a:endParaRPr lang="ko-KR" altLang="en-US" sz="7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B125E2-7568-449E-9C76-F738D86AF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2A07C-4710-46A3-9C28-806B597ACB99}" type="slidenum">
              <a:rPr lang="ko-KR" altLang="en-US" smtClean="0"/>
              <a:pPr>
                <a:defRPr/>
              </a:pPr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4486652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600" dirty="0" smtClean="0">
            <a:latin typeface="Calibri" panose="020F0502020204030204" pitchFamily="34" charset="0"/>
            <a:ea typeface="08서울남산체 B" panose="02020603020101020101" pitchFamily="18" charset="-127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60118</TotalTime>
  <Words>1434</Words>
  <Application>Microsoft Office PowerPoint</Application>
  <PresentationFormat>화면 슬라이드 쇼(4:3)</PresentationFormat>
  <Paragraphs>318</Paragraphs>
  <Slides>44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51" baseType="lpstr">
      <vt:lpstr>굴림</vt:lpstr>
      <vt:lpstr>맑은 고딕</vt:lpstr>
      <vt:lpstr>Arial</vt:lpstr>
      <vt:lpstr>Calibri</vt:lpstr>
      <vt:lpstr>Cambria Math</vt:lpstr>
      <vt:lpstr>Wingdings</vt:lpstr>
      <vt:lpstr>Office 테마</vt:lpstr>
      <vt:lpstr>End-to-End Semi-Supervised Object Detection with Soft Teacher</vt:lpstr>
      <vt:lpstr>Brief Introduction of Soft Teacher</vt:lpstr>
      <vt:lpstr>Expensive Labeling Cost in Deep Learning</vt:lpstr>
      <vt:lpstr>Expensive Labeling Cost in Deep Learning</vt:lpstr>
      <vt:lpstr>Expensive Labeling Cost in Deep Learning</vt:lpstr>
      <vt:lpstr>Expensive Labeling Cost in Deep Learning</vt:lpstr>
      <vt:lpstr>Expensive Labeling Cost in Deep Learning</vt:lpstr>
      <vt:lpstr>Efforts to Reduce Labeling Cost </vt:lpstr>
      <vt:lpstr>Efforts to Reduce Labeling Cost </vt:lpstr>
      <vt:lpstr>Semi-Supervised Approaches </vt:lpstr>
      <vt:lpstr>Semi-Supervised Approaches </vt:lpstr>
      <vt:lpstr>Semi-Supervised Approaches </vt:lpstr>
      <vt:lpstr>Contribution of Soft Teacher </vt:lpstr>
      <vt:lpstr>Q &amp; A</vt:lpstr>
      <vt:lpstr>Overall Framework of Soft Teacher</vt:lpstr>
      <vt:lpstr>Exponential Moving Average </vt:lpstr>
      <vt:lpstr>Exponential Moving Average </vt:lpstr>
      <vt:lpstr>Q &amp; A</vt:lpstr>
      <vt:lpstr>Soft Teacher </vt:lpstr>
      <vt:lpstr>Soft Teacher </vt:lpstr>
      <vt:lpstr>Soft Teacher </vt:lpstr>
      <vt:lpstr>Soft Teacher </vt:lpstr>
      <vt:lpstr>Soft Teacher </vt:lpstr>
      <vt:lpstr>Soft Teacher </vt:lpstr>
      <vt:lpstr>Soft Teacher </vt:lpstr>
      <vt:lpstr>Soft Teacher </vt:lpstr>
      <vt:lpstr>Soft Teacher </vt:lpstr>
      <vt:lpstr>Q &amp; A</vt:lpstr>
      <vt:lpstr>Box Jittering </vt:lpstr>
      <vt:lpstr>Box Jittering </vt:lpstr>
      <vt:lpstr>Box Jittering </vt:lpstr>
      <vt:lpstr>Box Jittering </vt:lpstr>
      <vt:lpstr>Box Jittering </vt:lpstr>
      <vt:lpstr>Box Jittering </vt:lpstr>
      <vt:lpstr>Box Jittering </vt:lpstr>
      <vt:lpstr>Box Jittering </vt:lpstr>
      <vt:lpstr>Box Jittering </vt:lpstr>
      <vt:lpstr>Box Jittering </vt:lpstr>
      <vt:lpstr>Q &amp; A</vt:lpstr>
      <vt:lpstr>Experiments </vt:lpstr>
      <vt:lpstr>Experiments </vt:lpstr>
      <vt:lpstr>Experiments </vt:lpstr>
      <vt:lpstr>팀원간 Discussion </vt:lpstr>
      <vt:lpstr>Q &amp; A</vt:lpstr>
    </vt:vector>
  </TitlesOfParts>
  <Company>U of 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zelos</dc:creator>
  <cp:lastModifiedBy>kimbh.mail@gmail.com</cp:lastModifiedBy>
  <cp:revision>2969</cp:revision>
  <cp:lastPrinted>2016-03-04T01:44:28Z</cp:lastPrinted>
  <dcterms:created xsi:type="dcterms:W3CDTF">2008-03-01T21:32:25Z</dcterms:created>
  <dcterms:modified xsi:type="dcterms:W3CDTF">2021-10-31T12:19:13Z</dcterms:modified>
</cp:coreProperties>
</file>