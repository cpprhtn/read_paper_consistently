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9" r:id="rId3"/>
    <p:sldId id="271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58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EDEE"/>
    <a:srgbClr val="E9E9E9"/>
    <a:srgbClr val="E4E3E1"/>
    <a:srgbClr val="E6E4E5"/>
    <a:srgbClr val="D1D1CF"/>
    <a:srgbClr val="DEDEE0"/>
    <a:srgbClr val="E1E1E2"/>
    <a:srgbClr val="E8E2E2"/>
    <a:srgbClr val="EAEBED"/>
    <a:srgbClr val="EDEDED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854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1192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4428E6-48F8-48FF-A4B7-7E67A9EE0B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A2431C-BDF3-4534-AED0-115F103A46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0173CB-01B9-4295-A804-D7D5973D6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2023. 3. 5.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C5FE16-77A0-484E-AEFD-FF537292E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F3DF25-2E65-49D3-8F6F-64AA11097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5835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DBF82B-6C4A-4F6E-A362-B2BF3BDC3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E6E910-43A6-49D6-A1B5-99E3B0C27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0DB3AC-66C4-4244-9CE9-54D71AA59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2023. 3. 5.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92C886-882E-440B-806C-B06DE5089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9323D2-1426-48F9-A93B-729E72E2B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0420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53C500-C8D9-4EBC-AC73-9F7D65F03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E56CD17-259A-42E8-B64F-04C51B7C1C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976CE5-8C59-42A2-A597-465DEAC8E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2023. 3. 5.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2312C6-1DCE-41BC-B5FA-FCFF5BE3B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4339A5-69DC-4256-84CA-F160D48ED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2820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F37A4D-E01E-45A7-B166-73EE7826C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0D6757-7DA6-452C-9903-7536978F15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3DCC3C8-286B-4184-8752-32BC3B116B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CA751A-C45B-42C8-893F-826B22E76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2023. 3. 5.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F77210C-0EDE-42F3-A19F-12B3884B4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15D590-E2D2-480C-AF73-67D855C55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7000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E3AF97-024B-4EF1-B5B6-2E362F07C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41334B-2AA0-4E32-9445-B691EAB283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DB62D6F-224F-4433-9752-11A255D323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D04EE0E-6C7E-4160-86AA-136E97F9FD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B390FB9-7573-4784-A2A4-EDF1B3C59F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464B30B-9C6A-4C96-8DB5-BCE9A09F7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2023. 3. 5.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6A11AC4-2315-46FE-81A4-FE4B84349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C2D39CB-CB92-40B8-9B0C-3FBBBDF9D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2895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E32E25-F5B3-41EE-BD3B-6965721B8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CFE1863-7C02-424B-AF80-CDB396716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2023. 3. 5.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F99FB34-90A4-44A0-9CF8-F0BC0FE4A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6375702-4955-406C-919C-D35A1B84B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3063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76E1BA2-3103-4DB2-AAEB-ED1BAE452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2023. 3. 5.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05D5A54-85CA-45E5-9801-A3F15EEFC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12AF2F-D0EC-4C7E-8979-4C17E3F4B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19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03A167-5C7C-4CD2-A3E4-B6F945832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21CEB6-C525-4AEB-BB3E-B131569013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9296C9A-4472-4D30-BFAE-60CB397B50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44E3F16-D603-4838-BA1C-0C9EEDE4A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2023. 3. 5.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48873C6-9D3A-4C62-9D46-88E6BAABC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9A9C646-865F-49F4-8BDD-FB9A4DECA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7919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258A6-5AAD-4F1F-976F-EDB5FF725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2F4441E-0165-42AA-88F8-E53C4BAAC1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AFCA1E8-0D3C-4590-82E2-D018D6E61D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A674557-7FD9-416C-A8B5-FA6C4B555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2023. 3. 5.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C4A215C-B55F-4988-B45B-7667E8C7C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2FF3B86-5A48-411F-8090-830140A67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098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520652-E714-4A15-826F-1B53C7092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C14771D-DE0A-400C-8C59-8670E31F70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BEACB7-48C9-4FB8-8D34-7F4C63932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2023. 3. 5.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D31818-B6CD-47B0-9353-395CC5398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008922-CAE3-4884-AE59-2BC74144C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0045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3371B8A-69A6-43D4-8783-6456E33508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49DA1AA-3028-44E4-B5B0-C19BF61DC4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2BCD8D-3E10-4F33-BC43-EACB05C0B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2023. 3. 5.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E365BE-78DE-4079-B7F3-706874E92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0D9E52-1AFA-4482-A474-91FF4C5C6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4838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9DF84FF-C412-430B-963A-695AABF70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EE7982-A999-4B0A-85F1-A0D5C55038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48EB6A-F091-464F-A783-1AE546A569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6E467A-4026-4A8D-97BF-715EF7FA6491}" type="datetimeFigureOut">
              <a:rPr lang="ko-KR" altLang="en-US" smtClean="0"/>
              <a:t>2023. 3. 5.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31D2C7-63D5-4319-952D-A6F8404F46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39517A-02D4-4037-9427-974339FE7C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4044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2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8DF8F64-FACD-4847-BB7E-4C0E15556C2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51969" y="0"/>
            <a:ext cx="2140030" cy="240753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F75DDD-8FAC-423E-87FB-5D62741FF7B1}"/>
              </a:ext>
            </a:extLst>
          </p:cNvPr>
          <p:cNvSpPr txBox="1"/>
          <p:nvPr/>
        </p:nvSpPr>
        <p:spPr>
          <a:xfrm>
            <a:off x="953038" y="2037142"/>
            <a:ext cx="103824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>
                <a:latin typeface="+mj-lt"/>
              </a:rPr>
              <a:t>Proximal Policy Optimization Algorithm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8839C2-BAAB-4531-A42C-39A13C09E321}"/>
              </a:ext>
            </a:extLst>
          </p:cNvPr>
          <p:cNvSpPr txBox="1"/>
          <p:nvPr/>
        </p:nvSpPr>
        <p:spPr>
          <a:xfrm>
            <a:off x="5602588" y="5367762"/>
            <a:ext cx="5732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spc="-300" dirty="0"/>
              <a:t>김현성</a:t>
            </a:r>
            <a:r>
              <a:rPr lang="en-US" altLang="ko-KR" sz="2400" spc="-300" dirty="0"/>
              <a:t>(</a:t>
            </a:r>
            <a:r>
              <a:rPr lang="ko-KR" altLang="en-US" sz="2400" spc="-300" dirty="0"/>
              <a:t>발표자</a:t>
            </a:r>
            <a:r>
              <a:rPr lang="en-US" altLang="ko-KR" sz="2400" spc="-300" dirty="0"/>
              <a:t>),</a:t>
            </a:r>
            <a:r>
              <a:rPr lang="ko-KR" altLang="en-US" sz="2400" spc="-300" dirty="0"/>
              <a:t> </a:t>
            </a:r>
            <a:r>
              <a:rPr lang="ko-KR" altLang="en-US" sz="2400" spc="-300" dirty="0" err="1"/>
              <a:t>주정헌</a:t>
            </a:r>
            <a:r>
              <a:rPr lang="en-US" altLang="ko-KR" sz="2400" spc="-300" dirty="0"/>
              <a:t>,</a:t>
            </a:r>
            <a:r>
              <a:rPr lang="ko-KR" altLang="en-US" sz="2400" spc="-300" dirty="0"/>
              <a:t> </a:t>
            </a:r>
            <a:r>
              <a:rPr lang="ko-KR" altLang="en-US" sz="2400" spc="-300" dirty="0" err="1"/>
              <a:t>백승언</a:t>
            </a:r>
            <a:r>
              <a:rPr lang="en-US" altLang="ko-KR" sz="2400" spc="-300" dirty="0"/>
              <a:t>,</a:t>
            </a:r>
            <a:r>
              <a:rPr lang="ko-KR" altLang="en-US" sz="2400" spc="-300" dirty="0"/>
              <a:t> 박혜진</a:t>
            </a:r>
            <a:r>
              <a:rPr lang="en-US" altLang="ko-KR" sz="2400" spc="-300" dirty="0"/>
              <a:t>,</a:t>
            </a:r>
            <a:r>
              <a:rPr lang="ko-KR" altLang="en-US" sz="2400" spc="-300" dirty="0"/>
              <a:t> 이도현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F76F4E-3093-A72F-345E-C02F5683A330}"/>
              </a:ext>
            </a:extLst>
          </p:cNvPr>
          <p:cNvSpPr txBox="1"/>
          <p:nvPr/>
        </p:nvSpPr>
        <p:spPr>
          <a:xfrm>
            <a:off x="8414795" y="2894471"/>
            <a:ext cx="25734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spc="-300" dirty="0"/>
              <a:t>ICML 2017</a:t>
            </a:r>
          </a:p>
          <a:p>
            <a:pPr algn="r"/>
            <a:r>
              <a:rPr lang="en-US" altLang="ko-KR" sz="2400" spc="-300" dirty="0" err="1"/>
              <a:t>OpenAI</a:t>
            </a:r>
            <a:r>
              <a:rPr lang="en-US" altLang="ko-KR" sz="2400" spc="-300"/>
              <a:t> </a:t>
            </a:r>
            <a:endParaRPr lang="ko-KR" altLang="en-US" sz="2400" spc="-300" dirty="0"/>
          </a:p>
        </p:txBody>
      </p:sp>
    </p:spTree>
    <p:extLst>
      <p:ext uri="{BB962C8B-B14F-4D97-AF65-F5344CB8AC3E}">
        <p14:creationId xmlns:p14="http://schemas.microsoft.com/office/powerpoint/2010/main" val="2475666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0B7886A-E2C2-47A8-A271-1FD08F52EED0}"/>
              </a:ext>
            </a:extLst>
          </p:cNvPr>
          <p:cNvCxnSpPr>
            <a:cxnSpLocks/>
          </p:cNvCxnSpPr>
          <p:nvPr/>
        </p:nvCxnSpPr>
        <p:spPr>
          <a:xfrm>
            <a:off x="152400" y="190500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0BF8F17-9E56-462D-B8ED-980C1047873B}"/>
              </a:ext>
            </a:extLst>
          </p:cNvPr>
          <p:cNvSpPr txBox="1"/>
          <p:nvPr/>
        </p:nvSpPr>
        <p:spPr>
          <a:xfrm>
            <a:off x="1676400" y="330200"/>
            <a:ext cx="338265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spc="-300" dirty="0">
                <a:solidFill>
                  <a:schemeClr val="accent4"/>
                </a:solidFill>
              </a:rPr>
              <a:t>Introduction</a:t>
            </a:r>
            <a:endParaRPr lang="ko-KR" altLang="en-US" sz="4400" spc="-300" dirty="0">
              <a:solidFill>
                <a:schemeClr val="accent4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4D8878-800F-4A94-9AEE-55D2DF32C42C}"/>
              </a:ext>
            </a:extLst>
          </p:cNvPr>
          <p:cNvSpPr txBox="1"/>
          <p:nvPr/>
        </p:nvSpPr>
        <p:spPr>
          <a:xfrm>
            <a:off x="583709" y="345588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4"/>
                </a:solidFill>
              </a:rPr>
              <a:t>Part 1</a:t>
            </a:r>
            <a:endParaRPr lang="ko-KR" altLang="en-US" dirty="0">
              <a:solidFill>
                <a:schemeClr val="accent4"/>
              </a:solidFill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7911BDFD-7E29-44F7-9ED7-E8F36B51436C}"/>
              </a:ext>
            </a:extLst>
          </p:cNvPr>
          <p:cNvCxnSpPr/>
          <p:nvPr/>
        </p:nvCxnSpPr>
        <p:spPr>
          <a:xfrm>
            <a:off x="1587500" y="190500"/>
            <a:ext cx="10604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D422AEF-904C-D8B3-48C0-B598A1DBA46A}"/>
              </a:ext>
            </a:extLst>
          </p:cNvPr>
          <p:cNvSpPr txBox="1"/>
          <p:nvPr/>
        </p:nvSpPr>
        <p:spPr>
          <a:xfrm>
            <a:off x="583709" y="1527858"/>
            <a:ext cx="1092152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kumimoji="1" lang="ko-KR" altLang="en-US" sz="2000" dirty="0"/>
              <a:t>문제점 제기</a:t>
            </a:r>
            <a:endParaRPr kumimoji="1" lang="en-US" altLang="ko-KR" sz="2000" dirty="0"/>
          </a:p>
          <a:p>
            <a:pPr marL="285750" indent="-285750">
              <a:buFont typeface="Wingdings" pitchFamily="2" charset="2"/>
              <a:buChar char="q"/>
            </a:pPr>
            <a:endParaRPr kumimoji="1" lang="en-US" altLang="ko-KR" sz="2000" dirty="0"/>
          </a:p>
          <a:p>
            <a:pPr marL="800100" lvl="1" indent="-342900">
              <a:buFont typeface="Wingdings" pitchFamily="2" charset="2"/>
              <a:buChar char="§"/>
            </a:pPr>
            <a:r>
              <a:rPr kumimoji="1" lang="en-US" altLang="ko-KR" sz="2000" dirty="0"/>
              <a:t>Deep Q Learning : </a:t>
            </a:r>
            <a:r>
              <a:rPr kumimoji="1" lang="ko-KR" altLang="en-US" sz="2000" dirty="0"/>
              <a:t>단순하지만 연속 컨트롤 도메인에서 제대로 동작하지 못함</a:t>
            </a:r>
            <a:endParaRPr kumimoji="1" lang="en-US" altLang="ko-KR" sz="2000" dirty="0"/>
          </a:p>
          <a:p>
            <a:pPr marL="800100" lvl="1" indent="-342900">
              <a:buFont typeface="Wingdings" pitchFamily="2" charset="2"/>
              <a:buChar char="§"/>
            </a:pPr>
            <a:endParaRPr kumimoji="1" lang="en-US" altLang="ko-KR" sz="2000" dirty="0"/>
          </a:p>
          <a:p>
            <a:pPr marL="800100" lvl="1" indent="-342900">
              <a:buFont typeface="Wingdings" pitchFamily="2" charset="2"/>
              <a:buChar char="§"/>
            </a:pPr>
            <a:r>
              <a:rPr kumimoji="1" lang="en-US" altLang="ko-KR" sz="2000" dirty="0"/>
              <a:t>Vanilla PG(A3C) : </a:t>
            </a:r>
            <a:r>
              <a:rPr kumimoji="1" lang="ko-KR" altLang="en-US" sz="2000" dirty="0"/>
              <a:t>데이터 효율성과 모델의 강건함이 떨어짐</a:t>
            </a:r>
            <a:endParaRPr kumimoji="1" lang="en-US" altLang="ko-KR" sz="2000" dirty="0"/>
          </a:p>
          <a:p>
            <a:pPr marL="800100" lvl="1" indent="-342900">
              <a:buFont typeface="Wingdings" pitchFamily="2" charset="2"/>
              <a:buChar char="§"/>
            </a:pPr>
            <a:endParaRPr kumimoji="1" lang="en-US" altLang="ko-KR" sz="2000" dirty="0"/>
          </a:p>
          <a:p>
            <a:pPr marL="800100" lvl="1" indent="-342900">
              <a:buFont typeface="Wingdings" pitchFamily="2" charset="2"/>
              <a:buChar char="§"/>
            </a:pPr>
            <a:r>
              <a:rPr kumimoji="1" lang="en-US" altLang="ko-KR" sz="2000" dirty="0"/>
              <a:t>TRPO : </a:t>
            </a:r>
            <a:r>
              <a:rPr kumimoji="1" lang="ko-KR" altLang="en-US" sz="2000" dirty="0"/>
              <a:t>너무 복잡하고 </a:t>
            </a:r>
            <a:r>
              <a:rPr kumimoji="1" lang="en-US" altLang="ko-KR" sz="2000" dirty="0"/>
              <a:t>Dropout</a:t>
            </a:r>
            <a:r>
              <a:rPr kumimoji="1" lang="ko-KR" altLang="en-US" sz="2000" dirty="0"/>
              <a:t>과 같은 노이즈를 더하거나 정책과 가치 함수가 파라미터를 공유하는 구조와 호환되지 않음</a:t>
            </a:r>
            <a:r>
              <a:rPr kumimoji="1" lang="en-US" altLang="ko-KR" sz="2000" dirty="0"/>
              <a:t>.</a:t>
            </a:r>
          </a:p>
          <a:p>
            <a:pPr marL="285750" indent="-285750">
              <a:buFont typeface="Wingdings" pitchFamily="2" charset="2"/>
              <a:buChar char="q"/>
            </a:pPr>
            <a:endParaRPr kumimoji="1" lang="en-US" altLang="ko-Kore-KR" sz="2000" dirty="0"/>
          </a:p>
          <a:p>
            <a:pPr marL="285750" indent="-285750">
              <a:buFont typeface="Wingdings" pitchFamily="2" charset="2"/>
              <a:buChar char="q"/>
            </a:pPr>
            <a:r>
              <a:rPr kumimoji="1" lang="ko-KR" altLang="en-US" sz="2000" dirty="0"/>
              <a:t>개선 </a:t>
            </a:r>
            <a:r>
              <a:rPr kumimoji="1" lang="en-US" altLang="ko-KR" sz="2000" dirty="0"/>
              <a:t>:</a:t>
            </a:r>
            <a:r>
              <a:rPr kumimoji="1" lang="ko-KR" altLang="en-US" sz="2000" dirty="0"/>
              <a:t> </a:t>
            </a:r>
            <a:r>
              <a:rPr kumimoji="1" lang="en-US" altLang="ko-KR" sz="2000" dirty="0"/>
              <a:t>Probability Ratio Clipping</a:t>
            </a:r>
          </a:p>
          <a:p>
            <a:pPr marL="285750" indent="-285750">
              <a:buFont typeface="Wingdings" pitchFamily="2" charset="2"/>
              <a:buChar char="q"/>
            </a:pPr>
            <a:endParaRPr kumimoji="1" lang="en-US" altLang="ko-Kore-KR" sz="2000" dirty="0"/>
          </a:p>
          <a:p>
            <a:pPr marL="800100" lvl="1" indent="-342900">
              <a:buFont typeface="Wingdings" pitchFamily="2" charset="2"/>
              <a:buChar char="§"/>
            </a:pPr>
            <a:r>
              <a:rPr kumimoji="1" lang="en-US" altLang="ko-Kore-KR" sz="2000" dirty="0"/>
              <a:t>First-order Optimization</a:t>
            </a:r>
          </a:p>
          <a:p>
            <a:pPr marL="800100" lvl="1" indent="-342900">
              <a:buFont typeface="Wingdings" pitchFamily="2" charset="2"/>
              <a:buChar char="§"/>
            </a:pPr>
            <a:endParaRPr kumimoji="1" lang="en-US" altLang="ko-Kore-KR" sz="2000" dirty="0"/>
          </a:p>
          <a:p>
            <a:pPr marL="800100" lvl="1" indent="-342900">
              <a:buFont typeface="Wingdings" pitchFamily="2" charset="2"/>
              <a:buChar char="§"/>
            </a:pPr>
            <a:r>
              <a:rPr kumimoji="1" lang="en-US" altLang="ko-Kore-KR" sz="2000" dirty="0"/>
              <a:t>TRPO</a:t>
            </a:r>
            <a:r>
              <a:rPr kumimoji="1" lang="ko-KR" altLang="en-US" sz="2000" dirty="0"/>
              <a:t>의 성능을 유지 </a:t>
            </a:r>
            <a:r>
              <a:rPr kumimoji="1" lang="en-US" altLang="ko-KR" sz="2000" dirty="0"/>
              <a:t>:</a:t>
            </a:r>
            <a:r>
              <a:rPr kumimoji="1" lang="ko-KR" altLang="en-US" sz="2000" dirty="0"/>
              <a:t> 정책의 성능의 하한을 유지</a:t>
            </a:r>
            <a:endParaRPr kumimoji="1" lang="ko-Kore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816055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0B7886A-E2C2-47A8-A271-1FD08F52EED0}"/>
              </a:ext>
            </a:extLst>
          </p:cNvPr>
          <p:cNvCxnSpPr>
            <a:cxnSpLocks/>
          </p:cNvCxnSpPr>
          <p:nvPr/>
        </p:nvCxnSpPr>
        <p:spPr>
          <a:xfrm>
            <a:off x="152400" y="190500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0BF8F17-9E56-462D-B8ED-980C1047873B}"/>
              </a:ext>
            </a:extLst>
          </p:cNvPr>
          <p:cNvSpPr txBox="1"/>
          <p:nvPr/>
        </p:nvSpPr>
        <p:spPr>
          <a:xfrm>
            <a:off x="1676400" y="330200"/>
            <a:ext cx="341151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spc="-300" dirty="0">
                <a:solidFill>
                  <a:schemeClr val="accent4"/>
                </a:solidFill>
              </a:rPr>
              <a:t>Background</a:t>
            </a:r>
            <a:endParaRPr lang="ko-KR" altLang="en-US" sz="4400" spc="-300" dirty="0">
              <a:solidFill>
                <a:schemeClr val="accent4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4D8878-800F-4A94-9AEE-55D2DF32C42C}"/>
              </a:ext>
            </a:extLst>
          </p:cNvPr>
          <p:cNvSpPr txBox="1"/>
          <p:nvPr/>
        </p:nvSpPr>
        <p:spPr>
          <a:xfrm>
            <a:off x="583709" y="345588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4"/>
                </a:solidFill>
              </a:rPr>
              <a:t>Part 2</a:t>
            </a:r>
            <a:endParaRPr lang="ko-KR" altLang="en-US" dirty="0">
              <a:solidFill>
                <a:schemeClr val="accent4"/>
              </a:solidFill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7911BDFD-7E29-44F7-9ED7-E8F36B51436C}"/>
              </a:ext>
            </a:extLst>
          </p:cNvPr>
          <p:cNvCxnSpPr/>
          <p:nvPr/>
        </p:nvCxnSpPr>
        <p:spPr>
          <a:xfrm>
            <a:off x="1587500" y="190500"/>
            <a:ext cx="10604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D422AEF-904C-D8B3-48C0-B598A1DBA46A}"/>
              </a:ext>
            </a:extLst>
          </p:cNvPr>
          <p:cNvSpPr txBox="1"/>
          <p:nvPr/>
        </p:nvSpPr>
        <p:spPr>
          <a:xfrm>
            <a:off x="583709" y="1527858"/>
            <a:ext cx="10921526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kumimoji="1" lang="en-US" altLang="ko-KR" sz="2000" dirty="0"/>
              <a:t>Policy Gradient</a:t>
            </a:r>
          </a:p>
          <a:p>
            <a:pPr marL="285750" indent="-285750">
              <a:buFont typeface="Wingdings" pitchFamily="2" charset="2"/>
              <a:buChar char="q"/>
            </a:pPr>
            <a:endParaRPr kumimoji="1" lang="en-US" altLang="ko-KR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1" lang="ko-KR" altLang="en-US" sz="2000" dirty="0"/>
              <a:t>정책 학습을 위해 아래의 목적함수와 정책 경사도를 사용</a:t>
            </a:r>
            <a:endParaRPr kumimoji="1" lang="en-US" altLang="ko-KR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kumimoji="1" lang="en-US" altLang="ko-KR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kumimoji="1" lang="en-US" altLang="ko-KR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1" lang="ko-KR" altLang="en-US" sz="2000" dirty="0"/>
              <a:t>정책 업데이트 시 매우 크게 업데이트를 수행하여 성능 저하를 일으킬 수 있음</a:t>
            </a:r>
            <a:r>
              <a:rPr kumimoji="1" lang="en-US" altLang="ko-KR" sz="2000" dirty="0"/>
              <a:t>.</a:t>
            </a:r>
          </a:p>
          <a:p>
            <a:pPr marL="285750" indent="-285750">
              <a:buFont typeface="Wingdings" pitchFamily="2" charset="2"/>
              <a:buChar char="q"/>
            </a:pPr>
            <a:endParaRPr kumimoji="1" lang="en-US" altLang="ko-KR" sz="2000" dirty="0"/>
          </a:p>
          <a:p>
            <a:pPr marL="285750" indent="-285750">
              <a:buFont typeface="Wingdings" pitchFamily="2" charset="2"/>
              <a:buChar char="q"/>
            </a:pPr>
            <a:r>
              <a:rPr kumimoji="1" lang="en-US" altLang="ko-KR" sz="2000" dirty="0"/>
              <a:t>Trust Region Policy Optimization</a:t>
            </a:r>
          </a:p>
          <a:p>
            <a:pPr marL="285750" indent="-285750">
              <a:buFont typeface="Wingdings" pitchFamily="2" charset="2"/>
              <a:buChar char="q"/>
            </a:pPr>
            <a:endParaRPr kumimoji="1" lang="en-US" altLang="ko-KR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1" lang="ko-KR" altLang="en-US" sz="2000" dirty="0"/>
              <a:t>목적함수를 통해 정책 업데이트할 때 업데이트가 되는 크기에 제약 조건을 둠</a:t>
            </a:r>
            <a:endParaRPr kumimoji="1" lang="en-US" altLang="ko-KR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kumimoji="1" lang="en-US" altLang="ko-KR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kumimoji="1" lang="en-US" altLang="ko-KR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kumimoji="1" lang="en-US" altLang="ko-KR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kumimoji="1" lang="en-US" altLang="ko-KR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kumimoji="1" lang="en-US" altLang="ko-KR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1" lang="en-US" altLang="ko-KR" sz="2000" dirty="0"/>
              <a:t>Second-order optimization</a:t>
            </a:r>
            <a:r>
              <a:rPr kumimoji="1" lang="ko-KR" altLang="en-US" sz="2000" dirty="0" err="1"/>
              <a:t>으로</a:t>
            </a:r>
            <a:r>
              <a:rPr kumimoji="1" lang="ko-KR" altLang="en-US" sz="2000" dirty="0"/>
              <a:t> 최적화를 하기 때문에 복잡함</a:t>
            </a:r>
            <a:r>
              <a:rPr kumimoji="1" lang="en-US" altLang="ko-KR" sz="2000" dirty="0"/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7D65207-4E01-4EAD-E88B-9BDBD5B18C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511" y="2578745"/>
            <a:ext cx="3073400" cy="4953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3DE0434-AC3E-52BD-AA3E-F248688831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600010"/>
            <a:ext cx="2730500" cy="406400"/>
          </a:xfrm>
          <a:prstGeom prst="rect">
            <a:avLst/>
          </a:prstGeom>
        </p:spPr>
      </p:pic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455E16B9-B4D3-70B8-433E-37A9BAB15B4A}"/>
              </a:ext>
            </a:extLst>
          </p:cNvPr>
          <p:cNvCxnSpPr>
            <a:stCxn id="4" idx="3"/>
          </p:cNvCxnSpPr>
          <p:nvPr/>
        </p:nvCxnSpPr>
        <p:spPr>
          <a:xfrm>
            <a:off x="5087911" y="2826395"/>
            <a:ext cx="95656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6E6DBF98-E6DD-6E21-A7F6-7915CC2128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3222" y="4720542"/>
            <a:ext cx="47625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954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0B7886A-E2C2-47A8-A271-1FD08F52EED0}"/>
              </a:ext>
            </a:extLst>
          </p:cNvPr>
          <p:cNvCxnSpPr>
            <a:cxnSpLocks/>
          </p:cNvCxnSpPr>
          <p:nvPr/>
        </p:nvCxnSpPr>
        <p:spPr>
          <a:xfrm>
            <a:off x="152400" y="190500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0BF8F17-9E56-462D-B8ED-980C1047873B}"/>
              </a:ext>
            </a:extLst>
          </p:cNvPr>
          <p:cNvSpPr txBox="1"/>
          <p:nvPr/>
        </p:nvSpPr>
        <p:spPr>
          <a:xfrm>
            <a:off x="1676400" y="330200"/>
            <a:ext cx="739337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spc="-300" dirty="0">
                <a:solidFill>
                  <a:schemeClr val="accent4"/>
                </a:solidFill>
              </a:rPr>
              <a:t>Clipped Surrogate Objective</a:t>
            </a:r>
            <a:endParaRPr lang="ko-KR" altLang="en-US" sz="4400" spc="-300" dirty="0">
              <a:solidFill>
                <a:schemeClr val="accent4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4D8878-800F-4A94-9AEE-55D2DF32C42C}"/>
              </a:ext>
            </a:extLst>
          </p:cNvPr>
          <p:cNvSpPr txBox="1"/>
          <p:nvPr/>
        </p:nvSpPr>
        <p:spPr>
          <a:xfrm>
            <a:off x="583709" y="345588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4"/>
                </a:solidFill>
              </a:rPr>
              <a:t>Part 3</a:t>
            </a:r>
            <a:endParaRPr lang="ko-KR" altLang="en-US" dirty="0">
              <a:solidFill>
                <a:schemeClr val="accent4"/>
              </a:solidFill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7911BDFD-7E29-44F7-9ED7-E8F36B51436C}"/>
              </a:ext>
            </a:extLst>
          </p:cNvPr>
          <p:cNvCxnSpPr/>
          <p:nvPr/>
        </p:nvCxnSpPr>
        <p:spPr>
          <a:xfrm>
            <a:off x="1587500" y="190500"/>
            <a:ext cx="10604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D422AEF-904C-D8B3-48C0-B598A1DBA46A}"/>
                  </a:ext>
                </a:extLst>
              </p:cNvPr>
              <p:cNvSpPr txBox="1"/>
              <p:nvPr/>
            </p:nvSpPr>
            <p:spPr>
              <a:xfrm>
                <a:off x="583709" y="1527858"/>
                <a:ext cx="10921526" cy="36830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itchFamily="2" charset="2"/>
                  <a:buChar char="q"/>
                </a:pPr>
                <a:r>
                  <a:rPr kumimoji="1" lang="en-US" altLang="ko-KR" sz="2000" dirty="0"/>
                  <a:t>Clipping Probability Ratio</a:t>
                </a:r>
              </a:p>
              <a:p>
                <a:pPr marL="285750" indent="-285750">
                  <a:buFont typeface="Wingdings" pitchFamily="2" charset="2"/>
                  <a:buChar char="q"/>
                </a:pPr>
                <a:endParaRPr kumimoji="1" lang="en-US" altLang="ko-KR" sz="200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kumimoji="1" lang="en-US" altLang="ko-KR" sz="200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kumimoji="1" lang="en-US" altLang="ko-KR" sz="200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kumimoji="1" lang="en-US" altLang="ko-KR" sz="200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kumimoji="1" lang="en-US" altLang="ko-KR" sz="200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kumimoji="1" lang="en-US" altLang="ko-KR" sz="200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kumimoji="1" lang="ko-KR" altLang="en-US" sz="2000" dirty="0"/>
                  <a:t>정책 확률의 비율을 </a:t>
                </a:r>
                <a:r>
                  <a:rPr kumimoji="1" lang="ko-KR" altLang="en-US" sz="2000" dirty="0" err="1"/>
                  <a:t>클립핑하는</a:t>
                </a:r>
                <a:r>
                  <a:rPr kumimoji="1" lang="ko-KR" altLang="en-US" sz="2000" dirty="0"/>
                  <a:t> </a:t>
                </a:r>
                <a:r>
                  <a:rPr kumimoji="1" lang="en-US" altLang="ko-KR" sz="2000" dirty="0"/>
                  <a:t>Surrogate Objective </a:t>
                </a:r>
                <a:r>
                  <a:rPr kumimoji="1" lang="ko-KR" altLang="en-US" sz="2000" dirty="0"/>
                  <a:t>설계</a:t>
                </a:r>
                <a:r>
                  <a:rPr kumimoji="1" lang="en-US" altLang="ko-KR" sz="2000" baseline="-25000" dirty="0"/>
                  <a:t> 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kumimoji="1" lang="en-US" altLang="ko-KR" sz="2000" baseline="-2500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kumimoji="1"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ko-KR" altLang="en-US" sz="2000" dirty="0"/>
                  <a:t>가 </a:t>
                </a:r>
                <a14:m>
                  <m:oMath xmlns:m="http://schemas.openxmlformats.org/officeDocument/2006/math"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[1−</m:t>
                    </m:r>
                    <m:r>
                      <a:rPr kumimoji="1"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kumimoji="1"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,1+</m:t>
                    </m:r>
                    <m:r>
                      <a:rPr kumimoji="1"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kumimoji="1" lang="ko-KR" altLang="en-US" sz="2000" dirty="0" err="1"/>
                  <a:t>를</a:t>
                </a:r>
                <a:r>
                  <a:rPr kumimoji="1" lang="ko-KR" altLang="en-US" sz="2000" dirty="0"/>
                  <a:t> 벗어나는 움직임을 제거하는 것을 의미</a:t>
                </a:r>
                <a:endParaRPr kumimoji="1" lang="en-US" altLang="ko-KR" sz="200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kumimoji="1" lang="en-US" altLang="ko-KR" sz="200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kumimoji="1" lang="ko-KR" altLang="en-US" sz="2000" dirty="0"/>
                  <a:t>정책 업데이트 시 업데이트 크기에 대한 제한을 둠으로써 정책 성능에 하한이 형성됨</a:t>
                </a:r>
                <a:r>
                  <a:rPr kumimoji="1" lang="en-US" altLang="ko-KR" sz="2000" dirty="0"/>
                  <a:t>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D422AEF-904C-D8B3-48C0-B598A1DBA4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709" y="1527858"/>
                <a:ext cx="10921526" cy="3683060"/>
              </a:xfrm>
              <a:prstGeom prst="rect">
                <a:avLst/>
              </a:prstGeom>
              <a:blipFill>
                <a:blip r:embed="rId2"/>
                <a:stretch>
                  <a:fillRect l="-581" t="-1031" b="-2062"/>
                </a:stretch>
              </a:blipFill>
            </p:spPr>
            <p:txBody>
              <a:bodyPr/>
              <a:lstStyle/>
              <a:p>
                <a:r>
                  <a:rPr lang="ko-Kore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그림 7">
            <a:extLst>
              <a:ext uri="{FF2B5EF4-FFF2-40B4-BE49-F238E27FC236}">
                <a16:creationId xmlns:a16="http://schemas.microsoft.com/office/drawing/2014/main" id="{C80FC020-D22B-158F-9A26-A03F98CE4C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4350" y="2113148"/>
            <a:ext cx="6083300" cy="6477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5C0C566-7D65-347F-AABF-9F6B9228B7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6168" y="2835223"/>
            <a:ext cx="2143582" cy="647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15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0B7886A-E2C2-47A8-A271-1FD08F52EED0}"/>
              </a:ext>
            </a:extLst>
          </p:cNvPr>
          <p:cNvCxnSpPr>
            <a:cxnSpLocks/>
          </p:cNvCxnSpPr>
          <p:nvPr/>
        </p:nvCxnSpPr>
        <p:spPr>
          <a:xfrm>
            <a:off x="152400" y="190500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0BF8F17-9E56-462D-B8ED-980C1047873B}"/>
              </a:ext>
            </a:extLst>
          </p:cNvPr>
          <p:cNvSpPr txBox="1"/>
          <p:nvPr/>
        </p:nvSpPr>
        <p:spPr>
          <a:xfrm>
            <a:off x="1676400" y="330200"/>
            <a:ext cx="739337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spc="-300" dirty="0">
                <a:solidFill>
                  <a:schemeClr val="accent4"/>
                </a:solidFill>
              </a:rPr>
              <a:t>Clipped Surrogate Objective</a:t>
            </a:r>
            <a:endParaRPr lang="ko-KR" altLang="en-US" sz="4400" spc="-300" dirty="0">
              <a:solidFill>
                <a:schemeClr val="accent4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4D8878-800F-4A94-9AEE-55D2DF32C42C}"/>
              </a:ext>
            </a:extLst>
          </p:cNvPr>
          <p:cNvSpPr txBox="1"/>
          <p:nvPr/>
        </p:nvSpPr>
        <p:spPr>
          <a:xfrm>
            <a:off x="583709" y="345588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4"/>
                </a:solidFill>
              </a:rPr>
              <a:t>Part 3</a:t>
            </a:r>
            <a:endParaRPr lang="ko-KR" altLang="en-US" dirty="0">
              <a:solidFill>
                <a:schemeClr val="accent4"/>
              </a:solidFill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7911BDFD-7E29-44F7-9ED7-E8F36B51436C}"/>
              </a:ext>
            </a:extLst>
          </p:cNvPr>
          <p:cNvCxnSpPr/>
          <p:nvPr/>
        </p:nvCxnSpPr>
        <p:spPr>
          <a:xfrm>
            <a:off x="1587500" y="190500"/>
            <a:ext cx="10604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D422AEF-904C-D8B3-48C0-B598A1DBA46A}"/>
              </a:ext>
            </a:extLst>
          </p:cNvPr>
          <p:cNvSpPr txBox="1"/>
          <p:nvPr/>
        </p:nvSpPr>
        <p:spPr>
          <a:xfrm>
            <a:off x="583709" y="1527858"/>
            <a:ext cx="10921526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kumimoji="1" lang="en-US" altLang="ko-KR" sz="2000" dirty="0"/>
              <a:t>Advantage</a:t>
            </a:r>
            <a:r>
              <a:rPr kumimoji="1" lang="ko-KR" altLang="en-US" sz="2000" dirty="0"/>
              <a:t>에 따른 목적함수의 변화</a:t>
            </a:r>
            <a:endParaRPr kumimoji="1" lang="en-US" altLang="ko-KR" sz="2000" dirty="0"/>
          </a:p>
          <a:p>
            <a:pPr marL="285750" indent="-285750">
              <a:buFont typeface="Wingdings" pitchFamily="2" charset="2"/>
              <a:buChar char="q"/>
            </a:pPr>
            <a:endParaRPr kumimoji="1" lang="en-US" altLang="ko-KR" sz="2000" dirty="0"/>
          </a:p>
          <a:p>
            <a:pPr marL="285750" indent="-285750">
              <a:buFont typeface="Wingdings" pitchFamily="2" charset="2"/>
              <a:buChar char="q"/>
            </a:pPr>
            <a:endParaRPr kumimoji="1" lang="en-US" altLang="ko-KR" sz="2000" dirty="0"/>
          </a:p>
          <a:p>
            <a:pPr marL="285750" indent="-285750">
              <a:buFont typeface="Wingdings" pitchFamily="2" charset="2"/>
              <a:buChar char="q"/>
            </a:pPr>
            <a:endParaRPr kumimoji="1" lang="en-US" altLang="ko-KR" sz="2000" dirty="0"/>
          </a:p>
          <a:p>
            <a:pPr marL="285750" indent="-285750">
              <a:buFont typeface="Wingdings" pitchFamily="2" charset="2"/>
              <a:buChar char="q"/>
            </a:pPr>
            <a:endParaRPr kumimoji="1" lang="en-US" altLang="ko-KR" sz="2000" dirty="0"/>
          </a:p>
          <a:p>
            <a:pPr marL="285750" indent="-285750">
              <a:buFont typeface="Wingdings" pitchFamily="2" charset="2"/>
              <a:buChar char="q"/>
            </a:pPr>
            <a:endParaRPr kumimoji="1" lang="en-US" altLang="ko-KR" sz="2000" dirty="0"/>
          </a:p>
          <a:p>
            <a:pPr marL="285750" indent="-285750">
              <a:buFont typeface="Wingdings" pitchFamily="2" charset="2"/>
              <a:buChar char="q"/>
            </a:pPr>
            <a:endParaRPr kumimoji="1" lang="en-US" altLang="ko-KR" sz="2000" dirty="0"/>
          </a:p>
          <a:p>
            <a:pPr marL="285750" indent="-285750">
              <a:buFont typeface="Wingdings" pitchFamily="2" charset="2"/>
              <a:buChar char="q"/>
            </a:pPr>
            <a:endParaRPr kumimoji="1" lang="en-US" altLang="ko-KR" sz="2000" dirty="0"/>
          </a:p>
          <a:p>
            <a:pPr marL="285750" indent="-285750">
              <a:buFont typeface="Wingdings" pitchFamily="2" charset="2"/>
              <a:buChar char="q"/>
            </a:pPr>
            <a:endParaRPr kumimoji="1" lang="en-US" altLang="ko-KR" sz="2000" dirty="0"/>
          </a:p>
          <a:p>
            <a:pPr marL="285750" indent="-285750">
              <a:buFont typeface="Wingdings" pitchFamily="2" charset="2"/>
              <a:buChar char="q"/>
            </a:pPr>
            <a:endParaRPr kumimoji="1" lang="en-US" altLang="ko-KR" sz="2000" dirty="0"/>
          </a:p>
          <a:p>
            <a:pPr marL="285750" indent="-285750">
              <a:buFont typeface="Wingdings" pitchFamily="2" charset="2"/>
              <a:buChar char="q"/>
            </a:pPr>
            <a:endParaRPr kumimoji="1" lang="en-US" altLang="ko-KR" sz="2000" dirty="0"/>
          </a:p>
          <a:p>
            <a:pPr marL="285750" indent="-285750">
              <a:buFont typeface="Wingdings" pitchFamily="2" charset="2"/>
              <a:buChar char="q"/>
            </a:pPr>
            <a:endParaRPr kumimoji="1" lang="en-US" altLang="ko-KR" sz="2000" dirty="0"/>
          </a:p>
          <a:p>
            <a:pPr marL="285750" indent="-285750">
              <a:buFont typeface="Wingdings" pitchFamily="2" charset="2"/>
              <a:buChar char="q"/>
            </a:pPr>
            <a:endParaRPr kumimoji="1" lang="en-US" altLang="ko-KR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1" lang="en-US" altLang="ko-KR" sz="2000" dirty="0"/>
              <a:t>Advantage</a:t>
            </a:r>
            <a:r>
              <a:rPr kumimoji="1" lang="ko-KR" altLang="en-US" sz="2000" dirty="0"/>
              <a:t>가 양수여서 정책을 더욱 개선하고자 할 때는 작게 움직이고</a:t>
            </a:r>
            <a:r>
              <a:rPr kumimoji="1" lang="en-US" altLang="ko-KR" sz="2000" dirty="0"/>
              <a:t>, </a:t>
            </a:r>
            <a:r>
              <a:rPr kumimoji="1" lang="ko-KR" altLang="en-US" sz="2000" dirty="0"/>
              <a:t>음수여서 정책을 악화되는 방향이면 크게 움직여 업데이트가 되도록 함</a:t>
            </a:r>
            <a:r>
              <a:rPr kumimoji="1" lang="en-US" altLang="ko-KR" sz="2000" dirty="0"/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9770CD0-BC94-B077-589B-1252E226D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669" y="2009462"/>
            <a:ext cx="7596205" cy="3487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615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0B7886A-E2C2-47A8-A271-1FD08F52EED0}"/>
              </a:ext>
            </a:extLst>
          </p:cNvPr>
          <p:cNvCxnSpPr>
            <a:cxnSpLocks/>
          </p:cNvCxnSpPr>
          <p:nvPr/>
        </p:nvCxnSpPr>
        <p:spPr>
          <a:xfrm>
            <a:off x="152400" y="190500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0BF8F17-9E56-462D-B8ED-980C1047873B}"/>
              </a:ext>
            </a:extLst>
          </p:cNvPr>
          <p:cNvSpPr txBox="1"/>
          <p:nvPr/>
        </p:nvSpPr>
        <p:spPr>
          <a:xfrm>
            <a:off x="1676400" y="330200"/>
            <a:ext cx="739337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spc="-300" dirty="0">
                <a:solidFill>
                  <a:schemeClr val="accent4"/>
                </a:solidFill>
              </a:rPr>
              <a:t>Clipped Surrogate Objective</a:t>
            </a:r>
            <a:endParaRPr lang="ko-KR" altLang="en-US" sz="4400" spc="-300" dirty="0">
              <a:solidFill>
                <a:schemeClr val="accent4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4D8878-800F-4A94-9AEE-55D2DF32C42C}"/>
              </a:ext>
            </a:extLst>
          </p:cNvPr>
          <p:cNvSpPr txBox="1"/>
          <p:nvPr/>
        </p:nvSpPr>
        <p:spPr>
          <a:xfrm>
            <a:off x="583709" y="345588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4"/>
                </a:solidFill>
              </a:rPr>
              <a:t>Part 3</a:t>
            </a:r>
            <a:endParaRPr lang="ko-KR" altLang="en-US" dirty="0">
              <a:solidFill>
                <a:schemeClr val="accent4"/>
              </a:solidFill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7911BDFD-7E29-44F7-9ED7-E8F36B51436C}"/>
              </a:ext>
            </a:extLst>
          </p:cNvPr>
          <p:cNvCxnSpPr/>
          <p:nvPr/>
        </p:nvCxnSpPr>
        <p:spPr>
          <a:xfrm>
            <a:off x="1587500" y="190500"/>
            <a:ext cx="10604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D422AEF-904C-D8B3-48C0-B598A1DBA46A}"/>
              </a:ext>
            </a:extLst>
          </p:cNvPr>
          <p:cNvSpPr txBox="1"/>
          <p:nvPr/>
        </p:nvSpPr>
        <p:spPr>
          <a:xfrm>
            <a:off x="583709" y="1527858"/>
            <a:ext cx="1092152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kumimoji="1" lang="en-US" altLang="ko-KR" sz="2000" dirty="0"/>
              <a:t>Clipped Surrogate Objective</a:t>
            </a:r>
            <a:r>
              <a:rPr kumimoji="1" lang="ko-Kore-KR" altLang="en-US" sz="2000" dirty="0"/>
              <a:t>에 대한 직관</a:t>
            </a:r>
            <a:endParaRPr kumimoji="1" lang="en-US" altLang="ko-KR" sz="2000" dirty="0"/>
          </a:p>
          <a:p>
            <a:pPr marL="285750" indent="-285750">
              <a:buFont typeface="Wingdings" pitchFamily="2" charset="2"/>
              <a:buChar char="q"/>
            </a:pPr>
            <a:endParaRPr kumimoji="1" lang="en-US" altLang="ko-KR" sz="2000" dirty="0"/>
          </a:p>
          <a:p>
            <a:pPr marL="285750" indent="-285750">
              <a:buFont typeface="Wingdings" pitchFamily="2" charset="2"/>
              <a:buChar char="q"/>
            </a:pPr>
            <a:endParaRPr kumimoji="1" lang="en-US" altLang="ko-KR" sz="2000" dirty="0"/>
          </a:p>
          <a:p>
            <a:pPr marL="285750" indent="-285750">
              <a:buFont typeface="Wingdings" pitchFamily="2" charset="2"/>
              <a:buChar char="q"/>
            </a:pPr>
            <a:endParaRPr kumimoji="1" lang="en-US" altLang="ko-KR" sz="2000" dirty="0"/>
          </a:p>
          <a:p>
            <a:pPr marL="285750" indent="-285750">
              <a:buFont typeface="Wingdings" pitchFamily="2" charset="2"/>
              <a:buChar char="q"/>
            </a:pPr>
            <a:endParaRPr kumimoji="1" lang="en-US" altLang="ko-KR" sz="2000" dirty="0"/>
          </a:p>
          <a:p>
            <a:pPr marL="285750" indent="-285750">
              <a:buFont typeface="Wingdings" pitchFamily="2" charset="2"/>
              <a:buChar char="q"/>
            </a:pPr>
            <a:endParaRPr kumimoji="1" lang="en-US" altLang="ko-KR" sz="2000" dirty="0"/>
          </a:p>
          <a:p>
            <a:pPr marL="285750" indent="-285750">
              <a:buFont typeface="Wingdings" pitchFamily="2" charset="2"/>
              <a:buChar char="q"/>
            </a:pPr>
            <a:endParaRPr kumimoji="1" lang="en-US" altLang="ko-KR" sz="2000" dirty="0"/>
          </a:p>
          <a:p>
            <a:pPr marL="285750" indent="-285750">
              <a:buFont typeface="Wingdings" pitchFamily="2" charset="2"/>
              <a:buChar char="q"/>
            </a:pPr>
            <a:endParaRPr kumimoji="1" lang="en-US" altLang="ko-KR" sz="2000" dirty="0"/>
          </a:p>
          <a:p>
            <a:pPr marL="285750" indent="-285750">
              <a:buFont typeface="Wingdings" pitchFamily="2" charset="2"/>
              <a:buChar char="q"/>
            </a:pPr>
            <a:endParaRPr kumimoji="1" lang="en-US" altLang="ko-KR" sz="2000" dirty="0"/>
          </a:p>
          <a:p>
            <a:pPr marL="285750" indent="-285750">
              <a:buFont typeface="Wingdings" pitchFamily="2" charset="2"/>
              <a:buChar char="q"/>
            </a:pPr>
            <a:endParaRPr kumimoji="1" lang="en-US" altLang="ko-KR" sz="2000" dirty="0"/>
          </a:p>
          <a:p>
            <a:pPr marL="285750" indent="-285750">
              <a:buFont typeface="Wingdings" pitchFamily="2" charset="2"/>
              <a:buChar char="q"/>
            </a:pPr>
            <a:endParaRPr kumimoji="1" lang="en-US" altLang="ko-KR" sz="2000" dirty="0"/>
          </a:p>
          <a:p>
            <a:pPr marL="285750" indent="-285750">
              <a:buFont typeface="Wingdings" pitchFamily="2" charset="2"/>
              <a:buChar char="q"/>
            </a:pPr>
            <a:endParaRPr kumimoji="1" lang="en-US" altLang="ko-KR" sz="2000" dirty="0"/>
          </a:p>
          <a:p>
            <a:pPr marL="285750" indent="-285750">
              <a:buFont typeface="Wingdings" pitchFamily="2" charset="2"/>
              <a:buChar char="q"/>
            </a:pPr>
            <a:endParaRPr kumimoji="1" lang="en-US" altLang="ko-KR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1" lang="en-US" altLang="ko-KR" sz="2000" dirty="0"/>
              <a:t>Clipped Surrogate</a:t>
            </a:r>
            <a:r>
              <a:rPr kumimoji="1" lang="ko-KR" altLang="en-US" sz="2000" dirty="0"/>
              <a:t> </a:t>
            </a:r>
            <a:r>
              <a:rPr kumimoji="1" lang="en-US" altLang="ko-KR" sz="2000" dirty="0"/>
              <a:t>objective</a:t>
            </a:r>
            <a:r>
              <a:rPr kumimoji="1" lang="ko-KR" altLang="en-US" sz="2000" dirty="0"/>
              <a:t>는 그렇지 않은 함수의 값의 하한이 됨</a:t>
            </a:r>
            <a:endParaRPr kumimoji="1" lang="en-US" altLang="ko-KR" sz="20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A611051-1F1D-FF3E-4FC8-6F70858B7C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2104342"/>
            <a:ext cx="8699500" cy="322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62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0B7886A-E2C2-47A8-A271-1FD08F52EED0}"/>
              </a:ext>
            </a:extLst>
          </p:cNvPr>
          <p:cNvCxnSpPr>
            <a:cxnSpLocks/>
          </p:cNvCxnSpPr>
          <p:nvPr/>
        </p:nvCxnSpPr>
        <p:spPr>
          <a:xfrm>
            <a:off x="152400" y="190500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0BF8F17-9E56-462D-B8ED-980C1047873B}"/>
              </a:ext>
            </a:extLst>
          </p:cNvPr>
          <p:cNvSpPr txBox="1"/>
          <p:nvPr/>
        </p:nvSpPr>
        <p:spPr>
          <a:xfrm>
            <a:off x="1676400" y="330200"/>
            <a:ext cx="822052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spc="-300" dirty="0">
                <a:solidFill>
                  <a:schemeClr val="accent4"/>
                </a:solidFill>
              </a:rPr>
              <a:t>Adaptive KL Penalty Coefficient</a:t>
            </a:r>
            <a:endParaRPr lang="ko-KR" altLang="en-US" sz="4400" spc="-300" dirty="0">
              <a:solidFill>
                <a:schemeClr val="accent4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4D8878-800F-4A94-9AEE-55D2DF32C42C}"/>
              </a:ext>
            </a:extLst>
          </p:cNvPr>
          <p:cNvSpPr txBox="1"/>
          <p:nvPr/>
        </p:nvSpPr>
        <p:spPr>
          <a:xfrm>
            <a:off x="583709" y="345588"/>
            <a:ext cx="907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4"/>
                </a:solidFill>
              </a:rPr>
              <a:t>Part 4</a:t>
            </a:r>
            <a:endParaRPr lang="ko-KR" altLang="en-US" dirty="0">
              <a:solidFill>
                <a:schemeClr val="accent4"/>
              </a:solidFill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7911BDFD-7E29-44F7-9ED7-E8F36B51436C}"/>
              </a:ext>
            </a:extLst>
          </p:cNvPr>
          <p:cNvCxnSpPr/>
          <p:nvPr/>
        </p:nvCxnSpPr>
        <p:spPr>
          <a:xfrm>
            <a:off x="1587500" y="190500"/>
            <a:ext cx="10604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D422AEF-904C-D8B3-48C0-B598A1DBA46A}"/>
                  </a:ext>
                </a:extLst>
              </p:cNvPr>
              <p:cNvSpPr txBox="1"/>
              <p:nvPr/>
            </p:nvSpPr>
            <p:spPr>
              <a:xfrm>
                <a:off x="583709" y="1527858"/>
                <a:ext cx="10921526" cy="44261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itchFamily="2" charset="2"/>
                  <a:buChar char="q"/>
                </a:pPr>
                <a:r>
                  <a:rPr kumimoji="1" lang="ko-KR" altLang="en-US" sz="2000" dirty="0"/>
                  <a:t>조절 가능한 </a:t>
                </a:r>
                <a:r>
                  <a:rPr kumimoji="1" lang="en-US" altLang="ko-KR" sz="2000" dirty="0"/>
                  <a:t>KL Penalty</a:t>
                </a:r>
                <a:r>
                  <a:rPr kumimoji="1" lang="ko-KR" altLang="en-US" sz="2000" dirty="0"/>
                  <a:t>의 </a:t>
                </a:r>
                <a:r>
                  <a:rPr kumimoji="1" lang="ko-KR" altLang="en-US" sz="2000" dirty="0" err="1"/>
                  <a:t>계수항</a:t>
                </a:r>
                <a:endParaRPr kumimoji="1" lang="en-US" altLang="ko-KR" sz="2000" dirty="0"/>
              </a:p>
              <a:p>
                <a:pPr marL="285750" indent="-285750">
                  <a:buFont typeface="Wingdings" pitchFamily="2" charset="2"/>
                  <a:buChar char="q"/>
                </a:pPr>
                <a:endParaRPr kumimoji="1" lang="en-US" altLang="ko-KR" sz="200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kumimoji="1" lang="en-US" altLang="ko-KR" sz="200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kumimoji="1" lang="en-US" altLang="ko-KR" sz="200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kumimoji="1" lang="en-US" altLang="ko-KR" sz="200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kumimoji="1" lang="en-US" altLang="ko-KR" sz="200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kumimoji="1" lang="en-US" altLang="ko-KR" sz="200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kumimoji="1" lang="en-US" altLang="ko-KR" sz="200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kumimoji="1" lang="en-US" altLang="ko-KR" sz="200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kumimoji="1" lang="en-US" altLang="ko-KR" sz="200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kumimoji="1" lang="en-US" altLang="ko-KR" sz="2000" dirty="0"/>
                  <a:t>Clipped surrogate objective</a:t>
                </a:r>
                <a:r>
                  <a:rPr kumimoji="1" lang="ko-KR" altLang="en-US" sz="2000" dirty="0"/>
                  <a:t>보다는 성능이 좋지는 않지만 베이스라인으로 채택</a:t>
                </a:r>
                <a:endParaRPr kumimoji="1" lang="en-US" altLang="ko-KR" sz="200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kumimoji="1" lang="en-US" altLang="ko-KR" sz="200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kumimoji="1" lang="ko-KR" altLang="en-US" sz="2000" dirty="0"/>
                  <a:t>위의 식에서 </a:t>
                </a:r>
                <a:r>
                  <a:rPr kumimoji="1" lang="ko-KR" altLang="en-US" sz="2000" dirty="0" err="1"/>
                  <a:t>하이퍼파라미터</a:t>
                </a:r>
                <a:r>
                  <a:rPr kumimoji="1" lang="ko-KR" altLang="en-US" sz="2000" dirty="0"/>
                  <a:t> </a:t>
                </a:r>
                <a:r>
                  <a:rPr kumimoji="1" lang="en-US" altLang="ko-KR" sz="2000" dirty="0"/>
                  <a:t>1.5, 2</a:t>
                </a:r>
                <a:r>
                  <a:rPr kumimoji="1" lang="ko-KR" altLang="en-US" sz="2000" dirty="0"/>
                  <a:t>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𝑡𝑎𝑟𝑔</m:t>
                        </m:r>
                      </m:sub>
                    </m:sSub>
                  </m:oMath>
                </a14:m>
                <a:r>
                  <a:rPr kumimoji="1" lang="en-US" altLang="ko-KR" sz="2000" dirty="0"/>
                  <a:t> </a:t>
                </a:r>
                <a:r>
                  <a:rPr kumimoji="1" lang="ko-KR" altLang="en-US" sz="2000" dirty="0"/>
                  <a:t>는 </a:t>
                </a:r>
                <a:r>
                  <a:rPr kumimoji="1" lang="ko-KR" altLang="en-US" sz="2000" dirty="0" err="1"/>
                  <a:t>휴리스틱하게</a:t>
                </a:r>
                <a:r>
                  <a:rPr kumimoji="1" lang="ko-KR" altLang="en-US" sz="2000" dirty="0"/>
                  <a:t> 설정했지만 크게 알고리즘 성능에 민감하게 작용하진 않음</a:t>
                </a:r>
                <a:r>
                  <a:rPr kumimoji="1" lang="en-US" altLang="ko-KR" sz="2000" dirty="0"/>
                  <a:t>.</a:t>
                </a:r>
                <a:r>
                  <a:rPr kumimoji="1" lang="ko-KR" altLang="en-US" sz="2000" dirty="0"/>
                  <a:t> </a:t>
                </a:r>
                <a:endParaRPr kumimoji="1" lang="en-US" altLang="ko-KR" sz="2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D422AEF-904C-D8B3-48C0-B598A1DBA4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709" y="1527858"/>
                <a:ext cx="10921526" cy="4426148"/>
              </a:xfrm>
              <a:prstGeom prst="rect">
                <a:avLst/>
              </a:prstGeom>
              <a:blipFill>
                <a:blip r:embed="rId2"/>
                <a:stretch>
                  <a:fillRect l="-581" t="-1146" b="-1719"/>
                </a:stretch>
              </a:blipFill>
            </p:spPr>
            <p:txBody>
              <a:bodyPr/>
              <a:lstStyle/>
              <a:p>
                <a:r>
                  <a:rPr lang="ko-Kore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id="{4566EA5F-BD12-62C6-F0AE-159A7DD226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6533" y="2120342"/>
            <a:ext cx="6477000" cy="8890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889CBEE-416F-53B8-0B2F-A7EB7BAD19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6233" y="3101313"/>
            <a:ext cx="3657600" cy="111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491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0B7886A-E2C2-47A8-A271-1FD08F52EED0}"/>
              </a:ext>
            </a:extLst>
          </p:cNvPr>
          <p:cNvCxnSpPr>
            <a:cxnSpLocks/>
          </p:cNvCxnSpPr>
          <p:nvPr/>
        </p:nvCxnSpPr>
        <p:spPr>
          <a:xfrm>
            <a:off x="152400" y="190500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0BF8F17-9E56-462D-B8ED-980C1047873B}"/>
              </a:ext>
            </a:extLst>
          </p:cNvPr>
          <p:cNvSpPr txBox="1"/>
          <p:nvPr/>
        </p:nvSpPr>
        <p:spPr>
          <a:xfrm>
            <a:off x="1676400" y="330200"/>
            <a:ext cx="280076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spc="-300" dirty="0">
                <a:solidFill>
                  <a:schemeClr val="accent4"/>
                </a:solidFill>
              </a:rPr>
              <a:t>Algorithm</a:t>
            </a:r>
            <a:endParaRPr lang="ko-KR" altLang="en-US" sz="4400" spc="-300" dirty="0">
              <a:solidFill>
                <a:schemeClr val="accent4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4D8878-800F-4A94-9AEE-55D2DF32C42C}"/>
              </a:ext>
            </a:extLst>
          </p:cNvPr>
          <p:cNvSpPr txBox="1"/>
          <p:nvPr/>
        </p:nvSpPr>
        <p:spPr>
          <a:xfrm>
            <a:off x="583709" y="345588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4"/>
                </a:solidFill>
              </a:rPr>
              <a:t>Part 5</a:t>
            </a:r>
            <a:endParaRPr lang="ko-KR" altLang="en-US" dirty="0">
              <a:solidFill>
                <a:schemeClr val="accent4"/>
              </a:solidFill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7911BDFD-7E29-44F7-9ED7-E8F36B51436C}"/>
              </a:ext>
            </a:extLst>
          </p:cNvPr>
          <p:cNvCxnSpPr/>
          <p:nvPr/>
        </p:nvCxnSpPr>
        <p:spPr>
          <a:xfrm>
            <a:off x="1587500" y="190500"/>
            <a:ext cx="10604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D422AEF-904C-D8B3-48C0-B598A1DBA46A}"/>
                  </a:ext>
                </a:extLst>
              </p:cNvPr>
              <p:cNvSpPr txBox="1"/>
              <p:nvPr/>
            </p:nvSpPr>
            <p:spPr>
              <a:xfrm>
                <a:off x="583709" y="1527858"/>
                <a:ext cx="10921526" cy="29366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itchFamily="2" charset="2"/>
                  <a:buChar char="q"/>
                </a:pPr>
                <a:r>
                  <a:rPr kumimoji="1" lang="ko-KR" altLang="en-US" sz="2000" dirty="0"/>
                  <a:t>실제적인 </a:t>
                </a:r>
                <a:r>
                  <a:rPr kumimoji="1" lang="en-US" altLang="ko-KR" sz="2000" dirty="0"/>
                  <a:t>PPO </a:t>
                </a:r>
                <a:r>
                  <a:rPr kumimoji="1" lang="ko-KR" altLang="en-US" sz="2000" dirty="0"/>
                  <a:t>구현</a:t>
                </a:r>
                <a:endParaRPr kumimoji="1" lang="en-US" altLang="ko-KR" sz="2000" dirty="0"/>
              </a:p>
              <a:p>
                <a:pPr lvl="1"/>
                <a:endParaRPr kumimoji="1" lang="en-US" altLang="ko-KR" sz="200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kumimoji="1" lang="en-US" altLang="ko-KR" sz="2000" dirty="0"/>
                  <a:t>Actor-Critic </a:t>
                </a:r>
                <a:r>
                  <a:rPr kumimoji="1" lang="ko-KR" altLang="en-US" sz="2000" dirty="0"/>
                  <a:t>구조를 사용하고 </a:t>
                </a:r>
                <a:r>
                  <a:rPr kumimoji="1" lang="en-US" altLang="ko-KR" sz="2000" dirty="0"/>
                  <a:t>Policy</a:t>
                </a:r>
                <a:r>
                  <a:rPr kumimoji="1" lang="ko-KR" altLang="en-US" sz="2000" dirty="0"/>
                  <a:t>와 </a:t>
                </a:r>
                <a:r>
                  <a:rPr kumimoji="1" lang="en-US" altLang="ko-KR" sz="2000" dirty="0"/>
                  <a:t>Value </a:t>
                </a:r>
                <a:r>
                  <a:rPr kumimoji="1" lang="en-US" altLang="ko-KR" sz="2000" dirty="0" err="1"/>
                  <a:t>Func</a:t>
                </a:r>
                <a:r>
                  <a:rPr kumimoji="1" lang="en-US" altLang="ko-KR" sz="2000" dirty="0"/>
                  <a:t>.</a:t>
                </a:r>
                <a:r>
                  <a:rPr kumimoji="1" lang="ko-KR" altLang="en-US" sz="2000" dirty="0"/>
                  <a:t>의 파라미터를 공유하면</a:t>
                </a:r>
                <a:endParaRPr kumimoji="1" lang="en-US" altLang="ko-KR" sz="200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kumimoji="1" lang="en-US" altLang="ko-KR" sz="200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kumimoji="1" lang="en-US" altLang="ko-KR" sz="200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kumimoji="1" lang="en-US" altLang="ko-KR" sz="2000" dirty="0"/>
              </a:p>
              <a:p>
                <a:pPr marL="1257300" lvl="2" indent="-342900"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ko-KR" sz="2000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kumimoji="1" lang="en-US" altLang="ko-KR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ko-KR" altLang="en-US" sz="2000" dirty="0"/>
                  <a:t>는 계수</a:t>
                </a:r>
                <a:r>
                  <a:rPr kumimoji="1" lang="en-US" altLang="ko-KR" sz="2000" dirty="0"/>
                  <a:t>, </a:t>
                </a:r>
                <a14:m>
                  <m:oMath xmlns:m="http://schemas.openxmlformats.org/officeDocument/2006/math"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kumimoji="1" lang="ko-KR" altLang="en-US" sz="2000" dirty="0"/>
                  <a:t>는 엔트로피항</a:t>
                </a:r>
                <a:r>
                  <a:rPr kumimoji="1" lang="en-US" altLang="ko-KR" sz="2000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ko-KR" sz="20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𝑉𝐹</m:t>
                        </m:r>
                      </m:sup>
                    </m:sSubSup>
                    <m:r>
                      <a:rPr kumimoji="1" lang="en-US" altLang="ko-KR" sz="2000" b="0" i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( </m:t>
                        </m:r>
                        <m:sSub>
                          <m:sSubPr>
                            <m:ctrlP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kumimoji="1"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kumimoji="1"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− </m:t>
                        </m:r>
                        <m:sSubSup>
                          <m:sSubSupPr>
                            <m:ctrlP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kumimoji="1" lang="en-US" altLang="ko-KR" sz="2000" b="0" i="1" smtClean="0">
                                <a:latin typeface="Cambria Math" panose="02040503050406030204" pitchFamily="18" charset="0"/>
                              </a:rPr>
                              <m:t>𝑡𝑎𝑟</m:t>
                            </m:r>
                          </m:sup>
                        </m:sSubSup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kumimoji="1" lang="en-US" altLang="ko-KR" sz="200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kumimoji="1" lang="en-US" altLang="ko-KR" sz="200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kumimoji="1" lang="en-US" altLang="ko-KR" sz="2000" dirty="0"/>
                  <a:t>Generalized Advantage Estimation(GAE) </a:t>
                </a:r>
                <a:r>
                  <a:rPr kumimoji="1" lang="ko-KR" altLang="en-US" sz="2000" dirty="0"/>
                  <a:t>적용</a:t>
                </a:r>
                <a:endParaRPr kumimoji="1" lang="en-US" altLang="ko-KR" sz="2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D422AEF-904C-D8B3-48C0-B598A1DBA4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709" y="1527858"/>
                <a:ext cx="10921526" cy="2936638"/>
              </a:xfrm>
              <a:prstGeom prst="rect">
                <a:avLst/>
              </a:prstGeom>
              <a:blipFill>
                <a:blip r:embed="rId2"/>
                <a:stretch>
                  <a:fillRect l="-581" t="-1724" b="-431"/>
                </a:stretch>
              </a:blipFill>
            </p:spPr>
            <p:txBody>
              <a:bodyPr/>
              <a:lstStyle/>
              <a:p>
                <a:r>
                  <a:rPr lang="ko-Kore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그림 8">
            <a:extLst>
              <a:ext uri="{FF2B5EF4-FFF2-40B4-BE49-F238E27FC236}">
                <a16:creationId xmlns:a16="http://schemas.microsoft.com/office/drawing/2014/main" id="{BADF392B-40C7-F64E-C8C7-E2D8A93562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3295" y="4417606"/>
            <a:ext cx="4000500" cy="9271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5D9AA2E-EEF4-7F55-9AB6-C8F95FB96A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0772" y="2654219"/>
            <a:ext cx="5867400" cy="6096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E24C846-0BD5-74D6-A0C9-703D95CA19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1983" y="4464496"/>
            <a:ext cx="5972377" cy="1964854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943473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0B7886A-E2C2-47A8-A271-1FD08F52EED0}"/>
              </a:ext>
            </a:extLst>
          </p:cNvPr>
          <p:cNvCxnSpPr>
            <a:cxnSpLocks/>
          </p:cNvCxnSpPr>
          <p:nvPr/>
        </p:nvCxnSpPr>
        <p:spPr>
          <a:xfrm>
            <a:off x="152400" y="190500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0BF8F17-9E56-462D-B8ED-980C1047873B}"/>
              </a:ext>
            </a:extLst>
          </p:cNvPr>
          <p:cNvSpPr txBox="1"/>
          <p:nvPr/>
        </p:nvSpPr>
        <p:spPr>
          <a:xfrm>
            <a:off x="1676400" y="330200"/>
            <a:ext cx="346280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spc="-300" dirty="0">
                <a:solidFill>
                  <a:schemeClr val="accent4"/>
                </a:solidFill>
              </a:rPr>
              <a:t>Experiments</a:t>
            </a:r>
            <a:endParaRPr lang="ko-KR" altLang="en-US" sz="4400" spc="-300" dirty="0">
              <a:solidFill>
                <a:schemeClr val="accent4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4D8878-800F-4A94-9AEE-55D2DF32C42C}"/>
              </a:ext>
            </a:extLst>
          </p:cNvPr>
          <p:cNvSpPr txBox="1"/>
          <p:nvPr/>
        </p:nvSpPr>
        <p:spPr>
          <a:xfrm>
            <a:off x="583709" y="345588"/>
            <a:ext cx="894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4"/>
                </a:solidFill>
              </a:rPr>
              <a:t>Part 6</a:t>
            </a:r>
            <a:endParaRPr lang="ko-KR" altLang="en-US" dirty="0">
              <a:solidFill>
                <a:schemeClr val="accent4"/>
              </a:solidFill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7911BDFD-7E29-44F7-9ED7-E8F36B51436C}"/>
              </a:ext>
            </a:extLst>
          </p:cNvPr>
          <p:cNvCxnSpPr/>
          <p:nvPr/>
        </p:nvCxnSpPr>
        <p:spPr>
          <a:xfrm>
            <a:off x="1587500" y="190500"/>
            <a:ext cx="10604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D422AEF-904C-D8B3-48C0-B598A1DBA46A}"/>
              </a:ext>
            </a:extLst>
          </p:cNvPr>
          <p:cNvSpPr txBox="1"/>
          <p:nvPr/>
        </p:nvSpPr>
        <p:spPr>
          <a:xfrm>
            <a:off x="583709" y="1527858"/>
            <a:ext cx="1092152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kumimoji="1" lang="en-US" altLang="ko-KR" sz="2000" dirty="0"/>
              <a:t>Objective </a:t>
            </a:r>
            <a:r>
              <a:rPr kumimoji="1" lang="ko-KR" altLang="en-US" sz="2000" dirty="0"/>
              <a:t>간 비교</a:t>
            </a:r>
            <a:endParaRPr kumimoji="1" lang="en-US" altLang="ko-KR" sz="2000" dirty="0"/>
          </a:p>
          <a:p>
            <a:pPr lvl="1"/>
            <a:endParaRPr kumimoji="1" lang="en-US" altLang="ko-KR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kumimoji="1" lang="en-US" altLang="ko-KR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kumimoji="1" lang="en-US" altLang="ko-KR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kumimoji="1" lang="en-US" altLang="ko-KR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kumimoji="1" lang="en-US" altLang="ko-KR" sz="2000" dirty="0"/>
          </a:p>
          <a:p>
            <a:pPr lvl="1"/>
            <a:endParaRPr kumimoji="1" lang="en-US" altLang="ko-KR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1" lang="en-US" altLang="ko-KR" sz="2000" dirty="0"/>
              <a:t>7</a:t>
            </a:r>
            <a:r>
              <a:rPr kumimoji="1" lang="ko-KR" altLang="en-US" sz="2000" dirty="0"/>
              <a:t>개 </a:t>
            </a:r>
            <a:r>
              <a:rPr kumimoji="1" lang="ko-KR" altLang="en-US" sz="2000" dirty="0" err="1"/>
              <a:t>로보틱스</a:t>
            </a:r>
            <a:r>
              <a:rPr kumimoji="1" lang="ko-KR" altLang="en-US" sz="2000" dirty="0"/>
              <a:t> 시뮬레이션 태스크로 테스트</a:t>
            </a:r>
            <a:endParaRPr kumimoji="1" lang="en-US" altLang="ko-KR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kumimoji="1" lang="en-US" altLang="ko-KR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1" lang="ko-KR" altLang="en-US" sz="2000" dirty="0"/>
              <a:t>마지막 </a:t>
            </a:r>
            <a:r>
              <a:rPr kumimoji="1" lang="en-US" altLang="ko-KR" sz="2000" dirty="0"/>
              <a:t>100</a:t>
            </a:r>
            <a:r>
              <a:rPr kumimoji="1" lang="ko-KR" altLang="en-US" sz="2000" dirty="0"/>
              <a:t>개 에피소드의 평균 보상 점수를 정규화</a:t>
            </a:r>
            <a:endParaRPr kumimoji="1" lang="en-US" altLang="ko-KR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kumimoji="1" lang="en-US" altLang="ko-KR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kumimoji="1" lang="en-US" altLang="ko-KR" sz="2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9688647-4C92-4C1A-BA95-1AA7BE2C8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422" y="2052277"/>
            <a:ext cx="6792633" cy="94874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4A1832B-3FFD-4FE2-AF8F-56F0CDFC36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162" y="1834460"/>
            <a:ext cx="2745351" cy="159923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5945BDD-FAE6-D499-08F7-06DFD4376B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3332" y="3558477"/>
            <a:ext cx="4521010" cy="3109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314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0B7886A-E2C2-47A8-A271-1FD08F52EED0}"/>
              </a:ext>
            </a:extLst>
          </p:cNvPr>
          <p:cNvCxnSpPr>
            <a:cxnSpLocks/>
          </p:cNvCxnSpPr>
          <p:nvPr/>
        </p:nvCxnSpPr>
        <p:spPr>
          <a:xfrm>
            <a:off x="152400" y="190500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0BF8F17-9E56-462D-B8ED-980C1047873B}"/>
              </a:ext>
            </a:extLst>
          </p:cNvPr>
          <p:cNvSpPr txBox="1"/>
          <p:nvPr/>
        </p:nvSpPr>
        <p:spPr>
          <a:xfrm>
            <a:off x="1676400" y="330200"/>
            <a:ext cx="346280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spc="-300" dirty="0">
                <a:solidFill>
                  <a:schemeClr val="accent4"/>
                </a:solidFill>
              </a:rPr>
              <a:t>Experiments</a:t>
            </a:r>
            <a:endParaRPr lang="ko-KR" altLang="en-US" sz="4400" spc="-300" dirty="0">
              <a:solidFill>
                <a:schemeClr val="accent4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4D8878-800F-4A94-9AEE-55D2DF32C42C}"/>
              </a:ext>
            </a:extLst>
          </p:cNvPr>
          <p:cNvSpPr txBox="1"/>
          <p:nvPr/>
        </p:nvSpPr>
        <p:spPr>
          <a:xfrm>
            <a:off x="583709" y="345588"/>
            <a:ext cx="894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4"/>
                </a:solidFill>
              </a:rPr>
              <a:t>Part 6</a:t>
            </a:r>
            <a:endParaRPr lang="ko-KR" altLang="en-US" dirty="0">
              <a:solidFill>
                <a:schemeClr val="accent4"/>
              </a:solidFill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7911BDFD-7E29-44F7-9ED7-E8F36B51436C}"/>
              </a:ext>
            </a:extLst>
          </p:cNvPr>
          <p:cNvCxnSpPr/>
          <p:nvPr/>
        </p:nvCxnSpPr>
        <p:spPr>
          <a:xfrm>
            <a:off x="1587500" y="190500"/>
            <a:ext cx="10604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D422AEF-904C-D8B3-48C0-B598A1DBA46A}"/>
              </a:ext>
            </a:extLst>
          </p:cNvPr>
          <p:cNvSpPr txBox="1"/>
          <p:nvPr/>
        </p:nvSpPr>
        <p:spPr>
          <a:xfrm>
            <a:off x="583709" y="1527858"/>
            <a:ext cx="1092152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kumimoji="1" lang="ko-KR" altLang="en-US" sz="2000" dirty="0"/>
              <a:t>연속 도메인에서 다른 알고리즘과 비교</a:t>
            </a:r>
            <a:endParaRPr kumimoji="1" lang="en-US" altLang="ko-KR" sz="2000" dirty="0"/>
          </a:p>
          <a:p>
            <a:pPr lvl="1"/>
            <a:endParaRPr kumimoji="1" lang="en-US" altLang="ko-KR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kumimoji="1" lang="en-US" altLang="ko-KR" sz="20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4FF79C1-7616-2FCF-7E33-3DC451BE53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687" y="2035689"/>
            <a:ext cx="11169570" cy="4609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649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0B7886A-E2C2-47A8-A271-1FD08F52EED0}"/>
              </a:ext>
            </a:extLst>
          </p:cNvPr>
          <p:cNvCxnSpPr>
            <a:cxnSpLocks/>
          </p:cNvCxnSpPr>
          <p:nvPr/>
        </p:nvCxnSpPr>
        <p:spPr>
          <a:xfrm>
            <a:off x="152400" y="190500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0BF8F17-9E56-462D-B8ED-980C1047873B}"/>
              </a:ext>
            </a:extLst>
          </p:cNvPr>
          <p:cNvSpPr txBox="1"/>
          <p:nvPr/>
        </p:nvSpPr>
        <p:spPr>
          <a:xfrm>
            <a:off x="1676400" y="330200"/>
            <a:ext cx="346280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spc="-300" dirty="0">
                <a:solidFill>
                  <a:schemeClr val="accent4"/>
                </a:solidFill>
              </a:rPr>
              <a:t>Experiments</a:t>
            </a:r>
            <a:endParaRPr lang="ko-KR" altLang="en-US" sz="4400" spc="-300" dirty="0">
              <a:solidFill>
                <a:schemeClr val="accent4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4D8878-800F-4A94-9AEE-55D2DF32C42C}"/>
              </a:ext>
            </a:extLst>
          </p:cNvPr>
          <p:cNvSpPr txBox="1"/>
          <p:nvPr/>
        </p:nvSpPr>
        <p:spPr>
          <a:xfrm>
            <a:off x="583709" y="345588"/>
            <a:ext cx="894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4"/>
                </a:solidFill>
              </a:rPr>
              <a:t>Part 6</a:t>
            </a:r>
            <a:endParaRPr lang="ko-KR" altLang="en-US" dirty="0">
              <a:solidFill>
                <a:schemeClr val="accent4"/>
              </a:solidFill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7911BDFD-7E29-44F7-9ED7-E8F36B51436C}"/>
              </a:ext>
            </a:extLst>
          </p:cNvPr>
          <p:cNvCxnSpPr/>
          <p:nvPr/>
        </p:nvCxnSpPr>
        <p:spPr>
          <a:xfrm>
            <a:off x="1587500" y="190500"/>
            <a:ext cx="10604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D422AEF-904C-D8B3-48C0-B598A1DBA46A}"/>
              </a:ext>
            </a:extLst>
          </p:cNvPr>
          <p:cNvSpPr txBox="1"/>
          <p:nvPr/>
        </p:nvSpPr>
        <p:spPr>
          <a:xfrm>
            <a:off x="583709" y="1527858"/>
            <a:ext cx="10921526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kumimoji="1" lang="en-US" altLang="ko-KR" sz="2000" dirty="0"/>
              <a:t>Atari </a:t>
            </a:r>
            <a:r>
              <a:rPr kumimoji="1" lang="ko-KR" altLang="en-US" sz="2000" dirty="0"/>
              <a:t>도메인에서 다른 알고리즘과 비교</a:t>
            </a:r>
            <a:endParaRPr kumimoji="1" lang="en-US" altLang="ko-KR" sz="2000" dirty="0"/>
          </a:p>
          <a:p>
            <a:pPr marL="285750" indent="-285750">
              <a:buFont typeface="Wingdings" pitchFamily="2" charset="2"/>
              <a:buChar char="q"/>
            </a:pPr>
            <a:endParaRPr kumimoji="1" lang="en-US" altLang="ko-KR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1" lang="en-US" altLang="ko-KR" sz="2000" dirty="0"/>
              <a:t>49</a:t>
            </a:r>
            <a:r>
              <a:rPr kumimoji="1" lang="ko-KR" altLang="en-US" sz="2000" dirty="0"/>
              <a:t>개의 </a:t>
            </a:r>
            <a:r>
              <a:rPr kumimoji="1" lang="en-US" altLang="ko-KR" sz="2000" dirty="0"/>
              <a:t>Atari game</a:t>
            </a:r>
            <a:r>
              <a:rPr kumimoji="1" lang="ko-KR" altLang="en-US" sz="2000" dirty="0"/>
              <a:t>을 세개의 알고리즘으로 테스트한 후 각 알고리즘마다 가장 높은 점수를 얻은 게임의 수</a:t>
            </a:r>
            <a:endParaRPr kumimoji="1" lang="en-US" altLang="ko-KR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kumimoji="1" lang="en-US" altLang="ko-KR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kumimoji="1" lang="en-US" altLang="ko-KR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kumimoji="1" lang="en-US" altLang="ko-KR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kumimoji="1" lang="en-US" altLang="ko-KR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kumimoji="1" lang="en-US" altLang="ko-KR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kumimoji="1" lang="en-US" altLang="ko-KR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kumimoji="1" lang="en-US" altLang="ko-KR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1" lang="ko-KR" altLang="en-US" sz="2000" dirty="0"/>
              <a:t>점수 지표를 </a:t>
            </a:r>
            <a:r>
              <a:rPr kumimoji="1" lang="en-US" altLang="ko-KR" sz="2000" dirty="0"/>
              <a:t>2</a:t>
            </a:r>
            <a:r>
              <a:rPr kumimoji="1" lang="ko-KR" altLang="en-US" sz="2000" dirty="0"/>
              <a:t>가지로 나눠서 평가함</a:t>
            </a:r>
            <a:r>
              <a:rPr kumimoji="1" lang="en-US" altLang="ko-KR" sz="2000" dirty="0"/>
              <a:t>. (1)</a:t>
            </a:r>
            <a:r>
              <a:rPr kumimoji="1" lang="ko-KR" altLang="en-US" sz="2000" dirty="0"/>
              <a:t>번은 얼마나 빠르게 학습되는지</a:t>
            </a:r>
            <a:r>
              <a:rPr kumimoji="1" lang="en-US" altLang="ko-KR" sz="2000" dirty="0"/>
              <a:t>, (2)</a:t>
            </a:r>
            <a:r>
              <a:rPr kumimoji="1" lang="ko-KR" altLang="en-US" sz="2000" dirty="0"/>
              <a:t>번은 최종 성능이 얼마나 되는 지를 보기 위함</a:t>
            </a:r>
            <a:r>
              <a:rPr kumimoji="1" lang="en-US" altLang="ko-KR" sz="2000" dirty="0"/>
              <a:t>. </a:t>
            </a:r>
          </a:p>
          <a:p>
            <a:pPr lvl="1"/>
            <a:endParaRPr kumimoji="1" lang="en-US" altLang="ko-KR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kumimoji="1" lang="en-US" altLang="ko-KR" sz="2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5EF7FE2-E37F-C322-2593-95F4FA1261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2858510"/>
            <a:ext cx="11163300" cy="173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626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B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24AC5BE-AE8A-47DA-849C-86BF19ABB20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6706" y="3032567"/>
            <a:ext cx="3358587" cy="382543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4049933-013A-4DA4-B40F-DB900F3E4904}"/>
              </a:ext>
            </a:extLst>
          </p:cNvPr>
          <p:cNvSpPr txBox="1"/>
          <p:nvPr/>
        </p:nvSpPr>
        <p:spPr>
          <a:xfrm>
            <a:off x="4974537" y="2875002"/>
            <a:ext cx="224292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6600" dirty="0">
                <a:solidFill>
                  <a:srgbClr val="3A3838"/>
                </a:solidFill>
                <a:latin typeface="Montserrat Black"/>
              </a:rPr>
              <a:t>Q&amp;A</a:t>
            </a:r>
            <a:endParaRPr kumimoji="0" lang="ko-KR" altLang="en-US" sz="6600" b="0" i="0" u="none" strike="noStrike" kern="1200" cap="none" spc="0" normalizeH="0" baseline="0" noProof="0" dirty="0">
              <a:ln>
                <a:noFill/>
              </a:ln>
              <a:solidFill>
                <a:srgbClr val="3A3838"/>
              </a:solidFill>
              <a:effectLst/>
              <a:uLnTx/>
              <a:uFillTx/>
              <a:latin typeface="Montserrat Black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2543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테마">
  <a:themeElements>
    <a:clrScheme name="111 고르곤졸라">
      <a:dk1>
        <a:srgbClr val="3A3838"/>
      </a:dk1>
      <a:lt1>
        <a:srgbClr val="FFFFFF"/>
      </a:lt1>
      <a:dk2>
        <a:srgbClr val="5D5B5B"/>
      </a:dk2>
      <a:lt2>
        <a:srgbClr val="F2F2F2"/>
      </a:lt2>
      <a:accent1>
        <a:srgbClr val="5F5F5D"/>
      </a:accent1>
      <a:accent2>
        <a:srgbClr val="7C7C7A"/>
      </a:accent2>
      <a:accent3>
        <a:srgbClr val="BEB7B1"/>
      </a:accent3>
      <a:accent4>
        <a:srgbClr val="3D3A35"/>
      </a:accent4>
      <a:accent5>
        <a:srgbClr val="D1C6AE"/>
      </a:accent5>
      <a:accent6>
        <a:srgbClr val="DFD8C7"/>
      </a:accent6>
      <a:hlink>
        <a:srgbClr val="757070"/>
      </a:hlink>
      <a:folHlink>
        <a:srgbClr val="757070"/>
      </a:folHlink>
    </a:clrScheme>
    <a:fontScheme name="Pretendard ExtraBold">
      <a:majorFont>
        <a:latin typeface="Montserrat Black"/>
        <a:ea typeface="Pretendard ExtraBold"/>
        <a:cs typeface=""/>
      </a:majorFont>
      <a:minorFont>
        <a:latin typeface="Montserrat SemiBold"/>
        <a:ea typeface="Pretendar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757</TotalTime>
  <Words>387</Words>
  <Application>Microsoft Macintosh PowerPoint</Application>
  <PresentationFormat>와이드스크린</PresentationFormat>
  <Paragraphs>138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8" baseType="lpstr">
      <vt:lpstr>Arial</vt:lpstr>
      <vt:lpstr>Cambria Math</vt:lpstr>
      <vt:lpstr>Montserrat Black</vt:lpstr>
      <vt:lpstr>Montserrat SemiBold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 Saebyeol</dc:creator>
  <cp:lastModifiedBy>김 현성</cp:lastModifiedBy>
  <cp:revision>43</cp:revision>
  <dcterms:created xsi:type="dcterms:W3CDTF">2021-10-22T06:13:27Z</dcterms:created>
  <dcterms:modified xsi:type="dcterms:W3CDTF">2023-03-05T01:06:35Z</dcterms:modified>
</cp:coreProperties>
</file>