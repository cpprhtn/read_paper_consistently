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7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E450148-768D-DA4F-9826-90925A76BE9E}">
          <p14:sldIdLst>
            <p14:sldId id="256"/>
            <p14:sldId id="257"/>
            <p14:sldId id="259"/>
            <p14:sldId id="276"/>
          </p14:sldIdLst>
        </p14:section>
        <p14:section name="Untitled Section" id="{27E39967-8CDB-F245-B90F-A42BBB5A64F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81"/>
    <p:restoredTop sz="95788"/>
  </p:normalViewPr>
  <p:slideViewPr>
    <p:cSldViewPr snapToGrid="0" snapToObjects="1">
      <p:cViewPr varScale="1">
        <p:scale>
          <a:sx n="63" d="100"/>
          <a:sy n="63" d="100"/>
        </p:scale>
        <p:origin x="184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CB9D-130E-3E6D-7F04-9DA9D3633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367672"/>
            <a:ext cx="10993549" cy="1475013"/>
          </a:xfrm>
        </p:spPr>
        <p:txBody>
          <a:bodyPr/>
          <a:lstStyle/>
          <a:p>
            <a:r>
              <a:rPr lang="en-KR" dirty="0"/>
              <a:t>Graph – BERt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6574D9-2C71-1904-8D6D-F9BB495EAA1D}"/>
              </a:ext>
            </a:extLst>
          </p:cNvPr>
          <p:cNvSpPr/>
          <p:nvPr/>
        </p:nvSpPr>
        <p:spPr>
          <a:xfrm>
            <a:off x="581191" y="3244333"/>
            <a:ext cx="109008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KR" sz="3200" dirty="0">
                <a:solidFill>
                  <a:schemeClr val="bg1"/>
                </a:solidFill>
              </a:rPr>
              <a:t>O</a:t>
            </a:r>
            <a:r>
              <a:rPr lang="en-US" sz="3200" dirty="0">
                <a:solidFill>
                  <a:schemeClr val="bg1"/>
                </a:solidFill>
              </a:rPr>
              <a:t>n</a:t>
            </a:r>
            <a:r>
              <a:rPr lang="en-KR" sz="3200" dirty="0">
                <a:solidFill>
                  <a:schemeClr val="bg1"/>
                </a:solidFill>
              </a:rPr>
              <a:t>ly attention is needed for Learning Graph Representations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AD17C-7341-B922-6649-6CAD01137A36}"/>
              </a:ext>
            </a:extLst>
          </p:cNvPr>
          <p:cNvSpPr txBox="1"/>
          <p:nvPr/>
        </p:nvSpPr>
        <p:spPr>
          <a:xfrm>
            <a:off x="2361402" y="4440248"/>
            <a:ext cx="73770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 dirty="0">
              <a:solidFill>
                <a:schemeClr val="bg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자연어처리팀 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김재민</a:t>
            </a:r>
            <a:r>
              <a:rPr lang="en-US" altLang="ko-KR" sz="2400" dirty="0">
                <a:solidFill>
                  <a:schemeClr val="bg1"/>
                </a:solidFill>
              </a:rPr>
              <a:t>,</a:t>
            </a:r>
            <a:r>
              <a:rPr lang="ko-KR" altLang="en-US" sz="2400" dirty="0">
                <a:solidFill>
                  <a:schemeClr val="bg1"/>
                </a:solidFill>
              </a:rPr>
              <a:t> 백지윤</a:t>
            </a:r>
            <a:r>
              <a:rPr lang="en-US" altLang="ko-KR" sz="2400" dirty="0">
                <a:solidFill>
                  <a:schemeClr val="bg1"/>
                </a:solidFill>
              </a:rPr>
              <a:t>,</a:t>
            </a:r>
            <a:r>
              <a:rPr lang="ko-KR" altLang="en-US" sz="2400" dirty="0">
                <a:solidFill>
                  <a:schemeClr val="bg1"/>
                </a:solidFill>
              </a:rPr>
              <a:t> 이기성</a:t>
            </a:r>
            <a:r>
              <a:rPr lang="en-US" altLang="ko-KR" sz="2400" dirty="0">
                <a:solidFill>
                  <a:schemeClr val="bg1"/>
                </a:solidFill>
              </a:rPr>
              <a:t>,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</a:rPr>
              <a:t>주정헌</a:t>
            </a:r>
            <a:r>
              <a:rPr lang="en-US" altLang="ko-KR" sz="2400" dirty="0">
                <a:solidFill>
                  <a:schemeClr val="bg1"/>
                </a:solidFill>
              </a:rPr>
              <a:t>,</a:t>
            </a:r>
            <a:r>
              <a:rPr lang="ko-KR" altLang="en-US" sz="2400" dirty="0">
                <a:solidFill>
                  <a:schemeClr val="bg1"/>
                </a:solidFill>
              </a:rPr>
              <a:t> 최상우</a:t>
            </a:r>
            <a:r>
              <a:rPr lang="en-US" altLang="ko-KR" sz="2400" dirty="0">
                <a:solidFill>
                  <a:schemeClr val="bg1"/>
                </a:solidFill>
              </a:rPr>
              <a:t>,</a:t>
            </a:r>
            <a:r>
              <a:rPr lang="ko-KR" altLang="en-US" sz="2400" dirty="0">
                <a:solidFill>
                  <a:schemeClr val="bg1"/>
                </a:solidFill>
              </a:rPr>
              <a:t> 최재규</a:t>
            </a:r>
            <a:r>
              <a:rPr lang="en-US" altLang="ko-KR" sz="2400" dirty="0">
                <a:solidFill>
                  <a:schemeClr val="bg1"/>
                </a:solidFill>
              </a:rPr>
              <a:t>,</a:t>
            </a:r>
            <a:r>
              <a:rPr lang="ko-KR" altLang="en-US" sz="2400" dirty="0">
                <a:solidFill>
                  <a:schemeClr val="bg1"/>
                </a:solidFill>
              </a:rPr>
              <a:t> 김지연</a:t>
            </a:r>
            <a:endParaRPr lang="en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9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5005-68D0-9869-DD1F-38E0A853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4ECFD-AD9F-CA9A-AD75-F7D1BCE41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24476"/>
          </a:xfrm>
        </p:spPr>
        <p:txBody>
          <a:bodyPr/>
          <a:lstStyle/>
          <a:p>
            <a:r>
              <a:rPr lang="en-KR" dirty="0"/>
              <a:t>Graph </a:t>
            </a:r>
            <a:r>
              <a:rPr lang="en-US" altLang="ko-KR" dirty="0"/>
              <a:t>:</a:t>
            </a:r>
            <a:r>
              <a:rPr lang="ko-KR" altLang="en-US" dirty="0"/>
              <a:t> 현실에서 다양한 정보를 가진 노드들과 그의 연결을 모델링 할 수 있는  가진 데이터</a:t>
            </a:r>
            <a:endParaRPr lang="en-US" altLang="ko-KR" dirty="0"/>
          </a:p>
          <a:p>
            <a:pPr lvl="1"/>
            <a:r>
              <a:rPr lang="ko-KR" altLang="en-US" dirty="0"/>
              <a:t>사람의 신경을 이미지화 한 데이터</a:t>
            </a:r>
            <a:r>
              <a:rPr lang="en-US" altLang="ko-KR" dirty="0"/>
              <a:t>,</a:t>
            </a:r>
            <a:r>
              <a:rPr lang="ko-KR" altLang="en-US" dirty="0"/>
              <a:t> 온라인 소셜 미디어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생물학적 분자</a:t>
            </a:r>
            <a:endParaRPr lang="en-US" altLang="ko-KR" dirty="0"/>
          </a:p>
          <a:p>
            <a:r>
              <a:rPr lang="ko-KR" altLang="en-US" dirty="0"/>
              <a:t>전통적인 머신러닝 기법을 적용하기 어려움</a:t>
            </a:r>
            <a:endParaRPr lang="en-US" altLang="ko-KR" dirty="0"/>
          </a:p>
          <a:p>
            <a:r>
              <a:rPr lang="en-US" altLang="ko-KR" dirty="0"/>
              <a:t>Graph Neural Network </a:t>
            </a:r>
            <a:r>
              <a:rPr lang="ko-KR" altLang="en-US" dirty="0"/>
              <a:t>모델의 발전 </a:t>
            </a:r>
            <a:r>
              <a:rPr lang="en-US" altLang="ko-KR" dirty="0"/>
              <a:t>(node2vec, </a:t>
            </a:r>
            <a:r>
              <a:rPr lang="en-US" altLang="ko-KR" dirty="0" err="1"/>
              <a:t>deepwalk</a:t>
            </a:r>
            <a:r>
              <a:rPr lang="en-US" altLang="ko-KR" dirty="0"/>
              <a:t>, GCN etc.)</a:t>
            </a:r>
          </a:p>
          <a:p>
            <a:r>
              <a:rPr lang="ko-KR" altLang="en-US" dirty="0"/>
              <a:t>노드와 노드를 연결하는 연결성에 의존한 모델</a:t>
            </a:r>
            <a:endParaRPr lang="en-US" altLang="ko-KR" dirty="0"/>
          </a:p>
          <a:p>
            <a:pPr lvl="1"/>
            <a:r>
              <a:rPr lang="en-US" altLang="ko-KR" dirty="0"/>
              <a:t>Suspended animation problem : </a:t>
            </a:r>
            <a:r>
              <a:rPr lang="ko-KR" altLang="en-US" dirty="0"/>
              <a:t>모델이 깊어지고 특정 제한에 다다를수록</a:t>
            </a:r>
            <a:r>
              <a:rPr lang="en-US" altLang="ko-KR" dirty="0"/>
              <a:t>,</a:t>
            </a:r>
            <a:r>
              <a:rPr lang="ko-KR" altLang="en-US" dirty="0"/>
              <a:t> 더이상 학습 데이터에 </a:t>
            </a:r>
            <a:r>
              <a:rPr lang="ko-KR" altLang="en-US" dirty="0" err="1"/>
              <a:t>반응하지않음</a:t>
            </a:r>
            <a:endParaRPr lang="en-US" altLang="ko-KR" dirty="0"/>
          </a:p>
          <a:p>
            <a:pPr lvl="1"/>
            <a:r>
              <a:rPr lang="en-US" altLang="ko-KR" dirty="0"/>
              <a:t>Over-smoothing problem: </a:t>
            </a:r>
            <a:r>
              <a:rPr lang="ko-KR" altLang="en-US" dirty="0"/>
              <a:t>모델이 깊어질수록 각 </a:t>
            </a:r>
            <a:r>
              <a:rPr lang="en-US" altLang="ko-KR" dirty="0"/>
              <a:t>node </a:t>
            </a:r>
            <a:r>
              <a:rPr lang="ko-KR" altLang="en-US" dirty="0"/>
              <a:t>들이 </a:t>
            </a:r>
            <a:r>
              <a:rPr lang="ko-KR" altLang="en-US" dirty="0" err="1"/>
              <a:t>평활화됨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다른 노드와의 차이가 크게 없어져</a:t>
            </a:r>
            <a:r>
              <a:rPr lang="en-US" altLang="ko-KR" dirty="0"/>
              <a:t>,</a:t>
            </a:r>
            <a:r>
              <a:rPr lang="ko-KR" altLang="en-US" dirty="0"/>
              <a:t> 구분불가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그래프가 커질수록</a:t>
            </a:r>
            <a:r>
              <a:rPr lang="en-US" altLang="ko-KR" dirty="0"/>
              <a:t>, </a:t>
            </a:r>
            <a:r>
              <a:rPr lang="ko-KR" altLang="en-US" dirty="0"/>
              <a:t>그래프의</a:t>
            </a:r>
            <a:r>
              <a:rPr lang="en-US" altLang="ko-KR" dirty="0"/>
              <a:t> </a:t>
            </a:r>
            <a:r>
              <a:rPr lang="en-US" altLang="ko-KR" dirty="0" err="1"/>
              <a:t>paralization</a:t>
            </a:r>
            <a:r>
              <a:rPr lang="en-US" altLang="ko-KR" dirty="0"/>
              <a:t>(</a:t>
            </a:r>
            <a:r>
              <a:rPr lang="ko-KR" altLang="en-US" dirty="0"/>
              <a:t>병렬학습</a:t>
            </a:r>
            <a:r>
              <a:rPr lang="en-US" altLang="ko-KR" dirty="0"/>
              <a:t>)</a:t>
            </a:r>
            <a:r>
              <a:rPr lang="ko-KR" altLang="en-US" dirty="0"/>
              <a:t>이 방해되어</a:t>
            </a:r>
            <a:r>
              <a:rPr lang="en-US" altLang="ko-KR" dirty="0"/>
              <a:t>,</a:t>
            </a:r>
            <a:r>
              <a:rPr lang="ko-KR" altLang="en-US" dirty="0"/>
              <a:t> 배치로 학습이 불가</a:t>
            </a:r>
            <a:endParaRPr lang="en-US" altLang="ko-KR" dirty="0"/>
          </a:p>
          <a:p>
            <a:r>
              <a:rPr lang="en-US" altLang="ko-KR" dirty="0"/>
              <a:t>Graph – BERT : </a:t>
            </a:r>
            <a:r>
              <a:rPr lang="ko-KR" altLang="en-US" dirty="0"/>
              <a:t>그래프를 연결이 아닌 각 노드들의 </a:t>
            </a:r>
            <a:r>
              <a:rPr lang="ko-KR" altLang="en-US" dirty="0" err="1"/>
              <a:t>특성를</a:t>
            </a:r>
            <a:r>
              <a:rPr lang="ko-KR" altLang="en-US" dirty="0"/>
              <a:t> </a:t>
            </a:r>
            <a:r>
              <a:rPr lang="ko-KR" altLang="en-US" dirty="0" err="1"/>
              <a:t>입력값으로</a:t>
            </a:r>
            <a:r>
              <a:rPr lang="ko-KR" altLang="en-US" dirty="0"/>
              <a:t> 학습 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attention mechanism </a:t>
            </a:r>
            <a:r>
              <a:rPr lang="ko-KR" altLang="en-US" dirty="0"/>
              <a:t>을 이용하여 학습</a:t>
            </a:r>
            <a:r>
              <a:rPr lang="en-US" altLang="ko-KR" dirty="0"/>
              <a:t>,</a:t>
            </a:r>
            <a:r>
              <a:rPr lang="ko-KR" altLang="en-US" dirty="0"/>
              <a:t> 위에 문제점 해결 </a:t>
            </a:r>
            <a:endParaRPr lang="en-US" altLang="ko-KR" dirty="0"/>
          </a:p>
          <a:p>
            <a:r>
              <a:rPr lang="ko-KR" altLang="en-US" dirty="0"/>
              <a:t>자연어처리</a:t>
            </a:r>
            <a:r>
              <a:rPr lang="en-US" altLang="ko-KR" dirty="0"/>
              <a:t>,</a:t>
            </a:r>
            <a:r>
              <a:rPr lang="ko-KR" altLang="en-US" dirty="0"/>
              <a:t> 이미지학습 </a:t>
            </a:r>
            <a:r>
              <a:rPr lang="ko-KR" altLang="en-US" dirty="0" err="1"/>
              <a:t>처럼</a:t>
            </a:r>
            <a:r>
              <a:rPr lang="ko-KR" altLang="en-US" dirty="0"/>
              <a:t> </a:t>
            </a:r>
            <a:r>
              <a:rPr lang="en-US" altLang="ko-KR" dirty="0"/>
              <a:t>Fine-tuning</a:t>
            </a:r>
            <a:r>
              <a:rPr lang="ko-KR" altLang="en-US" dirty="0"/>
              <a:t>을 통해</a:t>
            </a:r>
            <a:r>
              <a:rPr lang="en-US" altLang="ko-KR" dirty="0"/>
              <a:t>,</a:t>
            </a:r>
            <a:r>
              <a:rPr lang="ko-KR" altLang="en-US" dirty="0"/>
              <a:t> 다양한 </a:t>
            </a:r>
            <a:r>
              <a:rPr lang="en-US" altLang="ko-KR" dirty="0"/>
              <a:t>task </a:t>
            </a:r>
            <a:r>
              <a:rPr lang="ko-KR" altLang="en-US" dirty="0"/>
              <a:t>에 적용 가능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163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BF48-1F9C-A88F-167C-75A56FF6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summary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8A97A-95AF-2C53-76CA-A3094EE25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Graph-BERT: </a:t>
            </a:r>
          </a:p>
          <a:p>
            <a:pPr lvl="1"/>
            <a:r>
              <a:rPr lang="ko-KR" altLang="en-US" dirty="0"/>
              <a:t>그래프의 연결이 아닌</a:t>
            </a:r>
            <a:r>
              <a:rPr lang="en-US" altLang="ko-KR" dirty="0"/>
              <a:t>,</a:t>
            </a:r>
            <a:r>
              <a:rPr lang="ko-KR" altLang="en-US" dirty="0"/>
              <a:t> 그래프의 노드들의 특성을 학습 </a:t>
            </a:r>
            <a:endParaRPr lang="en-US" altLang="ko-KR" dirty="0"/>
          </a:p>
          <a:p>
            <a:pPr lvl="1"/>
            <a:r>
              <a:rPr lang="ko-KR" altLang="en-US" dirty="0"/>
              <a:t>비용</a:t>
            </a:r>
            <a:r>
              <a:rPr lang="en-US" altLang="ko-KR" dirty="0"/>
              <a:t>:</a:t>
            </a:r>
            <a:r>
              <a:rPr lang="ko-KR" altLang="en-US" dirty="0"/>
              <a:t> 학습의 횟수</a:t>
            </a:r>
            <a:r>
              <a:rPr lang="en-US" altLang="ko-KR" dirty="0"/>
              <a:t>,</a:t>
            </a:r>
            <a:r>
              <a:rPr lang="ko-KR" altLang="en-US" dirty="0"/>
              <a:t>  </a:t>
            </a:r>
            <a:r>
              <a:rPr lang="en-US" altLang="ko-KR" dirty="0"/>
              <a:t>sub-graph </a:t>
            </a:r>
            <a:r>
              <a:rPr lang="ko-KR" altLang="en-US" dirty="0"/>
              <a:t>의 사이즈 </a:t>
            </a:r>
            <a:endParaRPr lang="en-KR" altLang="ko-KR" dirty="0"/>
          </a:p>
          <a:p>
            <a:r>
              <a:rPr lang="en-KR" dirty="0"/>
              <a:t>Unsupervised Pre-training </a:t>
            </a:r>
          </a:p>
          <a:p>
            <a:pPr lvl="1"/>
            <a:r>
              <a:rPr lang="en-US" dirty="0"/>
              <a:t>Unlabeled </a:t>
            </a:r>
            <a:r>
              <a:rPr lang="ko-KR" altLang="en-US" dirty="0"/>
              <a:t>그래프로 </a:t>
            </a:r>
            <a:r>
              <a:rPr lang="en-US" altLang="ko-KR" dirty="0"/>
              <a:t>2</a:t>
            </a:r>
            <a:r>
              <a:rPr lang="ko-KR" altLang="en-US" dirty="0"/>
              <a:t>가지 학습 </a:t>
            </a:r>
            <a:r>
              <a:rPr lang="en-US" altLang="ko-KR" dirty="0"/>
              <a:t>:</a:t>
            </a:r>
            <a:r>
              <a:rPr lang="ko-KR" altLang="en-US" dirty="0"/>
              <a:t>  노드 속성 재구성 </a:t>
            </a:r>
            <a:r>
              <a:rPr lang="en-US" altLang="ko-KR" dirty="0"/>
              <a:t>(</a:t>
            </a:r>
            <a:r>
              <a:rPr lang="ko-KR" altLang="en-US" dirty="0"/>
              <a:t>각 입력 노드의 정보를 찾고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 그래프 재구성 </a:t>
            </a:r>
            <a:r>
              <a:rPr lang="en-US" altLang="ko-KR" dirty="0"/>
              <a:t>(</a:t>
            </a:r>
            <a:r>
              <a:rPr lang="ko-KR" altLang="en-US" dirty="0"/>
              <a:t> 지역</a:t>
            </a:r>
            <a:r>
              <a:rPr lang="en-US" altLang="ko-KR" dirty="0"/>
              <a:t>,</a:t>
            </a:r>
            <a:r>
              <a:rPr lang="ko-KR" altLang="en-US" dirty="0"/>
              <a:t> 광역 의 위치 형태</a:t>
            </a:r>
            <a:r>
              <a:rPr lang="en-US" altLang="ko-KR" dirty="0"/>
              <a:t>,</a:t>
            </a:r>
            <a:r>
              <a:rPr lang="ko-KR" altLang="en-US" dirty="0"/>
              <a:t> 학습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Fine-tuning and Transfer: </a:t>
            </a:r>
            <a:r>
              <a:rPr lang="ko-KR" altLang="en-US" dirty="0"/>
              <a:t>각 </a:t>
            </a:r>
            <a:r>
              <a:rPr lang="en-US" altLang="ko-KR" dirty="0"/>
              <a:t>task </a:t>
            </a:r>
            <a:r>
              <a:rPr lang="ko-KR" altLang="en-US" dirty="0"/>
              <a:t>에 맞춰 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Fine-tuning </a:t>
            </a:r>
            <a:r>
              <a:rPr lang="ko-KR" altLang="en-US" dirty="0"/>
              <a:t>가능 </a:t>
            </a:r>
            <a:endParaRPr lang="en-US" altLang="ko-KR" dirty="0"/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67349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D304D-EE65-2B05-D6CF-DE11E5B8F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39" y="1519267"/>
            <a:ext cx="5331481" cy="147948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E3F140-02CB-4BBC-ABC0-8BF046C9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0FB6430-77FC-D660-ADC1-0985EE0C9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735" y="1099414"/>
            <a:ext cx="5331478" cy="2319192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BE46A-612D-8781-77BF-360224453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00" y="4596992"/>
            <a:ext cx="3353432" cy="160701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Related work</a:t>
            </a:r>
            <a:r>
              <a:rPr lang="ko-KR" altLang="en-US" dirty="0">
                <a:solidFill>
                  <a:schemeClr val="tx2"/>
                </a:solidFill>
              </a:rPr>
              <a:t> </a:t>
            </a:r>
            <a:r>
              <a:rPr lang="en-US" altLang="ko-KR" dirty="0">
                <a:solidFill>
                  <a:schemeClr val="tx2"/>
                </a:solidFill>
              </a:rPr>
              <a:t>:</a:t>
            </a:r>
            <a:r>
              <a:rPr lang="ko-KR" altLang="en-US" dirty="0">
                <a:solidFill>
                  <a:schemeClr val="tx2"/>
                </a:solidFill>
              </a:rPr>
              <a:t> </a:t>
            </a:r>
            <a:r>
              <a:rPr lang="en-US" altLang="ko-KR" dirty="0">
                <a:solidFill>
                  <a:schemeClr val="tx2"/>
                </a:solidFill>
              </a:rPr>
              <a:t>GCN</a:t>
            </a:r>
            <a:endParaRPr lang="en-KR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56873-68B4-28E2-C71C-6E14A29A5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491" y="4596992"/>
            <a:ext cx="7240909" cy="1607012"/>
          </a:xfrm>
        </p:spPr>
        <p:txBody>
          <a:bodyPr>
            <a:normAutofit fontScale="92500"/>
          </a:bodyPr>
          <a:lstStyle/>
          <a:p>
            <a:r>
              <a:rPr lang="ko-KR" altLang="en-US" dirty="0"/>
              <a:t>그래프와 그 그래프의 인접행렬 </a:t>
            </a:r>
            <a:r>
              <a:rPr lang="en-US" altLang="ko-KR" dirty="0"/>
              <a:t>A </a:t>
            </a:r>
            <a:r>
              <a:rPr lang="ko-KR" altLang="en-US" dirty="0"/>
              <a:t>가 있다고 </a:t>
            </a:r>
            <a:r>
              <a:rPr lang="ko-KR" altLang="en-US" dirty="0" err="1"/>
              <a:t>할때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CNN </a:t>
            </a:r>
            <a:r>
              <a:rPr lang="ko-KR" altLang="en-US" dirty="0"/>
              <a:t>과 마찬가지로 </a:t>
            </a:r>
            <a:r>
              <a:rPr lang="en-US" altLang="ko-KR" dirty="0"/>
              <a:t>weight </a:t>
            </a:r>
            <a:r>
              <a:rPr lang="ko-KR" altLang="en-US" dirty="0"/>
              <a:t>와 </a:t>
            </a:r>
            <a:r>
              <a:rPr lang="en-US" altLang="ko-KR" dirty="0"/>
              <a:t>Node Adjacent </a:t>
            </a:r>
            <a:r>
              <a:rPr lang="en-US" altLang="ko-KR" dirty="0" err="1"/>
              <a:t>Maxtix</a:t>
            </a:r>
            <a:r>
              <a:rPr lang="en-US" altLang="ko-KR" dirty="0"/>
              <a:t> </a:t>
            </a:r>
            <a:r>
              <a:rPr lang="ko-KR" altLang="en-US" dirty="0"/>
              <a:t>에 </a:t>
            </a:r>
            <a:r>
              <a:rPr lang="en-US" altLang="ko-KR" dirty="0"/>
              <a:t>convolution </a:t>
            </a:r>
            <a:r>
              <a:rPr lang="ko-KR" altLang="en-US" dirty="0"/>
              <a:t>을 적용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Node Feature matrix </a:t>
            </a:r>
            <a:r>
              <a:rPr lang="ko-KR" altLang="en-US" dirty="0"/>
              <a:t>를 얻는다</a:t>
            </a:r>
            <a:endParaRPr lang="en-US" altLang="ko-KR" dirty="0"/>
          </a:p>
          <a:p>
            <a:r>
              <a:rPr lang="ko-KR" altLang="en-US" dirty="0"/>
              <a:t>그렇게 얻은  </a:t>
            </a:r>
            <a:r>
              <a:rPr lang="en-US" altLang="ko-KR" dirty="0"/>
              <a:t>Matrix</a:t>
            </a:r>
            <a:r>
              <a:rPr lang="ko-KR" altLang="en-US" dirty="0"/>
              <a:t>들이 같은 </a:t>
            </a:r>
            <a:r>
              <a:rPr lang="ko-KR" altLang="en-US" dirty="0" err="1"/>
              <a:t>노드지만</a:t>
            </a:r>
            <a:r>
              <a:rPr lang="ko-KR" altLang="en-US" dirty="0"/>
              <a:t> </a:t>
            </a:r>
            <a:r>
              <a:rPr lang="en-US" altLang="ko-KR" dirty="0"/>
              <a:t>Matrix </a:t>
            </a:r>
            <a:r>
              <a:rPr lang="ko-KR" altLang="en-US" dirty="0"/>
              <a:t>상의 위치에 따라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다른형태의</a:t>
            </a:r>
            <a:r>
              <a:rPr lang="ko-KR" altLang="en-US" dirty="0"/>
              <a:t> 그래프가 나옴 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MLP </a:t>
            </a:r>
            <a:r>
              <a:rPr lang="ko-KR" altLang="en-US" dirty="0">
                <a:sym typeface="Wingdings" pitchFamily="2" charset="2"/>
              </a:rPr>
              <a:t>를 통과시켜 행렬의 </a:t>
            </a:r>
            <a:r>
              <a:rPr lang="ko-KR" altLang="en-US" dirty="0" err="1">
                <a:sym typeface="Wingdings" pitchFamily="2" charset="2"/>
              </a:rPr>
              <a:t>모든값을</a:t>
            </a:r>
            <a:r>
              <a:rPr lang="ko-KR" altLang="en-US" dirty="0">
                <a:sym typeface="Wingdings" pitchFamily="2" charset="2"/>
              </a:rPr>
              <a:t> 합침</a:t>
            </a:r>
            <a:endParaRPr lang="en-US" altLang="ko-KR" dirty="0"/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269322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0AD7F-10C0-96D2-BB8D-EDD0A0074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n-KR">
                <a:solidFill>
                  <a:schemeClr val="tx2"/>
                </a:solidFill>
              </a:rPr>
              <a:t>method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5C320-BF75-E00B-FE35-684ED68C0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연결성 없는 </a:t>
            </a:r>
            <a:r>
              <a:rPr lang="en-US" altLang="ko-KR" dirty="0"/>
              <a:t>Sub-graph </a:t>
            </a:r>
            <a:r>
              <a:rPr lang="ko-KR" altLang="en-US" dirty="0"/>
              <a:t>배치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입력된 </a:t>
            </a:r>
            <a:r>
              <a:rPr lang="en-US" altLang="ko-KR" dirty="0"/>
              <a:t>node embedding </a:t>
            </a:r>
          </a:p>
          <a:p>
            <a:pPr marL="342900" indent="-342900">
              <a:buAutoNum type="arabicPeriod"/>
            </a:pPr>
            <a:r>
              <a:rPr lang="en-US" dirty="0"/>
              <a:t>Graph-transformer based encoder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위에 학습된 모델을 </a:t>
            </a:r>
            <a:r>
              <a:rPr lang="en-US" altLang="ko-KR" dirty="0"/>
              <a:t>target node</a:t>
            </a:r>
            <a:r>
              <a:rPr lang="ko-KR" altLang="en-US" dirty="0"/>
              <a:t>들과 융합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Functional Component :</a:t>
            </a:r>
            <a:r>
              <a:rPr lang="ko-KR" altLang="en-US" dirty="0"/>
              <a:t> 각 </a:t>
            </a:r>
            <a:r>
              <a:rPr lang="en-US" altLang="ko-KR" dirty="0"/>
              <a:t>task </a:t>
            </a:r>
            <a:r>
              <a:rPr lang="ko-KR" altLang="en-US" dirty="0"/>
              <a:t>에 따른 결과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00241-6F1D-9996-9BF9-F84842466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050632"/>
            <a:ext cx="6735272" cy="257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04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0D0E-CC7B-979F-F8A2-DE34DFC9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less subgraph batch</a:t>
            </a:r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E8A63-7260-BAEB-FCC8-A3DEBA0F88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기존 그래프 모델 </a:t>
                </a:r>
                <a:r>
                  <a:rPr lang="ko-KR" altLang="en-US" dirty="0" err="1"/>
                  <a:t>입력값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G = (V, </a:t>
                </a:r>
                <a:r>
                  <a:rPr lang="en-US" altLang="ko-KR" dirty="0" err="1"/>
                  <a:t>ε</a:t>
                </a:r>
                <a:r>
                  <a:rPr lang="en-US" altLang="ko-KR" dirty="0"/>
                  <a:t>, w, x, y ) </a:t>
                </a:r>
              </a:p>
              <a:p>
                <a:pPr lvl="1"/>
                <a:r>
                  <a:rPr lang="en-US" altLang="ko-KR" dirty="0"/>
                  <a:t>V : node, </a:t>
                </a:r>
                <a:r>
                  <a:rPr lang="en-US" altLang="ko-KR" dirty="0" err="1"/>
                  <a:t>ε</a:t>
                </a:r>
                <a:r>
                  <a:rPr lang="en-US" altLang="ko-KR" dirty="0"/>
                  <a:t>: link, w: weight,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 없으면 </a:t>
                </a:r>
                <a:r>
                  <a:rPr lang="ko-KR" altLang="en-US" dirty="0" err="1"/>
                  <a:t>연결되있으면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 아니면 </a:t>
                </a:r>
                <a:r>
                  <a:rPr lang="en-US" altLang="ko-KR" dirty="0"/>
                  <a:t>0)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 </a:t>
                </a:r>
              </a:p>
              <a:p>
                <a:pPr lvl="1"/>
                <a:r>
                  <a:rPr lang="en-US" altLang="ko-KR" dirty="0"/>
                  <a:t>x : </a:t>
                </a:r>
                <a:r>
                  <a:rPr lang="ko-KR" altLang="en-US" dirty="0"/>
                  <a:t>노드 특성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y :label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 Pretraining </a:t>
                </a:r>
                <a:r>
                  <a:rPr lang="ko-KR" altLang="en-US" dirty="0"/>
                  <a:t>에서 </a:t>
                </a:r>
                <a:r>
                  <a:rPr lang="ko-KR" altLang="en-US" dirty="0" err="1"/>
                  <a:t>사용하지않음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r>
                  <a:rPr lang="ko-KR" altLang="en-US" dirty="0"/>
                  <a:t>전체의 그래프 대신 </a:t>
                </a:r>
                <a:r>
                  <a:rPr lang="ko-KR" altLang="en-US" dirty="0" err="1"/>
                  <a:t>여러개의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subgraph </a:t>
                </a:r>
                <a:r>
                  <a:rPr lang="ko-KR" altLang="en-US" dirty="0"/>
                  <a:t>로 나누어 학습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병렬학습 가능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r>
                  <a:rPr lang="ko-KR" altLang="en-US" dirty="0"/>
                  <a:t>각 </a:t>
                </a:r>
                <a:r>
                  <a:rPr lang="ko-KR" altLang="en-US" dirty="0" err="1"/>
                  <a:t>노드들간의</a:t>
                </a:r>
                <a:r>
                  <a:rPr lang="ko-KR" altLang="en-US" dirty="0"/>
                  <a:t> 연관성 </a:t>
                </a:r>
                <a:r>
                  <a:rPr lang="en-US" altLang="ko-KR" dirty="0"/>
                  <a:t>(intimacy score)</a:t>
                </a:r>
                <a:r>
                  <a:rPr lang="ko-KR" altLang="en-US" dirty="0"/>
                  <a:t> 계산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PageRank </a:t>
                </a:r>
                <a:r>
                  <a:rPr lang="ko-KR" altLang="en-US" dirty="0"/>
                  <a:t>알고리즘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응용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1 −⍺</m:t>
                        </m:r>
                      </m:e>
                    </m:d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𝑃𝑅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⍺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⍺ 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1 −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⍺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⍺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=0.15 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를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사용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KR" dirty="0"/>
              </a:p>
              <a:p>
                <a:pPr lvl="1"/>
                <a:r>
                  <a:rPr lang="ko-KR" altLang="en-US" dirty="0"/>
                  <a:t>이렇게 구한 </a:t>
                </a:r>
                <a:r>
                  <a:rPr lang="en-US" altLang="ko-KR" dirty="0"/>
                  <a:t>intimacy matrix </a:t>
                </a:r>
                <a:r>
                  <a:rPr lang="ko-KR" altLang="en-US" dirty="0"/>
                  <a:t>에서 특정 값을 넘은 노드만 </a:t>
                </a:r>
                <a:r>
                  <a:rPr lang="en-US" altLang="ko-KR" dirty="0"/>
                  <a:t>Context </a:t>
                </a:r>
                <a:r>
                  <a:rPr lang="ko-KR" altLang="en-US" dirty="0"/>
                  <a:t>가 </a:t>
                </a:r>
                <a:r>
                  <a:rPr lang="ko-KR" altLang="en-US" dirty="0" err="1"/>
                  <a:t>될수있다</a:t>
                </a:r>
                <a:endParaRPr lang="en-K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E8A63-7260-BAEB-FCC8-A3DEBA0F8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" b="-34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7B8ADEB-FEFD-55BD-7E7D-FEF1A6AC7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25" y="2180496"/>
            <a:ext cx="1841500" cy="2848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68DBCE-B6B7-7C1C-9C7A-7C283CBD2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007" y="5321489"/>
            <a:ext cx="2209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0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B147-8FE1-AD70-250E-AE82BF66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Input Vector Embedding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94E15-DF05-8B3C-E4B3-66C56B64C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텍스트나 이미지 데이터와 다르게 데이터에 순서가 정해져 </a:t>
            </a:r>
            <a:r>
              <a:rPr lang="ko-KR" altLang="en-US" dirty="0" err="1"/>
              <a:t>있지않음</a:t>
            </a:r>
            <a:endParaRPr lang="en-US" altLang="ko-KR" dirty="0"/>
          </a:p>
          <a:p>
            <a:r>
              <a:rPr lang="ko-KR" altLang="en-US" dirty="0"/>
              <a:t>순서가 아닌</a:t>
            </a:r>
            <a:r>
              <a:rPr lang="en-US" altLang="ko-KR" dirty="0"/>
              <a:t>,</a:t>
            </a:r>
            <a:r>
              <a:rPr lang="ko-KR" altLang="en-US" dirty="0"/>
              <a:t> 연결정보가 반영된 </a:t>
            </a:r>
            <a:r>
              <a:rPr lang="en-US" altLang="ko-KR" dirty="0"/>
              <a:t>Subgraph</a:t>
            </a:r>
            <a:r>
              <a:rPr lang="ko-KR" altLang="en-US" dirty="0"/>
              <a:t>를 </a:t>
            </a:r>
            <a:r>
              <a:rPr lang="ko-KR" altLang="en-US" dirty="0" err="1"/>
              <a:t>입력값으로</a:t>
            </a:r>
            <a:r>
              <a:rPr lang="ko-KR" altLang="en-US" dirty="0"/>
              <a:t> 받고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dirty="0"/>
              <a:t>Node </a:t>
            </a:r>
            <a:r>
              <a:rPr lang="ko-KR" altLang="en-US" dirty="0" err="1"/>
              <a:t>들중</a:t>
            </a:r>
            <a:r>
              <a:rPr lang="ko-KR" altLang="en-US" dirty="0"/>
              <a:t> </a:t>
            </a:r>
            <a:r>
              <a:rPr lang="en-US" altLang="ko-KR" dirty="0"/>
              <a:t>Target Node </a:t>
            </a:r>
            <a:r>
              <a:rPr lang="ko-KR" altLang="en-US" dirty="0"/>
              <a:t>와 가장 연관이 있는 순서대로 나열하여 </a:t>
            </a:r>
            <a:r>
              <a:rPr lang="ko-KR" altLang="en-US" dirty="0" err="1"/>
              <a:t>입력값으로</a:t>
            </a:r>
            <a:r>
              <a:rPr lang="ko-KR" altLang="en-US" dirty="0"/>
              <a:t> 받아 </a:t>
            </a:r>
            <a:r>
              <a:rPr lang="en-US" altLang="ko-KR" dirty="0"/>
              <a:t>[</a:t>
            </a:r>
            <a:r>
              <a:rPr lang="en-US" altLang="ko-KR" dirty="0" err="1"/>
              <a:t>v_i</a:t>
            </a:r>
            <a:r>
              <a:rPr lang="en-US" altLang="ko-KR" dirty="0"/>
              <a:t> , v_i1, … </a:t>
            </a:r>
            <a:r>
              <a:rPr lang="en-US" altLang="ko-KR" dirty="0" err="1"/>
              <a:t>v_ik</a:t>
            </a:r>
            <a:r>
              <a:rPr lang="en-US" altLang="ko-KR" dirty="0"/>
              <a:t>]Embedding </a:t>
            </a:r>
            <a:r>
              <a:rPr lang="ko-KR" altLang="en-US" dirty="0"/>
              <a:t>을 수행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dirty="0"/>
              <a:t>Raw Feature </a:t>
            </a:r>
            <a:r>
              <a:rPr lang="en-US" dirty="0" err="1"/>
              <a:t>vetor</a:t>
            </a:r>
            <a:r>
              <a:rPr lang="en-US" dirty="0"/>
              <a:t> Embedding</a:t>
            </a:r>
          </a:p>
          <a:p>
            <a:pPr marL="342900" indent="-342900">
              <a:buAutoNum type="arabicPeriod"/>
            </a:pPr>
            <a:r>
              <a:rPr lang="en-US" dirty="0" err="1"/>
              <a:t>Weisfeiler-heman</a:t>
            </a:r>
            <a:r>
              <a:rPr lang="en-US" dirty="0"/>
              <a:t> absolute Role Embedding</a:t>
            </a:r>
          </a:p>
          <a:p>
            <a:pPr marL="342900" indent="-342900">
              <a:buAutoNum type="arabicPeriod"/>
            </a:pPr>
            <a:r>
              <a:rPr lang="en-US" dirty="0"/>
              <a:t>Intimacy based Relative Positional Embedding</a:t>
            </a:r>
          </a:p>
          <a:p>
            <a:pPr marL="342900" indent="-342900">
              <a:buAutoNum type="arabicPeriod"/>
            </a:pPr>
            <a:r>
              <a:rPr lang="en-US" dirty="0"/>
              <a:t>Hope based Relative </a:t>
            </a:r>
            <a:r>
              <a:rPr lang="en-US" dirty="0" err="1"/>
              <a:t>Distacne</a:t>
            </a:r>
            <a:r>
              <a:rPr lang="en-US" dirty="0"/>
              <a:t> Embedding</a:t>
            </a:r>
          </a:p>
        </p:txBody>
      </p:sp>
    </p:spTree>
    <p:extLst>
      <p:ext uri="{BB962C8B-B14F-4D97-AF65-F5344CB8AC3E}">
        <p14:creationId xmlns:p14="http://schemas.microsoft.com/office/powerpoint/2010/main" val="2767270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28C99-816F-4012-A2D1-1C9991BA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D95E0-5B16-3F22-E3E9-3E7DEEA0E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98424"/>
            <a:ext cx="11029615" cy="413065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AutoNum type="arabicPeriod"/>
            </a:pPr>
            <a:r>
              <a:rPr lang="en-US" dirty="0"/>
              <a:t>Raw Feature </a:t>
            </a:r>
            <a:r>
              <a:rPr lang="en-US" dirty="0" err="1"/>
              <a:t>vetor</a:t>
            </a:r>
            <a:r>
              <a:rPr lang="en-US" dirty="0"/>
              <a:t> Embedding :</a:t>
            </a:r>
            <a:endParaRPr lang="en-K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/>
              <a:t>각 </a:t>
            </a:r>
            <a:r>
              <a:rPr lang="en-US" altLang="ko-KR" dirty="0"/>
              <a:t>Subgraph </a:t>
            </a:r>
            <a:r>
              <a:rPr lang="ko-KR" altLang="en-US" dirty="0"/>
              <a:t>의 노드들 </a:t>
            </a:r>
            <a:r>
              <a:rPr lang="en-US" altLang="ko-KR" dirty="0" err="1"/>
              <a:t>V_j</a:t>
            </a:r>
            <a:r>
              <a:rPr lang="en-US" altLang="ko-KR" dirty="0"/>
              <a:t> </a:t>
            </a:r>
            <a:r>
              <a:rPr lang="ko-KR" altLang="en-US" dirty="0"/>
              <a:t>가 같은 </a:t>
            </a:r>
            <a:r>
              <a:rPr lang="en-US" altLang="ko-KR" dirty="0"/>
              <a:t>Feature vector space </a:t>
            </a:r>
            <a:r>
              <a:rPr lang="ko-KR" altLang="en-US" dirty="0"/>
              <a:t>인 </a:t>
            </a:r>
            <a:r>
              <a:rPr lang="en-US" altLang="ko-KR" dirty="0" err="1"/>
              <a:t>d_h</a:t>
            </a:r>
            <a:r>
              <a:rPr lang="en-US" altLang="ko-KR" dirty="0"/>
              <a:t> </a:t>
            </a:r>
            <a:r>
              <a:rPr lang="ko-KR" altLang="en-US" dirty="0"/>
              <a:t>로 </a:t>
            </a:r>
            <a:r>
              <a:rPr lang="ko-KR" altLang="en-US" dirty="0" err="1"/>
              <a:t>임베딩</a:t>
            </a:r>
            <a:r>
              <a:rPr lang="ko-KR" altLang="en-US" dirty="0"/>
              <a:t> 된다</a:t>
            </a:r>
            <a:r>
              <a:rPr lang="en-US" altLang="ko-KR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/>
              <a:t>이미지의 경우 </a:t>
            </a:r>
            <a:r>
              <a:rPr lang="en-US" altLang="ko-KR" dirty="0"/>
              <a:t>CNN,  TEXT </a:t>
            </a:r>
            <a:r>
              <a:rPr lang="ko-KR" altLang="en-US" dirty="0"/>
              <a:t>의 경우 </a:t>
            </a:r>
            <a:r>
              <a:rPr lang="en-US" altLang="ko-KR" dirty="0"/>
              <a:t>LSTM/BERT </a:t>
            </a:r>
            <a:r>
              <a:rPr lang="ko-KR" altLang="en-US" dirty="0"/>
              <a:t>또는 </a:t>
            </a:r>
            <a:r>
              <a:rPr lang="en-US" altLang="ko-KR" dirty="0"/>
              <a:t>Simple fully connected layers</a:t>
            </a:r>
            <a:endParaRPr lang="en-KR" dirty="0"/>
          </a:p>
          <a:p>
            <a:pPr marL="342900" indent="-342900">
              <a:buAutoNum type="arabicPeriod"/>
            </a:pPr>
            <a:r>
              <a:rPr lang="en-US" dirty="0" err="1"/>
              <a:t>Weisfeiler</a:t>
            </a:r>
            <a:r>
              <a:rPr lang="en-US" dirty="0"/>
              <a:t>-Lehman Absolute Role Embedding: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Weisfeiler</a:t>
            </a:r>
            <a:r>
              <a:rPr lang="en-US" dirty="0"/>
              <a:t>-Lehman </a:t>
            </a:r>
            <a:r>
              <a:rPr lang="ko-KR" altLang="en-US" dirty="0"/>
              <a:t>알고리즘 사용 </a:t>
            </a:r>
            <a:r>
              <a:rPr lang="en-US" altLang="ko-KR" dirty="0"/>
              <a:t>,</a:t>
            </a:r>
            <a:r>
              <a:rPr lang="ko-KR" altLang="en-US" dirty="0"/>
              <a:t>  전체 그래프 의 </a:t>
            </a:r>
            <a:r>
              <a:rPr lang="en-US" altLang="ko-KR" dirty="0"/>
              <a:t>Structure roles </a:t>
            </a:r>
            <a:r>
              <a:rPr lang="ko-KR" altLang="en-US" dirty="0"/>
              <a:t>를 반영</a:t>
            </a:r>
            <a:endParaRPr lang="en-US" altLang="ko-K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/>
              <a:t>Node </a:t>
            </a:r>
            <a:r>
              <a:rPr lang="ko-KR" altLang="en-US" dirty="0"/>
              <a:t>들에 </a:t>
            </a:r>
            <a:r>
              <a:rPr lang="en-US" altLang="ko-KR" dirty="0"/>
              <a:t>Label </a:t>
            </a:r>
            <a:r>
              <a:rPr lang="ko-KR" altLang="en-US" dirty="0"/>
              <a:t>지정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번 노드 </a:t>
            </a:r>
            <a:r>
              <a:rPr lang="en-US" altLang="ko-KR" dirty="0">
                <a:sym typeface="Wingdings" pitchFamily="2" charset="2"/>
              </a:rPr>
              <a:t>: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2</a:t>
            </a:r>
            <a:r>
              <a:rPr lang="ko-KR" altLang="en-US" dirty="0">
                <a:sym typeface="Wingdings" pitchFamily="2" charset="2"/>
              </a:rPr>
              <a:t>번 </a:t>
            </a:r>
            <a:r>
              <a:rPr lang="en-US" altLang="ko-KR" dirty="0">
                <a:sym typeface="Wingdings" pitchFamily="2" charset="2"/>
              </a:rPr>
              <a:t>5</a:t>
            </a:r>
            <a:r>
              <a:rPr lang="ko-KR" altLang="en-US" dirty="0">
                <a:sym typeface="Wingdings" pitchFamily="2" charset="2"/>
              </a:rPr>
              <a:t>번 노드 연결 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1</a:t>
            </a:r>
            <a:r>
              <a:rPr lang="ko-KR" altLang="en-US" dirty="0" err="1">
                <a:sym typeface="Wingdings" pitchFamily="2" charset="2"/>
              </a:rPr>
              <a:t>번노드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7</a:t>
            </a:r>
            <a:r>
              <a:rPr lang="ko-KR" altLang="en-US" dirty="0">
                <a:sym typeface="Wingdings" pitchFamily="2" charset="2"/>
              </a:rPr>
              <a:t>번 노드 </a:t>
            </a:r>
            <a:r>
              <a:rPr lang="en-US" altLang="ko-KR" dirty="0">
                <a:sym typeface="Wingdings" pitchFamily="2" charset="2"/>
              </a:rPr>
              <a:t>: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11</a:t>
            </a:r>
            <a:r>
              <a:rPr lang="ko-KR" altLang="en-US" dirty="0" err="1">
                <a:sym typeface="Wingdings" pitchFamily="2" charset="2"/>
              </a:rPr>
              <a:t>번노드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,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21</a:t>
            </a:r>
            <a:r>
              <a:rPr lang="ko-KR" altLang="en-US" dirty="0">
                <a:sym typeface="Wingdings" pitchFamily="2" charset="2"/>
              </a:rPr>
              <a:t>번 노드 연결 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>
                <a:sym typeface="Wingdings" pitchFamily="2" charset="2"/>
              </a:rPr>
              <a:t>  </a:t>
            </a:r>
            <a:r>
              <a:rPr lang="en-US" altLang="ko-KR" dirty="0">
                <a:sym typeface="Wingdings" pitchFamily="2" charset="2"/>
              </a:rPr>
              <a:t>32</a:t>
            </a:r>
            <a:r>
              <a:rPr lang="ko-KR" altLang="en-US" dirty="0" err="1">
                <a:sym typeface="Wingdings" pitchFamily="2" charset="2"/>
              </a:rPr>
              <a:t>번노드</a:t>
            </a:r>
            <a:endParaRPr lang="en-US" altLang="ko-KR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>
                <a:sym typeface="Wingdings" pitchFamily="2" charset="2"/>
              </a:rPr>
              <a:t>Label </a:t>
            </a:r>
            <a:r>
              <a:rPr lang="ko-KR" altLang="en-US" dirty="0">
                <a:sym typeface="Wingdings" pitchFamily="2" charset="2"/>
              </a:rPr>
              <a:t>이 동일한 노드들은 같은 노드라고 판단</a:t>
            </a:r>
            <a:endParaRPr lang="en-US" altLang="ko-KR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ko-KR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ko-KR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ko-KR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ko-KR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>
                <a:sym typeface="Wingdings" pitchFamily="2" charset="2"/>
              </a:rPr>
              <a:t>각 노드들이 전체의 그래프에서의 위치정보 </a:t>
            </a:r>
            <a:endParaRPr lang="en-US" altLang="ko-KR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ko-KR" dirty="0">
              <a:sym typeface="Wingdings" pitchFamily="2" charset="2"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08DA9EEA-EDDD-F90E-9E34-DBD287FAD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30" y="4496834"/>
            <a:ext cx="39528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15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192C-AC28-BCE8-B4B1-4975307C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4F1C4-7BC5-E5E6-DA92-625FF383B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 dirty="0"/>
              <a:t> </a:t>
            </a:r>
            <a:r>
              <a:rPr lang="en-US" altLang="ko-KR" dirty="0"/>
              <a:t>Intimacy Based Relative Position Embedding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/>
              <a:t>앞서 </a:t>
            </a:r>
            <a:r>
              <a:rPr lang="en-US" altLang="ko-KR" dirty="0"/>
              <a:t>Serialize </a:t>
            </a:r>
            <a:r>
              <a:rPr lang="ko-KR" altLang="en-US" dirty="0"/>
              <a:t>한 노드</a:t>
            </a:r>
            <a:r>
              <a:rPr lang="en-US" altLang="ko-KR" dirty="0"/>
              <a:t>List </a:t>
            </a:r>
            <a:r>
              <a:rPr lang="ko-KR" altLang="en-US" dirty="0"/>
              <a:t>에서 </a:t>
            </a:r>
            <a:r>
              <a:rPr lang="en-US" altLang="ko-KR" dirty="0"/>
              <a:t>Subgraph </a:t>
            </a:r>
            <a:r>
              <a:rPr lang="ko-KR" altLang="en-US" dirty="0"/>
              <a:t>의 </a:t>
            </a:r>
            <a:r>
              <a:rPr lang="en-US" altLang="ko-KR" dirty="0"/>
              <a:t>Local Information </a:t>
            </a:r>
            <a:r>
              <a:rPr lang="ko-KR" altLang="en-US" dirty="0"/>
              <a:t>추출</a:t>
            </a:r>
            <a:endParaRPr lang="en-US" altLang="ko-K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/>
              <a:t>Intimacy score </a:t>
            </a:r>
            <a:r>
              <a:rPr lang="ko-KR" altLang="en-US" dirty="0"/>
              <a:t>을 기준으로 </a:t>
            </a:r>
            <a:r>
              <a:rPr lang="ko-KR" altLang="en-US" dirty="0" err="1"/>
              <a:t>순서화된</a:t>
            </a:r>
            <a:r>
              <a:rPr lang="ko-KR" altLang="en-US" dirty="0"/>
              <a:t> </a:t>
            </a:r>
            <a:r>
              <a:rPr lang="en-US" dirty="0"/>
              <a:t>position</a:t>
            </a:r>
            <a:r>
              <a:rPr lang="ko-KR" altLang="en-US" dirty="0"/>
              <a:t>을</a:t>
            </a:r>
            <a:r>
              <a:rPr lang="en-US" dirty="0"/>
              <a:t> embedding </a:t>
            </a:r>
            <a:r>
              <a:rPr lang="ko-KR" altLang="en-US" dirty="0"/>
              <a:t>에 반영</a:t>
            </a:r>
            <a:endParaRPr lang="en-K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/>
              <a:t>본인 노드는 </a:t>
            </a:r>
            <a:r>
              <a:rPr lang="en-US" altLang="ko-KR" dirty="0"/>
              <a:t>0,</a:t>
            </a:r>
            <a:r>
              <a:rPr lang="ko-KR" altLang="en-US" dirty="0"/>
              <a:t> </a:t>
            </a:r>
            <a:r>
              <a:rPr lang="en-US" altLang="ko-KR" dirty="0"/>
              <a:t>Node </a:t>
            </a:r>
            <a:r>
              <a:rPr lang="ko-KR" altLang="en-US" dirty="0"/>
              <a:t>간의 거리가 가까울수록 작은 숫자의 </a:t>
            </a:r>
            <a:r>
              <a:rPr lang="en-US" altLang="ko-KR" dirty="0"/>
              <a:t>Index </a:t>
            </a:r>
            <a:r>
              <a:rPr lang="ko-KR" altLang="en-US" dirty="0"/>
              <a:t>를 </a:t>
            </a:r>
            <a:r>
              <a:rPr lang="ko-KR" altLang="en-US" dirty="0" err="1"/>
              <a:t>부여받는다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Font typeface="+mj-lt"/>
              <a:buAutoNum type="arabicPeriod" startAt="3"/>
            </a:pPr>
            <a:r>
              <a:rPr lang="en-US" altLang="ko-KR" dirty="0" err="1"/>
              <a:t>Hopbased</a:t>
            </a:r>
            <a:r>
              <a:rPr lang="en-US" altLang="ko-KR" dirty="0"/>
              <a:t> Relative Distance Embedding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/>
              <a:t>WL : </a:t>
            </a:r>
            <a:r>
              <a:rPr lang="en-US" altLang="ko-KR" dirty="0" err="1"/>
              <a:t>gloabal</a:t>
            </a:r>
            <a:r>
              <a:rPr lang="en-US" altLang="ko-KR" dirty="0"/>
              <a:t> information ,</a:t>
            </a:r>
            <a:r>
              <a:rPr lang="ko-KR" altLang="en-US" dirty="0"/>
              <a:t> </a:t>
            </a:r>
            <a:r>
              <a:rPr lang="en-US" altLang="ko-KR" dirty="0"/>
              <a:t>Intimacy : local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/>
              <a:t>전체 그래프 안에서 </a:t>
            </a:r>
            <a:r>
              <a:rPr lang="en-US" altLang="ko-KR" dirty="0"/>
              <a:t>Target node </a:t>
            </a:r>
            <a:r>
              <a:rPr lang="en-US" altLang="ko-KR" dirty="0" err="1"/>
              <a:t>v_i</a:t>
            </a:r>
            <a:r>
              <a:rPr lang="en-US" altLang="ko-KR" dirty="0"/>
              <a:t> </a:t>
            </a:r>
            <a:r>
              <a:rPr lang="ko-KR" altLang="en-US" dirty="0"/>
              <a:t>와 각  </a:t>
            </a:r>
            <a:r>
              <a:rPr lang="en-US" altLang="ko-KR" dirty="0" err="1"/>
              <a:t>Vj</a:t>
            </a:r>
            <a:r>
              <a:rPr lang="en-US" altLang="ko-KR" dirty="0"/>
              <a:t> </a:t>
            </a:r>
            <a:r>
              <a:rPr lang="ko-KR" altLang="en-US" dirty="0"/>
              <a:t>의 거리 </a:t>
            </a:r>
            <a:endParaRPr lang="en-US" altLang="ko-K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/>
              <a:t>같은 </a:t>
            </a:r>
            <a:r>
              <a:rPr lang="en-US" altLang="ko-KR" dirty="0"/>
              <a:t>Node </a:t>
            </a:r>
            <a:r>
              <a:rPr lang="en-US" altLang="ko-KR" dirty="0" err="1"/>
              <a:t>V_j</a:t>
            </a:r>
            <a:r>
              <a:rPr lang="en-US" altLang="ko-KR" dirty="0"/>
              <a:t> </a:t>
            </a:r>
            <a:r>
              <a:rPr lang="ko-KR" altLang="en-US" dirty="0"/>
              <a:t>이어도 다른</a:t>
            </a:r>
            <a:r>
              <a:rPr lang="en-US" altLang="ko-KR" dirty="0"/>
              <a:t> subgraph </a:t>
            </a:r>
            <a:r>
              <a:rPr lang="ko-KR" altLang="en-US" dirty="0"/>
              <a:t>에서 다른 값을 가짐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22064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92CA-ABBF-F3F8-C702-569D675C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transformer based encoder 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122B3-2FF9-DCEB-7287-AB3A249C4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995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4</a:t>
            </a:r>
            <a:r>
              <a:rPr lang="ko-KR" altLang="en-US" dirty="0"/>
              <a:t>가지 방법으로 </a:t>
            </a:r>
            <a:r>
              <a:rPr lang="en-US" altLang="ko-KR" dirty="0"/>
              <a:t>Embedding </a:t>
            </a:r>
            <a:r>
              <a:rPr lang="ko-KR" altLang="en-US" dirty="0"/>
              <a:t>된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vector </a:t>
            </a:r>
            <a:r>
              <a:rPr lang="ko-KR" altLang="en-US" dirty="0"/>
              <a:t>를 </a:t>
            </a:r>
            <a:r>
              <a:rPr lang="en-US" altLang="ko-KR" dirty="0"/>
              <a:t>Aggregate ( summation) </a:t>
            </a:r>
          </a:p>
          <a:p>
            <a:r>
              <a:rPr lang="ko-KR" altLang="en-US" dirty="0"/>
              <a:t>각 노드 의 </a:t>
            </a:r>
            <a:r>
              <a:rPr lang="en-US" altLang="ko-KR" dirty="0"/>
              <a:t>Embedded </a:t>
            </a:r>
            <a:r>
              <a:rPr lang="en-US" dirty="0"/>
              <a:t>vector (</a:t>
            </a:r>
            <a:r>
              <a:rPr lang="en-US" dirty="0" err="1"/>
              <a:t>hj</a:t>
            </a:r>
            <a:r>
              <a:rPr lang="en-US" dirty="0"/>
              <a:t>(0)) </a:t>
            </a:r>
          </a:p>
          <a:p>
            <a:r>
              <a:rPr lang="ko-KR" altLang="en-US" dirty="0"/>
              <a:t>이 </a:t>
            </a:r>
            <a:r>
              <a:rPr lang="en-US" altLang="ko-KR" dirty="0"/>
              <a:t>Nodes </a:t>
            </a:r>
            <a:r>
              <a:rPr lang="ko-KR" altLang="en-US" dirty="0"/>
              <a:t>들의 </a:t>
            </a:r>
            <a:r>
              <a:rPr lang="en-US" altLang="ko-KR" dirty="0"/>
              <a:t>Representation </a:t>
            </a:r>
            <a:r>
              <a:rPr lang="ko-KR" altLang="en-US" dirty="0"/>
              <a:t>이 </a:t>
            </a:r>
            <a:r>
              <a:rPr lang="en-US" altLang="ko-KR" dirty="0"/>
              <a:t>l-1 </a:t>
            </a:r>
            <a:r>
              <a:rPr lang="ko-KR" altLang="en-US" dirty="0"/>
              <a:t>개의 </a:t>
            </a:r>
            <a:r>
              <a:rPr lang="en-US" altLang="ko-KR" dirty="0"/>
              <a:t>Encoder layer </a:t>
            </a:r>
            <a:r>
              <a:rPr lang="ko-KR" altLang="en-US" dirty="0"/>
              <a:t>를 지나 계산</a:t>
            </a:r>
            <a:endParaRPr lang="en-US" altLang="ko-KR" dirty="0"/>
          </a:p>
          <a:p>
            <a:r>
              <a:rPr lang="en-US" altLang="ko-KR" dirty="0"/>
              <a:t>G-Res : subgraph </a:t>
            </a:r>
            <a:r>
              <a:rPr lang="ko-KR" altLang="en-US" dirty="0"/>
              <a:t>의 노드들의 </a:t>
            </a:r>
            <a:r>
              <a:rPr lang="en-US" altLang="ko-KR" dirty="0"/>
              <a:t>Raw Feature </a:t>
            </a:r>
            <a:r>
              <a:rPr lang="ko-KR" altLang="en-US" dirty="0"/>
              <a:t>의 </a:t>
            </a:r>
            <a:r>
              <a:rPr lang="en-US" altLang="ko-KR" dirty="0"/>
              <a:t>Residual </a:t>
            </a:r>
            <a:r>
              <a:rPr lang="ko-KR" altLang="en-US" dirty="0"/>
              <a:t>값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br>
              <a:rPr lang="en-KR" dirty="0"/>
            </a:br>
            <a:endParaRPr lang="en-KR" dirty="0"/>
          </a:p>
          <a:p>
            <a:endParaRPr lang="en-KR" dirty="0"/>
          </a:p>
          <a:p>
            <a:endParaRPr lang="en-KR" dirty="0"/>
          </a:p>
          <a:p>
            <a:r>
              <a:rPr lang="ko-KR" altLang="en-US" dirty="0"/>
              <a:t>모든 데이터를 입력으로 받는 </a:t>
            </a:r>
            <a:r>
              <a:rPr lang="en-US" altLang="ko-KR" dirty="0"/>
              <a:t>Transformer </a:t>
            </a:r>
            <a:r>
              <a:rPr lang="ko-KR" altLang="en-US" dirty="0"/>
              <a:t>모델과 다르게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Target Node </a:t>
            </a:r>
            <a:r>
              <a:rPr lang="ko-KR" altLang="en-US" dirty="0"/>
              <a:t>를 기준으로 학습</a:t>
            </a:r>
            <a:endParaRPr lang="en-KR" dirty="0"/>
          </a:p>
        </p:txBody>
      </p:sp>
      <p:pic>
        <p:nvPicPr>
          <p:cNvPr id="4" name="그림 8">
            <a:extLst>
              <a:ext uri="{FF2B5EF4-FFF2-40B4-BE49-F238E27FC236}">
                <a16:creationId xmlns:a16="http://schemas.microsoft.com/office/drawing/2014/main" id="{7BA9D2C0-873E-6BB0-5124-735FEB2CC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675" y="2560928"/>
            <a:ext cx="2705100" cy="314325"/>
          </a:xfrm>
          <a:prstGeom prst="rect">
            <a:avLst/>
          </a:prstGeom>
        </p:spPr>
      </p:pic>
      <p:pic>
        <p:nvPicPr>
          <p:cNvPr id="5" name="그림 9">
            <a:extLst>
              <a:ext uri="{FF2B5EF4-FFF2-40B4-BE49-F238E27FC236}">
                <a16:creationId xmlns:a16="http://schemas.microsoft.com/office/drawing/2014/main" id="{DC5A50D1-E78E-DF6A-D66F-814B7EBFA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642" y="2596507"/>
            <a:ext cx="638175" cy="323850"/>
          </a:xfrm>
          <a:prstGeom prst="rect">
            <a:avLst/>
          </a:prstGeom>
        </p:spPr>
      </p:pic>
      <p:pic>
        <p:nvPicPr>
          <p:cNvPr id="7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D80D4335-57F3-E6FF-9D56-DE14B160B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3640563"/>
            <a:ext cx="478155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40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3E06-B0C9-F945-55AD-1D02F3F2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KR" dirty="0"/>
              <a:t>raph Bert Learnging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F2C8B-AE27-2A9B-0901-92E1A790A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Pre-train Graph Bert </a:t>
            </a:r>
            <a:r>
              <a:rPr lang="en-US" dirty="0"/>
              <a:t>Learning 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가지 </a:t>
            </a:r>
            <a:r>
              <a:rPr lang="en-US" altLang="ko-KR" dirty="0"/>
              <a:t>task </a:t>
            </a:r>
          </a:p>
          <a:p>
            <a:pPr marL="342900" indent="-342900">
              <a:buAutoNum type="arabicPeriod"/>
            </a:pPr>
            <a:r>
              <a:rPr lang="en-US" dirty="0"/>
              <a:t>Node Attribute reconstruction</a:t>
            </a:r>
          </a:p>
          <a:p>
            <a:pPr marL="342900" indent="-342900">
              <a:buAutoNum type="arabicPeriod"/>
            </a:pPr>
            <a:r>
              <a:rPr lang="en-US" dirty="0"/>
              <a:t>Graph structure recovery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그리고 이 </a:t>
            </a:r>
            <a:r>
              <a:rPr lang="en-US" altLang="ko-KR" dirty="0"/>
              <a:t>Graph Bert </a:t>
            </a:r>
            <a:r>
              <a:rPr lang="ko-KR" altLang="en-US" dirty="0"/>
              <a:t>는 </a:t>
            </a:r>
            <a:r>
              <a:rPr lang="en-US" altLang="ko-KR" dirty="0"/>
              <a:t>Node Classification </a:t>
            </a:r>
            <a:r>
              <a:rPr lang="ko-KR" altLang="en-US" dirty="0"/>
              <a:t>이나 </a:t>
            </a:r>
            <a:r>
              <a:rPr lang="en-US" altLang="ko-KR" dirty="0"/>
              <a:t>Graph Clustering </a:t>
            </a:r>
            <a:r>
              <a:rPr lang="ko-KR" altLang="en-US" dirty="0"/>
              <a:t>과 같은 </a:t>
            </a:r>
            <a:r>
              <a:rPr lang="en-US" altLang="ko-KR" dirty="0"/>
              <a:t>Task </a:t>
            </a:r>
            <a:r>
              <a:rPr lang="ko-KR" altLang="en-US" dirty="0"/>
              <a:t>를 </a:t>
            </a:r>
            <a:r>
              <a:rPr lang="en-US" altLang="ko-KR" dirty="0"/>
              <a:t>Fine-tuning </a:t>
            </a:r>
            <a:r>
              <a:rPr lang="ko-KR" altLang="en-US" dirty="0" err="1"/>
              <a:t>할수있다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624325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F748-1B8C-EE44-68F9-0AD42146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Pre-training 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6979F-FACA-73B4-66CF-47CDC053F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앞서 </a:t>
            </a:r>
            <a:r>
              <a:rPr lang="en-US" altLang="ko-KR" dirty="0"/>
              <a:t>Raw nodes </a:t>
            </a:r>
            <a:r>
              <a:rPr lang="ko-KR" altLang="en-US" dirty="0"/>
              <a:t>들을 재구성한 과정에 이어서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Graph structure recovery task </a:t>
            </a:r>
            <a:r>
              <a:rPr lang="ko-KR" altLang="en-US" dirty="0"/>
              <a:t>는 그래프의 연결 정보에 집중하여 학습</a:t>
            </a:r>
            <a:endParaRPr lang="en-US" altLang="ko-KR" dirty="0"/>
          </a:p>
          <a:p>
            <a:r>
              <a:rPr lang="en-US" altLang="ko-KR" dirty="0"/>
              <a:t>Task #1 Node Raw Attribute Reconstruction</a:t>
            </a:r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subgraph </a:t>
            </a:r>
            <a:r>
              <a:rPr lang="ko-KR" altLang="en-US" dirty="0"/>
              <a:t>의 </a:t>
            </a:r>
            <a:r>
              <a:rPr lang="en-US" altLang="ko-KR" dirty="0"/>
              <a:t>Target </a:t>
            </a:r>
            <a:r>
              <a:rPr lang="ko-KR" altLang="en-US" dirty="0"/>
              <a:t>노드 </a:t>
            </a:r>
            <a:r>
              <a:rPr lang="en-US" altLang="ko-KR" dirty="0" err="1"/>
              <a:t>v_i</a:t>
            </a:r>
            <a:r>
              <a:rPr lang="en-US" altLang="ko-KR" dirty="0"/>
              <a:t> </a:t>
            </a:r>
            <a:r>
              <a:rPr lang="ko-KR" altLang="en-US" dirty="0"/>
              <a:t> 에 대해 </a:t>
            </a:r>
            <a:r>
              <a:rPr lang="en-US" altLang="ko-KR" dirty="0"/>
              <a:t> Raw graph </a:t>
            </a:r>
            <a:r>
              <a:rPr lang="ko-KR" altLang="en-US" dirty="0"/>
              <a:t>에서 </a:t>
            </a:r>
            <a:r>
              <a:rPr lang="en-US" altLang="ko-KR" dirty="0"/>
              <a:t>Node </a:t>
            </a:r>
            <a:r>
              <a:rPr lang="en-US" altLang="ko-KR" dirty="0" err="1"/>
              <a:t>v_i</a:t>
            </a:r>
            <a:r>
              <a:rPr lang="en-US" altLang="ko-KR" dirty="0"/>
              <a:t> </a:t>
            </a:r>
            <a:r>
              <a:rPr lang="ko-KR" altLang="en-US" dirty="0"/>
              <a:t>의 정보를 </a:t>
            </a:r>
            <a:r>
              <a:rPr lang="ko-KR" altLang="en-US" dirty="0" err="1"/>
              <a:t>찾을수</a:t>
            </a:r>
            <a:r>
              <a:rPr lang="ko-KR" altLang="en-US" dirty="0"/>
              <a:t> 있도록 </a:t>
            </a:r>
            <a:r>
              <a:rPr lang="en-US" altLang="ko-KR" dirty="0"/>
              <a:t>Fully connect layer </a:t>
            </a:r>
            <a:r>
              <a:rPr lang="ko-KR" altLang="en-US" dirty="0"/>
              <a:t>학습</a:t>
            </a:r>
            <a:endParaRPr lang="en-US" altLang="ko-KR" dirty="0"/>
          </a:p>
          <a:p>
            <a:r>
              <a:rPr lang="en-US" altLang="ko-KR" dirty="0"/>
              <a:t>Task #2 Graph Structure Recovery</a:t>
            </a:r>
          </a:p>
          <a:p>
            <a:pPr lvl="1"/>
            <a:r>
              <a:rPr lang="ko-KR" altLang="en-US" dirty="0"/>
              <a:t>두개의 노드 </a:t>
            </a:r>
            <a:r>
              <a:rPr lang="en-US" altLang="ko-KR" dirty="0"/>
              <a:t>Vi </a:t>
            </a:r>
            <a:r>
              <a:rPr lang="ko-KR" altLang="en-US" dirty="0"/>
              <a:t>와 </a:t>
            </a:r>
            <a:r>
              <a:rPr lang="en-US" altLang="ko-KR" dirty="0" err="1"/>
              <a:t>Vj</a:t>
            </a:r>
            <a:r>
              <a:rPr lang="en-US" altLang="ko-KR" dirty="0"/>
              <a:t> </a:t>
            </a:r>
            <a:r>
              <a:rPr lang="ko-KR" altLang="en-US" dirty="0"/>
              <a:t>개의 연결점수를</a:t>
            </a:r>
            <a:r>
              <a:rPr lang="en-US" altLang="ko-KR" dirty="0"/>
              <a:t> cosine similarity </a:t>
            </a:r>
            <a:r>
              <a:rPr lang="ko-KR" altLang="en-US" dirty="0"/>
              <a:t>를 계산하고 </a:t>
            </a:r>
            <a:r>
              <a:rPr lang="en-US" altLang="ko-KR" dirty="0"/>
              <a:t>,</a:t>
            </a:r>
            <a:r>
              <a:rPr lang="ko-KR" altLang="en-US" dirty="0"/>
              <a:t> 마찬가지로 기존 </a:t>
            </a:r>
            <a:r>
              <a:rPr lang="en-US" altLang="ko-KR" dirty="0"/>
              <a:t>ground truth graph </a:t>
            </a:r>
            <a:r>
              <a:rPr lang="ko-KR" altLang="en-US" dirty="0"/>
              <a:t>에서 두개의 노드의 </a:t>
            </a:r>
            <a:r>
              <a:rPr lang="en-US" altLang="ko-KR" dirty="0"/>
              <a:t>cosine similarity </a:t>
            </a:r>
            <a:r>
              <a:rPr lang="ko-KR" altLang="en-US" dirty="0"/>
              <a:t>의 차이를 비교하며 학습 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566153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CBE56-F270-158D-E830-A27F489B4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Model </a:t>
            </a:r>
            <a:r>
              <a:rPr lang="en-US" dirty="0"/>
              <a:t>Transfer and Fine - tuning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C66EE-793E-1F8A-383B-C95A2F99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Pre-train </a:t>
            </a:r>
            <a:r>
              <a:rPr lang="ko-KR" altLang="en-US" dirty="0"/>
              <a:t>된 모델을 </a:t>
            </a:r>
            <a:r>
              <a:rPr lang="en-US" altLang="ko-KR" dirty="0"/>
              <a:t>Task </a:t>
            </a:r>
            <a:r>
              <a:rPr lang="ko-KR" altLang="en-US" dirty="0"/>
              <a:t>에 적용하기 위해서는 </a:t>
            </a:r>
            <a:r>
              <a:rPr lang="en-US" altLang="ko-KR" dirty="0"/>
              <a:t>Fine-tuning </a:t>
            </a:r>
            <a:r>
              <a:rPr lang="ko-KR" altLang="en-US" dirty="0"/>
              <a:t>을 진행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Node classification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/>
              <a:t>Pre-trained output </a:t>
            </a:r>
            <a:r>
              <a:rPr lang="ko-KR" altLang="en-US" dirty="0"/>
              <a:t>에 </a:t>
            </a:r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를 적용한 값을 </a:t>
            </a:r>
            <a:r>
              <a:rPr lang="en-US" altLang="ko-KR" dirty="0" err="1"/>
              <a:t>Tru</a:t>
            </a:r>
            <a:r>
              <a:rPr lang="en-US" altLang="ko-KR" dirty="0"/>
              <a:t>—label </a:t>
            </a:r>
            <a:r>
              <a:rPr lang="ko-KR" altLang="en-US" dirty="0"/>
              <a:t>과 비교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Logistic Regression Cost Function </a:t>
            </a:r>
            <a:r>
              <a:rPr lang="ko-KR" altLang="en-US" dirty="0"/>
              <a:t>을 사용한 </a:t>
            </a:r>
            <a:r>
              <a:rPr lang="en-US" altLang="ko-KR" dirty="0"/>
              <a:t>Fully connected layer </a:t>
            </a:r>
            <a:r>
              <a:rPr lang="ko-KR" altLang="en-US" dirty="0"/>
              <a:t>로  </a:t>
            </a:r>
            <a:r>
              <a:rPr lang="ko-KR" altLang="en-US" dirty="0" err="1"/>
              <a:t>재학습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 graph clustering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/>
              <a:t>Cluster </a:t>
            </a:r>
            <a:r>
              <a:rPr lang="ko-KR" altLang="en-US" dirty="0"/>
              <a:t>들의 중심이 되는</a:t>
            </a:r>
            <a:r>
              <a:rPr lang="en-US" altLang="ko-KR" dirty="0"/>
              <a:t> vector </a:t>
            </a:r>
            <a:r>
              <a:rPr lang="en-US" altLang="ko-KR" dirty="0" err="1"/>
              <a:t>u_i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/>
              <a:t>pre-trained vector </a:t>
            </a:r>
            <a:r>
              <a:rPr lang="ko-KR" altLang="en-US" dirty="0"/>
              <a:t>값을 비교하면서 </a:t>
            </a:r>
            <a:r>
              <a:rPr lang="ko-KR" altLang="en-US" dirty="0" err="1"/>
              <a:t>재학습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70491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AC83-CE17-998D-9DD5-7AB729CEC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/>
              <a:t>experiment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E4500-8274-88A7-2A13-75485DC9A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Dataset and Learning settings</a:t>
            </a:r>
          </a:p>
          <a:p>
            <a:pPr lvl="1"/>
            <a:r>
              <a:rPr lang="en-US" altLang="ko-KR" dirty="0"/>
              <a:t>Cora, </a:t>
            </a:r>
            <a:r>
              <a:rPr lang="en-US" altLang="ko-KR" dirty="0" err="1"/>
              <a:t>Citeseer</a:t>
            </a:r>
            <a:r>
              <a:rPr lang="ko-KR" altLang="en-US" dirty="0"/>
              <a:t> </a:t>
            </a:r>
            <a:r>
              <a:rPr lang="en-US" altLang="ko-KR" dirty="0"/>
              <a:t> : 6</a:t>
            </a:r>
            <a:r>
              <a:rPr lang="ko-KR" altLang="en-US" dirty="0"/>
              <a:t>개의 문서 분류 그래프 데이터 </a:t>
            </a:r>
            <a:r>
              <a:rPr lang="en-US" altLang="ko-KR" dirty="0"/>
              <a:t>, </a:t>
            </a:r>
            <a:r>
              <a:rPr lang="en-US" altLang="ko-KR" dirty="0" err="1"/>
              <a:t>Pubmed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  <a:r>
              <a:rPr lang="en-US" altLang="ko-KR" dirty="0"/>
              <a:t>Biomedical </a:t>
            </a:r>
            <a:r>
              <a:rPr lang="ko-KR" altLang="en-US" dirty="0"/>
              <a:t>문서 그래프 데이터</a:t>
            </a:r>
            <a:endParaRPr lang="en-US" altLang="ko-KR" dirty="0"/>
          </a:p>
          <a:p>
            <a:pPr lvl="1"/>
            <a:r>
              <a:rPr lang="ko-KR" altLang="en-US" dirty="0"/>
              <a:t>그래프전체를 </a:t>
            </a:r>
            <a:r>
              <a:rPr lang="en-US" altLang="ko-KR" dirty="0"/>
              <a:t>Intimacy score </a:t>
            </a:r>
            <a:r>
              <a:rPr lang="ko-KR" altLang="en-US" dirty="0"/>
              <a:t>계산 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여러개의</a:t>
            </a:r>
            <a:r>
              <a:rPr lang="en-US" altLang="ko-KR" dirty="0"/>
              <a:t> subgraph </a:t>
            </a:r>
            <a:r>
              <a:rPr lang="ko-KR" altLang="en-US" dirty="0"/>
              <a:t>로 나눈다</a:t>
            </a:r>
            <a:endParaRPr lang="en-US" altLang="ko-KR" dirty="0"/>
          </a:p>
          <a:p>
            <a:pPr lvl="1"/>
            <a:r>
              <a:rPr lang="en-US" altLang="ko-KR" dirty="0"/>
              <a:t>Hop distance</a:t>
            </a:r>
            <a:r>
              <a:rPr lang="ko-KR" altLang="en-US" dirty="0"/>
              <a:t>와 </a:t>
            </a:r>
            <a:r>
              <a:rPr lang="en-US" altLang="ko-KR" dirty="0"/>
              <a:t>ML nodes codes </a:t>
            </a:r>
            <a:r>
              <a:rPr lang="ko-KR" altLang="en-US" dirty="0"/>
              <a:t>계산</a:t>
            </a:r>
            <a:endParaRPr lang="en-US" altLang="ko-KR" dirty="0"/>
          </a:p>
          <a:p>
            <a:pPr lvl="1"/>
            <a:r>
              <a:rPr lang="en-US" altLang="ko-KR" dirty="0"/>
              <a:t>Raw graph </a:t>
            </a:r>
            <a:r>
              <a:rPr lang="ko-KR" altLang="en-US" dirty="0"/>
              <a:t>와 </a:t>
            </a:r>
            <a:r>
              <a:rPr lang="en-US" altLang="ko-KR" dirty="0"/>
              <a:t>Subgraph </a:t>
            </a:r>
            <a:r>
              <a:rPr lang="ko-KR" altLang="en-US" dirty="0"/>
              <a:t>사이에 </a:t>
            </a:r>
            <a:r>
              <a:rPr lang="en-US" altLang="ko-KR" dirty="0"/>
              <a:t>Reconstruct loss</a:t>
            </a:r>
            <a:r>
              <a:rPr lang="ko-KR" altLang="en-US" dirty="0"/>
              <a:t>와 </a:t>
            </a:r>
            <a:r>
              <a:rPr lang="en-US" altLang="ko-KR" dirty="0"/>
              <a:t>graph structure recovery loss </a:t>
            </a:r>
            <a:r>
              <a:rPr lang="ko-KR" altLang="en-US" dirty="0"/>
              <a:t>를 최소화 하도록 </a:t>
            </a:r>
            <a:r>
              <a:rPr lang="en-US" altLang="ko-KR" dirty="0"/>
              <a:t>compute</a:t>
            </a:r>
          </a:p>
          <a:p>
            <a:pPr lvl="1"/>
            <a:r>
              <a:rPr lang="en-US" altLang="ko-KR" dirty="0"/>
              <a:t>200</a:t>
            </a:r>
            <a:r>
              <a:rPr lang="ko-KR" altLang="en-US" dirty="0"/>
              <a:t>개 의 </a:t>
            </a:r>
            <a:r>
              <a:rPr lang="en-US" altLang="ko-KR" dirty="0"/>
              <a:t>epoch </a:t>
            </a:r>
            <a:r>
              <a:rPr lang="ko-KR" altLang="en-US" dirty="0"/>
              <a:t>로 </a:t>
            </a:r>
            <a:r>
              <a:rPr lang="en-US" altLang="ko-KR" dirty="0"/>
              <a:t>Fine-tuning </a:t>
            </a:r>
            <a:r>
              <a:rPr lang="ko-KR" altLang="en-US" dirty="0"/>
              <a:t>진행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9360E-9460-D8BB-8C1B-80A0AD13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03" y="4310988"/>
            <a:ext cx="4692594" cy="201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18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C3E5-9E6D-9C46-A94E-00FD6C54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P</a:t>
            </a:r>
            <a:r>
              <a:rPr lang="en-KR" dirty="0"/>
              <a:t>arameter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DB7E9-861D-2502-7D85-0D7552E92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KR" dirty="0"/>
              <a:t>ubgraph </a:t>
            </a:r>
            <a:r>
              <a:rPr lang="ko-KR" altLang="en-US" dirty="0"/>
              <a:t>사이즈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(Cora) 7</a:t>
            </a:r>
            <a:r>
              <a:rPr lang="ko-KR" altLang="en-US" dirty="0"/>
              <a:t>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Citeseer</a:t>
            </a:r>
            <a:r>
              <a:rPr lang="en-US" altLang="ko-KR" dirty="0"/>
              <a:t>) 5</a:t>
            </a:r>
            <a:r>
              <a:rPr lang="ko-KR" altLang="en-US" dirty="0"/>
              <a:t>개 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pubmed</a:t>
            </a:r>
            <a:r>
              <a:rPr lang="en-US" altLang="ko-KR" dirty="0"/>
              <a:t>) 30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en-US" altLang="ko-KR" dirty="0"/>
              <a:t>Hidden size 32 , attention head number 2,  hidden layer 2 </a:t>
            </a:r>
          </a:p>
          <a:p>
            <a:r>
              <a:rPr lang="en-US" altLang="ko-KR" dirty="0"/>
              <a:t>Learning rate (Cora) 0.01 (</a:t>
            </a:r>
            <a:r>
              <a:rPr lang="en-US" altLang="ko-KR" dirty="0" err="1"/>
              <a:t>Citeseer</a:t>
            </a:r>
            <a:r>
              <a:rPr lang="en-US" altLang="ko-KR" dirty="0"/>
              <a:t>) 0.001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pubmed</a:t>
            </a:r>
            <a:r>
              <a:rPr lang="en-US" altLang="ko-KR" dirty="0"/>
              <a:t>) 0.0005</a:t>
            </a:r>
          </a:p>
          <a:p>
            <a:r>
              <a:rPr lang="en-US" altLang="ko-KR" dirty="0"/>
              <a:t>Weight decay 5e-4</a:t>
            </a:r>
          </a:p>
          <a:p>
            <a:r>
              <a:rPr lang="en-US" altLang="ko-KR" dirty="0"/>
              <a:t>Dropout rate 0.5, attention dropout 0.3</a:t>
            </a:r>
          </a:p>
          <a:p>
            <a:r>
              <a:rPr lang="en-US" altLang="ko-KR" dirty="0"/>
              <a:t>Training epoch (Cora) 150 (</a:t>
            </a:r>
            <a:r>
              <a:rPr lang="en-US" altLang="ko-KR" dirty="0" err="1"/>
              <a:t>Citeseer</a:t>
            </a:r>
            <a:r>
              <a:rPr lang="en-US" altLang="ko-KR" dirty="0"/>
              <a:t>) 2000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pubmed</a:t>
            </a:r>
            <a:r>
              <a:rPr lang="en-US" altLang="ko-KR" dirty="0"/>
              <a:t>) 500</a:t>
            </a:r>
          </a:p>
          <a:p>
            <a:endParaRPr lang="en-US" altLang="ko-KR" dirty="0"/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578448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BD191-B85E-ADF4-20EB-64D6BE359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89498"/>
            <a:ext cx="8396071" cy="5262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KR" sz="2400" dirty="0">
                <a:solidFill>
                  <a:schemeClr val="tx2"/>
                </a:solidFill>
              </a:rPr>
              <a:t>Experiment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9C2C3-837E-D7EB-FCCE-9F2C30480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6463754" cy="3634486"/>
          </a:xfrm>
        </p:spPr>
        <p:txBody>
          <a:bodyPr>
            <a:normAutofit/>
          </a:bodyPr>
          <a:lstStyle/>
          <a:p>
            <a:r>
              <a:rPr lang="en-US" dirty="0"/>
              <a:t>GRAPH BERT </a:t>
            </a:r>
            <a:r>
              <a:rPr lang="ko-KR" altLang="en-US" dirty="0"/>
              <a:t>는 다양한 </a:t>
            </a:r>
            <a:r>
              <a:rPr lang="en-US" altLang="ko-KR" dirty="0"/>
              <a:t>Graph </a:t>
            </a:r>
            <a:r>
              <a:rPr lang="ko-KR" altLang="en-US" dirty="0"/>
              <a:t>학습 </a:t>
            </a:r>
            <a:r>
              <a:rPr lang="en-US" altLang="ko-KR" dirty="0"/>
              <a:t>Task </a:t>
            </a:r>
            <a:r>
              <a:rPr lang="ko-KR" altLang="en-US" dirty="0"/>
              <a:t>에 </a:t>
            </a:r>
            <a:r>
              <a:rPr lang="ko-KR" altLang="en-US" dirty="0" err="1"/>
              <a:t>적용될수있다</a:t>
            </a:r>
            <a:r>
              <a:rPr lang="en-US" altLang="ko-KR" dirty="0"/>
              <a:t>.</a:t>
            </a:r>
          </a:p>
          <a:p>
            <a:r>
              <a:rPr lang="en-US" dirty="0"/>
              <a:t>Graph-BERT </a:t>
            </a:r>
            <a:r>
              <a:rPr lang="ko-KR" altLang="en-US" dirty="0"/>
              <a:t>의 영향을 확인하기 위해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pre-train </a:t>
            </a:r>
            <a:r>
              <a:rPr lang="ko-KR" altLang="en-US" dirty="0" err="1"/>
              <a:t>되지않은</a:t>
            </a:r>
            <a:r>
              <a:rPr lang="ko-KR" altLang="en-US" dirty="0"/>
              <a:t> </a:t>
            </a:r>
            <a:r>
              <a:rPr lang="en-US" altLang="ko-KR" dirty="0"/>
              <a:t>node </a:t>
            </a:r>
            <a:r>
              <a:rPr lang="en-US" altLang="ko-KR" dirty="0" err="1"/>
              <a:t>classificiation</a:t>
            </a:r>
            <a:r>
              <a:rPr lang="en-US" altLang="ko-KR" dirty="0"/>
              <a:t> </a:t>
            </a:r>
            <a:r>
              <a:rPr lang="ko-KR" altLang="en-US" dirty="0"/>
              <a:t> 과 비교</a:t>
            </a:r>
            <a:endParaRPr lang="en-US" altLang="ko-KR" dirty="0"/>
          </a:p>
          <a:p>
            <a:r>
              <a:rPr lang="en-US" altLang="ko-KR" dirty="0"/>
              <a:t>GRAPH-BERT </a:t>
            </a:r>
            <a:r>
              <a:rPr lang="ko-KR" altLang="en-US" dirty="0"/>
              <a:t>는 모델의 깊이를 </a:t>
            </a:r>
            <a:r>
              <a:rPr lang="en-US" altLang="ko-KR" dirty="0"/>
              <a:t>50</a:t>
            </a:r>
            <a:r>
              <a:rPr lang="ko-KR" altLang="en-US" dirty="0"/>
              <a:t> 까지 늘려도 </a:t>
            </a:r>
            <a:r>
              <a:rPr lang="en-US" altLang="ko-KR" dirty="0"/>
              <a:t>suspended animation problem </a:t>
            </a:r>
            <a:r>
              <a:rPr lang="ko-KR" altLang="en-US" dirty="0"/>
              <a:t>이 없이 계속 학습이 진행됨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결과적으로 다른 </a:t>
            </a:r>
            <a:r>
              <a:rPr lang="en-US" altLang="ko-KR" dirty="0"/>
              <a:t>GNN </a:t>
            </a:r>
            <a:r>
              <a:rPr lang="ko-KR" altLang="en-US" dirty="0"/>
              <a:t>보다 정확도가 높다</a:t>
            </a:r>
            <a:endParaRPr lang="en-US" altLang="ko-KR" dirty="0"/>
          </a:p>
          <a:p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6B419-0591-1D65-F983-ABE209BC3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232" y="1672148"/>
            <a:ext cx="3925929" cy="1756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7ED0CF-9A88-F4F2-EE80-D84CCF57C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417" y="3728720"/>
            <a:ext cx="4352825" cy="29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65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A04DF-D222-6004-30F8-CF4A73AA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260" y="1213128"/>
            <a:ext cx="5331481" cy="211926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E3F140-02CB-4BBC-ABC0-8BF046C9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4CE13-0504-7B1E-1309-81ED3AA1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86" y="4489284"/>
            <a:ext cx="5666139" cy="1607012"/>
          </a:xfrm>
        </p:spPr>
        <p:txBody>
          <a:bodyPr>
            <a:normAutofit/>
          </a:bodyPr>
          <a:lstStyle/>
          <a:p>
            <a:r>
              <a:rPr lang="en-KR" dirty="0"/>
              <a:t>Cora Data set </a:t>
            </a:r>
            <a:r>
              <a:rPr lang="ko-KR" altLang="en-US" dirty="0"/>
              <a:t>에 </a:t>
            </a:r>
            <a:r>
              <a:rPr lang="en-US" altLang="ko-KR" dirty="0"/>
              <a:t>Subgraph </a:t>
            </a:r>
            <a:r>
              <a:rPr lang="ko-KR" altLang="en-US" dirty="0"/>
              <a:t>사이즈 </a:t>
            </a:r>
            <a:r>
              <a:rPr lang="en-US" altLang="ko-KR" dirty="0"/>
              <a:t>k</a:t>
            </a:r>
            <a:r>
              <a:rPr lang="ko-KR" altLang="en-US" dirty="0"/>
              <a:t>값 비교 결과 </a:t>
            </a:r>
            <a:endParaRPr lang="en-US" altLang="ko-KR" dirty="0"/>
          </a:p>
          <a:p>
            <a:endParaRPr lang="en-K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7A22A62-456D-9308-5016-DBBA19307F11}"/>
              </a:ext>
            </a:extLst>
          </p:cNvPr>
          <p:cNvSpPr txBox="1">
            <a:spLocks/>
          </p:cNvSpPr>
          <p:nvPr/>
        </p:nvSpPr>
        <p:spPr>
          <a:xfrm>
            <a:off x="6078627" y="4489284"/>
            <a:ext cx="5666139" cy="1607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BERT pre-train </a:t>
            </a:r>
            <a:r>
              <a:rPr lang="ko-KR" altLang="en-US" dirty="0" err="1"/>
              <a:t>할때</a:t>
            </a:r>
            <a:r>
              <a:rPr lang="ko-KR" altLang="en-US" dirty="0"/>
              <a:t> </a:t>
            </a:r>
            <a:r>
              <a:rPr lang="en-US" altLang="ko-KR" dirty="0"/>
              <a:t>Residual </a:t>
            </a:r>
            <a:r>
              <a:rPr lang="ko-KR" altLang="en-US" dirty="0"/>
              <a:t>값을 </a:t>
            </a:r>
            <a:r>
              <a:rPr lang="ko-KR" altLang="en-US" dirty="0" err="1"/>
              <a:t>추가하는것에</a:t>
            </a:r>
            <a:r>
              <a:rPr lang="ko-KR" altLang="en-US" dirty="0"/>
              <a:t> 대한 비교 결과</a:t>
            </a:r>
            <a:endParaRPr lang="en-US" altLang="ko-KR" dirty="0"/>
          </a:p>
          <a:p>
            <a:endParaRPr lang="en-K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0A41D4-6AE2-5B64-7468-36812E8D5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86" y="492639"/>
            <a:ext cx="4755561" cy="34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01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EE8A32-B29E-46B5-B8B8-0148869E9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559612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B92E81-4F6A-4CF1-B486-AE63E15F3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9338" y="453643"/>
            <a:ext cx="5596128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2C68E9FB-8F3D-72BB-EF61-0262DB7D3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358" y="733842"/>
            <a:ext cx="5489646" cy="24428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75AB67-10FD-7FC6-F2F9-D92F4B9D2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67" y="733842"/>
            <a:ext cx="5484624" cy="2714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61CF5D-571F-ACA0-9228-B3DB19020D51}"/>
              </a:ext>
            </a:extLst>
          </p:cNvPr>
          <p:cNvSpPr txBox="1"/>
          <p:nvPr/>
        </p:nvSpPr>
        <p:spPr>
          <a:xfrm>
            <a:off x="690113" y="42269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160907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E1983-4BD7-3B48-F868-2DB549A6B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38" y="447234"/>
            <a:ext cx="10455375" cy="34502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solidFill>
            <a:schemeClr val="tx2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3325B-6F28-B4F1-B4B8-9F0BEE732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067" y="4465134"/>
            <a:ext cx="10414824" cy="160701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Graph BERT </a:t>
            </a:r>
            <a:r>
              <a:rPr lang="ko-KR" altLang="en-US" dirty="0">
                <a:solidFill>
                  <a:schemeClr val="bg1"/>
                </a:solidFill>
              </a:rPr>
              <a:t>를 사용하면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  <a:r>
              <a:rPr lang="ko-KR" altLang="en-US" dirty="0">
                <a:solidFill>
                  <a:schemeClr val="bg1"/>
                </a:solidFill>
              </a:rPr>
              <a:t> 기존의 </a:t>
            </a:r>
            <a:r>
              <a:rPr lang="en-US" altLang="ko-KR" dirty="0">
                <a:solidFill>
                  <a:schemeClr val="bg1"/>
                </a:solidFill>
              </a:rPr>
              <a:t>1/5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EPOCH</a:t>
            </a:r>
            <a:r>
              <a:rPr lang="ko-KR" altLang="en-US" dirty="0">
                <a:solidFill>
                  <a:schemeClr val="bg1"/>
                </a:solidFill>
              </a:rPr>
              <a:t>만 사용하더라도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  <a:r>
              <a:rPr lang="ko-KR" altLang="en-US" dirty="0">
                <a:solidFill>
                  <a:schemeClr val="bg1"/>
                </a:solidFill>
              </a:rPr>
              <a:t>  학습 가능 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사전학습을 통해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  <a:r>
              <a:rPr lang="ko-KR" altLang="en-US" dirty="0">
                <a:solidFill>
                  <a:schemeClr val="bg1"/>
                </a:solidFill>
              </a:rPr>
              <a:t> 기본적으로 높은 정확도를 가진다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Node classification </a:t>
            </a:r>
            <a:r>
              <a:rPr lang="ko-KR" altLang="en-US" dirty="0">
                <a:solidFill>
                  <a:schemeClr val="bg1"/>
                </a:solidFill>
              </a:rPr>
              <a:t>은 두개의 </a:t>
            </a:r>
            <a:r>
              <a:rPr lang="en-US" altLang="ko-KR" dirty="0">
                <a:solidFill>
                  <a:schemeClr val="bg1"/>
                </a:solidFill>
              </a:rPr>
              <a:t>pre-training task </a:t>
            </a:r>
            <a:r>
              <a:rPr lang="ko-KR" altLang="en-US" dirty="0" err="1">
                <a:solidFill>
                  <a:schemeClr val="bg1"/>
                </a:solidFill>
              </a:rPr>
              <a:t>를진행했을때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Graph –clustering </a:t>
            </a:r>
            <a:r>
              <a:rPr lang="ko-KR" altLang="en-US" dirty="0">
                <a:solidFill>
                  <a:schemeClr val="bg1"/>
                </a:solidFill>
              </a:rPr>
              <a:t>은 </a:t>
            </a:r>
            <a:r>
              <a:rPr lang="en-US" altLang="ko-KR" dirty="0">
                <a:solidFill>
                  <a:schemeClr val="bg1"/>
                </a:solidFill>
              </a:rPr>
              <a:t>node reconstruction </a:t>
            </a:r>
            <a:r>
              <a:rPr lang="ko-KR" altLang="en-US" dirty="0">
                <a:solidFill>
                  <a:schemeClr val="bg1"/>
                </a:solidFill>
              </a:rPr>
              <a:t>만 </a:t>
            </a:r>
            <a:r>
              <a:rPr lang="ko-KR" altLang="en-US" dirty="0" err="1">
                <a:solidFill>
                  <a:schemeClr val="bg1"/>
                </a:solidFill>
              </a:rPr>
              <a:t>진행했을때</a:t>
            </a:r>
            <a:r>
              <a:rPr lang="ko-KR" altLang="en-US" dirty="0">
                <a:solidFill>
                  <a:schemeClr val="bg1"/>
                </a:solidFill>
              </a:rPr>
              <a:t> 높은 정확도 </a:t>
            </a:r>
            <a:endParaRPr lang="en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636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BE70-340E-E3AB-6E0F-587219D2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12C75-CFC6-C467-C4F6-75874A4C5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BERT </a:t>
            </a:r>
            <a:r>
              <a:rPr lang="ko-KR" altLang="en-US" dirty="0"/>
              <a:t>는 기존 </a:t>
            </a:r>
            <a:r>
              <a:rPr lang="en-US" altLang="ko-KR" dirty="0"/>
              <a:t>GNN </a:t>
            </a:r>
            <a:r>
              <a:rPr lang="ko-KR" altLang="en-US" dirty="0"/>
              <a:t>들이 가지고 있는 모든 문제로 </a:t>
            </a:r>
            <a:r>
              <a:rPr lang="ko-KR" altLang="en-US" dirty="0" err="1"/>
              <a:t>부터</a:t>
            </a:r>
            <a:r>
              <a:rPr lang="ko-KR" altLang="en-US" dirty="0"/>
              <a:t> 자유롭다</a:t>
            </a:r>
            <a:endParaRPr lang="en-US" altLang="ko-KR" dirty="0"/>
          </a:p>
          <a:p>
            <a:r>
              <a:rPr lang="ko-KR" altLang="en-US" dirty="0"/>
              <a:t>전체의 그래프가 아닌 </a:t>
            </a:r>
            <a:r>
              <a:rPr lang="en-US" altLang="ko-KR" dirty="0"/>
              <a:t>Target </a:t>
            </a:r>
            <a:r>
              <a:rPr lang="ko-KR" altLang="en-US" dirty="0"/>
              <a:t>노드에 대한 </a:t>
            </a:r>
            <a:r>
              <a:rPr lang="en-US" altLang="ko-KR" dirty="0"/>
              <a:t>representation </a:t>
            </a:r>
            <a:r>
              <a:rPr lang="ko-KR" altLang="en-US" dirty="0"/>
              <a:t>을 </a:t>
            </a:r>
            <a:r>
              <a:rPr lang="en-US" altLang="ko-KR" dirty="0"/>
              <a:t>transformer layer </a:t>
            </a:r>
            <a:r>
              <a:rPr lang="ko-KR" altLang="en-US" dirty="0"/>
              <a:t>에 적용한 학습법을 소개</a:t>
            </a:r>
            <a:endParaRPr lang="en-US" altLang="ko-KR" dirty="0"/>
          </a:p>
          <a:p>
            <a:r>
              <a:rPr lang="en-US" altLang="ko-KR" dirty="0"/>
              <a:t>Fine –Tuning </a:t>
            </a:r>
            <a:r>
              <a:rPr lang="ko-KR" altLang="en-US" dirty="0" err="1"/>
              <a:t>으로</a:t>
            </a:r>
            <a:r>
              <a:rPr lang="ko-KR" altLang="en-US" dirty="0"/>
              <a:t> 원하는 </a:t>
            </a:r>
            <a:r>
              <a:rPr lang="en-US" altLang="ko-KR" dirty="0"/>
              <a:t>Task </a:t>
            </a:r>
            <a:r>
              <a:rPr lang="ko-KR" altLang="en-US" dirty="0"/>
              <a:t>진행</a:t>
            </a:r>
            <a:endParaRPr lang="en-US" altLang="ko-KR" dirty="0"/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8945722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2721</TotalTime>
  <Words>1176</Words>
  <Application>Microsoft Macintosh PowerPoint</Application>
  <PresentationFormat>Widescreen</PresentationFormat>
  <Paragraphs>132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Cambria Math</vt:lpstr>
      <vt:lpstr>Gill Sans MT</vt:lpstr>
      <vt:lpstr>Wingdings 2</vt:lpstr>
      <vt:lpstr>Dividend</vt:lpstr>
      <vt:lpstr>Graph – BERt :</vt:lpstr>
      <vt:lpstr>introduction</vt:lpstr>
      <vt:lpstr>Model summary</vt:lpstr>
      <vt:lpstr>Related work : GCN</vt:lpstr>
      <vt:lpstr>method</vt:lpstr>
      <vt:lpstr>Link less subgraph batch</vt:lpstr>
      <vt:lpstr>Node Input Vector Embedding</vt:lpstr>
      <vt:lpstr>Embedding</vt:lpstr>
      <vt:lpstr>Embedding</vt:lpstr>
      <vt:lpstr>Graph transformer based encoder </vt:lpstr>
      <vt:lpstr>Graph Bert Learnging </vt:lpstr>
      <vt:lpstr>Pre-training </vt:lpstr>
      <vt:lpstr>Model Transfer and Fine - tuning</vt:lpstr>
      <vt:lpstr>experiment</vt:lpstr>
      <vt:lpstr>Default Parameter settings</vt:lpstr>
      <vt:lpstr>Experiment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– BERt :</dc:title>
  <dc:creator>Irene Kim</dc:creator>
  <cp:lastModifiedBy>Irene Kim</cp:lastModifiedBy>
  <cp:revision>1</cp:revision>
  <dcterms:created xsi:type="dcterms:W3CDTF">2022-04-15T13:22:34Z</dcterms:created>
  <dcterms:modified xsi:type="dcterms:W3CDTF">2022-04-17T10:43:40Z</dcterms:modified>
</cp:coreProperties>
</file>