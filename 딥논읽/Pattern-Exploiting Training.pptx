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3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94"/>
  </p:normalViewPr>
  <p:slideViewPr>
    <p:cSldViewPr snapToGrid="0" snapToObjects="1">
      <p:cViewPr varScale="1">
        <p:scale>
          <a:sx n="106" d="100"/>
          <a:sy n="106" d="100"/>
        </p:scale>
        <p:origin x="8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1CFB2-A143-FD4D-92A3-D8F319A5F2AC}" type="datetimeFigureOut">
              <a:rPr kumimoji="1" lang="ko-Kore-KR" altLang="en-US" smtClean="0"/>
              <a:t>06/05/2022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97193-02FC-6144-AFE4-4CCFF18987F6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73550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5FB12B-80AB-23E2-EDF8-8A9C5458F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A3023A-ACD3-00A9-B40E-8AFE34548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D80860-F3D6-5436-4C85-FF03F8F5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8DF-E400-F047-ACF8-169CD2F5E68C}" type="datetimeFigureOut">
              <a:rPr kumimoji="1" lang="ko-Kore-KR" altLang="en-US" smtClean="0"/>
              <a:t>06/05/2022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0C58EA-D6A9-FE81-AD3F-3C1B0293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1628F9-67F9-29A5-8934-60B64767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88DB-FE26-CD45-83E9-B735079E290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85496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1F4D7D-7A33-A764-F65E-BA0D078F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1241CC-BDB4-DD5F-C2EC-A30F1608A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A5195F-E566-847F-A091-379897CDA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8DF-E400-F047-ACF8-169CD2F5E68C}" type="datetimeFigureOut">
              <a:rPr kumimoji="1" lang="ko-Kore-KR" altLang="en-US" smtClean="0"/>
              <a:t>06/05/2022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741567-6053-CC91-80A3-FA5DF1A33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3D76A-96DB-BBC1-5CB5-586AD8905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88DB-FE26-CD45-83E9-B735079E290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25864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4C4642-2DD9-D829-42E8-58ACEFBF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653D6E-DFB6-3D76-DD8C-F57BCEB5D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799557-93BD-6D72-D929-DDB99AB07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8DF-E400-F047-ACF8-169CD2F5E68C}" type="datetimeFigureOut">
              <a:rPr kumimoji="1" lang="ko-Kore-KR" altLang="en-US" smtClean="0"/>
              <a:t>06/05/2022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39D52-B05D-B2A2-BA40-4AB611ABE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73BDB9-3CBF-5482-8804-4B900BE88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88DB-FE26-CD45-83E9-B735079E290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0357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28FB3A-40EF-7448-DF38-3A5990EAC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E83E1B-129D-7001-469C-8ADC4FBABB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4EAEAF-3AB4-199A-8C2D-B1F0881F0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1C36A5-2FDF-90BC-9CBE-63B7B22D4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8DF-E400-F047-ACF8-169CD2F5E68C}" type="datetimeFigureOut">
              <a:rPr kumimoji="1" lang="ko-Kore-KR" altLang="en-US" smtClean="0"/>
              <a:t>06/05/2022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2B1577-15DE-A7B5-DBE9-EBD45EE9E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706136-7CD6-4981-E788-685EEE718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88DB-FE26-CD45-83E9-B735079E290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22010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7F507B-6BA3-1792-F95E-06F50349B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2A4EE4-7C57-3899-7315-285B383CD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1C9774-F37A-ABC0-E81D-DF6037538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41326F-253B-2B29-1633-B0F970171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C3C57E-6EE8-4E20-F96B-61D375B6D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B93DE5-A616-B770-1D2D-13672B39F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8DF-E400-F047-ACF8-169CD2F5E68C}" type="datetimeFigureOut">
              <a:rPr kumimoji="1" lang="ko-Kore-KR" altLang="en-US" smtClean="0"/>
              <a:t>06/05/2022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EAF4AA9-87A1-46B4-17EB-52AE07C1D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D8A978-CB81-0556-C244-146CA27DF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88DB-FE26-CD45-83E9-B735079E290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607346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020A68-B9FF-DDDD-C15E-D6C59FF1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C8DA21-014D-8EF6-68FF-FE6890359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8DF-E400-F047-ACF8-169CD2F5E68C}" type="datetimeFigureOut">
              <a:rPr kumimoji="1" lang="ko-Kore-KR" altLang="en-US" smtClean="0"/>
              <a:t>06/05/2022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379D74-BFE0-C11C-E24D-97B09532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961333-12E2-DB77-000C-066DB4D60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88DB-FE26-CD45-83E9-B735079E290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5804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9AB991-4ACB-FB2F-3453-03E69D18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8DF-E400-F047-ACF8-169CD2F5E68C}" type="datetimeFigureOut">
              <a:rPr kumimoji="1" lang="ko-Kore-KR" altLang="en-US" smtClean="0"/>
              <a:t>06/05/2022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76FDAF-94FB-9183-D3AA-CE3B2BA37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BD049C-3720-65F4-3524-10869504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88DB-FE26-CD45-83E9-B735079E290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3712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76BE17-19A0-BC5A-9B85-09C8E7A39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C7CE1C-42CC-A2C0-43ED-DC27254BC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70010A-388B-854A-159C-8D7B0054B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E6B1A0F-91BF-819B-4FE9-E150B1381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8DF-E400-F047-ACF8-169CD2F5E68C}" type="datetimeFigureOut">
              <a:rPr kumimoji="1" lang="ko-Kore-KR" altLang="en-US" smtClean="0"/>
              <a:t>06/05/2022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7E28ED-D2BB-B1E1-D10A-9A99F6179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A6E147-BED9-C322-AF5E-838B5544C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88DB-FE26-CD45-83E9-B735079E290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05813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94F530-20C8-30E6-8E96-DEAAB7C08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E8BA0A5-E362-4B8D-58F6-00B737A8C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3660C1-8828-3DC7-45B2-47CCC25EE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BC3C47-C9B4-00B1-C8C0-A3A6E82C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8DF-E400-F047-ACF8-169CD2F5E68C}" type="datetimeFigureOut">
              <a:rPr kumimoji="1" lang="ko-Kore-KR" altLang="en-US" smtClean="0"/>
              <a:t>06/05/2022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EF6ACB-3137-5CDC-1110-39B56F9E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7774C0-DFF1-D544-59E4-3582BBE5F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88DB-FE26-CD45-83E9-B735079E290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8373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53086-05DD-1673-A252-8D8AAB152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6608BB-5318-377F-270C-CEAFDE11F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B3C35B-E13C-BBB6-4A84-8DE0DDD9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8DF-E400-F047-ACF8-169CD2F5E68C}" type="datetimeFigureOut">
              <a:rPr kumimoji="1" lang="ko-Kore-KR" altLang="en-US" smtClean="0"/>
              <a:t>06/05/2022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E032A1-2696-64C3-0567-9C4EDA66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821454-830A-AF07-2C2B-19446BD60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88DB-FE26-CD45-83E9-B735079E290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04005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353660C-1A92-B529-0744-118C5CB621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A7D4DC-4A0B-F00B-7B1D-82C659557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AB9A35-C6F3-3443-5448-C272F185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8DF-E400-F047-ACF8-169CD2F5E68C}" type="datetimeFigureOut">
              <a:rPr kumimoji="1" lang="ko-Kore-KR" altLang="en-US" smtClean="0"/>
              <a:t>06/05/2022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DE056C-370E-0E71-498E-0C7AF8CE5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F9F156-F543-2E12-6712-19457E15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F588DB-FE26-CD45-83E9-B735079E290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8005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CE79E8-096A-8F9A-66DA-EDDA79833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693D6B-307D-ECEB-0EDC-EBBAD5125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B0CB29-9909-2A19-88A9-4D86A2E32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708DF-E400-F047-ACF8-169CD2F5E68C}" type="datetimeFigureOut">
              <a:rPr kumimoji="1" lang="ko-Kore-KR" altLang="en-US" smtClean="0"/>
              <a:t>06/05/2022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1B4E18-8FE1-C4EE-3A00-7ABA1F0D7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BE758C-D75C-5451-626B-BDF30D07CF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F588DB-FE26-CD45-83E9-B735079E290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14682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F354144-F57D-649C-D05C-838B3E43B9B1}"/>
              </a:ext>
            </a:extLst>
          </p:cNvPr>
          <p:cNvSpPr/>
          <p:nvPr/>
        </p:nvSpPr>
        <p:spPr>
          <a:xfrm>
            <a:off x="1266201" y="2093801"/>
            <a:ext cx="9659598" cy="83099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ko-Kore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" altLang="ko-Kore-KR" sz="2400" b="1" dirty="0"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Exploiting Cloze Questions for Few Shot Text</a:t>
            </a:r>
            <a:r>
              <a:rPr lang="en" altLang="ko-Kore-KR" sz="2400" b="1" dirty="0"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" altLang="ko-Kore-KR" sz="2400" b="1" dirty="0">
                <a:effectLst/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Classification and Natural Language Inference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CEFE6D-04AA-D36D-D80D-8A89377FBA28}"/>
              </a:ext>
            </a:extLst>
          </p:cNvPr>
          <p:cNvSpPr txBox="1"/>
          <p:nvPr/>
        </p:nvSpPr>
        <p:spPr>
          <a:xfrm>
            <a:off x="2357215" y="4469450"/>
            <a:ext cx="7477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ore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딥러닝</a:t>
            </a:r>
            <a:r>
              <a:rPr kumimoji="1" lang="ko-KR" altLang="en-US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논문읽기 모임</a:t>
            </a:r>
            <a:endParaRPr kumimoji="1" lang="en-US" altLang="ko-KR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자연어처리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팀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김재민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김지연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백지윤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주정헌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최상우</a:t>
            </a:r>
            <a:r>
              <a:rPr kumimoji="1" lang="en-US" altLang="ko-Kore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이기성</a:t>
            </a:r>
            <a:r>
              <a:rPr kumimoji="1" lang="en-US" altLang="ko-Kore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발표자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06546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E7EB307-C1A0-39A9-AFDA-19AACF90883B}"/>
              </a:ext>
            </a:extLst>
          </p:cNvPr>
          <p:cNvSpPr txBox="1"/>
          <p:nvPr/>
        </p:nvSpPr>
        <p:spPr>
          <a:xfrm>
            <a:off x="632388" y="427291"/>
            <a:ext cx="1709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400" dirty="0"/>
              <a:t>Content</a:t>
            </a:r>
            <a:endParaRPr kumimoji="1" lang="ko-Kore-KR" alt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042CEF-287D-8446-9720-F3A05DA22DF6}"/>
              </a:ext>
            </a:extLst>
          </p:cNvPr>
          <p:cNvSpPr txBox="1"/>
          <p:nvPr/>
        </p:nvSpPr>
        <p:spPr>
          <a:xfrm>
            <a:off x="632388" y="1690062"/>
            <a:ext cx="910981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ore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Background</a:t>
            </a:r>
          </a:p>
          <a:p>
            <a:pPr marL="342900" indent="-342900">
              <a:buAutoNum type="arabicPeriod"/>
            </a:pPr>
            <a:endParaRPr kumimoji="1" lang="en-US" altLang="ko-Kore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kumimoji="1" lang="en-US" altLang="ko-Kore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Introduction</a:t>
            </a:r>
          </a:p>
          <a:p>
            <a:pPr marL="342900" indent="-342900">
              <a:buAutoNum type="arabicPeriod"/>
            </a:pPr>
            <a:endParaRPr kumimoji="1" lang="en-US" altLang="ko-Kore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kumimoji="1" lang="en-US" altLang="ko-Kore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Pattern-</a:t>
            </a:r>
            <a:r>
              <a:rPr kumimoji="1" lang="en-US" altLang="ko-Kore-KR" sz="20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Exploting</a:t>
            </a:r>
            <a:r>
              <a:rPr kumimoji="1" lang="en-US" altLang="ko-Kore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Training</a:t>
            </a:r>
          </a:p>
          <a:p>
            <a:pPr marL="342900" indent="-342900">
              <a:buAutoNum type="arabicPeriod"/>
            </a:pPr>
            <a:endParaRPr kumimoji="1" lang="en-US" altLang="ko-Kore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kumimoji="1" lang="en-US" altLang="ko-Kore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Experiments</a:t>
            </a:r>
          </a:p>
          <a:p>
            <a:pPr marL="342900" indent="-342900">
              <a:buAutoNum type="arabicPeriod"/>
            </a:pPr>
            <a:endParaRPr kumimoji="1" lang="en-US" altLang="ko-Kore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kumimoji="1" lang="en-US" altLang="ko-Kore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Analysis</a:t>
            </a:r>
          </a:p>
          <a:p>
            <a:pPr marL="342900" indent="-342900">
              <a:buAutoNum type="arabicPeriod"/>
            </a:pPr>
            <a:endParaRPr kumimoji="1" lang="en-US" altLang="ko-Kore-KR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buAutoNum type="arabicPeriod"/>
            </a:pPr>
            <a:r>
              <a:rPr kumimoji="1" lang="en-US" altLang="ko-Kore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Conclusion</a:t>
            </a:r>
            <a:endParaRPr kumimoji="1" lang="ko-Kore-KR" altLang="en-US" sz="20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8652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2A827D-6276-FB9A-C4C6-213A2DABB32A}"/>
              </a:ext>
            </a:extLst>
          </p:cNvPr>
          <p:cNvSpPr txBox="1"/>
          <p:nvPr/>
        </p:nvSpPr>
        <p:spPr>
          <a:xfrm>
            <a:off x="4087738" y="2782669"/>
            <a:ext cx="4016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1. Background</a:t>
            </a:r>
            <a:endParaRPr kumimoji="1" lang="ko-Kore-KR" altLang="en-US" sz="3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7476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9DD00BF-8289-7F86-E8CE-77727A954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123" y="566678"/>
            <a:ext cx="3842575" cy="604367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870680-7FA9-8AB5-9F23-03771B33AA9A}"/>
              </a:ext>
            </a:extLst>
          </p:cNvPr>
          <p:cNvSpPr txBox="1"/>
          <p:nvPr/>
        </p:nvSpPr>
        <p:spPr>
          <a:xfrm>
            <a:off x="861783" y="566678"/>
            <a:ext cx="39499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Natural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Language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Tx/>
              <a:buChar char="-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" name="그림 7" descr="테이블이(가) 표시된 사진&#10;&#10;자동 생성된 설명">
            <a:extLst>
              <a:ext uri="{FF2B5EF4-FFF2-40B4-BE49-F238E27FC236}">
                <a16:creationId xmlns:a16="http://schemas.microsoft.com/office/drawing/2014/main" id="{04A0A5C4-B183-BA4A-E6E4-B372FF7DC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629" y="1997839"/>
            <a:ext cx="3524250" cy="21050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F9F7DB-DF27-D033-A9B7-6C7183238FBA}"/>
              </a:ext>
            </a:extLst>
          </p:cNvPr>
          <p:cNvSpPr txBox="1"/>
          <p:nvPr/>
        </p:nvSpPr>
        <p:spPr>
          <a:xfrm>
            <a:off x="5730240" y="566678"/>
            <a:ext cx="2041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Few shot</a:t>
            </a:r>
          </a:p>
        </p:txBody>
      </p:sp>
    </p:spTree>
    <p:extLst>
      <p:ext uri="{BB962C8B-B14F-4D97-AF65-F5344CB8AC3E}">
        <p14:creationId xmlns:p14="http://schemas.microsoft.com/office/powerpoint/2010/main" val="1534042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AA3BB0-7FB6-C7AB-C237-5B2FD895E493}"/>
              </a:ext>
            </a:extLst>
          </p:cNvPr>
          <p:cNvSpPr txBox="1"/>
          <p:nvPr/>
        </p:nvSpPr>
        <p:spPr>
          <a:xfrm>
            <a:off x="4087738" y="2782669"/>
            <a:ext cx="4016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6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2. </a:t>
            </a:r>
            <a:r>
              <a:rPr kumimoji="1" lang="en-US" altLang="ko-Kore-KR" sz="3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Introduction</a:t>
            </a:r>
            <a:endParaRPr kumimoji="1" lang="ko-Kore-KR" altLang="en-US" sz="3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2027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38F68B-3DD0-CF20-30D6-8E0D133054C8}"/>
              </a:ext>
            </a:extLst>
          </p:cNvPr>
          <p:cNvSpPr txBox="1"/>
          <p:nvPr/>
        </p:nvSpPr>
        <p:spPr>
          <a:xfrm>
            <a:off x="871671" y="1187866"/>
            <a:ext cx="92294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기존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NLP Task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들은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Labeled examples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가지고 학습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이러한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Labeled examples</a:t>
            </a:r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구축하는 것은 매우 많은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Cost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소모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Labeled examples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이라 하더라도 소규모일 경우에는 되려 성능이 떨어지는 문제가 존재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Tx/>
              <a:buChar char="-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Tx/>
              <a:buChar char="-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9A5E427-E035-E4F6-FE21-9445D1A5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671" y="3638810"/>
            <a:ext cx="51816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457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38F68B-3DD0-CF20-30D6-8E0D133054C8}"/>
              </a:ext>
            </a:extLst>
          </p:cNvPr>
          <p:cNvSpPr txBox="1"/>
          <p:nvPr/>
        </p:nvSpPr>
        <p:spPr>
          <a:xfrm>
            <a:off x="734939" y="1084140"/>
            <a:ext cx="922945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Task description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supervised learning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적용할 수 있다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Pattern-Exploiting Training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방식을 제안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742950" lvl="1" indent="-285750">
              <a:buFont typeface="Wingdings" pitchFamily="2" charset="2"/>
              <a:buChar char="ü"/>
            </a:pP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Input examples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Cloze-style phrases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재구성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단계를 거쳐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PET</a:t>
            </a:r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적용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PET</a:t>
            </a:r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iterative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하게 적용한 </a:t>
            </a:r>
            <a:r>
              <a:rPr kumimoji="1" lang="en-US" altLang="ko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iPET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적은 수의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Labeled examples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주어졌을 때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supervised learning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보다 뛰어난 성능을 보임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Tx/>
              <a:buChar char="-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50EE7CB-92A2-9705-A4F1-C0AAD7136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9536" y="1016950"/>
            <a:ext cx="4573839" cy="48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8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AA3BB0-7FB6-C7AB-C237-5B2FD895E493}"/>
              </a:ext>
            </a:extLst>
          </p:cNvPr>
          <p:cNvSpPr txBox="1"/>
          <p:nvPr/>
        </p:nvSpPr>
        <p:spPr>
          <a:xfrm>
            <a:off x="2251816" y="2782669"/>
            <a:ext cx="7688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3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</a:t>
            </a:r>
            <a:r>
              <a:rPr kumimoji="1" lang="en-US" altLang="ko-Kore-KR" sz="3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Pattern-Exploiting Training (PET)</a:t>
            </a:r>
            <a:endParaRPr kumimoji="1" lang="ko-Kore-KR" altLang="en-US" sz="3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4810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EA722D-178C-BAC9-884F-FE9482B97939}"/>
                  </a:ext>
                </a:extLst>
              </p:cNvPr>
              <p:cNvSpPr txBox="1"/>
              <p:nvPr/>
            </p:nvSpPr>
            <p:spPr>
              <a:xfrm>
                <a:off x="358924" y="871671"/>
                <a:ext cx="4734370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 &lt; Notation &gt;</a:t>
                </a:r>
              </a:p>
              <a:p>
                <a:endParaRPr kumimoji="1" lang="en-US" altLang="ko-Kore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: Masked Language Model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kumimoji="1" lang="en-US" altLang="ko-Kore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: Vocabulary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kumimoji="1" lang="en-US" altLang="ko-Kore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____ </a:t>
                </a:r>
                <a14:m>
                  <m:oMath xmlns:m="http://schemas.openxmlformats.org/officeDocument/2006/math">
                    <m:r>
                      <a:rPr kumimoji="1" lang="en-US" altLang="ko-Kore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: Mask Token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kumimoji="1" lang="en-US" altLang="ko-Kore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: Labels, Target classification task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kumimoji="1" lang="en-US" altLang="ko-Kore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ko-KR" b="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: Input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kumimoji="1" lang="en-US" altLang="ko-Kore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Pattern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kumimoji="1" lang="en-US" altLang="ko-Kore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kumimoji="1" lang="en-US" altLang="ko-Kore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kumimoji="1" lang="en-US" altLang="ko-Kore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: Pattern-verbalizer pair(PVP)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EA722D-178C-BAC9-884F-FE9482B97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24" y="871671"/>
                <a:ext cx="4734370" cy="4801314"/>
              </a:xfrm>
              <a:prstGeom prst="rect">
                <a:avLst/>
              </a:prstGeom>
              <a:blipFill>
                <a:blip r:embed="rId2"/>
                <a:stretch>
                  <a:fillRect l="-901" t="-635" b="-11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A43EFE-7DF5-36BB-E16C-503A924BD530}"/>
                  </a:ext>
                </a:extLst>
              </p:cNvPr>
              <p:cNvSpPr txBox="1"/>
              <p:nvPr/>
            </p:nvSpPr>
            <p:spPr>
              <a:xfrm>
                <a:off x="4922377" y="691666"/>
                <a:ext cx="7110101" cy="535531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 &lt; Example&gt;</a:t>
                </a:r>
              </a:p>
              <a:p>
                <a:endParaRPr kumimoji="1" lang="en-US" altLang="ko-Kore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1)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___, b.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kumimoji="1" lang="en-US" altLang="ko-Kore-KR" b="0" i="0" smtClean="0"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ore-KR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ko-Kore-KR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ko-Kore-KR" b="0" i="0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m:rPr>
                        <m:sty m:val="p"/>
                      </m:rPr>
                      <a:rPr kumimoji="1" lang="en-US" altLang="ko-Kore-KR" b="0" i="0" smtClean="0">
                        <a:latin typeface="Cambria Math" panose="02040503050406030204" pitchFamily="18" charset="0"/>
                      </a:rPr>
                      <m:t>Yes</m:t>
                    </m:r>
                    <m:r>
                      <a:rPr kumimoji="1" lang="en-US" altLang="ko-Kore-KR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ore-KR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kumimoji="1" lang="en-US" altLang="ko-Kore-KR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ore-KR" b="0" i="0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m:rPr>
                        <m:sty m:val="p"/>
                      </m:rPr>
                      <a:rPr kumimoji="1" lang="en-US" altLang="ko-Kore-KR" b="0" i="0" smtClean="0">
                        <a:latin typeface="Cambria Math" panose="02040503050406030204" pitchFamily="18" charset="0"/>
                      </a:rPr>
                      <m:t>No</m:t>
                    </m:r>
                  </m:oMath>
                </a14:m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= (Mia likes pie, Mia hates pie)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ko-Kore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= Mia likes pie? ___, Mia hates pie</a:t>
                </a:r>
              </a:p>
              <a:p>
                <a:endParaRPr kumimoji="1" lang="en-US" altLang="ko-Kore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2)</a:t>
                </a:r>
              </a:p>
              <a:p>
                <a:r>
                  <a:rPr kumimoji="1" lang="en-US" altLang="ko-Kore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Natural Language Inference (NLI)</a:t>
                </a:r>
              </a:p>
              <a:p>
                <a:endParaRPr kumimoji="1" lang="en-US" altLang="ko-Kore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문장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1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</a:t>
                </a:r>
                <a:r>
                  <a:rPr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빠른 답장과 간편한 체크인</a:t>
                </a: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:r>
                  <a:rPr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깨끗한 집 좋았어요</a:t>
                </a: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.</a:t>
                </a:r>
              </a:p>
              <a:p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문장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2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체크인이 복잡했어요</a:t>
                </a: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.</a:t>
                </a:r>
              </a:p>
              <a:p>
                <a:endParaRPr kumimoji="1" lang="en-US" altLang="ko-Kore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정답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Contradiction(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모순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)</a:t>
                </a:r>
              </a:p>
              <a:p>
                <a:endParaRPr kumimoji="1"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Verbalizer : Entailment </a:t>
                </a:r>
                <a14:m>
                  <m:oMath xmlns:m="http://schemas.openxmlformats.org/officeDocument/2006/math">
                    <m:r>
                      <a:rPr kumimoji="1" lang="en-US" altLang="ko-Kore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참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Contradiction </a:t>
                </a:r>
                <a14:m>
                  <m:oMath xmlns:m="http://schemas.openxmlformats.org/officeDocument/2006/math">
                    <m:r>
                      <a:rPr kumimoji="1" lang="en-US" altLang="ko-Kore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거짓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neutral </a:t>
                </a:r>
                <a14:m>
                  <m:oMath xmlns:m="http://schemas.openxmlformats.org/officeDocument/2006/math">
                    <m:r>
                      <a:rPr kumimoji="1" lang="en-US" altLang="ko-Kore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중립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</a:p>
              <a:p>
                <a:endParaRPr kumimoji="1" lang="en-US" altLang="ko-Kore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r>
                  <a:rPr kumimoji="1" lang="ko-Kore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패턴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‘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문장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1’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그래서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‘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문장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2’.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이 문장은 </a:t>
                </a:r>
                <a:r>
                  <a:rPr kumimoji="1" lang="ko-KR" altLang="en-US" u="sng" dirty="0">
                    <a:solidFill>
                      <a:srgbClr val="FF000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거짓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입니다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.</a:t>
                </a:r>
                <a:endParaRPr kumimoji="1" lang="en-US" altLang="ko-Kore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4A43EFE-7DF5-36BB-E16C-503A924BD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377" y="691666"/>
                <a:ext cx="7110101" cy="5355312"/>
              </a:xfrm>
              <a:prstGeom prst="rect">
                <a:avLst/>
              </a:prstGeom>
              <a:blipFill>
                <a:blip r:embed="rId3"/>
                <a:stretch>
                  <a:fillRect l="-598" t="-340" b="-680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990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83738A53-6E9F-8BFB-227C-C76D04FA1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0" y="2085767"/>
            <a:ext cx="3238500" cy="5842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297CCAE-EC20-6330-6215-67CC86791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50" y="4188034"/>
            <a:ext cx="3314700" cy="1003300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8DA57AB-2D6F-827B-576D-6FF3800015DF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6096000" y="2669967"/>
            <a:ext cx="0" cy="15180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E4EE1B-D944-D57B-6710-898DE498D440}"/>
              </a:ext>
            </a:extLst>
          </p:cNvPr>
          <p:cNvSpPr txBox="1"/>
          <p:nvPr/>
        </p:nvSpPr>
        <p:spPr>
          <a:xfrm>
            <a:off x="6195700" y="3244334"/>
            <a:ext cx="2803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Softmax</a:t>
            </a:r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79DE55-9CC6-CE96-0CCF-BCE8EF7D1E5D}"/>
              </a:ext>
            </a:extLst>
          </p:cNvPr>
          <p:cNvSpPr txBox="1"/>
          <p:nvPr/>
        </p:nvSpPr>
        <p:spPr>
          <a:xfrm>
            <a:off x="632388" y="427291"/>
            <a:ext cx="4341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PVP Training and Inference</a:t>
            </a:r>
            <a:endParaRPr kumimoji="1" lang="ko-Kore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780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C79DE55-9CC6-CE96-0CCF-BCE8EF7D1E5D}"/>
              </a:ext>
            </a:extLst>
          </p:cNvPr>
          <p:cNvSpPr txBox="1"/>
          <p:nvPr/>
        </p:nvSpPr>
        <p:spPr>
          <a:xfrm>
            <a:off x="632388" y="427291"/>
            <a:ext cx="4341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Auxiliary Language Modeling</a:t>
            </a:r>
            <a:endParaRPr kumimoji="1" lang="ko-Kore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DC9FF3-CB92-A54D-8026-42000FC0CE8F}"/>
              </a:ext>
            </a:extLst>
          </p:cNvPr>
          <p:cNvSpPr txBox="1"/>
          <p:nvPr/>
        </p:nvSpPr>
        <p:spPr>
          <a:xfrm>
            <a:off x="632388" y="1922805"/>
            <a:ext cx="9229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적은 수의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Training examples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학습하다 보면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Catastrophic forgetting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발생할 수 있다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MLM Loss</a:t>
            </a:r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추가하여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Final loss function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구성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Tx/>
              <a:buChar char="-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F19EF4-F9EB-331E-EAEA-B13BC1D83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6411" y="4016345"/>
            <a:ext cx="5399177" cy="74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468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C79DE55-9CC6-CE96-0CCF-BCE8EF7D1E5D}"/>
              </a:ext>
            </a:extLst>
          </p:cNvPr>
          <p:cNvSpPr txBox="1"/>
          <p:nvPr/>
        </p:nvSpPr>
        <p:spPr>
          <a:xfrm>
            <a:off x="632388" y="427291"/>
            <a:ext cx="4341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Combining PVPs</a:t>
            </a:r>
            <a:endParaRPr kumimoji="1" lang="ko-Kore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DC9FF3-CB92-A54D-8026-42000FC0CE8F}"/>
                  </a:ext>
                </a:extLst>
              </p:cNvPr>
              <p:cNvSpPr txBox="1"/>
              <p:nvPr/>
            </p:nvSpPr>
            <p:spPr>
              <a:xfrm>
                <a:off x="623842" y="1922805"/>
                <a:ext cx="9229458" cy="34591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다</a:t>
                </a:r>
                <a14:m>
                  <m:oMath xmlns:m="http://schemas.openxmlformats.org/officeDocument/2006/math">
                    <m:r>
                      <a:rPr kumimoji="1" lang="ko-KR" altLang="en-US" b="0" i="0" dirty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양한</m:t>
                    </m:r>
                    <m:r>
                      <a:rPr kumimoji="1" lang="ko-KR" altLang="en-US" b="0" i="0" dirty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ko-KR" b="0" i="0" dirty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PVP</m:t>
                    </m:r>
                    <m:r>
                      <a:rPr kumimoji="1" lang="ko-KR" altLang="en-US" b="0" i="0" dirty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를</m:t>
                    </m:r>
                    <m:r>
                      <a:rPr kumimoji="1" lang="ko-KR" altLang="en-US" b="0" i="0" dirty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 </m:t>
                    </m:r>
                    <m:r>
                      <a:rPr kumimoji="1" lang="ko-KR" altLang="en-US" b="0" i="0" dirty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가지는</m:t>
                    </m:r>
                    <m:r>
                      <a:rPr kumimoji="1" lang="ko-KR" altLang="en-US" b="0" i="0" dirty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ko-KR" dirty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M</m:t>
                    </m:r>
                    <m:r>
                      <m:rPr>
                        <m:sty m:val="p"/>
                      </m:rPr>
                      <a:rPr kumimoji="1" lang="en-US" altLang="ko-KR" b="0" i="0" dirty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odel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sSubPr>
                      <m:e>
                        <m:r>
                          <a:rPr kumimoji="1" lang="ko-KR" altLang="en-US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 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𝑀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𝑝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 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𝑓𝑜𝑟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𝑒𝑎𝑐h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𝑝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 ∈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을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Finetune</a:t>
                </a:r>
              </a:p>
              <a:p>
                <a:pPr marL="342900" indent="-342900">
                  <a:buAutoNum type="arabicPeriod"/>
                </a:pPr>
                <a:endParaRPr kumimoji="1"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342900" indent="-342900">
                  <a:buAutoNum type="arabicPeriod"/>
                </a:pP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Model </a:t>
                </a:r>
                <a14:m>
                  <m:oMath xmlns:m="http://schemas.openxmlformats.org/officeDocument/2006/math">
                    <m:r>
                      <a:rPr kumimoji="1"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={ </m:t>
                    </m:r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|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∈(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)}</m:t>
                    </m:r>
                  </m:oMath>
                </a14:m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들을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kumimoji="1" lang="ko-KR" altLang="en-US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앙상블하여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ko-KR" altLang="en-US" i="1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𝒟</m:t>
                    </m:r>
                  </m:oMath>
                </a14:m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(Unlabeled examples)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에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Soft labeling</a:t>
                </a:r>
              </a:p>
              <a:p>
                <a:pPr marL="342900" indent="-342900">
                  <a:buAutoNum type="arabicPeriod"/>
                </a:pPr>
                <a:endParaRPr kumimoji="1"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342900" indent="-342900">
                  <a:buAutoNum type="arabicPeriod"/>
                </a:pPr>
                <a:endParaRPr kumimoji="1"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342900" indent="-342900">
                  <a:buAutoNum type="arabicPeriod"/>
                </a:pPr>
                <a:endParaRPr kumimoji="1"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342900" indent="-342900">
                  <a:buAutoNum type="arabicPeriod"/>
                </a:pPr>
                <a:endParaRPr kumimoji="1"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342900" indent="-342900">
                  <a:buAutoNum type="arabicPeriod"/>
                </a:pPr>
                <a:endParaRPr kumimoji="1"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얻어진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Score 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값을 </a:t>
                </a:r>
                <a:r>
                  <a:rPr kumimoji="1" lang="en-US" altLang="ko-KR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softmax</a:t>
                </a:r>
                <a:r>
                  <a:rPr kumimoji="1" lang="ko-KR" altLang="en-US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를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통해 확률 분포로 변환하여 </a:t>
                </a:r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Soft labeled 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된 새로운 학습 데이터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sSubPr>
                      <m:e>
                        <m:r>
                          <a:rPr kumimoji="1" lang="ko-KR" altLang="en-US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𝒯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𝐶</m:t>
                        </m:r>
                      </m:sub>
                    </m:sSub>
                    <m:r>
                      <a:rPr kumimoji="1" lang="ko-KR" altLang="en-US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를</m:t>
                    </m:r>
                    <m:r>
                      <a:rPr kumimoji="1" lang="ko-KR" altLang="en-US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 </m:t>
                    </m:r>
                    <m:r>
                      <a:rPr kumimoji="1" lang="ko-KR" altLang="en-US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생성</m:t>
                    </m:r>
                  </m:oMath>
                </a14:m>
                <a:endParaRPr kumimoji="1"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kumimoji="1"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3.  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</m:ctrlPr>
                      </m:sSubPr>
                      <m:e>
                        <m:r>
                          <a:rPr kumimoji="1" lang="ko-KR" altLang="en-US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𝒯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NanumGothic" panose="020D0604000000000000" pitchFamily="34" charset="-127"/>
                          </a:rPr>
                          <m:t>𝐶</m:t>
                        </m:r>
                      </m:sub>
                    </m:sSub>
                    <m:r>
                      <a:rPr kumimoji="1" lang="ko-KR" altLang="en-US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를</m:t>
                    </m:r>
                    <m:r>
                      <a:rPr kumimoji="1" lang="ko-KR" altLang="en-US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 </m:t>
                    </m:r>
                    <m:r>
                      <a:rPr kumimoji="1" lang="ko-KR" altLang="en-US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활용해</m:t>
                    </m:r>
                    <m:r>
                      <a:rPr kumimoji="1" lang="ko-KR" altLang="en-US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 </m:t>
                    </m:r>
                    <m:r>
                      <a:rPr kumimoji="1" lang="ko-KR" altLang="en-US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새로운</m:t>
                    </m:r>
                    <m:r>
                      <a:rPr kumimoji="1" lang="ko-KR" altLang="en-US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ko-KR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PLM</m:t>
                    </m:r>
                    <m:r>
                      <a:rPr kumimoji="1" lang="en-US" altLang="ko-KR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 </m:t>
                    </m:r>
                    <m:r>
                      <m:rPr>
                        <m:sty m:val="p"/>
                      </m:rPr>
                      <a:rPr kumimoji="1" lang="en-US" altLang="ko-KR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C</m:t>
                    </m:r>
                    <m:r>
                      <a:rPr kumimoji="1" lang="ko-KR" altLang="en-US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를</m:t>
                    </m:r>
                    <m:r>
                      <a:rPr kumimoji="1" lang="ko-KR" altLang="en-US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 </m:t>
                    </m:r>
                    <m:r>
                      <a:rPr kumimoji="1" lang="ko-KR" altLang="en-US" b="0" i="0" smtClean="0">
                        <a:latin typeface="Cambria Math" panose="02040503050406030204" pitchFamily="18" charset="0"/>
                        <a:ea typeface="NanumGothic" panose="020D0604000000000000" pitchFamily="34" charset="-127"/>
                      </a:rPr>
                      <m:t>학습</m:t>
                    </m:r>
                  </m:oMath>
                </a14:m>
                <a:endParaRPr kumimoji="1"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DC9FF3-CB92-A54D-8026-42000FC0C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42" y="1922805"/>
                <a:ext cx="9229458" cy="3459152"/>
              </a:xfrm>
              <a:prstGeom prst="rect">
                <a:avLst/>
              </a:prstGeom>
              <a:blipFill>
                <a:blip r:embed="rId2"/>
                <a:stretch>
                  <a:fillRect l="-528" t="-528" b="-19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그림 1">
            <a:extLst>
              <a:ext uri="{FF2B5EF4-FFF2-40B4-BE49-F238E27FC236}">
                <a16:creationId xmlns:a16="http://schemas.microsoft.com/office/drawing/2014/main" id="{C3A0D533-753B-ACE7-B666-A6B6BF190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020" y="2868716"/>
            <a:ext cx="4114800" cy="1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78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C79DE55-9CC6-CE96-0CCF-BCE8EF7D1E5D}"/>
              </a:ext>
            </a:extLst>
          </p:cNvPr>
          <p:cNvSpPr txBox="1"/>
          <p:nvPr/>
        </p:nvSpPr>
        <p:spPr>
          <a:xfrm>
            <a:off x="632388" y="427291"/>
            <a:ext cx="4341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Iterative PET (</a:t>
            </a:r>
            <a:r>
              <a:rPr kumimoji="1" lang="en-US" altLang="ko-Kore-KR" sz="24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iPET</a:t>
            </a:r>
            <a:r>
              <a:rPr kumimoji="1" lang="en-US" altLang="ko-Kore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ore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CFAD6A-7635-8B3C-C8C6-C0882DF8D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334" y="1194064"/>
            <a:ext cx="9041332" cy="446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930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AA3BB0-7FB6-C7AB-C237-5B2FD895E493}"/>
              </a:ext>
            </a:extLst>
          </p:cNvPr>
          <p:cNvSpPr txBox="1"/>
          <p:nvPr/>
        </p:nvSpPr>
        <p:spPr>
          <a:xfrm>
            <a:off x="4017235" y="2782669"/>
            <a:ext cx="4157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3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</a:t>
            </a:r>
            <a:r>
              <a:rPr kumimoji="1" lang="en-US" altLang="ko-Kore-KR" sz="3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Experiments</a:t>
            </a:r>
            <a:endParaRPr kumimoji="1" lang="ko-Kore-KR" altLang="en-US" sz="3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531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C79DE55-9CC6-CE96-0CCF-BCE8EF7D1E5D}"/>
              </a:ext>
            </a:extLst>
          </p:cNvPr>
          <p:cNvSpPr txBox="1"/>
          <p:nvPr/>
        </p:nvSpPr>
        <p:spPr>
          <a:xfrm>
            <a:off x="632388" y="427291"/>
            <a:ext cx="4341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Patterns</a:t>
            </a:r>
            <a:endParaRPr kumimoji="1" lang="ko-Kore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7BEA35-7AB1-7DB0-EBAB-F03B2FEDDD5B}"/>
              </a:ext>
            </a:extLst>
          </p:cNvPr>
          <p:cNvSpPr txBox="1"/>
          <p:nvPr/>
        </p:nvSpPr>
        <p:spPr>
          <a:xfrm>
            <a:off x="632388" y="1256233"/>
            <a:ext cx="9229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문장 간의 구별은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“ || ”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활용 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Tx/>
              <a:buChar char="-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DCEAE-ADF1-6DEB-5A49-05E2C4742704}"/>
              </a:ext>
            </a:extLst>
          </p:cNvPr>
          <p:cNvSpPr txBox="1"/>
          <p:nvPr/>
        </p:nvSpPr>
        <p:spPr>
          <a:xfrm>
            <a:off x="632388" y="2119357"/>
            <a:ext cx="10895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Yelp : Review’s text</a:t>
            </a:r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통해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점부터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점까지 </a:t>
            </a:r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별점을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부여한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Dataset</a:t>
            </a:r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3A2663-5919-46AC-FDE3-4A6E0F436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950" y="2705482"/>
            <a:ext cx="4864100" cy="13589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CC20D7-CA90-B314-C78C-013EEE8BE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9082" y="4437047"/>
            <a:ext cx="47625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78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1793EC-C0DF-A465-6398-6CE34F1A36F8}"/>
              </a:ext>
            </a:extLst>
          </p:cNvPr>
          <p:cNvSpPr txBox="1"/>
          <p:nvPr/>
        </p:nvSpPr>
        <p:spPr>
          <a:xfrm>
            <a:off x="384560" y="658026"/>
            <a:ext cx="10895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2.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AG’s News :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뉴스 토픽 분류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Dataset</a:t>
            </a:r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47881D2-74C6-8931-2468-A5621BA8F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158" y="766729"/>
            <a:ext cx="3278736" cy="13522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081D93-3779-CD40-4EEE-D60E17A21F79}"/>
                  </a:ext>
                </a:extLst>
              </p:cNvPr>
              <p:cNvSpPr txBox="1"/>
              <p:nvPr/>
            </p:nvSpPr>
            <p:spPr>
              <a:xfrm>
                <a:off x="9072785" y="842689"/>
                <a:ext cx="338413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𝑊𝑜𝑟𝑙𝑑</m:t>
                    </m:r>
                  </m:oMath>
                </a14:m>
                <a:r>
                  <a:rPr kumimoji="1" lang="en-US" altLang="ko-KR" b="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𝑆𝑝𝑜𝑟𝑡𝑠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𝐵𝑢𝑠𝑖𝑛𝑒𝑠𝑠</m:t>
                    </m:r>
                  </m:oMath>
                </a14:m>
                <a:r>
                  <a:rPr kumimoji="1" lang="en-US" altLang="ko-KR" b="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𝑇𝑒𝑐h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ko-KR" b="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081D93-3779-CD40-4EEE-D60E17A21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785" y="842689"/>
                <a:ext cx="3384135" cy="12003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AB27A2C-36D2-0909-83AA-2214A7616B99}"/>
              </a:ext>
            </a:extLst>
          </p:cNvPr>
          <p:cNvSpPr txBox="1"/>
          <p:nvPr/>
        </p:nvSpPr>
        <p:spPr>
          <a:xfrm>
            <a:off x="384559" y="1258189"/>
            <a:ext cx="10895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3.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Yahoo :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문장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분류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Dataset, 10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개의 카테고리</a:t>
            </a:r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929E55-BC3B-78DC-208D-5D087CE1852A}"/>
              </a:ext>
            </a:extLst>
          </p:cNvPr>
          <p:cNvSpPr txBox="1"/>
          <p:nvPr/>
        </p:nvSpPr>
        <p:spPr>
          <a:xfrm>
            <a:off x="384558" y="2572928"/>
            <a:ext cx="10895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4.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MNLI : NLI Dataset</a:t>
            </a:r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FA207-AFE5-1EAB-A94B-E2D74907DEEC}"/>
              </a:ext>
            </a:extLst>
          </p:cNvPr>
          <p:cNvSpPr txBox="1"/>
          <p:nvPr/>
        </p:nvSpPr>
        <p:spPr>
          <a:xfrm>
            <a:off x="384557" y="4135589"/>
            <a:ext cx="108958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5.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X-Stance : Multilingual stance detection Dataset,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사회적 이슈에 관한 질문이 주어지고 그에 대한 답변이 주어질 때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답변이 질문에 찬성인지 반대인지 분류</a:t>
            </a:r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4812589-CF16-2F88-0E4E-060079CED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58" y="3058415"/>
            <a:ext cx="4927600" cy="5969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266D28C-2931-B753-D348-42CC13DD57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502" y="2956815"/>
            <a:ext cx="4851400" cy="8001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83B3722-7FF0-A92A-86B5-D4DA9705DE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558" y="4898030"/>
            <a:ext cx="4902200" cy="58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29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C79DE55-9CC6-CE96-0CCF-BCE8EF7D1E5D}"/>
              </a:ext>
            </a:extLst>
          </p:cNvPr>
          <p:cNvSpPr txBox="1"/>
          <p:nvPr/>
        </p:nvSpPr>
        <p:spPr>
          <a:xfrm>
            <a:off x="632388" y="427291"/>
            <a:ext cx="4341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Results</a:t>
            </a:r>
            <a:endParaRPr kumimoji="1" lang="ko-Kore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74C15CF-8E54-F713-08A2-DEF26F7D5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43" y="1500519"/>
            <a:ext cx="7904861" cy="385696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88A3860-604A-95CA-7126-46510CC89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926" y="2122132"/>
            <a:ext cx="4112931" cy="261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06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3315D6-12DC-E3A2-B530-5F2F2422B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1006830"/>
            <a:ext cx="5143500" cy="4978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284837-6917-1A85-8D70-9479E9A68599}"/>
              </a:ext>
            </a:extLst>
          </p:cNvPr>
          <p:cNvSpPr txBox="1"/>
          <p:nvPr/>
        </p:nvSpPr>
        <p:spPr>
          <a:xfrm>
            <a:off x="598205" y="683665"/>
            <a:ext cx="1914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X-Stance</a:t>
            </a:r>
          </a:p>
          <a:p>
            <a:pPr marL="285750" indent="-285750">
              <a:buFontTx/>
              <a:buChar char="-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58489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AA3BB0-7FB6-C7AB-C237-5B2FD895E493}"/>
              </a:ext>
            </a:extLst>
          </p:cNvPr>
          <p:cNvSpPr txBox="1"/>
          <p:nvPr/>
        </p:nvSpPr>
        <p:spPr>
          <a:xfrm>
            <a:off x="4617933" y="2782669"/>
            <a:ext cx="2956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3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5. Analysis</a:t>
            </a:r>
            <a:endParaRPr kumimoji="1" lang="ko-Kore-KR" altLang="en-US" sz="3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4261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C79DE55-9CC6-CE96-0CCF-BCE8EF7D1E5D}"/>
              </a:ext>
            </a:extLst>
          </p:cNvPr>
          <p:cNvSpPr txBox="1"/>
          <p:nvPr/>
        </p:nvSpPr>
        <p:spPr>
          <a:xfrm>
            <a:off x="632388" y="427291"/>
            <a:ext cx="4341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4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Combining PVPs</a:t>
            </a:r>
            <a:endParaRPr kumimoji="1" lang="ko-Kore-KR" altLang="en-US" sz="24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B4426E-5F22-620B-B0DD-BA77EC8DE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0" y="1974850"/>
            <a:ext cx="5308600" cy="290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748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C79DE55-9CC6-CE96-0CCF-BCE8EF7D1E5D}"/>
              </a:ext>
            </a:extLst>
          </p:cNvPr>
          <p:cNvSpPr txBox="1"/>
          <p:nvPr/>
        </p:nvSpPr>
        <p:spPr>
          <a:xfrm>
            <a:off x="291597" y="1432226"/>
            <a:ext cx="4341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ore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Auxiliary Language Modeling</a:t>
            </a:r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5DFFAF-9841-B775-4BA8-61C3A88D7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97" y="2031663"/>
            <a:ext cx="3572300" cy="245885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ECAFEC2-9A78-D427-E390-92F75A641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897" y="2031664"/>
            <a:ext cx="3583898" cy="2458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89E952-027B-C2DE-97BD-8D39BDE04194}"/>
              </a:ext>
            </a:extLst>
          </p:cNvPr>
          <p:cNvSpPr txBox="1"/>
          <p:nvPr/>
        </p:nvSpPr>
        <p:spPr>
          <a:xfrm>
            <a:off x="4303274" y="1432226"/>
            <a:ext cx="4341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Iterative PET</a:t>
            </a:r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B2E7870-9240-C2EB-AF0D-54FBD82A9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1315" y="2031663"/>
            <a:ext cx="3670636" cy="24588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546C5D-A98F-BCD9-6659-D920FADFD6D2}"/>
              </a:ext>
            </a:extLst>
          </p:cNvPr>
          <p:cNvSpPr txBox="1"/>
          <p:nvPr/>
        </p:nvSpPr>
        <p:spPr>
          <a:xfrm>
            <a:off x="8006141" y="1432226"/>
            <a:ext cx="4341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In-Domain Pretraining</a:t>
            </a:r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1312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AA3BB0-7FB6-C7AB-C237-5B2FD895E493}"/>
              </a:ext>
            </a:extLst>
          </p:cNvPr>
          <p:cNvSpPr txBox="1"/>
          <p:nvPr/>
        </p:nvSpPr>
        <p:spPr>
          <a:xfrm>
            <a:off x="4617933" y="2782669"/>
            <a:ext cx="3629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en-US" sz="3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6. Conclusion</a:t>
            </a:r>
            <a:endParaRPr kumimoji="1" lang="ko-Kore-KR" altLang="en-US" sz="3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3445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1727D8-9C78-5B36-E6F1-C276C5DEE084}"/>
              </a:ext>
            </a:extLst>
          </p:cNvPr>
          <p:cNvSpPr txBox="1"/>
          <p:nvPr/>
        </p:nvSpPr>
        <p:spPr>
          <a:xfrm>
            <a:off x="871670" y="1649531"/>
            <a:ext cx="96937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Cloze question pattern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과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verbalizers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pair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활용한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Pattern-Exploiting Training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방식 제안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초기 주어진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Training set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적을 경우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PET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방식으로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semi-supervised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활용해 큰 성능 향상을 이끌어 낼 수 있다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4753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544</Words>
  <Application>Microsoft Office PowerPoint</Application>
  <PresentationFormat>와이드스크린</PresentationFormat>
  <Paragraphs>128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NanumGothic</vt:lpstr>
      <vt:lpstr>나눔스퀘어</vt:lpstr>
      <vt:lpstr>나눔스퀘어 ExtraBold</vt:lpstr>
      <vt:lpstr>Arial</vt:lpstr>
      <vt:lpstr>Calibri</vt:lpstr>
      <vt:lpstr>Calibri Light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 기성</dc:creator>
  <cp:lastModifiedBy>이 기성</cp:lastModifiedBy>
  <cp:revision>7</cp:revision>
  <dcterms:created xsi:type="dcterms:W3CDTF">2022-06-04T07:08:12Z</dcterms:created>
  <dcterms:modified xsi:type="dcterms:W3CDTF">2022-06-05T09:16:24Z</dcterms:modified>
</cp:coreProperties>
</file>