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74b3f04b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74b3f04b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f908c20493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f908c20493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f908c20493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f908c20493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f908c20493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f908c20493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f9beb1d00d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f9beb1d00d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f9beb1d00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f9beb1d00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07e235671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07e235671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f975d4a44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f975d4a44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fa3d5529b8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fa3d5529b8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07e235671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07e235671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068bcb253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068bcb253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fa7235419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fa7235419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fa3d5529b8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fa3d5529b8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fa7235419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fa7235419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rxiv.org/abs/2104.09224" TargetMode="External"/><Relationship Id="rId4" Type="http://schemas.openxmlformats.org/officeDocument/2006/relationships/hyperlink" Target="https://arxiv.org/abs/2205.15997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14.png"/><Relationship Id="rId5" Type="http://schemas.openxmlformats.org/officeDocument/2006/relationships/hyperlink" Target="https://paperswithcode.com/sota/autonomous-driving-on-carla-leaderboard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4.png"/><Relationship Id="rId13" Type="http://schemas.openxmlformats.org/officeDocument/2006/relationships/image" Target="../media/image17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1.png"/><Relationship Id="rId15" Type="http://schemas.openxmlformats.org/officeDocument/2006/relationships/image" Target="../media/image15.png"/><Relationship Id="rId14" Type="http://schemas.openxmlformats.org/officeDocument/2006/relationships/image" Target="../media/image8.png"/><Relationship Id="rId17" Type="http://schemas.openxmlformats.org/officeDocument/2006/relationships/image" Target="../media/image22.png"/><Relationship Id="rId16" Type="http://schemas.openxmlformats.org/officeDocument/2006/relationships/image" Target="../media/image18.png"/><Relationship Id="rId5" Type="http://schemas.openxmlformats.org/officeDocument/2006/relationships/image" Target="../media/image6.png"/><Relationship Id="rId19" Type="http://schemas.openxmlformats.org/officeDocument/2006/relationships/image" Target="../media/image20.png"/><Relationship Id="rId6" Type="http://schemas.openxmlformats.org/officeDocument/2006/relationships/image" Target="../media/image2.png"/><Relationship Id="rId18" Type="http://schemas.openxmlformats.org/officeDocument/2006/relationships/image" Target="../media/image24.png"/><Relationship Id="rId7" Type="http://schemas.openxmlformats.org/officeDocument/2006/relationships/image" Target="../media/image7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32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hyperlink" Target="https://kaya-dev.tistory.com/26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104950"/>
            <a:ext cx="8520600" cy="181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280"/>
              <a:t>Multi-Modal Fusion Transformer for End-to-End Autonomous Driving</a:t>
            </a:r>
            <a:endParaRPr sz="32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691675" y="3675100"/>
            <a:ext cx="6747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/>
              <a:t>2021 CVPR </a:t>
            </a:r>
            <a:r>
              <a:rPr lang="ko" sz="1100">
                <a:solidFill>
                  <a:srgbClr val="F0F6FC"/>
                </a:solidFill>
              </a:rPr>
              <a:t> </a:t>
            </a:r>
            <a:r>
              <a:rPr lang="ko" sz="1100" u="sng">
                <a:solidFill>
                  <a:schemeClr val="hlink"/>
                </a:solidFill>
                <a:hlinkClick r:id="rId3"/>
              </a:rPr>
              <a:t>Multi-Modal Fusion Transformer for End-to-End Autonomous Driving</a:t>
            </a:r>
            <a:br>
              <a:rPr lang="ko" sz="1500"/>
            </a:br>
            <a:r>
              <a:rPr lang="ko" sz="1500"/>
              <a:t>(</a:t>
            </a:r>
            <a:r>
              <a:rPr lang="ko" sz="1500"/>
              <a:t>2023 PAMI </a:t>
            </a:r>
            <a:r>
              <a:rPr lang="ko" sz="1100" u="sng">
                <a:solidFill>
                  <a:schemeClr val="hlink"/>
                </a:solidFill>
                <a:hlinkClick r:id="rId4"/>
              </a:rPr>
              <a:t>TransFuser: Imitation with Transformer-Based Sensor Fusion for Autonomous Driving</a:t>
            </a:r>
            <a:r>
              <a:rPr lang="ko" sz="1100"/>
              <a:t>)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174825" y="48875"/>
            <a:ext cx="7679100" cy="4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000"/>
              <a:t>TransFuser - Introduction</a:t>
            </a:r>
            <a:endParaRPr sz="2000"/>
          </a:p>
        </p:txBody>
      </p:sp>
      <p:cxnSp>
        <p:nvCxnSpPr>
          <p:cNvPr id="61" name="Google Shape;61;p14"/>
          <p:cNvCxnSpPr/>
          <p:nvPr/>
        </p:nvCxnSpPr>
        <p:spPr>
          <a:xfrm>
            <a:off x="0" y="596375"/>
            <a:ext cx="914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7621" y="1505153"/>
            <a:ext cx="3821330" cy="243621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>
            <a:off x="5300875" y="2789800"/>
            <a:ext cx="3628800" cy="222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275" y="1527075"/>
            <a:ext cx="4954351" cy="239236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>
            <p:ph type="ctrTitle"/>
          </p:nvPr>
        </p:nvSpPr>
        <p:spPr>
          <a:xfrm>
            <a:off x="174825" y="759975"/>
            <a:ext cx="7756800" cy="4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700"/>
              <a:t>TransFuser: </a:t>
            </a:r>
            <a:r>
              <a:rPr lang="ko" sz="1100"/>
              <a:t>Multi-modal 데이터를 end-to-end 방식으로 처리하여 자율주행 시스템에 적용</a:t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233275" y="3941363"/>
            <a:ext cx="8438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chemeClr val="dk1"/>
                </a:solidFill>
              </a:rPr>
              <a:t>출처 : </a:t>
            </a:r>
            <a:r>
              <a:rPr lang="ko" sz="700" u="sng">
                <a:solidFill>
                  <a:schemeClr val="hlink"/>
                </a:solidFill>
                <a:hlinkClick r:id="rId5"/>
              </a:rPr>
              <a:t>https://paperswithcode.com/sota/autonomous-driving-on-carla-leaderboard</a:t>
            </a:r>
            <a:r>
              <a:rPr lang="ko" sz="700">
                <a:solidFill>
                  <a:schemeClr val="dk1"/>
                </a:solidFill>
              </a:rPr>
              <a:t> 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2970325" y="2866000"/>
            <a:ext cx="243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* CARLA 0.9.10 evaluation setting</a:t>
            </a:r>
            <a:br>
              <a:rPr lang="ko" sz="900"/>
            </a:br>
            <a:r>
              <a:rPr lang="ko" sz="900"/>
              <a:t>   involves complex multi-lane</a:t>
            </a:r>
            <a:br>
              <a:rPr lang="ko" sz="900"/>
            </a:br>
            <a:r>
              <a:rPr lang="ko" sz="900"/>
              <a:t>   intersections, adversarial scenarios,</a:t>
            </a:r>
            <a:br>
              <a:rPr lang="ko" sz="900"/>
            </a:br>
            <a:r>
              <a:rPr lang="ko" sz="900"/>
              <a:t>   and heavy infraction penalties.</a:t>
            </a:r>
            <a:endParaRPr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ctrTitle"/>
          </p:nvPr>
        </p:nvSpPr>
        <p:spPr>
          <a:xfrm>
            <a:off x="174825" y="48875"/>
            <a:ext cx="7679100" cy="4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000"/>
              <a:t>TransFuser - Introduction</a:t>
            </a:r>
            <a:endParaRPr sz="2000"/>
          </a:p>
        </p:txBody>
      </p:sp>
      <p:cxnSp>
        <p:nvCxnSpPr>
          <p:cNvPr id="73" name="Google Shape;73;p15"/>
          <p:cNvCxnSpPr/>
          <p:nvPr/>
        </p:nvCxnSpPr>
        <p:spPr>
          <a:xfrm>
            <a:off x="0" y="596375"/>
            <a:ext cx="914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" name="Google Shape;74;p15"/>
          <p:cNvSpPr txBox="1"/>
          <p:nvPr>
            <p:ph type="ctrTitle"/>
          </p:nvPr>
        </p:nvSpPr>
        <p:spPr>
          <a:xfrm>
            <a:off x="229650" y="1269775"/>
            <a:ext cx="8557500" cy="9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Malgun Gothic"/>
                <a:ea typeface="Malgun Gothic"/>
                <a:cs typeface="Malgun Gothic"/>
                <a:sym typeface="Malgun Gothic"/>
              </a:rPr>
              <a:t>LiDAR 에서는 신호등의 상태가, 카메라에서는 차량이 보이지 않음  =&gt; </a:t>
            </a:r>
            <a:r>
              <a:rPr lang="ko" sz="1100">
                <a:highlight>
                  <a:srgbClr val="1FF415"/>
                </a:highlight>
                <a:latin typeface="Malgun Gothic"/>
                <a:ea typeface="Malgun Gothic"/>
                <a:cs typeface="Malgun Gothic"/>
                <a:sym typeface="Malgun Gothic"/>
              </a:rPr>
              <a:t>Ego-vehicle</a:t>
            </a:r>
            <a:r>
              <a:rPr lang="ko" sz="1100">
                <a:latin typeface="Malgun Gothic"/>
                <a:ea typeface="Malgun Gothic"/>
                <a:cs typeface="Malgun Gothic"/>
                <a:sym typeface="Malgun Gothic"/>
              </a:rPr>
              <a:t> 이 </a:t>
            </a:r>
            <a:r>
              <a:rPr lang="ko" sz="1100">
                <a:highlight>
                  <a:srgbClr val="FCE608"/>
                </a:highlight>
                <a:latin typeface="Malgun Gothic"/>
                <a:ea typeface="Malgun Gothic"/>
                <a:cs typeface="Malgun Gothic"/>
                <a:sym typeface="Malgun Gothic"/>
              </a:rPr>
              <a:t>신호등</a:t>
            </a:r>
            <a:r>
              <a:rPr lang="ko" sz="1100">
                <a:latin typeface="Malgun Gothic"/>
                <a:ea typeface="Malgun Gothic"/>
                <a:cs typeface="Malgun Gothic"/>
                <a:sym typeface="Malgun Gothic"/>
              </a:rPr>
              <a:t>과 </a:t>
            </a:r>
            <a:r>
              <a:rPr lang="ko" sz="1100">
                <a:highlight>
                  <a:srgbClr val="FF0000"/>
                </a:highlight>
                <a:latin typeface="Malgun Gothic"/>
                <a:ea typeface="Malgun Gothic"/>
                <a:cs typeface="Malgun Gothic"/>
                <a:sym typeface="Malgun Gothic"/>
              </a:rPr>
              <a:t>차량</a:t>
            </a:r>
            <a:r>
              <a:rPr lang="ko" sz="1100">
                <a:latin typeface="Malgun Gothic"/>
                <a:ea typeface="Malgun Gothic"/>
                <a:cs typeface="Malgun Gothic"/>
                <a:sym typeface="Malgun Gothic"/>
              </a:rPr>
              <a:t> 간의 상호 작용(Global context) 을 파악해야 함</a:t>
            </a:r>
            <a:br>
              <a:rPr lang="ko" sz="1100"/>
            </a:br>
            <a:br>
              <a:rPr lang="ko" sz="1100"/>
            </a:br>
            <a:r>
              <a:rPr lang="ko" sz="1100"/>
              <a:t>Important Questions:</a:t>
            </a:r>
            <a:br>
              <a:rPr lang="ko" sz="1100"/>
            </a:br>
            <a:r>
              <a:rPr lang="ko" sz="1100"/>
              <a:t>1. Camera, Lidar </a:t>
            </a:r>
            <a:r>
              <a:rPr lang="ko" sz="1100"/>
              <a:t>를 통합해서 </a:t>
            </a:r>
            <a:r>
              <a:rPr lang="ko" sz="1100"/>
              <a:t>두 모달리티의 </a:t>
            </a:r>
            <a:r>
              <a:rPr lang="ko" sz="1100"/>
              <a:t>상호 보완적인 이점을 활용할 수 있을까?</a:t>
            </a:r>
            <a:br>
              <a:rPr lang="ko" sz="1100"/>
            </a:br>
            <a:r>
              <a:rPr lang="ko" sz="1100"/>
              <a:t>2. 최대 성능 향상을 위해 어떤 종류의 fusion mechanism 을 사용해야 하고 </a:t>
            </a:r>
            <a:r>
              <a:rPr lang="ko" sz="1100"/>
              <a:t>다른 모달리티들을 어디까지 독립적으로 처리해야할까?</a:t>
            </a:r>
            <a:endParaRPr sz="1700"/>
          </a:p>
        </p:txBody>
      </p:sp>
      <p:grpSp>
        <p:nvGrpSpPr>
          <p:cNvPr id="75" name="Google Shape;75;p15"/>
          <p:cNvGrpSpPr/>
          <p:nvPr/>
        </p:nvGrpSpPr>
        <p:grpSpPr>
          <a:xfrm>
            <a:off x="986473" y="2445598"/>
            <a:ext cx="7171055" cy="2385924"/>
            <a:chOff x="494025" y="1329573"/>
            <a:chExt cx="7803956" cy="2596500"/>
          </a:xfrm>
        </p:grpSpPr>
        <p:pic>
          <p:nvPicPr>
            <p:cNvPr id="76" name="Google Shape;76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4025" y="1329573"/>
              <a:ext cx="3196400" cy="259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842825" y="1365300"/>
              <a:ext cx="4455156" cy="25097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15"/>
            <p:cNvSpPr/>
            <p:nvPr/>
          </p:nvSpPr>
          <p:spPr>
            <a:xfrm>
              <a:off x="6921750" y="1406825"/>
              <a:ext cx="1186200" cy="498600"/>
            </a:xfrm>
            <a:prstGeom prst="rect">
              <a:avLst/>
            </a:prstGeom>
            <a:noFill/>
            <a:ln cap="flat" cmpd="sng" w="76200">
              <a:solidFill>
                <a:srgbClr val="FCE60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3967950" y="1958200"/>
              <a:ext cx="961800" cy="498600"/>
            </a:xfrm>
            <a:prstGeom prst="rect">
              <a:avLst/>
            </a:prstGeom>
            <a:noFill/>
            <a:ln cap="flat" cmpd="sng" w="76200">
              <a:solidFill>
                <a:srgbClr val="CB02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5348150" y="2421575"/>
              <a:ext cx="1444500" cy="1411500"/>
            </a:xfrm>
            <a:prstGeom prst="rect">
              <a:avLst/>
            </a:prstGeom>
            <a:noFill/>
            <a:ln cap="flat" cmpd="sng" w="76200">
              <a:solidFill>
                <a:srgbClr val="1FF4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15"/>
          <p:cNvSpPr txBox="1"/>
          <p:nvPr>
            <p:ph type="ctrTitle"/>
          </p:nvPr>
        </p:nvSpPr>
        <p:spPr>
          <a:xfrm>
            <a:off x="174825" y="683775"/>
            <a:ext cx="8253900" cy="4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700"/>
              <a:t>Global context: </a:t>
            </a:r>
            <a:r>
              <a:rPr lang="ko" sz="900"/>
              <a:t>환경에서 주변의 모든 정보에 대한 포괄적 이해</a:t>
            </a:r>
            <a:endParaRPr sz="1100"/>
          </a:p>
        </p:txBody>
      </p:sp>
      <p:sp>
        <p:nvSpPr>
          <p:cNvPr id="82" name="Google Shape;82;p15"/>
          <p:cNvSpPr txBox="1"/>
          <p:nvPr/>
        </p:nvSpPr>
        <p:spPr>
          <a:xfrm>
            <a:off x="986475" y="4781800"/>
            <a:ext cx="2905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/>
              <a:t>출처 : https://arxiv.org/pdf/2104.09224</a:t>
            </a:r>
            <a:endParaRPr sz="700"/>
          </a:p>
        </p:txBody>
      </p:sp>
      <p:sp>
        <p:nvSpPr>
          <p:cNvPr id="83" name="Google Shape;83;p15"/>
          <p:cNvSpPr txBox="1"/>
          <p:nvPr/>
        </p:nvSpPr>
        <p:spPr>
          <a:xfrm>
            <a:off x="4068700" y="4781800"/>
            <a:ext cx="2905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/>
              <a:t>출처 : </a:t>
            </a:r>
            <a:r>
              <a:rPr lang="ko" sz="700"/>
              <a:t>https://github.com/autonomousvision/transfuser</a:t>
            </a:r>
            <a:endParaRPr sz="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Google Shape;88;p16"/>
          <p:cNvCxnSpPr/>
          <p:nvPr/>
        </p:nvCxnSpPr>
        <p:spPr>
          <a:xfrm>
            <a:off x="0" y="596375"/>
            <a:ext cx="914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16"/>
          <p:cNvSpPr/>
          <p:nvPr/>
        </p:nvSpPr>
        <p:spPr>
          <a:xfrm>
            <a:off x="638825" y="2055701"/>
            <a:ext cx="840600" cy="25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Processing</a:t>
            </a:r>
            <a:endParaRPr sz="1000"/>
          </a:p>
        </p:txBody>
      </p:sp>
      <p:sp>
        <p:nvSpPr>
          <p:cNvPr id="90" name="Google Shape;90;p16"/>
          <p:cNvSpPr/>
          <p:nvPr/>
        </p:nvSpPr>
        <p:spPr>
          <a:xfrm>
            <a:off x="1563263" y="2055701"/>
            <a:ext cx="840600" cy="25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Processing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2487687" y="2055701"/>
            <a:ext cx="840600" cy="25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Processing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3412075" y="2055701"/>
            <a:ext cx="840600" cy="25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Processing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638825" y="1541575"/>
            <a:ext cx="3613800" cy="335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lt1"/>
                </a:solidFill>
              </a:rPr>
              <a:t>Input(sensors: Lidar, Camera)</a:t>
            </a:r>
            <a:endParaRPr sz="1000">
              <a:solidFill>
                <a:schemeClr val="lt1"/>
              </a:solidFill>
            </a:endParaRPr>
          </a:p>
        </p:txBody>
      </p:sp>
      <p:cxnSp>
        <p:nvCxnSpPr>
          <p:cNvPr id="94" name="Google Shape;94;p16"/>
          <p:cNvCxnSpPr>
            <a:stCxn id="89" idx="0"/>
          </p:cNvCxnSpPr>
          <p:nvPr/>
        </p:nvCxnSpPr>
        <p:spPr>
          <a:xfrm rot="10800000">
            <a:off x="1059125" y="1879901"/>
            <a:ext cx="0" cy="17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16"/>
          <p:cNvCxnSpPr/>
          <p:nvPr/>
        </p:nvCxnSpPr>
        <p:spPr>
          <a:xfrm rot="10800000">
            <a:off x="1983575" y="1879219"/>
            <a:ext cx="0" cy="17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6"/>
          <p:cNvCxnSpPr/>
          <p:nvPr/>
        </p:nvCxnSpPr>
        <p:spPr>
          <a:xfrm rot="10800000">
            <a:off x="2908000" y="1879219"/>
            <a:ext cx="0" cy="17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6"/>
          <p:cNvCxnSpPr/>
          <p:nvPr/>
        </p:nvCxnSpPr>
        <p:spPr>
          <a:xfrm rot="10800000">
            <a:off x="3832425" y="1878183"/>
            <a:ext cx="0" cy="17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16"/>
          <p:cNvSpPr/>
          <p:nvPr/>
        </p:nvSpPr>
        <p:spPr>
          <a:xfrm>
            <a:off x="638825" y="2492725"/>
            <a:ext cx="3613800" cy="27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Integrated Sensor Data</a:t>
            </a:r>
            <a:endParaRPr sz="1000"/>
          </a:p>
        </p:txBody>
      </p:sp>
      <p:cxnSp>
        <p:nvCxnSpPr>
          <p:cNvPr id="99" name="Google Shape;99;p16"/>
          <p:cNvCxnSpPr>
            <a:stCxn id="89" idx="2"/>
            <a:endCxn id="98" idx="0"/>
          </p:cNvCxnSpPr>
          <p:nvPr/>
        </p:nvCxnSpPr>
        <p:spPr>
          <a:xfrm>
            <a:off x="1059125" y="2314301"/>
            <a:ext cx="1386600" cy="17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6"/>
          <p:cNvCxnSpPr>
            <a:stCxn id="90" idx="2"/>
            <a:endCxn id="98" idx="0"/>
          </p:cNvCxnSpPr>
          <p:nvPr/>
        </p:nvCxnSpPr>
        <p:spPr>
          <a:xfrm>
            <a:off x="1983563" y="2314301"/>
            <a:ext cx="462300" cy="17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6"/>
          <p:cNvCxnSpPr>
            <a:stCxn id="91" idx="2"/>
            <a:endCxn id="98" idx="0"/>
          </p:cNvCxnSpPr>
          <p:nvPr/>
        </p:nvCxnSpPr>
        <p:spPr>
          <a:xfrm flipH="1">
            <a:off x="2445687" y="2314301"/>
            <a:ext cx="462300" cy="17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6"/>
          <p:cNvCxnSpPr>
            <a:stCxn id="92" idx="2"/>
            <a:endCxn id="98" idx="0"/>
          </p:cNvCxnSpPr>
          <p:nvPr/>
        </p:nvCxnSpPr>
        <p:spPr>
          <a:xfrm flipH="1">
            <a:off x="2445775" y="2314301"/>
            <a:ext cx="1386600" cy="17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6"/>
          <p:cNvCxnSpPr>
            <a:stCxn id="98" idx="2"/>
            <a:endCxn id="104" idx="0"/>
          </p:cNvCxnSpPr>
          <p:nvPr/>
        </p:nvCxnSpPr>
        <p:spPr>
          <a:xfrm>
            <a:off x="2445725" y="2762725"/>
            <a:ext cx="0" cy="49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" name="Google Shape;104;p16"/>
          <p:cNvSpPr/>
          <p:nvPr/>
        </p:nvSpPr>
        <p:spPr>
          <a:xfrm>
            <a:off x="638825" y="3253725"/>
            <a:ext cx="3613800" cy="33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Output(Command: Angle, Speed, Brake)</a:t>
            </a:r>
            <a:endParaRPr sz="1000"/>
          </a:p>
        </p:txBody>
      </p:sp>
      <p:sp>
        <p:nvSpPr>
          <p:cNvPr id="105" name="Google Shape;105;p16"/>
          <p:cNvSpPr/>
          <p:nvPr/>
        </p:nvSpPr>
        <p:spPr>
          <a:xfrm>
            <a:off x="4872725" y="2060175"/>
            <a:ext cx="3657300" cy="61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Model</a:t>
            </a:r>
            <a:endParaRPr sz="1000"/>
          </a:p>
        </p:txBody>
      </p:sp>
      <p:sp>
        <p:nvSpPr>
          <p:cNvPr id="106" name="Google Shape;106;p16"/>
          <p:cNvSpPr/>
          <p:nvPr/>
        </p:nvSpPr>
        <p:spPr>
          <a:xfrm>
            <a:off x="4869425" y="1541620"/>
            <a:ext cx="3657300" cy="335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lt1"/>
                </a:solidFill>
              </a:rPr>
              <a:t>Input(sensors: Lidar, Camera)</a:t>
            </a:r>
            <a:endParaRPr sz="1000">
              <a:solidFill>
                <a:schemeClr val="lt1"/>
              </a:solidFill>
            </a:endParaRPr>
          </a:p>
        </p:txBody>
      </p:sp>
      <p:cxnSp>
        <p:nvCxnSpPr>
          <p:cNvPr id="107" name="Google Shape;107;p16"/>
          <p:cNvCxnSpPr/>
          <p:nvPr/>
        </p:nvCxnSpPr>
        <p:spPr>
          <a:xfrm rot="10800000">
            <a:off x="5314850" y="1884382"/>
            <a:ext cx="0" cy="17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6"/>
          <p:cNvCxnSpPr/>
          <p:nvPr/>
        </p:nvCxnSpPr>
        <p:spPr>
          <a:xfrm rot="10800000">
            <a:off x="6239300" y="1884382"/>
            <a:ext cx="0" cy="17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16"/>
          <p:cNvCxnSpPr/>
          <p:nvPr/>
        </p:nvCxnSpPr>
        <p:spPr>
          <a:xfrm rot="10800000">
            <a:off x="7163725" y="1884382"/>
            <a:ext cx="0" cy="17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6"/>
          <p:cNvCxnSpPr/>
          <p:nvPr/>
        </p:nvCxnSpPr>
        <p:spPr>
          <a:xfrm rot="10800000">
            <a:off x="8088150" y="1883347"/>
            <a:ext cx="0" cy="17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" name="Google Shape;111;p16"/>
          <p:cNvSpPr txBox="1"/>
          <p:nvPr>
            <p:ph type="ctrTitle"/>
          </p:nvPr>
        </p:nvSpPr>
        <p:spPr>
          <a:xfrm>
            <a:off x="5618832" y="1188888"/>
            <a:ext cx="2158500" cy="27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00"/>
              <a:t>TransFuser</a:t>
            </a:r>
            <a:endParaRPr sz="1500"/>
          </a:p>
        </p:txBody>
      </p:sp>
      <p:sp>
        <p:nvSpPr>
          <p:cNvPr id="112" name="Google Shape;112;p16"/>
          <p:cNvSpPr txBox="1"/>
          <p:nvPr>
            <p:ph type="ctrTitle"/>
          </p:nvPr>
        </p:nvSpPr>
        <p:spPr>
          <a:xfrm>
            <a:off x="638825" y="1188875"/>
            <a:ext cx="3613800" cy="27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00"/>
              <a:t>Multi-Modal</a:t>
            </a:r>
            <a:r>
              <a:rPr lang="ko" sz="900"/>
              <a:t>(Early)</a:t>
            </a:r>
            <a:r>
              <a:rPr lang="ko" sz="1500"/>
              <a:t> w/ IL</a:t>
            </a:r>
            <a:r>
              <a:rPr lang="ko" sz="900"/>
              <a:t>(Imitation Learning)</a:t>
            </a:r>
            <a:endParaRPr sz="900"/>
          </a:p>
        </p:txBody>
      </p:sp>
      <p:sp>
        <p:nvSpPr>
          <p:cNvPr id="113" name="Google Shape;113;p16"/>
          <p:cNvSpPr txBox="1"/>
          <p:nvPr>
            <p:ph type="ctrTitle"/>
          </p:nvPr>
        </p:nvSpPr>
        <p:spPr>
          <a:xfrm>
            <a:off x="174825" y="683775"/>
            <a:ext cx="8253900" cy="4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700"/>
              <a:t>Transformer &amp; Waypoint Prediction</a:t>
            </a:r>
            <a:endParaRPr sz="1100"/>
          </a:p>
        </p:txBody>
      </p:sp>
      <p:sp>
        <p:nvSpPr>
          <p:cNvPr id="114" name="Google Shape;114;p16"/>
          <p:cNvSpPr/>
          <p:nvPr/>
        </p:nvSpPr>
        <p:spPr>
          <a:xfrm>
            <a:off x="638825" y="2822475"/>
            <a:ext cx="3613800" cy="27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Model</a:t>
            </a:r>
            <a:endParaRPr sz="1000"/>
          </a:p>
        </p:txBody>
      </p:sp>
      <p:sp>
        <p:nvSpPr>
          <p:cNvPr id="115" name="Google Shape;115;p16"/>
          <p:cNvSpPr/>
          <p:nvPr/>
        </p:nvSpPr>
        <p:spPr>
          <a:xfrm>
            <a:off x="4869850" y="3253875"/>
            <a:ext cx="3657300" cy="33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Controller</a:t>
            </a:r>
            <a:endParaRPr sz="1000"/>
          </a:p>
        </p:txBody>
      </p:sp>
      <p:cxnSp>
        <p:nvCxnSpPr>
          <p:cNvPr id="116" name="Google Shape;116;p16"/>
          <p:cNvCxnSpPr>
            <a:stCxn id="105" idx="2"/>
            <a:endCxn id="115" idx="0"/>
          </p:cNvCxnSpPr>
          <p:nvPr/>
        </p:nvCxnSpPr>
        <p:spPr>
          <a:xfrm flipH="1">
            <a:off x="6698375" y="2676675"/>
            <a:ext cx="3000" cy="57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" name="Google Shape;117;p16"/>
          <p:cNvSpPr txBox="1"/>
          <p:nvPr>
            <p:ph type="ctrTitle"/>
          </p:nvPr>
        </p:nvSpPr>
        <p:spPr>
          <a:xfrm>
            <a:off x="174825" y="48875"/>
            <a:ext cx="4345200" cy="4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000"/>
              <a:t>TransFuser - </a:t>
            </a:r>
            <a:r>
              <a:rPr lang="ko" sz="2000"/>
              <a:t>Contribution</a:t>
            </a:r>
            <a:endParaRPr sz="2000"/>
          </a:p>
        </p:txBody>
      </p:sp>
      <p:sp>
        <p:nvSpPr>
          <p:cNvPr id="118" name="Google Shape;118;p16"/>
          <p:cNvSpPr txBox="1"/>
          <p:nvPr/>
        </p:nvSpPr>
        <p:spPr>
          <a:xfrm>
            <a:off x="352800" y="3784938"/>
            <a:ext cx="84384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- 기존 </a:t>
            </a:r>
            <a:r>
              <a:rPr b="1" lang="ko" sz="1000">
                <a:solidFill>
                  <a:schemeClr val="dk1"/>
                </a:solidFill>
              </a:rPr>
              <a:t>Fusion</a:t>
            </a:r>
            <a:r>
              <a:rPr lang="ko" sz="1000">
                <a:solidFill>
                  <a:schemeClr val="dk1"/>
                </a:solidFill>
              </a:rPr>
              <a:t>(Early, Late, Joint) </a:t>
            </a:r>
            <a:r>
              <a:rPr b="1" lang="ko" sz="1000">
                <a:solidFill>
                  <a:schemeClr val="dk1"/>
                </a:solidFill>
              </a:rPr>
              <a:t>/</a:t>
            </a:r>
            <a:r>
              <a:rPr b="1" lang="ko" sz="1000">
                <a:solidFill>
                  <a:schemeClr val="dk1"/>
                </a:solidFill>
              </a:rPr>
              <a:t> Attention </a:t>
            </a:r>
            <a:r>
              <a:rPr b="1" lang="ko" sz="1000">
                <a:solidFill>
                  <a:schemeClr val="dk1"/>
                </a:solidFill>
              </a:rPr>
              <a:t>Mechanism</a:t>
            </a:r>
            <a:r>
              <a:rPr b="1" lang="ko" sz="1000">
                <a:solidFill>
                  <a:schemeClr val="dk1"/>
                </a:solidFill>
              </a:rPr>
              <a:t> </a:t>
            </a:r>
            <a:r>
              <a:rPr lang="ko" sz="1000">
                <a:solidFill>
                  <a:schemeClr val="dk1"/>
                </a:solidFill>
              </a:rPr>
              <a:t> 은 Global context 를 고려하지 못</a:t>
            </a:r>
            <a:r>
              <a:rPr lang="ko" sz="1000">
                <a:solidFill>
                  <a:schemeClr val="dk1"/>
                </a:solidFill>
              </a:rPr>
              <a:t>해 복잡한 도심 주행에 낮은 성능</a:t>
            </a:r>
            <a:br>
              <a:rPr lang="ko" sz="1000">
                <a:solidFill>
                  <a:schemeClr val="dk1"/>
                </a:solidFill>
              </a:rPr>
            </a:br>
            <a:r>
              <a:rPr lang="ko" sz="1000">
                <a:solidFill>
                  <a:schemeClr val="dk1"/>
                </a:solidFill>
              </a:rPr>
              <a:t>  : Fusion Mechanism - </a:t>
            </a:r>
            <a:r>
              <a:rPr lang="ko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데이터 별로 feature map을 추출하면 feature 추출 과정에서 global context 손실 발생</a:t>
            </a:r>
            <a:br>
              <a:rPr lang="ko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: Attention Mechanism - 기존 연구는 Multi-Modal 이나 3D 장면의 global context 인코딩을 고려하지 않음</a:t>
            </a:r>
            <a:br>
              <a:rPr lang="ko" sz="1000">
                <a:solidFill>
                  <a:schemeClr val="dk1"/>
                </a:solidFill>
              </a:rPr>
            </a:br>
            <a:r>
              <a:rPr lang="ko" sz="1000">
                <a:solidFill>
                  <a:schemeClr val="dk1"/>
                </a:solidFill>
              </a:rPr>
              <a:t>- 기</a:t>
            </a:r>
            <a:r>
              <a:rPr lang="ko" sz="1000">
                <a:solidFill>
                  <a:schemeClr val="dk1"/>
                </a:solidFill>
              </a:rPr>
              <a:t>존 </a:t>
            </a:r>
            <a:r>
              <a:rPr b="1" lang="ko" sz="1000">
                <a:solidFill>
                  <a:schemeClr val="dk1"/>
                </a:solidFill>
              </a:rPr>
              <a:t>Imitation Learning</a:t>
            </a:r>
            <a:r>
              <a:rPr lang="ko" sz="1000">
                <a:solidFill>
                  <a:schemeClr val="dk1"/>
                </a:solidFill>
              </a:rPr>
              <a:t>(IL) 기법은 즉각적인 운전 행동 (조향각, 가속, 브레이크 등) 을 출력으</a:t>
            </a:r>
            <a:r>
              <a:rPr lang="ko" sz="1000">
                <a:solidFill>
                  <a:schemeClr val="dk1"/>
                </a:solidFill>
              </a:rPr>
              <a:t>로 하여 복잡한 환경에서 성능 저하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⇒ TransFuser : 복잡한 도시 주행 시나리오에서 서로 다른 모달리티 간의 특징 융합과 Waypoint 예측을 통한 주행 안정성 검증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4872725" y="2792750"/>
            <a:ext cx="3657300" cy="25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Output(Waypoints)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/>
          <p:nvPr/>
        </p:nvSpPr>
        <p:spPr>
          <a:xfrm>
            <a:off x="174825" y="2910603"/>
            <a:ext cx="8832300" cy="159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174825" y="1182375"/>
            <a:ext cx="8832300" cy="130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 txBox="1"/>
          <p:nvPr>
            <p:ph type="ctrTitle"/>
          </p:nvPr>
        </p:nvSpPr>
        <p:spPr>
          <a:xfrm>
            <a:off x="174825" y="48875"/>
            <a:ext cx="7679100" cy="4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000"/>
              <a:t>TransFuser - Method</a:t>
            </a:r>
            <a:endParaRPr sz="2000"/>
          </a:p>
        </p:txBody>
      </p:sp>
      <p:cxnSp>
        <p:nvCxnSpPr>
          <p:cNvPr id="127" name="Google Shape;127;p17"/>
          <p:cNvCxnSpPr/>
          <p:nvPr/>
        </p:nvCxnSpPr>
        <p:spPr>
          <a:xfrm>
            <a:off x="0" y="596375"/>
            <a:ext cx="914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" name="Google Shape;128;p17"/>
          <p:cNvSpPr txBox="1"/>
          <p:nvPr>
            <p:ph type="ctrTitle"/>
          </p:nvPr>
        </p:nvSpPr>
        <p:spPr>
          <a:xfrm>
            <a:off x="174825" y="683775"/>
            <a:ext cx="8832300" cy="4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00"/>
              <a:t>Parameter In/Out</a:t>
            </a:r>
            <a:endParaRPr sz="1500"/>
          </a:p>
        </p:txBody>
      </p:sp>
      <p:sp>
        <p:nvSpPr>
          <p:cNvPr id="129" name="Google Shape;129;p17"/>
          <p:cNvSpPr/>
          <p:nvPr/>
        </p:nvSpPr>
        <p:spPr>
          <a:xfrm>
            <a:off x="943850" y="1303250"/>
            <a:ext cx="622200" cy="103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RGB </a:t>
            </a:r>
            <a:r>
              <a:rPr lang="ko" sz="1000"/>
              <a:t>IMAGE</a:t>
            </a:r>
            <a:endParaRPr sz="1000"/>
          </a:p>
        </p:txBody>
      </p:sp>
      <p:sp>
        <p:nvSpPr>
          <p:cNvPr id="130" name="Google Shape;130;p17"/>
          <p:cNvSpPr/>
          <p:nvPr/>
        </p:nvSpPr>
        <p:spPr>
          <a:xfrm>
            <a:off x="4852500" y="1303150"/>
            <a:ext cx="622200" cy="102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Lidar BEV</a:t>
            </a:r>
            <a:endParaRPr sz="1000"/>
          </a:p>
        </p:txBody>
      </p:sp>
      <p:pic>
        <p:nvPicPr>
          <p:cNvPr id="131" name="Google Shape;131;p17"/>
          <p:cNvPicPr preferRelativeResize="0"/>
          <p:nvPr/>
        </p:nvPicPr>
        <p:blipFill rotWithShape="1">
          <a:blip r:embed="rId3">
            <a:alphaModFix/>
          </a:blip>
          <a:srcRect b="19159" l="0" r="0" t="0"/>
          <a:stretch/>
        </p:blipFill>
        <p:spPr>
          <a:xfrm>
            <a:off x="5460175" y="1303126"/>
            <a:ext cx="1271449" cy="102782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2" name="Google Shape;13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6025" y="1311475"/>
            <a:ext cx="1271400" cy="102778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3" name="Google Shape;133;p17"/>
          <p:cNvSpPr txBox="1"/>
          <p:nvPr/>
        </p:nvSpPr>
        <p:spPr>
          <a:xfrm>
            <a:off x="6731625" y="1647700"/>
            <a:ext cx="2412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chemeClr val="dk1"/>
                </a:solidFill>
              </a:rPr>
              <a:t>* </a:t>
            </a:r>
            <a:r>
              <a:rPr b="1" lang="ko" sz="1000">
                <a:solidFill>
                  <a:schemeClr val="dk1"/>
                </a:solidFill>
              </a:rPr>
              <a:t>Bird's Eye View </a:t>
            </a:r>
            <a:r>
              <a:rPr lang="ko" sz="1000">
                <a:solidFill>
                  <a:schemeClr val="dk1"/>
                </a:solidFill>
              </a:rPr>
              <a:t>사용</a:t>
            </a:r>
            <a:br>
              <a:rPr lang="ko" sz="1000">
                <a:solidFill>
                  <a:schemeClr val="dk1"/>
                </a:solidFill>
              </a:rPr>
            </a:br>
            <a:r>
              <a:rPr lang="ko" sz="800">
                <a:solidFill>
                  <a:schemeClr val="dk1"/>
                </a:solidFill>
              </a:rPr>
              <a:t>- </a:t>
            </a:r>
            <a:r>
              <a:rPr b="1" lang="ko" sz="800">
                <a:solidFill>
                  <a:schemeClr val="dk1"/>
                </a:solidFill>
              </a:rPr>
              <a:t>32m × 32m</a:t>
            </a:r>
            <a:r>
              <a:rPr lang="ko" sz="800">
                <a:solidFill>
                  <a:schemeClr val="dk1"/>
                </a:solidFill>
              </a:rPr>
              <a:t> 크기의 BEV 격자 (</a:t>
            </a:r>
            <a:r>
              <a:rPr b="1" lang="ko" sz="800">
                <a:solidFill>
                  <a:schemeClr val="dk1"/>
                </a:solidFill>
              </a:rPr>
              <a:t>256 × 256</a:t>
            </a:r>
            <a:r>
              <a:rPr lang="ko" sz="800">
                <a:solidFill>
                  <a:schemeClr val="dk1"/>
                </a:solidFill>
              </a:rPr>
              <a:t> pixel)</a:t>
            </a:r>
            <a:br>
              <a:rPr lang="ko" sz="800">
                <a:solidFill>
                  <a:schemeClr val="dk1"/>
                </a:solidFill>
              </a:rPr>
            </a:br>
            <a:r>
              <a:rPr lang="ko" sz="800">
                <a:solidFill>
                  <a:schemeClr val="dk1"/>
                </a:solidFill>
              </a:rPr>
              <a:t>- 2-channel(on/below, above  the ground)</a:t>
            </a:r>
            <a:endParaRPr sz="1100"/>
          </a:p>
        </p:txBody>
      </p:sp>
      <p:sp>
        <p:nvSpPr>
          <p:cNvPr id="134" name="Google Shape;134;p17"/>
          <p:cNvSpPr txBox="1"/>
          <p:nvPr/>
        </p:nvSpPr>
        <p:spPr>
          <a:xfrm>
            <a:off x="2837425" y="1646638"/>
            <a:ext cx="205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chemeClr val="dk1"/>
                </a:solidFill>
              </a:rPr>
              <a:t>* </a:t>
            </a:r>
            <a:r>
              <a:rPr b="1" lang="ko" sz="1000">
                <a:solidFill>
                  <a:schemeClr val="dk1"/>
                </a:solidFill>
              </a:rPr>
              <a:t>전방 카메라</a:t>
            </a:r>
            <a:r>
              <a:rPr lang="ko" sz="1000">
                <a:solidFill>
                  <a:schemeClr val="dk1"/>
                </a:solidFill>
              </a:rPr>
              <a:t> 사용</a:t>
            </a:r>
            <a:br>
              <a:rPr lang="ko" sz="1000">
                <a:solidFill>
                  <a:schemeClr val="dk1"/>
                </a:solidFill>
              </a:rPr>
            </a:br>
            <a:r>
              <a:rPr lang="ko" sz="800">
                <a:solidFill>
                  <a:schemeClr val="dk1"/>
                </a:solidFill>
              </a:rPr>
              <a:t>- 시야각(FOV)은 </a:t>
            </a:r>
            <a:r>
              <a:rPr b="1" lang="ko" sz="800">
                <a:solidFill>
                  <a:schemeClr val="dk1"/>
                </a:solidFill>
              </a:rPr>
              <a:t>100도</a:t>
            </a:r>
            <a:r>
              <a:rPr lang="ko" sz="800">
                <a:solidFill>
                  <a:schemeClr val="dk1"/>
                </a:solidFill>
              </a:rPr>
              <a:t>, </a:t>
            </a:r>
            <a:r>
              <a:rPr b="1" lang="ko" sz="800">
                <a:solidFill>
                  <a:schemeClr val="dk1"/>
                </a:solidFill>
              </a:rPr>
              <a:t>256 × 256</a:t>
            </a:r>
            <a:r>
              <a:rPr lang="ko" sz="800">
                <a:solidFill>
                  <a:schemeClr val="dk1"/>
                </a:solidFill>
              </a:rPr>
              <a:t> pixel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936213" y="2978400"/>
            <a:ext cx="757500" cy="146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Future trajectory</a:t>
            </a:r>
            <a:endParaRPr sz="1000"/>
          </a:p>
        </p:txBody>
      </p:sp>
      <p:sp>
        <p:nvSpPr>
          <p:cNvPr id="136" name="Google Shape;136;p17"/>
          <p:cNvSpPr txBox="1"/>
          <p:nvPr/>
        </p:nvSpPr>
        <p:spPr>
          <a:xfrm>
            <a:off x="2965128" y="3479275"/>
            <a:ext cx="345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chemeClr val="dk1"/>
                </a:solidFill>
              </a:rPr>
              <a:t>* </a:t>
            </a:r>
            <a:r>
              <a:rPr b="1" lang="ko" sz="1000">
                <a:solidFill>
                  <a:schemeClr val="dk1"/>
                </a:solidFill>
              </a:rPr>
              <a:t>미래 경로</a:t>
            </a:r>
            <a:r>
              <a:rPr lang="ko" sz="1000">
                <a:solidFill>
                  <a:schemeClr val="dk1"/>
                </a:solidFill>
              </a:rPr>
              <a:t>(future trajectory)를 BEV 공간에서 예측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1"/>
                </a:solidFill>
              </a:rPr>
              <a:t>- 이 경로는 현재 좌표계 중심(0,0,0) 에서 시작</a:t>
            </a:r>
            <a:endParaRPr b="1" sz="700">
              <a:solidFill>
                <a:schemeClr val="dk1"/>
              </a:solidFill>
            </a:endParaRPr>
          </a:p>
        </p:txBody>
      </p:sp>
      <p:pic>
        <p:nvPicPr>
          <p:cNvPr id="137" name="Google Shape;137;p17"/>
          <p:cNvPicPr preferRelativeResize="0"/>
          <p:nvPr/>
        </p:nvPicPr>
        <p:blipFill rotWithShape="1">
          <a:blip r:embed="rId5">
            <a:alphaModFix/>
          </a:blip>
          <a:srcRect b="0" l="0" r="0" t="4039"/>
          <a:stretch/>
        </p:blipFill>
        <p:spPr>
          <a:xfrm>
            <a:off x="1693700" y="2978388"/>
            <a:ext cx="1271425" cy="1463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8" name="Google Shape;138;p17"/>
          <p:cNvSpPr/>
          <p:nvPr/>
        </p:nvSpPr>
        <p:spPr>
          <a:xfrm>
            <a:off x="174825" y="4586450"/>
            <a:ext cx="8832300" cy="33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I</a:t>
            </a:r>
            <a:r>
              <a:rPr lang="ko" sz="1100">
                <a:solidFill>
                  <a:schemeClr val="dk1"/>
                </a:solidFill>
              </a:rPr>
              <a:t>nverse dynamics model (PID controller)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5903925" y="4586500"/>
            <a:ext cx="221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chemeClr val="dk1"/>
                </a:solidFill>
              </a:rPr>
              <a:t>* 주행 명령</a:t>
            </a:r>
            <a:r>
              <a:rPr lang="ko" sz="1000">
                <a:solidFill>
                  <a:schemeClr val="dk1"/>
                </a:solidFill>
              </a:rPr>
              <a:t>(steer, throttle, brake) 출력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174950" y="2574850"/>
            <a:ext cx="8832300" cy="25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MODEL</a:t>
            </a:r>
            <a:endParaRPr sz="1100"/>
          </a:p>
        </p:txBody>
      </p:sp>
      <p:sp>
        <p:nvSpPr>
          <p:cNvPr id="141" name="Google Shape;141;p17"/>
          <p:cNvSpPr txBox="1"/>
          <p:nvPr/>
        </p:nvSpPr>
        <p:spPr>
          <a:xfrm>
            <a:off x="251025" y="1647700"/>
            <a:ext cx="68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ko" sz="1200">
                <a:solidFill>
                  <a:srgbClr val="262626"/>
                </a:solidFill>
              </a:rPr>
              <a:t>Input</a:t>
            </a:r>
            <a:endParaRPr b="1" sz="1200"/>
          </a:p>
        </p:txBody>
      </p:sp>
      <p:sp>
        <p:nvSpPr>
          <p:cNvPr id="142" name="Google Shape;142;p17"/>
          <p:cNvSpPr txBox="1"/>
          <p:nvPr/>
        </p:nvSpPr>
        <p:spPr>
          <a:xfrm>
            <a:off x="251026" y="3552191"/>
            <a:ext cx="82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ko" sz="1200">
                <a:solidFill>
                  <a:srgbClr val="262626"/>
                </a:solidFill>
              </a:rPr>
              <a:t>Output</a:t>
            </a:r>
            <a:endParaRPr b="1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>
            <p:ph type="ctrTitle"/>
          </p:nvPr>
        </p:nvSpPr>
        <p:spPr>
          <a:xfrm>
            <a:off x="174825" y="48875"/>
            <a:ext cx="7679100" cy="4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000"/>
              <a:t>TransFuser - Method</a:t>
            </a:r>
            <a:endParaRPr sz="2000"/>
          </a:p>
        </p:txBody>
      </p:sp>
      <p:cxnSp>
        <p:nvCxnSpPr>
          <p:cNvPr id="148" name="Google Shape;148;p18"/>
          <p:cNvCxnSpPr/>
          <p:nvPr/>
        </p:nvCxnSpPr>
        <p:spPr>
          <a:xfrm>
            <a:off x="0" y="596375"/>
            <a:ext cx="914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9" name="Google Shape;14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288" y="1182376"/>
            <a:ext cx="7485416" cy="25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>
            <p:ph type="ctrTitle"/>
          </p:nvPr>
        </p:nvSpPr>
        <p:spPr>
          <a:xfrm>
            <a:off x="174825" y="683775"/>
            <a:ext cx="8832300" cy="4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00"/>
              <a:t>Multi-Modal Fusion Transformer(TransFuser):</a:t>
            </a:r>
            <a:r>
              <a:rPr lang="ko" sz="1700"/>
              <a:t> </a:t>
            </a:r>
            <a:r>
              <a:rPr lang="ko" sz="1300"/>
              <a:t>ResNet</a:t>
            </a:r>
            <a:r>
              <a:rPr lang="ko" sz="900"/>
              <a:t>(CNN + Residual connection)</a:t>
            </a:r>
            <a:r>
              <a:rPr lang="ko" sz="1500"/>
              <a:t> + </a:t>
            </a:r>
            <a:r>
              <a:rPr lang="ko" sz="1300"/>
              <a:t>Transformer</a:t>
            </a:r>
            <a:r>
              <a:rPr lang="ko" sz="900"/>
              <a:t>(Self-attention)</a:t>
            </a:r>
            <a:endParaRPr sz="1500"/>
          </a:p>
        </p:txBody>
      </p:sp>
      <p:sp>
        <p:nvSpPr>
          <p:cNvPr id="151" name="Google Shape;151;p18"/>
          <p:cNvSpPr/>
          <p:nvPr/>
        </p:nvSpPr>
        <p:spPr>
          <a:xfrm>
            <a:off x="5538975" y="1549025"/>
            <a:ext cx="442500" cy="197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5538975" y="3369375"/>
            <a:ext cx="442500" cy="197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1632450" y="1549025"/>
            <a:ext cx="774900" cy="759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1632450" y="2806575"/>
            <a:ext cx="774900" cy="759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352800" y="3861138"/>
            <a:ext cx="8438400" cy="8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Multi-Modal Fusion Transformer(Transfuser)</a:t>
            </a:r>
            <a:br>
              <a:rPr lang="ko" sz="1000">
                <a:solidFill>
                  <a:schemeClr val="dk1"/>
                </a:solidFill>
              </a:rPr>
            </a:br>
            <a:r>
              <a:rPr lang="ko" sz="1000">
                <a:solidFill>
                  <a:schemeClr val="dk1"/>
                </a:solidFill>
              </a:rPr>
              <a:t>- 특징 추출 : ResNet34 와 ResNet18 은 각각 Image 와 LiDAR 데이터의 Encoder 역할을 함</a:t>
            </a:r>
            <a:br>
              <a:rPr lang="ko" sz="1000">
                <a:solidFill>
                  <a:schemeClr val="dk1"/>
                </a:solidFill>
              </a:rPr>
            </a:br>
            <a:r>
              <a:rPr lang="ko" sz="1000">
                <a:solidFill>
                  <a:schemeClr val="dk1"/>
                </a:solidFill>
              </a:rPr>
              <a:t>- 특징 융합 : Encoding 된 각 모달리티의 특징은 Transformer 를 통해서 융합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3316875" y="2090313"/>
            <a:ext cx="2374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solidFill>
                  <a:srgbClr val="FF0000"/>
                </a:solidFill>
              </a:rPr>
              <a:t>* Residual Connection: 깊은 네트워크를 안정적으로 학습</a:t>
            </a:r>
            <a:endParaRPr sz="600">
              <a:solidFill>
                <a:srgbClr val="FF0000"/>
              </a:solidFill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2107625" y="2363950"/>
            <a:ext cx="511500" cy="387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3325050" y="1902225"/>
            <a:ext cx="240900" cy="197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2107625" y="1341725"/>
            <a:ext cx="741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solidFill>
                  <a:srgbClr val="FF0000"/>
                </a:solidFill>
              </a:rPr>
              <a:t>* CNN: 특징 추출</a:t>
            </a:r>
            <a:endParaRPr sz="600">
              <a:solidFill>
                <a:srgbClr val="FF0000"/>
              </a:solidFill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2532750" y="2294850"/>
            <a:ext cx="103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solidFill>
                  <a:srgbClr val="FF0000"/>
                </a:solidFill>
              </a:rPr>
              <a:t>* Transformer: 특징 융합</a:t>
            </a:r>
            <a:endParaRPr sz="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>
            <p:ph type="ctrTitle"/>
          </p:nvPr>
        </p:nvSpPr>
        <p:spPr>
          <a:xfrm>
            <a:off x="174825" y="48875"/>
            <a:ext cx="7679100" cy="4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000"/>
              <a:t>TransFuser - Method</a:t>
            </a:r>
            <a:endParaRPr sz="2000"/>
          </a:p>
        </p:txBody>
      </p:sp>
      <p:cxnSp>
        <p:nvCxnSpPr>
          <p:cNvPr id="166" name="Google Shape;166;p19"/>
          <p:cNvCxnSpPr/>
          <p:nvPr/>
        </p:nvCxnSpPr>
        <p:spPr>
          <a:xfrm>
            <a:off x="0" y="596375"/>
            <a:ext cx="914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19"/>
          <p:cNvSpPr txBox="1"/>
          <p:nvPr>
            <p:ph type="ctrTitle"/>
          </p:nvPr>
        </p:nvSpPr>
        <p:spPr>
          <a:xfrm>
            <a:off x="174825" y="683775"/>
            <a:ext cx="7756800" cy="4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700"/>
              <a:t>Transformer: </a:t>
            </a:r>
            <a:r>
              <a:rPr lang="ko" sz="1100">
                <a:latin typeface="Malgun Gothic"/>
                <a:ea typeface="Malgun Gothic"/>
                <a:cs typeface="Malgun Gothic"/>
                <a:sym typeface="Malgun Gothic"/>
              </a:rPr>
              <a:t>입력 값의 각 원소가 전체적인 입력값의 어느 부분을 더 주목해야 하는지 반영(self-attention + FFN)</a:t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8" name="Google Shape;168;p19"/>
          <p:cNvGrpSpPr/>
          <p:nvPr/>
        </p:nvGrpSpPr>
        <p:grpSpPr>
          <a:xfrm>
            <a:off x="277538" y="1182377"/>
            <a:ext cx="3504305" cy="3579243"/>
            <a:chOff x="283117" y="1221463"/>
            <a:chExt cx="3204083" cy="3272600"/>
          </a:xfrm>
        </p:grpSpPr>
        <p:grpSp>
          <p:nvGrpSpPr>
            <p:cNvPr id="169" name="Google Shape;169;p19"/>
            <p:cNvGrpSpPr/>
            <p:nvPr/>
          </p:nvGrpSpPr>
          <p:grpSpPr>
            <a:xfrm>
              <a:off x="283117" y="1422163"/>
              <a:ext cx="3204077" cy="3071900"/>
              <a:chOff x="1614242" y="1294788"/>
              <a:chExt cx="3204077" cy="3071900"/>
            </a:xfrm>
          </p:grpSpPr>
          <p:pic>
            <p:nvPicPr>
              <p:cNvPr id="170" name="Google Shape;170;p1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614242" y="1294788"/>
                <a:ext cx="3204077" cy="30478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1" name="Google Shape;171;p19"/>
              <p:cNvSpPr/>
              <p:nvPr/>
            </p:nvSpPr>
            <p:spPr>
              <a:xfrm>
                <a:off x="1614250" y="1318688"/>
                <a:ext cx="3204000" cy="3048000"/>
              </a:xfrm>
              <a:prstGeom prst="rect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2" name="Google Shape;172;p19"/>
            <p:cNvSpPr txBox="1"/>
            <p:nvPr/>
          </p:nvSpPr>
          <p:spPr>
            <a:xfrm>
              <a:off x="2454000" y="1221463"/>
              <a:ext cx="1033200" cy="25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600">
                  <a:solidFill>
                    <a:srgbClr val="FF0000"/>
                  </a:solidFill>
                </a:rPr>
                <a:t>* Transformer: 특징 융합</a:t>
              </a:r>
              <a:endParaRPr sz="600">
                <a:solidFill>
                  <a:srgbClr val="FF0000"/>
                </a:solidFill>
              </a:endParaRPr>
            </a:p>
          </p:txBody>
        </p:sp>
      </p:grpSp>
      <p:sp>
        <p:nvSpPr>
          <p:cNvPr id="173" name="Google Shape;173;p19"/>
          <p:cNvSpPr/>
          <p:nvPr/>
        </p:nvSpPr>
        <p:spPr>
          <a:xfrm>
            <a:off x="868450" y="2110450"/>
            <a:ext cx="840600" cy="19050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4" name="Google Shape;174;p19"/>
          <p:cNvCxnSpPr>
            <a:stCxn id="173" idx="0"/>
            <a:endCxn id="175" idx="1"/>
          </p:cNvCxnSpPr>
          <p:nvPr/>
        </p:nvCxnSpPr>
        <p:spPr>
          <a:xfrm>
            <a:off x="1288750" y="2110450"/>
            <a:ext cx="2739300" cy="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" name="Google Shape;176;p19"/>
          <p:cNvSpPr/>
          <p:nvPr/>
        </p:nvSpPr>
        <p:spPr>
          <a:xfrm>
            <a:off x="1665200" y="2496300"/>
            <a:ext cx="781500" cy="10710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4027900" y="1413525"/>
            <a:ext cx="3987900" cy="14034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246201" y="1929125"/>
            <a:ext cx="1154700" cy="389400"/>
          </a:xfrm>
          <a:prstGeom prst="rect">
            <a:avLst/>
          </a:prstGeom>
          <a:solidFill>
            <a:srgbClr val="C9DAF7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5246174" y="1459700"/>
            <a:ext cx="1154700" cy="420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5246206" y="15689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1"/>
                </a:solidFill>
              </a:rPr>
              <a:t>RGB feature map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5246151" y="1981019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1"/>
                </a:solidFill>
              </a:rPr>
              <a:t>LiDAR feature map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5246200" y="2443700"/>
            <a:ext cx="1154700" cy="3078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1"/>
                </a:solidFill>
              </a:rPr>
              <a:t>Velocity embedding</a:t>
            </a:r>
            <a:endParaRPr sz="800">
              <a:solidFill>
                <a:schemeClr val="dk1"/>
              </a:solidFill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8072" y="1536456"/>
            <a:ext cx="441453" cy="35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8072" y="1953668"/>
            <a:ext cx="441451" cy="356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93158" y="1479227"/>
            <a:ext cx="101766" cy="68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06316" y="1741093"/>
            <a:ext cx="101759" cy="81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13855" y="1560484"/>
            <a:ext cx="86684" cy="81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16868" y="2443677"/>
            <a:ext cx="601132" cy="81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40308" y="1997301"/>
            <a:ext cx="86684" cy="81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06316" y="2186686"/>
            <a:ext cx="101759" cy="81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39753" y="2310605"/>
            <a:ext cx="101766" cy="683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>
            <a:stCxn id="182" idx="3"/>
            <a:endCxn id="179" idx="1"/>
          </p:cNvCxnSpPr>
          <p:nvPr/>
        </p:nvCxnSpPr>
        <p:spPr>
          <a:xfrm>
            <a:off x="4949526" y="1715806"/>
            <a:ext cx="2967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19"/>
          <p:cNvCxnSpPr>
            <a:stCxn id="183" idx="3"/>
            <a:endCxn id="180" idx="1"/>
          </p:cNvCxnSpPr>
          <p:nvPr/>
        </p:nvCxnSpPr>
        <p:spPr>
          <a:xfrm>
            <a:off x="4949523" y="2132132"/>
            <a:ext cx="2967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105598" y="2547742"/>
            <a:ext cx="932790" cy="810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4" name="Google Shape;194;p19"/>
          <p:cNvCxnSpPr>
            <a:stCxn id="193" idx="3"/>
            <a:endCxn id="181" idx="1"/>
          </p:cNvCxnSpPr>
          <p:nvPr/>
        </p:nvCxnSpPr>
        <p:spPr>
          <a:xfrm>
            <a:off x="5038388" y="2588245"/>
            <a:ext cx="2079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95" name="Google Shape;195;p1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696215" y="2324734"/>
            <a:ext cx="101747" cy="94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493709" y="2087596"/>
            <a:ext cx="101747" cy="9467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/>
          <p:nvPr/>
        </p:nvSpPr>
        <p:spPr>
          <a:xfrm>
            <a:off x="6688300" y="1935250"/>
            <a:ext cx="1199700" cy="38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/>
              <a:t>Position embedding</a:t>
            </a:r>
            <a:endParaRPr sz="700"/>
          </a:p>
        </p:txBody>
      </p:sp>
      <p:pic>
        <p:nvPicPr>
          <p:cNvPr id="198" name="Google Shape;198;p1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764496" y="1953661"/>
            <a:ext cx="1047331" cy="71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811828" y="1881790"/>
            <a:ext cx="86689" cy="88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290515" y="1972533"/>
            <a:ext cx="958701" cy="81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303475" y="1503602"/>
            <a:ext cx="932790" cy="7881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6688304" y="2382950"/>
            <a:ext cx="11547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solidFill>
                  <a:schemeClr val="dk1"/>
                </a:solidFill>
              </a:rPr>
              <a:t>* SeqLength = 1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4027900" y="2905375"/>
            <a:ext cx="4766700" cy="18564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4" name="Google Shape;204;p19"/>
          <p:cNvCxnSpPr>
            <a:stCxn id="176" idx="2"/>
          </p:cNvCxnSpPr>
          <p:nvPr/>
        </p:nvCxnSpPr>
        <p:spPr>
          <a:xfrm>
            <a:off x="2055950" y="3567300"/>
            <a:ext cx="19656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" name="Google Shape;205;p19"/>
          <p:cNvCxnSpPr>
            <a:stCxn id="175" idx="3"/>
            <a:endCxn id="206" idx="1"/>
          </p:cNvCxnSpPr>
          <p:nvPr/>
        </p:nvCxnSpPr>
        <p:spPr>
          <a:xfrm>
            <a:off x="8015800" y="2115225"/>
            <a:ext cx="238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06" name="Google Shape;206;p1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254093" y="1935812"/>
            <a:ext cx="540514" cy="35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577837" y="3610985"/>
            <a:ext cx="2035175" cy="672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225925" y="3154225"/>
            <a:ext cx="2739000" cy="33688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4100925" y="2920663"/>
            <a:ext cx="3830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linear projections for queries, keys and values </a:t>
            </a:r>
            <a:endParaRPr sz="1100"/>
          </a:p>
        </p:txBody>
      </p:sp>
      <p:sp>
        <p:nvSpPr>
          <p:cNvPr id="210" name="Google Shape;210;p19"/>
          <p:cNvSpPr txBox="1"/>
          <p:nvPr/>
        </p:nvSpPr>
        <p:spPr>
          <a:xfrm>
            <a:off x="4095425" y="34911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 attention weights</a:t>
            </a:r>
            <a:endParaRPr sz="1100"/>
          </a:p>
        </p:txBody>
      </p:sp>
      <p:sp>
        <p:nvSpPr>
          <p:cNvPr id="211" name="Google Shape;211;p19"/>
          <p:cNvSpPr txBox="1"/>
          <p:nvPr/>
        </p:nvSpPr>
        <p:spPr>
          <a:xfrm>
            <a:off x="4152900" y="406157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FFN(</a:t>
            </a:r>
            <a:r>
              <a:rPr lang="ko" sz="1100"/>
              <a:t>non-linear transformation)</a:t>
            </a:r>
            <a:endParaRPr sz="1100"/>
          </a:p>
        </p:txBody>
      </p:sp>
      <p:pic>
        <p:nvPicPr>
          <p:cNvPr id="212" name="Google Shape;212;p19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4790050" y="4357225"/>
            <a:ext cx="1610750" cy="27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 txBox="1"/>
          <p:nvPr/>
        </p:nvSpPr>
        <p:spPr>
          <a:xfrm>
            <a:off x="6400800" y="3796175"/>
            <a:ext cx="22419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,  Multi-head attention</a:t>
            </a:r>
            <a:br>
              <a:rPr lang="ko" sz="1100"/>
            </a:br>
            <a:r>
              <a:rPr lang="ko" sz="1100"/>
              <a:t>   </a:t>
            </a:r>
            <a:r>
              <a:rPr i="1" lang="ko" sz="1350">
                <a:solidFill>
                  <a:srgbClr val="262626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ko" sz="1350">
                <a:solidFill>
                  <a:srgbClr val="262626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=Concat(</a:t>
            </a:r>
            <a:r>
              <a:rPr i="1" lang="ko" sz="1350">
                <a:solidFill>
                  <a:srgbClr val="262626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i="1" lang="ko" sz="950">
                <a:solidFill>
                  <a:srgbClr val="262626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ko" sz="700">
                <a:solidFill>
                  <a:srgbClr val="262626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ko" sz="1350">
                <a:solidFill>
                  <a:srgbClr val="262626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ko" sz="1350">
                <a:solidFill>
                  <a:srgbClr val="262626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i="1" lang="ko" sz="950">
                <a:solidFill>
                  <a:srgbClr val="262626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ko" sz="700">
                <a:solidFill>
                  <a:srgbClr val="262626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ko" sz="100">
                <a:solidFill>
                  <a:srgbClr val="262626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r>
              <a:rPr lang="ko" sz="1350">
                <a:solidFill>
                  <a:srgbClr val="262626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,…,</a:t>
            </a:r>
            <a:r>
              <a:rPr i="1" lang="ko" sz="1350">
                <a:solidFill>
                  <a:srgbClr val="262626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i="1" lang="ko" sz="950">
                <a:solidFill>
                  <a:srgbClr val="262626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i="1" lang="ko" sz="700">
                <a:solidFill>
                  <a:srgbClr val="262626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ko" sz="1350">
                <a:solidFill>
                  <a:srgbClr val="262626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100"/>
          </a:p>
        </p:txBody>
      </p:sp>
      <p:sp>
        <p:nvSpPr>
          <p:cNvPr id="214" name="Google Shape;214;p19"/>
          <p:cNvSpPr/>
          <p:nvPr/>
        </p:nvSpPr>
        <p:spPr>
          <a:xfrm>
            <a:off x="5057600" y="3670675"/>
            <a:ext cx="1279500" cy="498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5057600" y="3382625"/>
            <a:ext cx="35850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FF0000"/>
                </a:solidFill>
              </a:rPr>
              <a:t>동일한 scene에 대한 서로 다른 modality로부터 얻은 information간의 유사도 점수(</a:t>
            </a:r>
            <a:r>
              <a:rPr lang="ko" sz="700">
                <a:solidFill>
                  <a:srgbClr val="FF0000"/>
                </a:solidFill>
              </a:rPr>
              <a:t>가중</a:t>
            </a:r>
            <a:r>
              <a:rPr lang="ko" sz="700">
                <a:solidFill>
                  <a:srgbClr val="FF0000"/>
                </a:solidFill>
              </a:rPr>
              <a:t>치</a:t>
            </a:r>
            <a:r>
              <a:rPr lang="ko" sz="700">
                <a:solidFill>
                  <a:srgbClr val="FF0000"/>
                </a:solidFill>
              </a:rPr>
              <a:t>) 계산</a:t>
            </a:r>
            <a:endParaRPr sz="700">
              <a:solidFill>
                <a:srgbClr val="FF0000"/>
              </a:solidFill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6306100" y="3797413"/>
            <a:ext cx="210300" cy="253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6400900" y="3557700"/>
            <a:ext cx="23937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FF0000"/>
                </a:solidFill>
              </a:rPr>
              <a:t>해당 입력이 얼마나 중요한지를 가중치에 따라 반영</a:t>
            </a:r>
            <a:endParaRPr sz="7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 txBox="1"/>
          <p:nvPr>
            <p:ph type="ctrTitle"/>
          </p:nvPr>
        </p:nvSpPr>
        <p:spPr>
          <a:xfrm>
            <a:off x="174825" y="48875"/>
            <a:ext cx="7679100" cy="4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000"/>
              <a:t>TransFuser - Method</a:t>
            </a:r>
            <a:endParaRPr sz="2000"/>
          </a:p>
        </p:txBody>
      </p:sp>
      <p:cxnSp>
        <p:nvCxnSpPr>
          <p:cNvPr id="223" name="Google Shape;223;p20"/>
          <p:cNvCxnSpPr/>
          <p:nvPr/>
        </p:nvCxnSpPr>
        <p:spPr>
          <a:xfrm>
            <a:off x="0" y="596375"/>
            <a:ext cx="914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24" name="Google Shape;2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288" y="1182376"/>
            <a:ext cx="7485416" cy="25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>
            <p:ph type="ctrTitle"/>
          </p:nvPr>
        </p:nvSpPr>
        <p:spPr>
          <a:xfrm>
            <a:off x="174825" y="683775"/>
            <a:ext cx="8556300" cy="4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00"/>
              <a:t>Waypoint Prediction Network:</a:t>
            </a:r>
            <a:r>
              <a:rPr lang="ko" sz="1700"/>
              <a:t> </a:t>
            </a:r>
            <a:r>
              <a:rPr lang="ko" sz="1300"/>
              <a:t>MLP</a:t>
            </a:r>
            <a:r>
              <a:rPr lang="ko" sz="1700"/>
              <a:t> + </a:t>
            </a:r>
            <a:r>
              <a:rPr lang="ko" sz="1300"/>
              <a:t>GRU</a:t>
            </a:r>
            <a:r>
              <a:rPr lang="ko" sz="900"/>
              <a:t>(R</a:t>
            </a:r>
            <a:r>
              <a:rPr lang="ko" sz="900"/>
              <a:t>NN</a:t>
            </a:r>
            <a:r>
              <a:rPr lang="ko" sz="900"/>
              <a:t>)</a:t>
            </a:r>
            <a:endParaRPr sz="1500"/>
          </a:p>
        </p:txBody>
      </p:sp>
      <p:sp>
        <p:nvSpPr>
          <p:cNvPr id="226" name="Google Shape;226;p20"/>
          <p:cNvSpPr txBox="1"/>
          <p:nvPr/>
        </p:nvSpPr>
        <p:spPr>
          <a:xfrm>
            <a:off x="352800" y="3861138"/>
            <a:ext cx="8438400" cy="8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Waypoint Prediction Network</a:t>
            </a:r>
            <a:br>
              <a:rPr lang="ko" sz="1000">
                <a:solidFill>
                  <a:schemeClr val="dk1"/>
                </a:solidFill>
              </a:rPr>
            </a:br>
            <a:r>
              <a:rPr lang="ko" sz="1000">
                <a:solidFill>
                  <a:schemeClr val="dk1"/>
                </a:solidFill>
              </a:rPr>
              <a:t>- MLP : Transfuser </a:t>
            </a:r>
            <a:r>
              <a:rPr lang="ko" sz="1000">
                <a:solidFill>
                  <a:schemeClr val="dk1"/>
                </a:solidFill>
              </a:rPr>
              <a:t>의 아웃풋의 차원을 줄이기 위함(512 &gt; 64)</a:t>
            </a:r>
            <a:br>
              <a:rPr lang="ko" sz="1000">
                <a:solidFill>
                  <a:schemeClr val="dk1"/>
                </a:solidFill>
              </a:rPr>
            </a:br>
            <a:r>
              <a:rPr lang="ko" sz="1000">
                <a:solidFill>
                  <a:schemeClr val="dk1"/>
                </a:solidFill>
              </a:rPr>
              <a:t>- 위치 예측 : RNN 의 일종인 GRU(Gated Recurrent Unit) 로 목표 위치를 예측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6275575" y="2835975"/>
            <a:ext cx="925200" cy="789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7260050" y="2835975"/>
            <a:ext cx="1033200" cy="789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7444075" y="3584250"/>
            <a:ext cx="103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solidFill>
                  <a:srgbClr val="FF0000"/>
                </a:solidFill>
              </a:rPr>
              <a:t>* GRU: 목표 위치를 예측</a:t>
            </a:r>
            <a:endParaRPr sz="600">
              <a:solidFill>
                <a:srgbClr val="FF0000"/>
              </a:solidFill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6275575" y="3584250"/>
            <a:ext cx="103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solidFill>
                  <a:srgbClr val="FF0000"/>
                </a:solidFill>
              </a:rPr>
              <a:t>* MLP: 차</a:t>
            </a:r>
            <a:r>
              <a:rPr lang="ko" sz="600">
                <a:solidFill>
                  <a:srgbClr val="FF0000"/>
                </a:solidFill>
              </a:rPr>
              <a:t>원 축소</a:t>
            </a:r>
            <a:endParaRPr sz="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800" y="3257925"/>
            <a:ext cx="3869399" cy="150768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>
            <p:ph type="ctrTitle"/>
          </p:nvPr>
        </p:nvSpPr>
        <p:spPr>
          <a:xfrm>
            <a:off x="174825" y="48875"/>
            <a:ext cx="7679100" cy="4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000"/>
              <a:t>TransFuser - Method</a:t>
            </a:r>
            <a:endParaRPr sz="2000"/>
          </a:p>
        </p:txBody>
      </p:sp>
      <p:cxnSp>
        <p:nvCxnSpPr>
          <p:cNvPr id="237" name="Google Shape;237;p21"/>
          <p:cNvCxnSpPr/>
          <p:nvPr/>
        </p:nvCxnSpPr>
        <p:spPr>
          <a:xfrm>
            <a:off x="0" y="596375"/>
            <a:ext cx="914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" name="Google Shape;238;p21"/>
          <p:cNvSpPr txBox="1"/>
          <p:nvPr>
            <p:ph type="ctrTitle"/>
          </p:nvPr>
        </p:nvSpPr>
        <p:spPr>
          <a:xfrm>
            <a:off x="174825" y="683775"/>
            <a:ext cx="8556300" cy="4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700"/>
              <a:t>GRU(</a:t>
            </a:r>
            <a:r>
              <a:rPr lang="ko" sz="1700"/>
              <a:t>Gated Recurrent Unit</a:t>
            </a:r>
            <a:r>
              <a:rPr lang="ko" sz="1700"/>
              <a:t>): </a:t>
            </a:r>
            <a:r>
              <a:rPr lang="ko" sz="1100"/>
              <a:t>Sequential data </a:t>
            </a:r>
            <a:r>
              <a:rPr lang="ko" sz="1100"/>
              <a:t>인</a:t>
            </a:r>
            <a:r>
              <a:rPr lang="ko" sz="1100"/>
              <a:t> future trajectory(T=4) </a:t>
            </a:r>
            <a:r>
              <a:rPr lang="ko" sz="1100"/>
              <a:t>예측</a:t>
            </a:r>
            <a:endParaRPr sz="1100"/>
          </a:p>
        </p:txBody>
      </p:sp>
      <p:sp>
        <p:nvSpPr>
          <p:cNvPr id="239" name="Google Shape;239;p21"/>
          <p:cNvSpPr txBox="1"/>
          <p:nvPr/>
        </p:nvSpPr>
        <p:spPr>
          <a:xfrm>
            <a:off x="4340375" y="3268963"/>
            <a:ext cx="4340400" cy="14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1. MLP 사용하여 차원 축소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2. GRU 의 hidden state 를 64 차원의 특징 벡터로 초기화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3. GRU 의 Update state 에서 output 과 next time-step 으로의</a:t>
            </a:r>
            <a:br>
              <a:rPr lang="ko" sz="1000">
                <a:solidFill>
                  <a:schemeClr val="dk1"/>
                </a:solidFill>
              </a:rPr>
            </a:br>
            <a:r>
              <a:rPr lang="ko" sz="1000">
                <a:solidFill>
                  <a:schemeClr val="dk1"/>
                </a:solidFill>
              </a:rPr>
              <a:t>     encoded 정보 흐름을 조절 </a:t>
            </a:r>
            <a:br>
              <a:rPr lang="ko" sz="1000">
                <a:solidFill>
                  <a:schemeClr val="dk1"/>
                </a:solidFill>
              </a:rPr>
            </a:br>
            <a:r>
              <a:rPr lang="ko" sz="1000">
                <a:solidFill>
                  <a:schemeClr val="dk1"/>
                </a:solidFill>
              </a:rPr>
              <a:t>* GPS 좌표계의 Goal 위치가 BEV 의 공간과 </a:t>
            </a:r>
            <a:r>
              <a:rPr lang="ko" sz="1000">
                <a:solidFill>
                  <a:schemeClr val="dk1"/>
                </a:solidFill>
              </a:rPr>
              <a:t>Correlated 되어 encoder </a:t>
            </a:r>
            <a:br>
              <a:rPr lang="ko" sz="1000">
                <a:solidFill>
                  <a:schemeClr val="dk1"/>
                </a:solidFill>
              </a:rPr>
            </a:br>
            <a:r>
              <a:rPr lang="ko" sz="1000">
                <a:solidFill>
                  <a:schemeClr val="dk1"/>
                </a:solidFill>
              </a:rPr>
              <a:t>   모델 보다 Waypoint 예측 모델에 입력으로 활용</a:t>
            </a:r>
            <a:br>
              <a:rPr lang="ko" sz="1000">
                <a:solidFill>
                  <a:schemeClr val="dk1"/>
                </a:solidFill>
              </a:rPr>
            </a:br>
            <a:r>
              <a:rPr lang="ko" sz="1000">
                <a:solidFill>
                  <a:schemeClr val="dk1"/>
                </a:solidFill>
              </a:rPr>
              <a:t>* </a:t>
            </a:r>
            <a:r>
              <a:rPr lang="ko" sz="1000">
                <a:solidFill>
                  <a:schemeClr val="dk1"/>
                </a:solidFill>
                <a:highlight>
                  <a:srgbClr val="FFFFFF"/>
                </a:highlight>
              </a:rPr>
              <a:t>Predicted waypoints와 Ground truth waypoints로 L1 loss를 이용해서 학습</a:t>
            </a:r>
            <a:br>
              <a:rPr lang="ko" sz="1000">
                <a:solidFill>
                  <a:schemeClr val="dk1"/>
                </a:solidFill>
                <a:highlight>
                  <a:srgbClr val="FFFFFF"/>
                </a:highlight>
              </a:rPr>
            </a:br>
            <a:br>
              <a:rPr lang="ko" sz="10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b="1" lang="ko" sz="1000">
                <a:solidFill>
                  <a:schemeClr val="dk1"/>
                </a:solidFill>
                <a:highlight>
                  <a:srgbClr val="FFFFFF"/>
                </a:highlight>
              </a:rPr>
              <a:t>=&gt;</a:t>
            </a:r>
            <a:r>
              <a:rPr b="1" lang="ko" sz="1000">
                <a:solidFill>
                  <a:schemeClr val="dk1"/>
                </a:solidFill>
              </a:rPr>
              <a:t> T = 4 future time-steps 예측</a:t>
            </a:r>
            <a:endParaRPr b="1" sz="10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grpSp>
        <p:nvGrpSpPr>
          <p:cNvPr id="240" name="Google Shape;240;p21"/>
          <p:cNvGrpSpPr/>
          <p:nvPr/>
        </p:nvGrpSpPr>
        <p:grpSpPr>
          <a:xfrm>
            <a:off x="517825" y="3317454"/>
            <a:ext cx="3512146" cy="1651882"/>
            <a:chOff x="1685651" y="213706"/>
            <a:chExt cx="2280022" cy="1054236"/>
          </a:xfrm>
        </p:grpSpPr>
        <p:sp>
          <p:nvSpPr>
            <p:cNvPr id="241" name="Google Shape;241;p21"/>
            <p:cNvSpPr/>
            <p:nvPr/>
          </p:nvSpPr>
          <p:spPr>
            <a:xfrm>
              <a:off x="2783973" y="214590"/>
              <a:ext cx="1181700" cy="8340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1"/>
            <p:cNvSpPr txBox="1"/>
            <p:nvPr/>
          </p:nvSpPr>
          <p:spPr>
            <a:xfrm>
              <a:off x="2783974" y="1061542"/>
              <a:ext cx="10332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900">
                  <a:solidFill>
                    <a:srgbClr val="FF0000"/>
                  </a:solidFill>
                </a:rPr>
                <a:t>* GRU: 목표 위치를 예측</a:t>
              </a:r>
              <a:endParaRPr sz="900">
                <a:solidFill>
                  <a:srgbClr val="FF0000"/>
                </a:solidFill>
              </a:endParaRPr>
            </a:p>
          </p:txBody>
        </p:sp>
        <p:sp>
          <p:nvSpPr>
            <p:cNvPr id="243" name="Google Shape;243;p21"/>
            <p:cNvSpPr txBox="1"/>
            <p:nvPr/>
          </p:nvSpPr>
          <p:spPr>
            <a:xfrm>
              <a:off x="1716485" y="1061542"/>
              <a:ext cx="1033200" cy="2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900">
                  <a:solidFill>
                    <a:srgbClr val="FF0000"/>
                  </a:solidFill>
                </a:rPr>
                <a:t>* MLP: 차원 축소</a:t>
              </a:r>
              <a:endParaRPr sz="900">
                <a:solidFill>
                  <a:srgbClr val="FF0000"/>
                </a:solidFill>
              </a:endParaRPr>
            </a:p>
          </p:txBody>
        </p:sp>
        <p:sp>
          <p:nvSpPr>
            <p:cNvPr id="244" name="Google Shape;244;p21"/>
            <p:cNvSpPr/>
            <p:nvPr/>
          </p:nvSpPr>
          <p:spPr>
            <a:xfrm>
              <a:off x="1685651" y="213706"/>
              <a:ext cx="1011300" cy="8340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" name="Google Shape;245;p21"/>
          <p:cNvSpPr txBox="1"/>
          <p:nvPr/>
        </p:nvSpPr>
        <p:spPr>
          <a:xfrm>
            <a:off x="3958775" y="2660175"/>
            <a:ext cx="47988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GRU 는 Reset/Update Gate 를 통해 </a:t>
            </a:r>
            <a:r>
              <a:rPr lang="ko" sz="1000">
                <a:solidFill>
                  <a:schemeClr val="dk1"/>
                </a:solidFill>
              </a:rPr>
              <a:t>이전 상태의 정보와 새로운 정보 수용의 균형을 맞춤</a:t>
            </a:r>
            <a:br>
              <a:rPr lang="ko" sz="1000">
                <a:solidFill>
                  <a:schemeClr val="dk1"/>
                </a:solidFill>
              </a:rPr>
            </a:br>
            <a:r>
              <a:rPr lang="ko" sz="1000">
                <a:solidFill>
                  <a:schemeClr val="dk1"/>
                </a:solidFill>
              </a:rPr>
              <a:t>(z 가 1 이면 과거 정보를 전부 통과, z 가 0 이면 과거 정보를 잊고 현재 정보를 통과)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246" name="Google Shape;24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775" y="1182380"/>
            <a:ext cx="3412274" cy="2014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33800" y="1529725"/>
            <a:ext cx="3412275" cy="113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13055" y="810900"/>
            <a:ext cx="2045795" cy="119987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1"/>
          <p:cNvSpPr txBox="1"/>
          <p:nvPr/>
        </p:nvSpPr>
        <p:spPr>
          <a:xfrm>
            <a:off x="6913050" y="2337075"/>
            <a:ext cx="2174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출처 : </a:t>
            </a:r>
            <a:r>
              <a:rPr lang="ko" sz="900" u="sng">
                <a:solidFill>
                  <a:schemeClr val="hlink"/>
                </a:solidFill>
                <a:hlinkClick r:id="rId7"/>
              </a:rPr>
              <a:t>https://kaya-dev.tistory.com/26</a:t>
            </a:r>
            <a:r>
              <a:rPr lang="ko" sz="900"/>
              <a:t> </a:t>
            </a:r>
            <a:endParaRPr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"/>
          <p:cNvSpPr txBox="1"/>
          <p:nvPr>
            <p:ph type="ctrTitle"/>
          </p:nvPr>
        </p:nvSpPr>
        <p:spPr>
          <a:xfrm>
            <a:off x="174825" y="48875"/>
            <a:ext cx="7679100" cy="4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000"/>
              <a:t>TransFuser - Experiment </a:t>
            </a:r>
            <a:endParaRPr sz="2000"/>
          </a:p>
        </p:txBody>
      </p:sp>
      <p:cxnSp>
        <p:nvCxnSpPr>
          <p:cNvPr id="255" name="Google Shape;255;p22"/>
          <p:cNvCxnSpPr/>
          <p:nvPr/>
        </p:nvCxnSpPr>
        <p:spPr>
          <a:xfrm>
            <a:off x="0" y="596375"/>
            <a:ext cx="914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22"/>
          <p:cNvSpPr txBox="1"/>
          <p:nvPr>
            <p:ph type="ctrTitle"/>
          </p:nvPr>
        </p:nvSpPr>
        <p:spPr>
          <a:xfrm>
            <a:off x="174825" y="683775"/>
            <a:ext cx="8253900" cy="4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700"/>
              <a:t>Task &amp; </a:t>
            </a:r>
            <a:r>
              <a:rPr lang="ko" sz="1700"/>
              <a:t>Dataset</a:t>
            </a:r>
            <a:endParaRPr sz="1100"/>
          </a:p>
        </p:txBody>
      </p:sp>
      <p:grpSp>
        <p:nvGrpSpPr>
          <p:cNvPr id="257" name="Google Shape;257;p22"/>
          <p:cNvGrpSpPr/>
          <p:nvPr/>
        </p:nvGrpSpPr>
        <p:grpSpPr>
          <a:xfrm>
            <a:off x="900450" y="3028829"/>
            <a:ext cx="7343100" cy="1581192"/>
            <a:chOff x="900450" y="3114675"/>
            <a:chExt cx="7343100" cy="1495500"/>
          </a:xfrm>
        </p:grpSpPr>
        <p:sp>
          <p:nvSpPr>
            <p:cNvPr id="258" name="Google Shape;258;p22"/>
            <p:cNvSpPr/>
            <p:nvPr/>
          </p:nvSpPr>
          <p:spPr>
            <a:xfrm>
              <a:off x="900450" y="3114675"/>
              <a:ext cx="7343100" cy="14955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2"/>
            <p:cNvSpPr/>
            <p:nvPr/>
          </p:nvSpPr>
          <p:spPr>
            <a:xfrm>
              <a:off x="1201338" y="3611044"/>
              <a:ext cx="1506000" cy="308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100"/>
                <a:t>Global Path Planner</a:t>
              </a:r>
              <a:endParaRPr sz="1100"/>
            </a:p>
          </p:txBody>
        </p:sp>
        <p:cxnSp>
          <p:nvCxnSpPr>
            <p:cNvPr id="260" name="Google Shape;260;p22"/>
            <p:cNvCxnSpPr>
              <a:stCxn id="259" idx="3"/>
              <a:endCxn id="261" idx="1"/>
            </p:cNvCxnSpPr>
            <p:nvPr/>
          </p:nvCxnSpPr>
          <p:spPr>
            <a:xfrm>
              <a:off x="2707338" y="3765094"/>
              <a:ext cx="239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61" name="Google Shape;261;p22"/>
            <p:cNvSpPr/>
            <p:nvPr/>
          </p:nvSpPr>
          <p:spPr>
            <a:xfrm>
              <a:off x="2946441" y="3453375"/>
              <a:ext cx="1506000" cy="623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100"/>
                <a:t>Multi-Modal Fusion Transformer</a:t>
              </a:r>
              <a:endParaRPr sz="1100"/>
            </a:p>
          </p:txBody>
        </p:sp>
        <p:sp>
          <p:nvSpPr>
            <p:cNvPr id="262" name="Google Shape;262;p22"/>
            <p:cNvSpPr/>
            <p:nvPr/>
          </p:nvSpPr>
          <p:spPr>
            <a:xfrm>
              <a:off x="4691552" y="3453375"/>
              <a:ext cx="1506000" cy="623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100">
                  <a:solidFill>
                    <a:schemeClr val="dk1"/>
                  </a:solidFill>
                </a:rPr>
                <a:t>Waypoint Prediction Network</a:t>
              </a:r>
              <a:endParaRPr sz="1100"/>
            </a:p>
          </p:txBody>
        </p:sp>
        <p:cxnSp>
          <p:nvCxnSpPr>
            <p:cNvPr id="263" name="Google Shape;263;p22"/>
            <p:cNvCxnSpPr>
              <a:stCxn id="261" idx="3"/>
              <a:endCxn id="262" idx="1"/>
            </p:cNvCxnSpPr>
            <p:nvPr/>
          </p:nvCxnSpPr>
          <p:spPr>
            <a:xfrm>
              <a:off x="4452441" y="3765075"/>
              <a:ext cx="239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4" name="Google Shape;264;p22"/>
            <p:cNvCxnSpPr>
              <a:endCxn id="259" idx="2"/>
            </p:cNvCxnSpPr>
            <p:nvPr/>
          </p:nvCxnSpPr>
          <p:spPr>
            <a:xfrm rot="10800000">
              <a:off x="1954338" y="3919144"/>
              <a:ext cx="0" cy="39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5" name="Google Shape;265;p22"/>
            <p:cNvCxnSpPr>
              <a:stCxn id="266" idx="2"/>
              <a:endCxn id="259" idx="2"/>
            </p:cNvCxnSpPr>
            <p:nvPr/>
          </p:nvCxnSpPr>
          <p:spPr>
            <a:xfrm flipH="1" rot="5400000">
              <a:off x="4493263" y="1380388"/>
              <a:ext cx="157500" cy="5235300"/>
            </a:xfrm>
            <a:prstGeom prst="bentConnector3">
              <a:avLst>
                <a:gd fmla="val -142997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6" name="Google Shape;266;p22"/>
            <p:cNvSpPr/>
            <p:nvPr/>
          </p:nvSpPr>
          <p:spPr>
            <a:xfrm>
              <a:off x="6436663" y="3453388"/>
              <a:ext cx="1506000" cy="623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100">
                  <a:solidFill>
                    <a:schemeClr val="dk1"/>
                  </a:solidFill>
                </a:rPr>
                <a:t>Inverse Dynamics(PID) Controller</a:t>
              </a:r>
              <a:endParaRPr sz="1100"/>
            </a:p>
          </p:txBody>
        </p:sp>
        <p:cxnSp>
          <p:nvCxnSpPr>
            <p:cNvPr id="267" name="Google Shape;267;p22"/>
            <p:cNvCxnSpPr>
              <a:stCxn id="262" idx="3"/>
              <a:endCxn id="266" idx="1"/>
            </p:cNvCxnSpPr>
            <p:nvPr/>
          </p:nvCxnSpPr>
          <p:spPr>
            <a:xfrm>
              <a:off x="6197552" y="3765075"/>
              <a:ext cx="239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68" name="Google Shape;268;p22"/>
          <p:cNvSpPr txBox="1"/>
          <p:nvPr/>
        </p:nvSpPr>
        <p:spPr>
          <a:xfrm>
            <a:off x="174825" y="1104325"/>
            <a:ext cx="8215500" cy="18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: </a:t>
            </a:r>
            <a:r>
              <a:rPr b="1" lang="ko" sz="1100">
                <a:solidFill>
                  <a:schemeClr val="dk1"/>
                </a:solidFill>
                <a:highlight>
                  <a:srgbClr val="FFFFFF"/>
                </a:highlight>
              </a:rPr>
              <a:t>CARLA 0.9.10 시뮬레이터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를 사용하여 훈련 및 테스트를 진행, 8개의 공개 도시 중 7개 도시에서 훈련하고 Town05를 평가용으로 사용</a:t>
            </a:r>
            <a:b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: </a:t>
            </a:r>
            <a:r>
              <a:rPr lang="ko" sz="1100">
                <a:solidFill>
                  <a:schemeClr val="dk1"/>
                </a:solidFill>
              </a:rPr>
              <a:t>Dynamic agents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(예: 다른 차량, 보행자 등)</a:t>
            </a:r>
            <a:r>
              <a:rPr lang="ko" sz="1100">
                <a:solidFill>
                  <a:schemeClr val="dk1"/>
                </a:solidFill>
              </a:rPr>
              <a:t> 와 adversarial scenarios(</a:t>
            </a: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예: 장애물 회피 상황 등</a:t>
            </a:r>
            <a:r>
              <a:rPr lang="ko" sz="1100">
                <a:solidFill>
                  <a:schemeClr val="dk1"/>
                </a:solidFill>
              </a:rPr>
              <a:t>) 의 처리에 집중하기 위해 맑은 날씨로 제한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  (1) Town05 Short:</a:t>
            </a:r>
            <a:b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    - 짧은 경로: 10개의 짧은 경로가 포함되어 있으며, 각 경로는 100-500m의 거리로 구성</a:t>
            </a:r>
            <a:b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    - 교차로: 각 경로에는 3개의 교차로가 포함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  (2) Town05 Long:</a:t>
            </a:r>
            <a:b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    - 긴 경로: 10개의 긴 경로가 포함되어 있으며, 각 경로는 1000-2000m의 거리로 구성</a:t>
            </a:r>
            <a:b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ko" sz="1100">
                <a:solidFill>
                  <a:schemeClr val="dk1"/>
                </a:solidFill>
                <a:highlight>
                  <a:srgbClr val="FFFFFF"/>
                </a:highlight>
              </a:rPr>
              <a:t>    - 교차로: 각 경로에는 10개의 교차로가 포함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1221825" y="3303375"/>
            <a:ext cx="103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solidFill>
                  <a:schemeClr val="dk1"/>
                </a:solidFill>
              </a:rPr>
              <a:t>* GPS </a:t>
            </a:r>
            <a:r>
              <a:rPr lang="ko" sz="600">
                <a:solidFill>
                  <a:schemeClr val="dk1"/>
                </a:solidFill>
              </a:rPr>
              <a:t>활용</a:t>
            </a:r>
            <a:endParaRPr sz="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"/>
          <p:cNvSpPr txBox="1"/>
          <p:nvPr>
            <p:ph type="ctrTitle"/>
          </p:nvPr>
        </p:nvSpPr>
        <p:spPr>
          <a:xfrm>
            <a:off x="174825" y="48875"/>
            <a:ext cx="7679100" cy="4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000"/>
              <a:t>TransFuser - Experiment </a:t>
            </a:r>
            <a:endParaRPr sz="2000"/>
          </a:p>
        </p:txBody>
      </p:sp>
      <p:cxnSp>
        <p:nvCxnSpPr>
          <p:cNvPr id="275" name="Google Shape;275;p23"/>
          <p:cNvCxnSpPr/>
          <p:nvPr/>
        </p:nvCxnSpPr>
        <p:spPr>
          <a:xfrm>
            <a:off x="0" y="596375"/>
            <a:ext cx="914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Google Shape;276;p23"/>
          <p:cNvSpPr txBox="1"/>
          <p:nvPr>
            <p:ph type="ctrTitle"/>
          </p:nvPr>
        </p:nvSpPr>
        <p:spPr>
          <a:xfrm>
            <a:off x="174825" y="683775"/>
            <a:ext cx="8253900" cy="4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700"/>
              <a:t>Metrics &amp; Baselines</a:t>
            </a:r>
            <a:endParaRPr sz="1100"/>
          </a:p>
        </p:txBody>
      </p:sp>
      <p:sp>
        <p:nvSpPr>
          <p:cNvPr id="277" name="Google Shape;277;p23"/>
          <p:cNvSpPr txBox="1"/>
          <p:nvPr/>
        </p:nvSpPr>
        <p:spPr>
          <a:xfrm>
            <a:off x="225225" y="1145550"/>
            <a:ext cx="88107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Route Completion (RC):</a:t>
            </a:r>
            <a:r>
              <a:rPr lang="ko" sz="1100">
                <a:solidFill>
                  <a:schemeClr val="dk1"/>
                </a:solidFill>
              </a:rPr>
              <a:t> </a:t>
            </a:r>
            <a:r>
              <a:rPr lang="ko" sz="900">
                <a:solidFill>
                  <a:schemeClr val="dk1"/>
                </a:solidFill>
              </a:rPr>
              <a:t>경로 거리 완료 비율을 나타내며, 에이전트가 얼마나 많은 경로를 완료했는지를 측정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Driving Score (DS):</a:t>
            </a:r>
            <a:r>
              <a:rPr lang="ko" sz="900">
                <a:solidFill>
                  <a:schemeClr val="dk1"/>
                </a:solidFill>
              </a:rPr>
              <a:t> </a:t>
            </a:r>
            <a:r>
              <a:rPr lang="ko" sz="900">
                <a:solidFill>
                  <a:schemeClr val="dk1"/>
                </a:solidFill>
              </a:rPr>
              <a:t>경로 완료를 기반으로 한 점수로, 여러 위반 사항(보행자 및 차량과의 충돌, 경로 이탈, 차선 위반, 신호 위반 등)을 고려하여 가중치를 부여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Infraction Count:</a:t>
            </a:r>
            <a:r>
              <a:rPr lang="ko" sz="900">
                <a:solidFill>
                  <a:schemeClr val="dk1"/>
                </a:solidFill>
              </a:rPr>
              <a:t> </a:t>
            </a:r>
            <a:r>
              <a:rPr lang="ko" sz="900">
                <a:solidFill>
                  <a:schemeClr val="dk1"/>
                </a:solidFill>
              </a:rPr>
              <a:t>경로 진행 중 발생한 위반 사항의 총 개수를 기록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78" name="Google Shape;278;p23"/>
          <p:cNvSpPr txBox="1"/>
          <p:nvPr/>
        </p:nvSpPr>
        <p:spPr>
          <a:xfrm>
            <a:off x="225225" y="2166800"/>
            <a:ext cx="8810700" cy="25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262626"/>
                </a:solidFill>
              </a:rPr>
              <a:t>CILRS(Conditional Imitation Learning for Reinforcement Supervision): </a:t>
            </a:r>
            <a:br>
              <a:rPr lang="ko" sz="1100">
                <a:solidFill>
                  <a:srgbClr val="262626"/>
                </a:solidFill>
              </a:rPr>
            </a:br>
            <a:r>
              <a:rPr lang="ko" sz="900">
                <a:solidFill>
                  <a:srgbClr val="262626"/>
                </a:solidFill>
              </a:rPr>
              <a:t>  - 특정 조건에 기반하여 최적의 행동을 학습하는 방법으로 </a:t>
            </a:r>
            <a:r>
              <a:rPr b="1" lang="ko" sz="900">
                <a:solidFill>
                  <a:srgbClr val="262626"/>
                </a:solidFill>
              </a:rPr>
              <a:t>단일 카메라 이미지</a:t>
            </a:r>
            <a:r>
              <a:rPr lang="ko" sz="900">
                <a:solidFill>
                  <a:srgbClr val="262626"/>
                </a:solidFill>
              </a:rPr>
              <a:t> 기반으로 적절한 행동(예: 조향, 가속, 브레이크 등)을 예측</a:t>
            </a:r>
            <a:endParaRPr sz="1100">
              <a:solidFill>
                <a:srgbClr val="26262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262626"/>
                </a:solidFill>
              </a:rPr>
              <a:t>LBC(Learning-Based Control): </a:t>
            </a:r>
            <a:br>
              <a:rPr lang="ko" sz="1100">
                <a:solidFill>
                  <a:srgbClr val="262626"/>
                </a:solidFill>
              </a:rPr>
            </a:br>
            <a:r>
              <a:rPr lang="ko" sz="900">
                <a:solidFill>
                  <a:srgbClr val="262626"/>
                </a:solidFill>
              </a:rPr>
              <a:t>  - 교사 모델이 </a:t>
            </a:r>
            <a:r>
              <a:rPr b="1" lang="ko" sz="900">
                <a:solidFill>
                  <a:srgbClr val="262626"/>
                </a:solidFill>
              </a:rPr>
              <a:t>ground-truth BEV </a:t>
            </a:r>
            <a:r>
              <a:rPr b="1" lang="ko" sz="900">
                <a:solidFill>
                  <a:srgbClr val="262626"/>
                </a:solidFill>
              </a:rPr>
              <a:t>semantic</a:t>
            </a:r>
            <a:r>
              <a:rPr b="1" lang="ko" sz="900">
                <a:solidFill>
                  <a:srgbClr val="262626"/>
                </a:solidFill>
              </a:rPr>
              <a:t> Map</a:t>
            </a:r>
            <a:r>
              <a:rPr lang="ko" sz="900">
                <a:solidFill>
                  <a:srgbClr val="262626"/>
                </a:solidFill>
              </a:rPr>
              <a:t> 과 </a:t>
            </a:r>
            <a:r>
              <a:rPr b="1" lang="ko" sz="900">
                <a:solidFill>
                  <a:srgbClr val="262626"/>
                </a:solidFill>
              </a:rPr>
              <a:t>Expert Supervision</a:t>
            </a:r>
            <a:r>
              <a:rPr lang="ko" sz="900">
                <a:solidFill>
                  <a:srgbClr val="262626"/>
                </a:solidFill>
              </a:rPr>
              <a:t> 을 통해</a:t>
            </a:r>
            <a:r>
              <a:rPr b="1" lang="ko" sz="900">
                <a:solidFill>
                  <a:srgbClr val="262626"/>
                </a:solidFill>
              </a:rPr>
              <a:t> </a:t>
            </a:r>
            <a:r>
              <a:rPr lang="ko" sz="900">
                <a:solidFill>
                  <a:srgbClr val="262626"/>
                </a:solidFill>
              </a:rPr>
              <a:t>미래의 웨이포인트를 예측, 이미지 기반 학생 모델이 교사 모델로부터 감독을 받아 훈련</a:t>
            </a:r>
            <a:endParaRPr sz="900">
              <a:solidFill>
                <a:srgbClr val="26262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262626"/>
                </a:solidFill>
              </a:rPr>
              <a:t>AIM (Auto-regressive IMage-based waypoint pre</a:t>
            </a:r>
            <a:r>
              <a:rPr b="1" lang="ko" sz="1100">
                <a:solidFill>
                  <a:srgbClr val="262626"/>
                </a:solidFill>
              </a:rPr>
              <a:t>d</a:t>
            </a:r>
            <a:r>
              <a:rPr b="1" lang="ko" sz="1100">
                <a:solidFill>
                  <a:srgbClr val="262626"/>
                </a:solidFill>
              </a:rPr>
              <a:t>iction):</a:t>
            </a:r>
            <a:br>
              <a:rPr b="1" lang="ko" sz="1100">
                <a:solidFill>
                  <a:srgbClr val="262626"/>
                </a:solidFill>
              </a:rPr>
            </a:br>
            <a:r>
              <a:rPr lang="ko" sz="900">
                <a:solidFill>
                  <a:srgbClr val="262626"/>
                </a:solidFill>
              </a:rPr>
              <a:t>  - CILRS 에 Waypoint 를 예측하도록 adapting, </a:t>
            </a:r>
            <a:r>
              <a:rPr b="1" lang="ko" sz="900">
                <a:solidFill>
                  <a:srgbClr val="262626"/>
                </a:solidFill>
              </a:rPr>
              <a:t>단일 카메라 이미지</a:t>
            </a:r>
            <a:r>
              <a:rPr lang="ko" sz="900">
                <a:solidFill>
                  <a:srgbClr val="262626"/>
                </a:solidFill>
              </a:rPr>
              <a:t> 기반 ResNet-34 Encoder 와 auto-regressive </a:t>
            </a:r>
            <a:r>
              <a:rPr b="1" lang="ko" sz="900">
                <a:solidFill>
                  <a:srgbClr val="262626"/>
                </a:solidFill>
              </a:rPr>
              <a:t>waypoint prediction network</a:t>
            </a:r>
            <a:r>
              <a:rPr lang="ko" sz="900">
                <a:solidFill>
                  <a:srgbClr val="262626"/>
                </a:solidFill>
              </a:rPr>
              <a:t> 사용</a:t>
            </a:r>
            <a:endParaRPr sz="900">
              <a:solidFill>
                <a:srgbClr val="26262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262626"/>
                </a:solidFill>
              </a:rPr>
              <a:t>Late Fusion:</a:t>
            </a:r>
            <a:br>
              <a:rPr b="1" lang="ko" sz="1100">
                <a:solidFill>
                  <a:srgbClr val="262626"/>
                </a:solidFill>
              </a:rPr>
            </a:br>
            <a:r>
              <a:rPr lang="ko" sz="900">
                <a:solidFill>
                  <a:srgbClr val="262626"/>
                </a:solidFill>
              </a:rPr>
              <a:t>  - </a:t>
            </a:r>
            <a:r>
              <a:rPr lang="ko" sz="900">
                <a:solidFill>
                  <a:schemeClr val="dk1"/>
                </a:solidFill>
              </a:rPr>
              <a:t>이미지와 LiDAR 특징을 서로 독립적으로 추출, TransFuser에서 사용된 동일한 인코더를 사용하나 </a:t>
            </a:r>
            <a:r>
              <a:rPr b="1" lang="ko" sz="900">
                <a:solidFill>
                  <a:schemeClr val="dk1"/>
                </a:solidFill>
              </a:rPr>
              <a:t>트랜스포머를 제외</a:t>
            </a:r>
            <a:br>
              <a:rPr b="1" lang="ko" sz="900">
                <a:solidFill>
                  <a:schemeClr val="dk1"/>
                </a:solidFill>
              </a:rPr>
            </a:br>
            <a:r>
              <a:rPr lang="ko" sz="900">
                <a:solidFill>
                  <a:schemeClr val="dk1"/>
                </a:solidFill>
              </a:rPr>
              <a:t>  -  두 특징을 element-wise summation으로 융합하고, 이를 waypoint prediction network 에 전달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ko" sz="1100">
                <a:solidFill>
                  <a:srgbClr val="262626"/>
                </a:solidFill>
              </a:rPr>
              <a:t>Geometric Fusion:</a:t>
            </a:r>
            <a:br>
              <a:rPr b="1" lang="ko" sz="1100">
                <a:solidFill>
                  <a:srgbClr val="262626"/>
                </a:solidFill>
              </a:rPr>
            </a:br>
            <a:r>
              <a:rPr lang="ko" sz="900">
                <a:solidFill>
                  <a:srgbClr val="262626"/>
                </a:solidFill>
              </a:rPr>
              <a:t>  - </a:t>
            </a:r>
            <a:r>
              <a:rPr lang="ko" sz="900">
                <a:solidFill>
                  <a:schemeClr val="dk1"/>
                </a:solidFill>
              </a:rPr>
              <a:t>LiDAR BEV 를 3D 공간으로 역투영, 3D 볼륨에 있는 LiDAR 포인트 클라우드 중 </a:t>
            </a:r>
            <a:r>
              <a:rPr b="1" lang="ko" sz="900">
                <a:solidFill>
                  <a:schemeClr val="dk1"/>
                </a:solidFill>
              </a:rPr>
              <a:t>무작위로 5개의 포인트</a:t>
            </a:r>
            <a:r>
              <a:rPr lang="ko" sz="900">
                <a:solidFill>
                  <a:schemeClr val="dk1"/>
                </a:solidFill>
              </a:rPr>
              <a:t>를 선택해 </a:t>
            </a:r>
            <a:r>
              <a:rPr b="1" lang="ko" sz="900">
                <a:solidFill>
                  <a:schemeClr val="dk1"/>
                </a:solidFill>
              </a:rPr>
              <a:t>이미지 공간으로 투영(2D 변환 하고 원소별 합)</a:t>
            </a:r>
            <a:br>
              <a:rPr b="1" lang="ko" sz="900">
                <a:solidFill>
                  <a:schemeClr val="dk1"/>
                </a:solidFill>
              </a:rPr>
            </a:br>
            <a:r>
              <a:rPr b="1" lang="ko" sz="900">
                <a:solidFill>
                  <a:schemeClr val="dk1"/>
                </a:solidFill>
              </a:rPr>
              <a:t>  - </a:t>
            </a:r>
            <a:r>
              <a:rPr lang="ko" sz="900">
                <a:solidFill>
                  <a:schemeClr val="dk1"/>
                </a:solidFill>
              </a:rPr>
              <a:t>LiDAR와 이미지의 공간적 정보들을 </a:t>
            </a:r>
            <a:r>
              <a:rPr b="1" lang="ko" sz="900">
                <a:solidFill>
                  <a:schemeClr val="dk1"/>
                </a:solidFill>
              </a:rPr>
              <a:t>서로 투영하고 결합하여 보완적 특성을 극대화</a:t>
            </a:r>
            <a:endParaRPr sz="900"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"/>
          <p:cNvSpPr txBox="1"/>
          <p:nvPr>
            <p:ph type="ctrTitle"/>
          </p:nvPr>
        </p:nvSpPr>
        <p:spPr>
          <a:xfrm>
            <a:off x="174825" y="48875"/>
            <a:ext cx="7679100" cy="4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000"/>
              <a:t>TransFuser - Result</a:t>
            </a:r>
            <a:r>
              <a:rPr lang="ko" sz="2000"/>
              <a:t> </a:t>
            </a:r>
            <a:endParaRPr sz="2000"/>
          </a:p>
        </p:txBody>
      </p:sp>
      <p:cxnSp>
        <p:nvCxnSpPr>
          <p:cNvPr id="284" name="Google Shape;284;p24"/>
          <p:cNvCxnSpPr/>
          <p:nvPr/>
        </p:nvCxnSpPr>
        <p:spPr>
          <a:xfrm>
            <a:off x="0" y="596375"/>
            <a:ext cx="914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24"/>
          <p:cNvSpPr txBox="1"/>
          <p:nvPr>
            <p:ph type="ctrTitle"/>
          </p:nvPr>
        </p:nvSpPr>
        <p:spPr>
          <a:xfrm>
            <a:off x="174825" y="683775"/>
            <a:ext cx="8253900" cy="4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700"/>
              <a:t>Performance</a:t>
            </a:r>
            <a:endParaRPr sz="1100"/>
          </a:p>
        </p:txBody>
      </p:sp>
      <p:grpSp>
        <p:nvGrpSpPr>
          <p:cNvPr id="286" name="Google Shape;286;p24"/>
          <p:cNvGrpSpPr/>
          <p:nvPr/>
        </p:nvGrpSpPr>
        <p:grpSpPr>
          <a:xfrm>
            <a:off x="425470" y="1526492"/>
            <a:ext cx="5103577" cy="1915460"/>
            <a:chOff x="309850" y="1269775"/>
            <a:chExt cx="4562876" cy="1712526"/>
          </a:xfrm>
        </p:grpSpPr>
        <p:pic>
          <p:nvPicPr>
            <p:cNvPr id="287" name="Google Shape;287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9850" y="1269775"/>
              <a:ext cx="4562876" cy="1712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" name="Google Shape;288;p24"/>
            <p:cNvSpPr/>
            <p:nvPr/>
          </p:nvSpPr>
          <p:spPr>
            <a:xfrm>
              <a:off x="330625" y="2188400"/>
              <a:ext cx="4502700" cy="498600"/>
            </a:xfrm>
            <a:prstGeom prst="rect">
              <a:avLst/>
            </a:prstGeom>
            <a:noFill/>
            <a:ln cap="flat" cmpd="sng" w="38100">
              <a:solidFill>
                <a:srgbClr val="CB02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9" name="Google Shape;289;p24"/>
          <p:cNvSpPr txBox="1"/>
          <p:nvPr/>
        </p:nvSpPr>
        <p:spPr>
          <a:xfrm>
            <a:off x="430725" y="3622850"/>
            <a:ext cx="8408400" cy="11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arenBoth"/>
            </a:pPr>
            <a:r>
              <a:rPr lang="ko" sz="900">
                <a:solidFill>
                  <a:schemeClr val="dk1"/>
                </a:solidFill>
              </a:rPr>
              <a:t>Driving Performance</a:t>
            </a:r>
            <a:br>
              <a:rPr lang="ko" sz="900">
                <a:solidFill>
                  <a:schemeClr val="dk1"/>
                </a:solidFill>
              </a:rPr>
            </a:br>
            <a:r>
              <a:rPr lang="ko" sz="900">
                <a:solidFill>
                  <a:schemeClr val="dk1"/>
                </a:solidFill>
              </a:rPr>
              <a:t>Fusion(LF, GF, TF) vs non-Fusion</a:t>
            </a:r>
            <a:r>
              <a:rPr lang="ko" sz="900">
                <a:solidFill>
                  <a:schemeClr val="dk1"/>
                </a:solidFill>
              </a:rPr>
              <a:t>(CILRS, LBC, AIM)</a:t>
            </a:r>
            <a:r>
              <a:rPr lang="ko" sz="900">
                <a:solidFill>
                  <a:schemeClr val="dk1"/>
                </a:solidFill>
              </a:rPr>
              <a:t>  =&gt; Fusion 에서 더 높은 성능을 보임</a:t>
            </a:r>
            <a:br>
              <a:rPr lang="ko" sz="900">
                <a:solidFill>
                  <a:schemeClr val="dk1"/>
                </a:solidFill>
              </a:rPr>
            </a:br>
            <a:r>
              <a:rPr lang="ko" sz="900">
                <a:solidFill>
                  <a:schemeClr val="dk1"/>
                </a:solidFill>
              </a:rPr>
              <a:t>Late Fusion 이나 Geometric Fusion 은 RC(Route Completion) 높은 성능을 보이지만 DS(Driving Score) 에서는 Transfuser 가 높은 성능을 보임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arenBoth"/>
            </a:pPr>
            <a:r>
              <a:rPr lang="ko" sz="900">
                <a:solidFill>
                  <a:schemeClr val="dk1"/>
                </a:solidFill>
              </a:rPr>
              <a:t>Infractions</a:t>
            </a:r>
            <a:br>
              <a:rPr lang="ko" sz="900">
                <a:solidFill>
                  <a:schemeClr val="dk1"/>
                </a:solidFill>
              </a:rPr>
            </a:br>
            <a:r>
              <a:rPr lang="ko" sz="900">
                <a:solidFill>
                  <a:schemeClr val="dk1"/>
                </a:solidFill>
              </a:rPr>
              <a:t>Transfuser 에서 가장 낮은 위반 사항이 발생하였음</a:t>
            </a:r>
            <a:br>
              <a:rPr lang="ko" sz="900">
                <a:solidFill>
                  <a:schemeClr val="dk1"/>
                </a:solidFill>
              </a:rPr>
            </a:br>
            <a:r>
              <a:rPr lang="ko" sz="900">
                <a:solidFill>
                  <a:schemeClr val="dk1"/>
                </a:solidFill>
              </a:rPr>
              <a:t>(</a:t>
            </a:r>
            <a:r>
              <a:rPr lang="ko" sz="900">
                <a:solidFill>
                  <a:srgbClr val="262626"/>
                </a:solidFill>
                <a:highlight>
                  <a:srgbClr val="FFFFFF"/>
                </a:highlight>
              </a:rPr>
              <a:t>모든 융합 방법이 빨간불 위반에서 어려움을 겪고 있으며, 이는 Town05에서 빨간불이 교차로 반대편에 위치해 있어 입력 이미지에서 잘 보이지 않기 때문</a:t>
            </a:r>
            <a:r>
              <a:rPr lang="ko" sz="900">
                <a:solidFill>
                  <a:schemeClr val="dk1"/>
                </a:solidFill>
              </a:rPr>
              <a:t>)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290" name="Google Shape;29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5247" y="1487175"/>
            <a:ext cx="3233954" cy="2060983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4"/>
          <p:cNvSpPr/>
          <p:nvPr/>
        </p:nvSpPr>
        <p:spPr>
          <a:xfrm>
            <a:off x="7934875" y="1526500"/>
            <a:ext cx="612900" cy="228900"/>
          </a:xfrm>
          <a:prstGeom prst="rect">
            <a:avLst/>
          </a:prstGeom>
          <a:noFill/>
          <a:ln cap="flat" cmpd="sng" w="38100">
            <a:solidFill>
              <a:srgbClr val="CB0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501675" y="1182375"/>
            <a:ext cx="19701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(a) </a:t>
            </a:r>
            <a:r>
              <a:rPr lang="ko" sz="1200">
                <a:solidFill>
                  <a:schemeClr val="dk1"/>
                </a:solidFill>
              </a:rPr>
              <a:t>Driving Performance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93" name="Google Shape;293;p24"/>
          <p:cNvSpPr txBox="1"/>
          <p:nvPr/>
        </p:nvSpPr>
        <p:spPr>
          <a:xfrm>
            <a:off x="5605250" y="1182375"/>
            <a:ext cx="12066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(b) Infractions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94" name="Google Shape;294;p24"/>
          <p:cNvSpPr txBox="1"/>
          <p:nvPr/>
        </p:nvSpPr>
        <p:spPr>
          <a:xfrm>
            <a:off x="2282875" y="1153275"/>
            <a:ext cx="3246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* </a:t>
            </a:r>
            <a:r>
              <a:rPr lang="ko" sz="900"/>
              <a:t>mean and standard deviation over 9 runs of each method</a:t>
            </a:r>
            <a:endParaRPr sz="900"/>
          </a:p>
        </p:txBody>
      </p:sp>
      <p:sp>
        <p:nvSpPr>
          <p:cNvPr id="295" name="Google Shape;295;p24"/>
          <p:cNvSpPr txBox="1"/>
          <p:nvPr/>
        </p:nvSpPr>
        <p:spPr>
          <a:xfrm>
            <a:off x="6207425" y="810925"/>
            <a:ext cx="286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* </a:t>
            </a:r>
            <a:r>
              <a:rPr lang="ko" sz="900"/>
              <a:t>mean value of the total infractions incurred over the </a:t>
            </a:r>
            <a:br>
              <a:rPr lang="ko" sz="900"/>
            </a:br>
            <a:r>
              <a:rPr lang="ko" sz="900"/>
              <a:t>  9 evaluation runs in the Town05 Short </a:t>
            </a:r>
            <a:endParaRPr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5"/>
          <p:cNvSpPr txBox="1"/>
          <p:nvPr>
            <p:ph type="ctrTitle"/>
          </p:nvPr>
        </p:nvSpPr>
        <p:spPr>
          <a:xfrm>
            <a:off x="174825" y="48875"/>
            <a:ext cx="7679100" cy="4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000"/>
              <a:t>TransFuser - Result </a:t>
            </a:r>
            <a:endParaRPr sz="2000"/>
          </a:p>
        </p:txBody>
      </p:sp>
      <p:cxnSp>
        <p:nvCxnSpPr>
          <p:cNvPr id="301" name="Google Shape;301;p25"/>
          <p:cNvCxnSpPr/>
          <p:nvPr/>
        </p:nvCxnSpPr>
        <p:spPr>
          <a:xfrm>
            <a:off x="0" y="596375"/>
            <a:ext cx="914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25"/>
          <p:cNvSpPr txBox="1"/>
          <p:nvPr>
            <p:ph type="ctrTitle"/>
          </p:nvPr>
        </p:nvSpPr>
        <p:spPr>
          <a:xfrm>
            <a:off x="174825" y="683775"/>
            <a:ext cx="8253900" cy="4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700"/>
              <a:t>Attention Map Visualization</a:t>
            </a:r>
            <a:endParaRPr sz="1100"/>
          </a:p>
        </p:txBody>
      </p:sp>
      <p:pic>
        <p:nvPicPr>
          <p:cNvPr id="303" name="Google Shape;3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3025" y="1334775"/>
            <a:ext cx="5257476" cy="2688574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5"/>
          <p:cNvSpPr txBox="1"/>
          <p:nvPr/>
        </p:nvSpPr>
        <p:spPr>
          <a:xfrm>
            <a:off x="533025" y="4163050"/>
            <a:ext cx="7537500" cy="5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262626"/>
                </a:solidFill>
              </a:rPr>
              <a:t>이미지 토큰의 62.75%가 LiDAR 토큰에 주의를 기울이고 있으며, 88.87%는 최소 하나의 LiDAR 토큰에 주목함. =&gt; 이미지 정보가 LiDAR 정보와 강하게 연결</a:t>
            </a:r>
            <a:endParaRPr sz="900">
              <a:solidFill>
                <a:srgbClr val="26262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ko" sz="900">
                <a:solidFill>
                  <a:srgbClr val="262626"/>
                </a:solidFill>
              </a:rPr>
              <a:t>반대로, LiDAR 토큰의 78.45%가 이미지 토큰에 주의를 기울이고, 98.95%는 최소 하나의 이미지 토큰에 주목함. =&gt; LiDAR 정보가 이미지 정보와도 강하게 연결</a:t>
            </a:r>
            <a:endParaRPr sz="900"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6"/>
          <p:cNvSpPr txBox="1"/>
          <p:nvPr>
            <p:ph type="ctrTitle"/>
          </p:nvPr>
        </p:nvSpPr>
        <p:spPr>
          <a:xfrm>
            <a:off x="174825" y="48875"/>
            <a:ext cx="7679100" cy="4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000"/>
              <a:t>TransFuser - Result </a:t>
            </a:r>
            <a:endParaRPr sz="2000"/>
          </a:p>
        </p:txBody>
      </p:sp>
      <p:cxnSp>
        <p:nvCxnSpPr>
          <p:cNvPr id="310" name="Google Shape;310;p26"/>
          <p:cNvCxnSpPr/>
          <p:nvPr/>
        </p:nvCxnSpPr>
        <p:spPr>
          <a:xfrm>
            <a:off x="0" y="596375"/>
            <a:ext cx="914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" name="Google Shape;311;p26"/>
          <p:cNvSpPr txBox="1"/>
          <p:nvPr>
            <p:ph type="ctrTitle"/>
          </p:nvPr>
        </p:nvSpPr>
        <p:spPr>
          <a:xfrm>
            <a:off x="174825" y="683775"/>
            <a:ext cx="8253900" cy="4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700"/>
              <a:t>Ablation Study</a:t>
            </a:r>
            <a:endParaRPr sz="1100"/>
          </a:p>
        </p:txBody>
      </p:sp>
      <p:pic>
        <p:nvPicPr>
          <p:cNvPr id="312" name="Google Shape;31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025" y="1269775"/>
            <a:ext cx="3715425" cy="210397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6"/>
          <p:cNvSpPr txBox="1"/>
          <p:nvPr/>
        </p:nvSpPr>
        <p:spPr>
          <a:xfrm>
            <a:off x="187200" y="3707725"/>
            <a:ext cx="87696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ko" sz="1000">
                <a:solidFill>
                  <a:srgbClr val="262626"/>
                </a:solidFill>
              </a:rPr>
              <a:t>- Scale: 4 에서 1 로 줄일 때 성능이 전반적으로 저하되는 것을 관찰</a:t>
            </a:r>
            <a:r>
              <a:rPr lang="ko" sz="1000">
                <a:solidFill>
                  <a:srgbClr val="262626"/>
                </a:solidFill>
              </a:rPr>
              <a:t> </a:t>
            </a:r>
            <a:r>
              <a:rPr lang="ko" sz="1000">
                <a:solidFill>
                  <a:srgbClr val="262626"/>
                </a:solidFill>
              </a:rPr>
              <a:t>=&gt; Different CNN layers in ResNet learn different types of</a:t>
            </a:r>
            <a:r>
              <a:rPr lang="ko" sz="1000">
                <a:solidFill>
                  <a:srgbClr val="262626"/>
                </a:solidFill>
              </a:rPr>
              <a:t> </a:t>
            </a:r>
            <a:r>
              <a:rPr lang="ko" sz="1000">
                <a:solidFill>
                  <a:srgbClr val="262626"/>
                </a:solidFill>
              </a:rPr>
              <a:t>features regarding the input</a:t>
            </a:r>
            <a:br>
              <a:rPr lang="ko" sz="1000">
                <a:solidFill>
                  <a:srgbClr val="262626"/>
                </a:solidFill>
              </a:rPr>
            </a:br>
            <a:r>
              <a:rPr lang="ko" sz="1000">
                <a:solidFill>
                  <a:srgbClr val="262626"/>
                </a:solidFill>
              </a:rPr>
              <a:t>- Shared Transformer: Transfomer 를 공유하여 실험 시 DS 가 감소 =&gt; Each transformer has to focus on fusing different types of features at each resolution</a:t>
            </a:r>
            <a:br>
              <a:rPr lang="ko" sz="1000">
                <a:solidFill>
                  <a:srgbClr val="262626"/>
                </a:solidFill>
              </a:rPr>
            </a:br>
            <a:r>
              <a:rPr lang="ko" sz="1000">
                <a:solidFill>
                  <a:srgbClr val="262626"/>
                </a:solidFill>
              </a:rPr>
              <a:t>- Attention Layers: Layer </a:t>
            </a:r>
            <a:r>
              <a:rPr lang="ko" sz="1000">
                <a:solidFill>
                  <a:srgbClr val="262626"/>
                </a:solidFill>
              </a:rPr>
              <a:t>개수가</a:t>
            </a:r>
            <a:r>
              <a:rPr lang="ko" sz="1000">
                <a:solidFill>
                  <a:srgbClr val="262626"/>
                </a:solidFill>
              </a:rPr>
              <a:t> 증가하면서 RC 가 낮아지며 8개 Layer 사용 시 DS 가 증가  =&gt; Multiple attention layers lead to cautious driving</a:t>
            </a:r>
            <a:br>
              <a:rPr lang="ko" sz="1000">
                <a:solidFill>
                  <a:srgbClr val="262626"/>
                </a:solidFill>
              </a:rPr>
            </a:br>
            <a:r>
              <a:rPr lang="ko" sz="1000">
                <a:solidFill>
                  <a:srgbClr val="262626"/>
                </a:solidFill>
              </a:rPr>
              <a:t>- Positional Embedding: CNN 을 통해 추출된 특징 벡터에 위치 임베딩을 추가했을 때 DS 가 높아짐  =&gt; significant drop in DS without positional embedding</a:t>
            </a:r>
            <a:endParaRPr sz="1000">
              <a:solidFill>
                <a:srgbClr val="262626"/>
              </a:solidFill>
            </a:endParaRPr>
          </a:p>
        </p:txBody>
      </p:sp>
      <p:sp>
        <p:nvSpPr>
          <p:cNvPr id="314" name="Google Shape;314;p26"/>
          <p:cNvSpPr txBox="1"/>
          <p:nvPr/>
        </p:nvSpPr>
        <p:spPr>
          <a:xfrm>
            <a:off x="4113450" y="2571750"/>
            <a:ext cx="4420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ko" sz="1000">
                <a:solidFill>
                  <a:srgbClr val="262626"/>
                </a:solidFill>
              </a:rPr>
              <a:t>Default setting </a:t>
            </a:r>
            <a:br>
              <a:rPr lang="ko" sz="1000">
                <a:solidFill>
                  <a:srgbClr val="262626"/>
                </a:solidFill>
              </a:rPr>
            </a:br>
            <a:r>
              <a:rPr lang="ko" sz="1000">
                <a:solidFill>
                  <a:srgbClr val="262626"/>
                </a:solidFill>
              </a:rPr>
              <a:t>: Town05 Short 에서 테스트, 4개의 resolution 이 있고 각 1개의 transformer 사용</a:t>
            </a:r>
            <a:br>
              <a:rPr lang="ko" sz="1000">
                <a:solidFill>
                  <a:srgbClr val="262626"/>
                </a:solidFill>
              </a:rPr>
            </a:br>
            <a:r>
              <a:rPr lang="ko" sz="1000">
                <a:solidFill>
                  <a:srgbClr val="262626"/>
                </a:solidFill>
              </a:rPr>
              <a:t>: 각 transformer 에는 8개의 Attention Layer 와 4개의 Attention Head 가 있음</a:t>
            </a:r>
            <a:endParaRPr sz="1000"/>
          </a:p>
        </p:txBody>
      </p:sp>
      <p:sp>
        <p:nvSpPr>
          <p:cNvPr id="315" name="Google Shape;315;p26"/>
          <p:cNvSpPr txBox="1"/>
          <p:nvPr/>
        </p:nvSpPr>
        <p:spPr>
          <a:xfrm>
            <a:off x="595400" y="1546475"/>
            <a:ext cx="168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/>
              <a:t>* Scale1 [8x8], Scale2 [16x16 - 8x8] </a:t>
            </a:r>
            <a:endParaRPr sz="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7"/>
          <p:cNvSpPr txBox="1"/>
          <p:nvPr>
            <p:ph type="ctrTitle"/>
          </p:nvPr>
        </p:nvSpPr>
        <p:spPr>
          <a:xfrm>
            <a:off x="311700" y="1662300"/>
            <a:ext cx="8520600" cy="181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280"/>
              <a:t>감사합니다.</a:t>
            </a:r>
            <a:endParaRPr sz="328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