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66" r:id="rId4"/>
    <p:sldId id="267" r:id="rId5"/>
    <p:sldId id="268" r:id="rId6"/>
    <p:sldId id="271" r:id="rId7"/>
    <p:sldId id="269" r:id="rId8"/>
    <p:sldId id="270" r:id="rId9"/>
    <p:sldId id="272" r:id="rId10"/>
    <p:sldId id="273" r:id="rId11"/>
    <p:sldId id="278" r:id="rId12"/>
    <p:sldId id="279" r:id="rId13"/>
    <p:sldId id="280" r:id="rId14"/>
    <p:sldId id="282" r:id="rId15"/>
    <p:sldId id="281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KOPUBWORLDDOTUM_PRO MEDIUM" pitchFamily="2" charset="-127"/>
      <p:regular r:id="rId24"/>
    </p:embeddedFont>
    <p:embeddedFont>
      <p:font typeface="KOPUBWORLDDOTUM_PRO MEDIUM" pitchFamily="2" charset="-127"/>
      <p:regular r:id="rId24"/>
    </p:embeddedFont>
  </p:embeddedFontLst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79651"/>
  </p:normalViewPr>
  <p:slideViewPr>
    <p:cSldViewPr snapToGrid="0" snapToObjects="1">
      <p:cViewPr>
        <p:scale>
          <a:sx n="112" d="100"/>
          <a:sy n="112" d="100"/>
        </p:scale>
        <p:origin x="8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455AC-04D5-9242-95CA-F8E78E4264EF}" type="datetimeFigureOut">
              <a:rPr lang="en-KR" smtClean="0"/>
              <a:t>1/5/25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69611-B342-214B-8327-926C534D8B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3965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94945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90291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2429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25268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77984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92448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44897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18368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18253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11118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51435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12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75306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13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22222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9611-B342-214B-8327-926C534D8B45}" type="slidenum">
              <a:rPr lang="en-KR" smtClean="0"/>
              <a:t>14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03670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96C3-757E-484F-A09F-6B47AE1E0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E55EF-7C83-2C41-ACB0-8E70BDFA9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F05DA-FD9B-0A42-A1DB-627CB142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F121D-55A1-284E-B9E0-3A98B649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FF6F5-57AE-8D47-B9BA-16DDA938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09405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BED8-36F4-384A-984A-77BDC06E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E6C0E-6FC2-B748-892F-D43892209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CE8D8-8915-CD4F-B35B-55C2D9EAA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62C15-3621-FD49-8620-CD543B1C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D6818-365F-774D-8B28-77FE3553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73649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7643-E08D-0641-A3B9-750B99D1D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D6C54-2DEC-A943-9A93-03E9DE757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ED25E-BE45-5D4D-9167-F04AD333B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17067-084B-834C-BB97-71243890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89816-941A-A847-97B3-7B2079E3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5988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DB52-BB5A-9147-8CE1-BED6A95E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87E9-A4CC-9A43-A71D-E3C2BFBDA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1B4C0-DFAD-F946-9FDD-68DB9D829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F47B8-E825-3645-ABED-B2FA0C040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85B46-3827-6041-86A8-2D047AC78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249F7-EDFF-7E42-8DE3-6553AF28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35941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BAD79-13A6-5942-8565-96243770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498EC-D419-3C42-892A-51AAFFF50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70DF4-D061-5E47-A1F9-51D82B9BD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F46BB-704F-C048-9A90-9FF030A96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D89F2-B6A4-2F42-8122-E3B72D282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B23F9E-B720-8345-9D29-82B4B3DD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92CB5-3985-2A41-87C4-9789A1A15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D1FF1-4597-3C43-80DE-A150BF67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995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4F31D-2E7A-594F-B0D2-361DF48D5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E4E068-12CD-4249-873C-065189D7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AFA1A-0A55-D045-BB8D-CB5C28A1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AEA5D-0AAA-ED40-83C1-210C10B7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26126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5C7D4-68BF-9849-AA57-1EC4B6B6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398F3C-7705-2E43-ADB8-BD373635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C245D-25E3-0D45-AE2B-2FC7DEE8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05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040D-2DB7-814D-B4AA-EC566EEDF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B70D5-8FA2-8849-AC18-ACCFFA57D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8D455-6A58-9A4F-826D-CBCB874F3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80322-A290-494C-B40B-EF67112FF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6B78D-7970-2941-B71B-E7FD8386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FB08F-4C81-1548-AE34-1210DFA0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7846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F6D7-66A9-A846-AE27-A062D61F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B161C-C666-9843-8881-10A6D726A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64C16-6E57-0E47-8F4F-9BB42BEE9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4216D-8BBD-3545-803F-005AB61E2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33669-39B6-7743-ABC2-E97ACBE1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331D5-F1B4-E141-B914-B9862038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9197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0638-6F72-7C40-B212-65940E80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67FB1-4745-B34A-8EA8-930EF6602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9ACDB-B17C-6648-AED4-9FD47C176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44FB0-B6BB-BD48-9FE2-C0B3A5F4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EB3DE-3062-734A-A260-274B90A6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1948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86DE2-DC41-9F4B-9B40-0A601D6B7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9032E-994A-6845-B996-291F01021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4B916-86AB-AD48-BF82-E9AE106AA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CD3DF-74EC-0448-AFF3-78DC9672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99052-0F04-4C4B-925C-84D8B12A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16466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EDD345-5868-004F-9D25-004A8B9C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A9988-B277-2443-8BB3-49573E6B7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7F338-BEF4-1145-B21E-3812FD6A3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F3703-4490-C246-A843-CFC37C92008A}" type="datetimeFigureOut">
              <a:rPr lang="en-KR" smtClean="0"/>
              <a:t>1/5/25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1C537-0AAF-9143-80EF-C0503BA75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9A3E7-4B03-C846-8D6D-38BC0D925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7BEAB-DA1D-AD48-96DD-8E4DE41A661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4888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C53A1-9746-8F43-9FC9-70ED0B71D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344"/>
            <a:ext cx="9144000" cy="2387600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Cache: Modular Attention Reuse For Low-Latency Inference</a:t>
            </a:r>
            <a:endParaRPr lang="en-KR" sz="50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81F7B-87A3-634D-AF04-8AB6C58D3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1130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자연어 처리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팀 김민아</a:t>
            </a:r>
            <a:endParaRPr lang="en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56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논문의 목적</a:t>
            </a:r>
            <a:endParaRPr lang="en-KR" sz="3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1382A-0BB0-F847-B740-D6F6FDAFA94F}"/>
              </a:ext>
            </a:extLst>
          </p:cNvPr>
          <p:cNvSpPr txBox="1"/>
          <p:nvPr/>
        </p:nvSpPr>
        <p:spPr>
          <a:xfrm>
            <a:off x="755374" y="1531662"/>
            <a:ext cx="101145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LLM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의 많은 입력 프롬프트는 시스템 메시지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프롬프트 템플릿 및 문서와 같은 겹치는 텍스트 세그먼트를 가지고 있고 이것들을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재사용 가능한 구조를 자주 가진다는 관찰에서 시작</a:t>
            </a:r>
            <a:endParaRPr lang="en-US" altLang="ko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endParaRPr lang="ko-KR" altLang="en-US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자주 사용되는 프롬프트 구간의 </a:t>
            </a:r>
            <a:r>
              <a:rPr 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state</a:t>
            </a:r>
            <a:r>
              <a:rPr lang="ko-KR" altLang="en-US" b="1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미리 계산하고 저장 </a:t>
            </a:r>
            <a:endParaRPr lang="en-US" altLang="ko-KR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→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이 구간이 프롬프트에 등장했을 때 이를 </a:t>
            </a: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재사용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하여 </a:t>
            </a:r>
            <a:r>
              <a:rPr 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latency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줄이자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1472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Autoregressive Model</a:t>
            </a:r>
            <a:endParaRPr lang="en-KR" sz="3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07255-C15E-784A-8BF4-58DE8B0DB998}"/>
              </a:ext>
            </a:extLst>
          </p:cNvPr>
          <p:cNvSpPr txBox="1"/>
          <p:nvPr/>
        </p:nvSpPr>
        <p:spPr>
          <a:xfrm>
            <a:off x="838200" y="1506022"/>
            <a:ext cx="515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생성 문장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: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새로운 푸른 뱀의 해 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2025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년이 밝았습니다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.</a:t>
            </a:r>
            <a:endParaRPr lang="en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2870EF-B54D-704A-B0B9-C59F6408FDAC}"/>
              </a:ext>
            </a:extLst>
          </p:cNvPr>
          <p:cNvSpPr/>
          <p:nvPr/>
        </p:nvSpPr>
        <p:spPr>
          <a:xfrm>
            <a:off x="1490870" y="2470083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푸른 뱀의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389B62-2D47-A340-AE6D-6C6F3C26F097}"/>
              </a:ext>
            </a:extLst>
          </p:cNvPr>
          <p:cNvSpPr/>
          <p:nvPr/>
        </p:nvSpPr>
        <p:spPr>
          <a:xfrm>
            <a:off x="1490868" y="3682835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LLM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621A96-8834-4C46-A36D-4BB0775C8EFD}"/>
              </a:ext>
            </a:extLst>
          </p:cNvPr>
          <p:cNvSpPr/>
          <p:nvPr/>
        </p:nvSpPr>
        <p:spPr>
          <a:xfrm>
            <a:off x="1490866" y="4890980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새로운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FB574A-CFF6-C34C-8733-7E7E95A93365}"/>
              </a:ext>
            </a:extLst>
          </p:cNvPr>
          <p:cNvSpPr/>
          <p:nvPr/>
        </p:nvSpPr>
        <p:spPr>
          <a:xfrm>
            <a:off x="5420284" y="4890980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푸른 뱀의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B56C11-B98E-8E4A-A9A9-20BD66EFB4F1}"/>
              </a:ext>
            </a:extLst>
          </p:cNvPr>
          <p:cNvSpPr/>
          <p:nvPr/>
        </p:nvSpPr>
        <p:spPr>
          <a:xfrm>
            <a:off x="4144762" y="4890980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새로운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25F88DE-4EDC-0C47-A6C4-8A33A17B5368}"/>
              </a:ext>
            </a:extLst>
          </p:cNvPr>
          <p:cNvSpPr/>
          <p:nvPr/>
        </p:nvSpPr>
        <p:spPr>
          <a:xfrm>
            <a:off x="4144762" y="3682835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LLM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398CF66-B6C0-D34E-A64D-0E1A76C9B929}"/>
              </a:ext>
            </a:extLst>
          </p:cNvPr>
          <p:cNvSpPr/>
          <p:nvPr/>
        </p:nvSpPr>
        <p:spPr>
          <a:xfrm>
            <a:off x="4144763" y="2470083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002DE5A-2891-844E-9E43-F26361F8502C}"/>
              </a:ext>
            </a:extLst>
          </p:cNvPr>
          <p:cNvSpPr/>
          <p:nvPr/>
        </p:nvSpPr>
        <p:spPr>
          <a:xfrm>
            <a:off x="7776767" y="4890980"/>
            <a:ext cx="2120350" cy="52677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새로운 푸른 뱀의</a:t>
            </a:r>
            <a:endParaRPr lang="en-KR" sz="1400" dirty="0">
              <a:solidFill>
                <a:schemeClr val="tx1"/>
              </a:solidFill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36270F8-958E-7249-B1B0-E23E99CCB871}"/>
              </a:ext>
            </a:extLst>
          </p:cNvPr>
          <p:cNvSpPr/>
          <p:nvPr/>
        </p:nvSpPr>
        <p:spPr>
          <a:xfrm>
            <a:off x="9970002" y="4890980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DAAA233-86E5-1749-BB57-87702B0E14A5}"/>
              </a:ext>
            </a:extLst>
          </p:cNvPr>
          <p:cNvSpPr/>
          <p:nvPr/>
        </p:nvSpPr>
        <p:spPr>
          <a:xfrm>
            <a:off x="7776767" y="3682835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LLM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533F5EC-34A6-9344-8873-3E258F0B9849}"/>
              </a:ext>
            </a:extLst>
          </p:cNvPr>
          <p:cNvSpPr/>
          <p:nvPr/>
        </p:nvSpPr>
        <p:spPr>
          <a:xfrm>
            <a:off x="7776769" y="2470083"/>
            <a:ext cx="1192695" cy="52677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2025</a:t>
            </a:r>
            <a:r>
              <a:rPr lang="ko-KR" altLang="en-US" sz="1400" dirty="0">
                <a:solidFill>
                  <a:schemeClr val="tx1"/>
                </a:solidFill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년이</a:t>
            </a:r>
            <a:endParaRPr lang="en-KR" sz="1400" dirty="0">
              <a:solidFill>
                <a:schemeClr val="tx1"/>
              </a:solidFill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A34947-0D44-C842-9D9F-DE5A95EC37FB}"/>
              </a:ext>
            </a:extLst>
          </p:cNvPr>
          <p:cNvSpPr txBox="1"/>
          <p:nvPr/>
        </p:nvSpPr>
        <p:spPr>
          <a:xfrm>
            <a:off x="948787" y="2538996"/>
            <a:ext cx="5212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출력</a:t>
            </a:r>
            <a:endParaRPr lang="en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49FDFA-9D1E-4841-B062-907ADB2945FB}"/>
              </a:ext>
            </a:extLst>
          </p:cNvPr>
          <p:cNvSpPr txBox="1"/>
          <p:nvPr/>
        </p:nvSpPr>
        <p:spPr>
          <a:xfrm>
            <a:off x="928155" y="5021508"/>
            <a:ext cx="5212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입력</a:t>
            </a:r>
            <a:endParaRPr lang="en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1AF3CA-EDA4-FE40-94E4-A6FD4DFBB751}"/>
              </a:ext>
            </a:extLst>
          </p:cNvPr>
          <p:cNvCxnSpPr>
            <a:cxnSpLocks/>
          </p:cNvCxnSpPr>
          <p:nvPr/>
        </p:nvCxnSpPr>
        <p:spPr>
          <a:xfrm flipV="1">
            <a:off x="2067338" y="4355600"/>
            <a:ext cx="0" cy="393115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DE1A25-A39E-B644-B7AF-E5588F2810DE}"/>
              </a:ext>
            </a:extLst>
          </p:cNvPr>
          <p:cNvCxnSpPr>
            <a:cxnSpLocks/>
          </p:cNvCxnSpPr>
          <p:nvPr/>
        </p:nvCxnSpPr>
        <p:spPr>
          <a:xfrm flipV="1">
            <a:off x="2067338" y="3106583"/>
            <a:ext cx="0" cy="393115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1D5CFC7-7B9E-0D48-8443-8179D916F8D9}"/>
              </a:ext>
            </a:extLst>
          </p:cNvPr>
          <p:cNvCxnSpPr>
            <a:cxnSpLocks/>
          </p:cNvCxnSpPr>
          <p:nvPr/>
        </p:nvCxnSpPr>
        <p:spPr>
          <a:xfrm flipV="1">
            <a:off x="4741109" y="4355599"/>
            <a:ext cx="0" cy="393115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9231939-524E-3841-857C-2F4042957EB8}"/>
              </a:ext>
            </a:extLst>
          </p:cNvPr>
          <p:cNvCxnSpPr>
            <a:cxnSpLocks/>
          </p:cNvCxnSpPr>
          <p:nvPr/>
        </p:nvCxnSpPr>
        <p:spPr>
          <a:xfrm flipV="1">
            <a:off x="4741109" y="3107670"/>
            <a:ext cx="0" cy="393115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6BFFA8-2FBF-1F45-8067-755C979BC80F}"/>
              </a:ext>
            </a:extLst>
          </p:cNvPr>
          <p:cNvCxnSpPr>
            <a:cxnSpLocks/>
          </p:cNvCxnSpPr>
          <p:nvPr/>
        </p:nvCxnSpPr>
        <p:spPr>
          <a:xfrm flipV="1">
            <a:off x="8373114" y="4355598"/>
            <a:ext cx="0" cy="393115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0FFD1C2-1F07-264B-98A4-2B089D8B1B4B}"/>
              </a:ext>
            </a:extLst>
          </p:cNvPr>
          <p:cNvCxnSpPr>
            <a:cxnSpLocks/>
          </p:cNvCxnSpPr>
          <p:nvPr/>
        </p:nvCxnSpPr>
        <p:spPr>
          <a:xfrm flipV="1">
            <a:off x="8373114" y="3106583"/>
            <a:ext cx="0" cy="393115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E53D5E-836A-244C-8CEA-FEF38DCEB3A5}"/>
              </a:ext>
            </a:extLst>
          </p:cNvPr>
          <p:cNvGrpSpPr/>
          <p:nvPr/>
        </p:nvGrpSpPr>
        <p:grpSpPr>
          <a:xfrm>
            <a:off x="5218433" y="5008971"/>
            <a:ext cx="317559" cy="317559"/>
            <a:chOff x="7643191" y="1262270"/>
            <a:chExt cx="417444" cy="41744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2FA648A-34E5-0A4E-B3C4-61B1352BFD13}"/>
                </a:ext>
              </a:extLst>
            </p:cNvPr>
            <p:cNvSpPr/>
            <p:nvPr/>
          </p:nvSpPr>
          <p:spPr>
            <a:xfrm>
              <a:off x="7643191" y="1262270"/>
              <a:ext cx="417444" cy="41744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endParaRPr>
            </a:p>
          </p:txBody>
        </p:sp>
        <p:sp>
          <p:nvSpPr>
            <p:cNvPr id="32" name="Plus 31">
              <a:extLst>
                <a:ext uri="{FF2B5EF4-FFF2-40B4-BE49-F238E27FC236}">
                  <a16:creationId xmlns:a16="http://schemas.microsoft.com/office/drawing/2014/main" id="{D5B38589-A8A5-7440-8A32-0539EE685C60}"/>
                </a:ext>
              </a:extLst>
            </p:cNvPr>
            <p:cNvSpPr/>
            <p:nvPr/>
          </p:nvSpPr>
          <p:spPr>
            <a:xfrm>
              <a:off x="7707796" y="1326875"/>
              <a:ext cx="288234" cy="288234"/>
            </a:xfrm>
            <a:prstGeom prst="mathPlus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BE23D20-E9F8-2B48-9401-2A5F28C1A001}"/>
              </a:ext>
            </a:extLst>
          </p:cNvPr>
          <p:cNvGrpSpPr/>
          <p:nvPr/>
        </p:nvGrpSpPr>
        <p:grpSpPr>
          <a:xfrm>
            <a:off x="9774780" y="4995587"/>
            <a:ext cx="317559" cy="317559"/>
            <a:chOff x="7643191" y="1262270"/>
            <a:chExt cx="417444" cy="417444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2A52ED2-08FA-124F-9397-D8E01A6FA7D6}"/>
                </a:ext>
              </a:extLst>
            </p:cNvPr>
            <p:cNvSpPr/>
            <p:nvPr/>
          </p:nvSpPr>
          <p:spPr>
            <a:xfrm>
              <a:off x="7643191" y="1262270"/>
              <a:ext cx="417444" cy="41744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endParaRPr>
            </a:p>
          </p:txBody>
        </p:sp>
        <p:sp>
          <p:nvSpPr>
            <p:cNvPr id="39" name="Plus 38">
              <a:extLst>
                <a:ext uri="{FF2B5EF4-FFF2-40B4-BE49-F238E27FC236}">
                  <a16:creationId xmlns:a16="http://schemas.microsoft.com/office/drawing/2014/main" id="{674F9F5C-AE9B-C242-AA21-FC14A5984909}"/>
                </a:ext>
              </a:extLst>
            </p:cNvPr>
            <p:cNvSpPr/>
            <p:nvPr/>
          </p:nvSpPr>
          <p:spPr>
            <a:xfrm>
              <a:off x="7707796" y="1326875"/>
              <a:ext cx="288234" cy="288234"/>
            </a:xfrm>
            <a:prstGeom prst="mathPlus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endParaRP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35A567-C73C-2F40-83DB-E24FAF3C67D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683561" y="5154367"/>
            <a:ext cx="125687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93D50BF1-DF45-FA4E-8DFA-F7D616B912A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683565" y="2733470"/>
            <a:ext cx="715191" cy="2420895"/>
          </a:xfrm>
          <a:prstGeom prst="bentConnector2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E3A0E74-4C48-1E48-A196-84A276A73E6E}"/>
              </a:ext>
            </a:extLst>
          </p:cNvPr>
          <p:cNvCxnSpPr>
            <a:cxnSpLocks/>
          </p:cNvCxnSpPr>
          <p:nvPr/>
        </p:nvCxnSpPr>
        <p:spPr>
          <a:xfrm flipV="1">
            <a:off x="6614569" y="5154366"/>
            <a:ext cx="1083363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4A5D0144-F140-3A45-AD5A-1A6F3A7CA514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337458" y="2733470"/>
            <a:ext cx="1818792" cy="2420895"/>
          </a:xfrm>
          <a:prstGeom prst="bentConnector2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E0C3110-8312-5647-B308-6F85A4316F6A}"/>
              </a:ext>
            </a:extLst>
          </p:cNvPr>
          <p:cNvSpPr txBox="1"/>
          <p:nvPr/>
        </p:nvSpPr>
        <p:spPr>
          <a:xfrm>
            <a:off x="8071348" y="5580803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중복 연산 발생</a:t>
            </a:r>
            <a:endParaRPr lang="en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68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7A8DB8-34FD-414F-AED9-F7F71919403E}"/>
              </a:ext>
            </a:extLst>
          </p:cNvPr>
          <p:cNvSpPr/>
          <p:nvPr/>
        </p:nvSpPr>
        <p:spPr>
          <a:xfrm>
            <a:off x="3199823" y="2619825"/>
            <a:ext cx="6311902" cy="2020389"/>
          </a:xfrm>
          <a:prstGeom prst="rect">
            <a:avLst/>
          </a:prstGeom>
          <a:pattFill prst="wdUp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KV Cache</a:t>
            </a:r>
            <a:endParaRPr lang="en-KR" sz="3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852140-F887-A348-AA4A-527D926E5E56}"/>
              </a:ext>
            </a:extLst>
          </p:cNvPr>
          <p:cNvSpPr/>
          <p:nvPr/>
        </p:nvSpPr>
        <p:spPr>
          <a:xfrm>
            <a:off x="1502673" y="3358197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푸른 뱀의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5A92F4-765E-2A43-9AA7-049E2180B9D9}"/>
              </a:ext>
            </a:extLst>
          </p:cNvPr>
          <p:cNvSpPr/>
          <p:nvPr/>
        </p:nvSpPr>
        <p:spPr>
          <a:xfrm>
            <a:off x="1502673" y="4055002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83152F-92AF-2148-A522-B2AE77AA1A4F}"/>
              </a:ext>
            </a:extLst>
          </p:cNvPr>
          <p:cNvSpPr/>
          <p:nvPr/>
        </p:nvSpPr>
        <p:spPr>
          <a:xfrm>
            <a:off x="1502673" y="2661392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새로운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408A98A-60B1-D146-BA12-448B6EBC5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997934"/>
              </p:ext>
            </p:extLst>
          </p:nvPr>
        </p:nvGraphicFramePr>
        <p:xfrm>
          <a:off x="3199825" y="2619825"/>
          <a:ext cx="6311900" cy="2693852"/>
        </p:xfrm>
        <a:graphic>
          <a:graphicData uri="http://schemas.openxmlformats.org/drawingml/2006/table">
            <a:tbl>
              <a:tblPr>
                <a:tableStyleId>{91EBBBCC-DAD2-459C-BE2E-F6DE35CF9A28}</a:tableStyleId>
              </a:tblPr>
              <a:tblGrid>
                <a:gridCol w="1577975">
                  <a:extLst>
                    <a:ext uri="{9D8B030D-6E8A-4147-A177-3AD203B41FA5}">
                      <a16:colId xmlns:a16="http://schemas.microsoft.com/office/drawing/2014/main" val="317269538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2993423915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3881242055"/>
                    </a:ext>
                  </a:extLst>
                </a:gridCol>
                <a:gridCol w="1577975">
                  <a:extLst>
                    <a:ext uri="{9D8B030D-6E8A-4147-A177-3AD203B41FA5}">
                      <a16:colId xmlns:a16="http://schemas.microsoft.com/office/drawing/2014/main" val="3471375474"/>
                    </a:ext>
                  </a:extLst>
                </a:gridCol>
              </a:tblGrid>
              <a:tr h="673463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0.1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0.4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-0.3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0.8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803132"/>
                  </a:ext>
                </a:extLst>
              </a:tr>
              <a:tr h="673463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1.3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-0.2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0.1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-0.5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43244"/>
                  </a:ext>
                </a:extLst>
              </a:tr>
              <a:tr h="673463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0.6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-0.6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1.0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1.3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573137"/>
                  </a:ext>
                </a:extLst>
              </a:tr>
              <a:tr h="673463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0.1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0.4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-0.2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KoPubWorldDotum_Pro Medium" pitchFamily="2" charset="-127"/>
                          <a:ea typeface="KoPubWorldDotum_Pro Medium" pitchFamily="2" charset="-127"/>
                          <a:cs typeface="KoPubWorldDotum_Pro Medium" pitchFamily="2" charset="-127"/>
                        </a:rPr>
                        <a:t>0.8</a:t>
                      </a:r>
                      <a:endParaRPr lang="en-KR" dirty="0">
                        <a:latin typeface="KoPubWorldDotum_Pro Medium" pitchFamily="2" charset="-127"/>
                        <a:ea typeface="KoPubWorldDotum_Pro Medium" pitchFamily="2" charset="-127"/>
                        <a:cs typeface="KoPubWorldDotum_Pro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5547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97FD29F-A631-BE42-AB6B-CDDAA7355DF0}"/>
              </a:ext>
            </a:extLst>
          </p:cNvPr>
          <p:cNvSpPr txBox="1"/>
          <p:nvPr/>
        </p:nvSpPr>
        <p:spPr>
          <a:xfrm>
            <a:off x="8328388" y="2213323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KV Cache</a:t>
            </a:r>
            <a:endParaRPr lang="en-KR" dirty="0">
              <a:solidFill>
                <a:schemeClr val="accent2"/>
              </a:solidFill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2B04D-9270-1D46-9DD9-C8B3F82C183A}"/>
              </a:ext>
            </a:extLst>
          </p:cNvPr>
          <p:cNvSpPr txBox="1"/>
          <p:nvPr/>
        </p:nvSpPr>
        <p:spPr>
          <a:xfrm>
            <a:off x="3148060" y="5958211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Query</a:t>
            </a:r>
            <a:endParaRPr lang="en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C9BC3D-5575-4940-A418-497B0813B651}"/>
              </a:ext>
            </a:extLst>
          </p:cNvPr>
          <p:cNvSpPr txBox="1"/>
          <p:nvPr/>
        </p:nvSpPr>
        <p:spPr>
          <a:xfrm>
            <a:off x="1501261" y="2138496"/>
            <a:ext cx="1198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Key Value</a:t>
            </a:r>
            <a:endParaRPr lang="en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A421FD0A-5A14-D04E-9C5A-E4F366573CFC}"/>
              </a:ext>
            </a:extLst>
          </p:cNvPr>
          <p:cNvSpPr/>
          <p:nvPr/>
        </p:nvSpPr>
        <p:spPr>
          <a:xfrm>
            <a:off x="5955168" y="2079301"/>
            <a:ext cx="801211" cy="268045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B71A407-7749-3C4B-B303-6870375A73F0}"/>
              </a:ext>
            </a:extLst>
          </p:cNvPr>
          <p:cNvSpPr/>
          <p:nvPr/>
        </p:nvSpPr>
        <p:spPr>
          <a:xfrm>
            <a:off x="5759425" y="1385879"/>
            <a:ext cx="1192695" cy="52677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밝았습니다</a:t>
            </a:r>
            <a:endParaRPr lang="en-KR" sz="1400" dirty="0">
              <a:solidFill>
                <a:schemeClr val="tx1"/>
              </a:solidFill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9854D9C-E865-7044-91D1-153E1F164D6A}"/>
              </a:ext>
            </a:extLst>
          </p:cNvPr>
          <p:cNvSpPr/>
          <p:nvPr/>
        </p:nvSpPr>
        <p:spPr>
          <a:xfrm>
            <a:off x="5955168" y="5501921"/>
            <a:ext cx="801211" cy="268045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8D41DD7-676E-0E45-A057-DA2B92224287}"/>
              </a:ext>
            </a:extLst>
          </p:cNvPr>
          <p:cNvSpPr/>
          <p:nvPr/>
        </p:nvSpPr>
        <p:spPr>
          <a:xfrm>
            <a:off x="5358820" y="5881766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푸른 뱀의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DF864F3-BFAB-EC44-8E14-A1E5D924CB7C}"/>
              </a:ext>
            </a:extLst>
          </p:cNvPr>
          <p:cNvSpPr/>
          <p:nvPr/>
        </p:nvSpPr>
        <p:spPr>
          <a:xfrm>
            <a:off x="6653224" y="5881766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0AA0130-F691-E14E-9AE7-DAA7C4EFF8FA}"/>
              </a:ext>
            </a:extLst>
          </p:cNvPr>
          <p:cNvSpPr/>
          <p:nvPr/>
        </p:nvSpPr>
        <p:spPr>
          <a:xfrm>
            <a:off x="4064416" y="5881766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새로운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F6356D2-52E4-F045-8C5E-99E1046D10E6}"/>
              </a:ext>
            </a:extLst>
          </p:cNvPr>
          <p:cNvSpPr/>
          <p:nvPr/>
        </p:nvSpPr>
        <p:spPr>
          <a:xfrm>
            <a:off x="7947628" y="5879490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2025</a:t>
            </a:r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년이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28A753A-729C-BB4E-B529-94BC7B513B02}"/>
              </a:ext>
            </a:extLst>
          </p:cNvPr>
          <p:cNvSpPr/>
          <p:nvPr/>
        </p:nvSpPr>
        <p:spPr>
          <a:xfrm>
            <a:off x="1502673" y="4751806"/>
            <a:ext cx="1192695" cy="5267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2025</a:t>
            </a:r>
            <a:r>
              <a:rPr lang="ko-KR" altLang="en-US" sz="14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년이</a:t>
            </a:r>
            <a:endParaRPr lang="en-KR" sz="14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053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Cache </a:t>
            </a:r>
            <a:r>
              <a:rPr lang="ko-KR" alt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방법 비교</a:t>
            </a:r>
            <a:endParaRPr lang="en-KR" sz="3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52322C-6E30-EF49-A241-20491C5073AD}"/>
              </a:ext>
            </a:extLst>
          </p:cNvPr>
          <p:cNvSpPr txBox="1"/>
          <p:nvPr/>
        </p:nvSpPr>
        <p:spPr>
          <a:xfrm>
            <a:off x="838200" y="4513313"/>
            <a:ext cx="10373591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의 허들</a:t>
            </a:r>
            <a:endParaRPr lang="ko-KR" altLang="en-US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Transformer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의 위치 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인코딩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positional encoding)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특성상 </a:t>
            </a:r>
            <a:r>
              <a:rPr 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state</a:t>
            </a: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위치에 따라 달라지기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때문에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특정 텍스트 구간의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state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해당 구간이 동일한 위치에 있을 때만 재사용 가능</a:t>
            </a:r>
          </a:p>
          <a:p>
            <a:pPr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시스템은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state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가 </a:t>
            </a:r>
            <a:r>
              <a:rPr lang="ko-KR" altLang="en-US" b="1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캐시되어</a:t>
            </a: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있을 가능성이 있는 텍스트 구간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을 효율적으로 인식해야 함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38F060-04FD-6C49-ADD0-D05D45D24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97487"/>
            <a:ext cx="10515218" cy="254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30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해결책</a:t>
            </a:r>
            <a:endParaRPr lang="en-KR" sz="3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B11AB-96B6-D746-971B-9DE0C76BEB05}"/>
              </a:ext>
            </a:extLst>
          </p:cNvPr>
          <p:cNvSpPr txBox="1"/>
          <p:nvPr/>
        </p:nvSpPr>
        <p:spPr>
          <a:xfrm>
            <a:off x="755374" y="1628903"/>
            <a:ext cx="11266907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해결하기 위한 아이디어</a:t>
            </a:r>
            <a:endParaRPr lang="en-US" altLang="ko-KR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endParaRPr lang="ko-KR" altLang="en-US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buFont typeface="+mj-lt"/>
              <a:buAutoNum type="arabicPeriod"/>
            </a:pP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Markup Language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(PML)</a:t>
            </a:r>
            <a:endParaRPr lang="ko-KR" altLang="en-US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lvl="1"/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재사용 가능한 텍스트 구간을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모듈화하여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프롬프트 구조를 명시적으로 만들기 </a:t>
            </a:r>
          </a:p>
          <a:p>
            <a:pPr lvl="1"/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각 프롬프트 모듈에 고유한 위치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할당함으로써 첫번째 문제 해결</a:t>
            </a:r>
            <a:endParaRPr lang="en-US" altLang="ko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lvl="1"/>
            <a:endParaRPr lang="ko-KR" altLang="en-US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buFont typeface="+mj-lt"/>
              <a:buAutoNum type="arabicPeriod"/>
            </a:pP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LLM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이 불연속적인 위치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가진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state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처리할 수 있음을 경험적으로 발견 </a:t>
            </a:r>
          </a:p>
          <a:p>
            <a:pPr lvl="1"/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서로 다른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state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구간을 추출하여 이를 결합함으로써 의미의 부분 집합을 구성할 수 있음을 의미</a:t>
            </a:r>
          </a:p>
          <a:p>
            <a:pPr lvl="1"/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사용자가 필요에 따라 프롬프트 모듈을 선택하거나 실행 중에 일부 프롬프트 모듈을 업데이트할 수 있도록 지원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88C1E-58C9-DA4C-84F5-B6B9F9AAE31B}"/>
              </a:ext>
            </a:extLst>
          </p:cNvPr>
          <p:cNvSpPr txBox="1"/>
          <p:nvPr/>
        </p:nvSpPr>
        <p:spPr>
          <a:xfrm>
            <a:off x="755374" y="4385224"/>
            <a:ext cx="9912474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동작 원리 요약</a:t>
            </a:r>
            <a:endParaRPr lang="en-US" altLang="ko-KR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endParaRPr lang="en-US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LLM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사용자는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PML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로 프롬프트를 작성 →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가 프롬프트를 받고 → 그 스키마를 처리 → 프롬프트 모듈에 대한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state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계산 → 이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state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해당 프롬프트 모듈 및 동일한 스키마에서 파생된 다른 프롬프트에 재사용</a:t>
            </a:r>
            <a:endParaRPr lang="en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564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Design of prompt cache</a:t>
            </a:r>
            <a:endParaRPr lang="en-KR" sz="3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CFDF10-226F-6242-BFCB-BEBD0B081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74246"/>
            <a:ext cx="8922026" cy="26313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4FFC8-8B73-F949-9D8B-3807D4666E11}"/>
              </a:ext>
            </a:extLst>
          </p:cNvPr>
          <p:cNvSpPr txBox="1"/>
          <p:nvPr/>
        </p:nvSpPr>
        <p:spPr>
          <a:xfrm>
            <a:off x="838201" y="4095387"/>
            <a:ext cx="937922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Schema</a:t>
            </a:r>
          </a:p>
          <a:p>
            <a:endParaRPr lang="en-US" sz="500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프롬프트 모듈을 정의하고 그들의 상대적인 위치와 계층을 구분하는 문서</a:t>
            </a:r>
          </a:p>
          <a:p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각 스키마는 고유한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식별자를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가지며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&lt;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module&gt;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태그로 프롬프트 모듈을 지정</a:t>
            </a:r>
          </a:p>
          <a:p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그 외의 경우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익명의 프롬프트 모듈로 취급되며 스키마에서 생성된 프롬프트에 항상 포함</a:t>
            </a:r>
          </a:p>
          <a:p>
            <a:endParaRPr lang="en-US" sz="1500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r>
              <a:rPr lang="en-US" sz="1500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</a:t>
            </a:r>
          </a:p>
          <a:p>
            <a:endParaRPr lang="en-US" sz="500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사용자는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&lt;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prompt&gt;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태그를 통해 스키마에서 프롬프트를 생성 가능</a:t>
            </a:r>
          </a:p>
          <a:p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사용할 스키마를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schema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속성으로 지정하고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가져올 프롬프트 모듈을 나열하며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추가적인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캐시되지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않은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)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지침을 추가</a:t>
            </a:r>
          </a:p>
        </p:txBody>
      </p:sp>
    </p:spTree>
    <p:extLst>
      <p:ext uri="{BB962C8B-B14F-4D97-AF65-F5344CB8AC3E}">
        <p14:creationId xmlns:p14="http://schemas.microsoft.com/office/powerpoint/2010/main" val="1270018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Other Features</a:t>
            </a:r>
            <a:endParaRPr lang="en-KR" sz="3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BB0A9-BFFC-CB41-B6CD-4A04570FC0F8}"/>
              </a:ext>
            </a:extLst>
          </p:cNvPr>
          <p:cNvSpPr txBox="1"/>
          <p:nvPr/>
        </p:nvSpPr>
        <p:spPr>
          <a:xfrm>
            <a:off x="7566008" y="1541993"/>
            <a:ext cx="1624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Union module</a:t>
            </a:r>
            <a:endParaRPr lang="en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158062-276A-E847-AFAA-D0B1A6507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475" y="1964578"/>
            <a:ext cx="4199659" cy="9383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7E1233-7DE7-D941-840C-5AB258F19769}"/>
              </a:ext>
            </a:extLst>
          </p:cNvPr>
          <p:cNvSpPr txBox="1"/>
          <p:nvPr/>
        </p:nvSpPr>
        <p:spPr>
          <a:xfrm>
            <a:off x="7597968" y="2881621"/>
            <a:ext cx="41581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모듈 집합 내에서 하나만 선택하도록 하는 모듈</a:t>
            </a:r>
          </a:p>
          <a:p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동일한 유니온 내에 중첩된 프롬프트 모듈들은 동일한 시작 위치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공유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3698A-2E70-BF49-8059-E05DE3120A67}"/>
              </a:ext>
            </a:extLst>
          </p:cNvPr>
          <p:cNvSpPr txBox="1"/>
          <p:nvPr/>
        </p:nvSpPr>
        <p:spPr>
          <a:xfrm>
            <a:off x="3771900" y="7137047"/>
            <a:ext cx="85477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PML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로의 자동 변환을 통해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PML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작성을 간소화 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</a:t>
            </a:r>
            <a:r>
              <a:rPr 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github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이미지 가져오기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Python API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사용하여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Python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함수를 해당하는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PML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스키마로 변환하는 방식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조건문은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PML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에서 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&lt;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module&gt;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태그로 변환되어 조건에 맞는 프롬프트를 포함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if-else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나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switch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와 같은 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선택문은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&lt;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union&gt;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태그로 변환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함수 호출은 중첩된 프롬프트 모듈로 변환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D574B-815C-4E4D-993B-7462800AA0D9}"/>
              </a:ext>
            </a:extLst>
          </p:cNvPr>
          <p:cNvSpPr txBox="1"/>
          <p:nvPr/>
        </p:nvSpPr>
        <p:spPr>
          <a:xfrm>
            <a:off x="399534" y="7137047"/>
            <a:ext cx="3372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PML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작성을 간소화하기 위해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Python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프롬프트 프로그램을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PML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로 자동 변환하여 수동 스키마 작성의 필요성을 없앨 수 있습니다</a:t>
            </a:r>
            <a:endParaRPr lang="en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2925AE-DC59-9646-B36E-8C45D67E5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32" y="1541993"/>
            <a:ext cx="6812788" cy="51568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B05962-4E5F-0B4D-B4B8-8B10FAEC053B}"/>
              </a:ext>
            </a:extLst>
          </p:cNvPr>
          <p:cNvSpPr txBox="1"/>
          <p:nvPr/>
        </p:nvSpPr>
        <p:spPr>
          <a:xfrm>
            <a:off x="9469780" y="6427096"/>
            <a:ext cx="27222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https://</a:t>
            </a:r>
            <a:r>
              <a:rPr lang="en-US" sz="10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github.com</a:t>
            </a:r>
            <a:r>
              <a:rPr lang="en-US" sz="10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/yale-sys/prompt-cache</a:t>
            </a:r>
            <a:endParaRPr lang="en-KR" sz="10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87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Encoding Schema</a:t>
            </a:r>
            <a:endParaRPr lang="en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D98585-281E-DC4C-A8F9-D41E786D4E2A}"/>
              </a:ext>
            </a:extLst>
          </p:cNvPr>
          <p:cNvSpPr txBox="1"/>
          <p:nvPr/>
        </p:nvSpPr>
        <p:spPr>
          <a:xfrm>
            <a:off x="838200" y="1579870"/>
            <a:ext cx="10770704" cy="190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프롬프트 모듈 </a:t>
            </a:r>
            <a:r>
              <a:rPr lang="ko-KR" altLang="en-US" b="1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인코딩</a:t>
            </a: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과정</a:t>
            </a:r>
            <a:endParaRPr lang="en-US" altLang="ko-KR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</a:pPr>
            <a:endParaRPr lang="ko-KR" altLang="en-US" sz="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스키마에서 프롬프트 모듈의 토큰 시퀀스 추출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각 토큰에 위치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할당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시작 위치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스키마 내에서 프롬프트 모듈의 절대 위치에 의해 결정</a:t>
            </a:r>
          </a:p>
          <a:p>
            <a:pPr>
              <a:lnSpc>
                <a:spcPct val="120000"/>
              </a:lnSpc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  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단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유니온 모듈은 모두 위치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가 같고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그들 중 가장 큰 크기의 토큰 시퀀스 크기로 계산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4.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프롬프트 모듈의 토큰 시퀀스와 해당 위치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LLM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에 전달되어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KV attention state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계산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5E1831-0197-674C-8844-985B9891E954}"/>
              </a:ext>
            </a:extLst>
          </p:cNvPr>
          <p:cNvSpPr txBox="1"/>
          <p:nvPr/>
        </p:nvSpPr>
        <p:spPr>
          <a:xfrm>
            <a:off x="838200" y="3798415"/>
            <a:ext cx="10203180" cy="21790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유의점</a:t>
            </a:r>
            <a:endParaRPr lang="en-US" altLang="ko-KR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</a:pPr>
            <a:endParaRPr lang="ko-KR" altLang="en-US" sz="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위치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0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이 아닌 숫자로 시작할 수 있으며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공백이나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비유효한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문자가 포함되어도 토큰의 의미나 상대적 위치 이해에는 영향을 주지 않음</a:t>
            </a:r>
            <a:endParaRPr lang="en-US" altLang="ko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파라미터는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en-US" altLang="ko-KR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len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속성 값에 따라 미리 정해진 수의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&lt;</a:t>
            </a:r>
            <a:r>
              <a:rPr lang="en-US" altLang="ko-KR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unk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&gt;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토큰으로 대체되며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해당 토큰의 위치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추후 교체를 위해 기록</a:t>
            </a:r>
            <a:endParaRPr lang="en-US" altLang="ko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모듈이 프롬프트에 통합되면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파라미터의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토큰 시퀀스는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&lt;</a:t>
            </a:r>
            <a:r>
              <a:rPr lang="en-US" altLang="ko-KR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unk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&gt;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토큰의 위치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ID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재사용하며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기존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&lt;</a:t>
            </a:r>
            <a:r>
              <a:rPr lang="en-US" altLang="ko-KR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unk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&gt;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토큰의 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(k, v) attention state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대체</a:t>
            </a:r>
            <a:endParaRPr lang="en-US" altLang="ko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새로 제공된 토큰의 길이는 지정된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파라미터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길이보다 짧을 수 있음을 주의해야 하며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이는 후행 공백이 의미를 변경하지 않기 때문</a:t>
            </a:r>
          </a:p>
        </p:txBody>
      </p:sp>
    </p:spTree>
    <p:extLst>
      <p:ext uri="{BB962C8B-B14F-4D97-AF65-F5344CB8AC3E}">
        <p14:creationId xmlns:p14="http://schemas.microsoft.com/office/powerpoint/2010/main" val="3815528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</a:t>
            </a:r>
            <a:r>
              <a:rPr lang="en-US" altLang="ko-KR" dirty="0"/>
              <a:t>I</a:t>
            </a:r>
            <a:r>
              <a:rPr lang="en-US" dirty="0"/>
              <a:t>nference</a:t>
            </a:r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A706D-A0C5-6246-837F-CB2C8F3C1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36" y="1459718"/>
            <a:ext cx="8459188" cy="249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FB3FFD-0736-8246-BC0C-64D20A373694}"/>
              </a:ext>
            </a:extLst>
          </p:cNvPr>
          <p:cNvSpPr txBox="1"/>
          <p:nvPr/>
        </p:nvSpPr>
        <p:spPr>
          <a:xfrm>
            <a:off x="992331" y="4093666"/>
            <a:ext cx="90037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프롬프트가 </a:t>
            </a:r>
            <a:r>
              <a:rPr 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에 제공</a:t>
            </a:r>
            <a:endParaRPr lang="ko-KR" altLang="en-US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①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이를 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파싱하여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선언된 스키마와의 일치를 확인</a:t>
            </a:r>
          </a:p>
          <a:p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② 캐시에서 가져온 프롬프트 모듈의 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k, v) attention state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검색</a:t>
            </a:r>
            <a:endParaRPr lang="en-US" altLang="ko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③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④ 새로운 텍스트 조각에 대한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state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계산</a:t>
            </a:r>
            <a:endParaRPr lang="en-US" altLang="ko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⑤ 이를 연결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concatenate)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하여 전체 프롬프트의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state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3412057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5C4D3-2872-864C-BC90-688AF40C93D5}"/>
              </a:ext>
            </a:extLst>
          </p:cNvPr>
          <p:cNvSpPr txBox="1"/>
          <p:nvPr/>
        </p:nvSpPr>
        <p:spPr>
          <a:xfrm>
            <a:off x="758537" y="1582340"/>
            <a:ext cx="10760915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두 가지 메모리에 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인코딩된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프롬프트 모듈 저장</a:t>
            </a:r>
            <a:endParaRPr lang="en-US" altLang="ko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endParaRPr lang="ko-KR" altLang="en-US" sz="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</a:pP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CPU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메모리와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GPU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메모리</a:t>
            </a:r>
          </a:p>
          <a:p>
            <a:pPr>
              <a:lnSpc>
                <a:spcPct val="120000"/>
              </a:lnSpc>
            </a:pP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GPU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가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CPU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메모리에 저장된 프롬프트 모듈에 접근할 수 있도록 구현 </a:t>
            </a:r>
            <a:endParaRPr lang="en-US" altLang="ko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GPU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고속의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HBM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을 사용하지만 용량이 제한적</a:t>
            </a:r>
            <a:endParaRPr lang="en-US" altLang="ko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CPU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DRAM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은 용량 확장이 용이하지만 추가적인 복사 오버헤드가 발생 가능성 있음</a:t>
            </a:r>
            <a:endParaRPr lang="en-US" altLang="ko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호스트 → 디바이스로 프롬프트 모듈 복사</a:t>
            </a:r>
          </a:p>
          <a:p>
            <a:pPr lvl="1">
              <a:lnSpc>
                <a:spcPct val="120000"/>
              </a:lnSpc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    ⇒ 메모리 복사 오버헤드가 발생할 수 있음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오버헤드가 발생하더라도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통한 계산 절약으로 복사 작업에서 발생하는 지연은 충분히 상쇄 가능</a:t>
            </a:r>
            <a:endParaRPr lang="en-US" altLang="ko-KR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 lvl="1">
              <a:lnSpc>
                <a:spcPct val="120000"/>
              </a:lnSpc>
            </a:pPr>
            <a:endParaRPr lang="ko-KR" altLang="en-US" sz="1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500" b="1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PyTorch</a:t>
            </a:r>
            <a:r>
              <a:rPr lang="ko-KR" altLang="en-US" sz="1500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의 연결</a:t>
            </a:r>
            <a:r>
              <a:rPr lang="en-US" altLang="ko-KR" sz="1500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(concatenation) </a:t>
            </a:r>
            <a:r>
              <a:rPr lang="ko-KR" altLang="en-US" sz="1500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연산자를 재정의하여 더 효율적인 메모리 할당을 구현 </a:t>
            </a:r>
            <a:endParaRPr lang="en-US" altLang="ko-KR" sz="1500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PyTorch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에서는 두 개의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텐서를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연결할 때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각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텐서가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연속적인 메모리 구조를 필요</a:t>
            </a: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두 개의 비슷한 크기의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텐서를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연결하면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새로운 메모리를 할당하고 그 곳에 연결된 결과를 저장</a:t>
            </a: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텐서를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연결할 때마다 새로운 메모리를 할당하는 대신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이미 할당된 메모리를 재사용하는 방법을 구현</a:t>
            </a: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"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버퍼링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"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은 일종의 중간 메모리 공간을 마련하여 </a:t>
            </a:r>
            <a:r>
              <a:rPr lang="ko-KR" altLang="en-US" sz="1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텐서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데이터를 일시적으로 저장하고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필요할 때마다 이 공간을 활용함으로써 새로운 메모리 할당을 피하는 방법</a:t>
            </a:r>
          </a:p>
        </p:txBody>
      </p:sp>
    </p:spTree>
    <p:extLst>
      <p:ext uri="{BB962C8B-B14F-4D97-AF65-F5344CB8AC3E}">
        <p14:creationId xmlns:p14="http://schemas.microsoft.com/office/powerpoint/2010/main" val="67120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en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3D3E5-685B-D149-B228-B9FAC6B88DA6}"/>
              </a:ext>
            </a:extLst>
          </p:cNvPr>
          <p:cNvSpPr txBox="1"/>
          <p:nvPr/>
        </p:nvSpPr>
        <p:spPr>
          <a:xfrm>
            <a:off x="838200" y="1422508"/>
            <a:ext cx="6852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Llama 7B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모델을 사용하여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GPU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와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CPU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에서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TTFT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지연 시간을 측정</a:t>
            </a:r>
            <a:endParaRPr lang="en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3CD7D-BDCE-644B-84DF-BDC891DF0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50" y="1937450"/>
            <a:ext cx="3989653" cy="46412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519B33-0EC1-7E44-95DD-B8522590B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341" y="1937450"/>
            <a:ext cx="46863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371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en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E7245-3C5B-984F-AC4B-FA3B926BD967}"/>
              </a:ext>
            </a:extLst>
          </p:cNvPr>
          <p:cNvSpPr txBox="1"/>
          <p:nvPr/>
        </p:nvSpPr>
        <p:spPr>
          <a:xfrm>
            <a:off x="838199" y="1516026"/>
            <a:ext cx="10515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모든 프롬프트가 </a:t>
            </a:r>
            <a:r>
              <a:rPr lang="ko-KR" altLang="en-US" sz="16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캐시된</a:t>
            </a:r>
            <a:r>
              <a:rPr lang="ko-KR" altLang="en-US" sz="16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상태에서 시퀀스 길이가 다양한 합성 데이터 셋을 사용하여 </a:t>
            </a:r>
            <a:r>
              <a:rPr lang="en-US" sz="16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sz="16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sz="16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테스트</a:t>
            </a:r>
            <a:endParaRPr lang="en-KR" sz="16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C253B-40B7-1D48-BB90-432C1ADAD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012943"/>
            <a:ext cx="4686300" cy="4330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D69004-7BB2-9C40-A5DF-29B261E2D39B}"/>
              </a:ext>
            </a:extLst>
          </p:cNvPr>
          <p:cNvSpPr txBox="1"/>
          <p:nvPr/>
        </p:nvSpPr>
        <p:spPr>
          <a:xfrm>
            <a:off x="5724006" y="2162356"/>
            <a:ext cx="60994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KV Cache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의 지연 시간은 시퀀스 길이에 따라 제곱 비례로 증가하는 반면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의 메모리 복사 비용은 선형적으로 증가</a:t>
            </a: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CPU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계산에서 더 높은 지연 시간을 경험하는 반면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GPU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에서의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오버헤드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호스트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디바이스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)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와 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CPU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에서의 오버헤드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(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호스트</a:t>
            </a:r>
            <a:r>
              <a:rPr lang="en-US" altLang="ko-KR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호스트</a:t>
            </a:r>
            <a:r>
              <a:rPr 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) </a:t>
            </a:r>
            <a:r>
              <a:rPr lang="ko-KR" altLang="en-US" sz="1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차이는 그리 크지 않음</a:t>
            </a:r>
          </a:p>
        </p:txBody>
      </p:sp>
    </p:spTree>
    <p:extLst>
      <p:ext uri="{BB962C8B-B14F-4D97-AF65-F5344CB8AC3E}">
        <p14:creationId xmlns:p14="http://schemas.microsoft.com/office/powerpoint/2010/main" val="1226340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결론 및 향후 과제</a:t>
            </a:r>
            <a:endParaRPr lang="en-KR" sz="3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DD188-FB90-864F-BA04-906438731584}"/>
              </a:ext>
            </a:extLst>
          </p:cNvPr>
          <p:cNvSpPr txBox="1"/>
          <p:nvPr/>
        </p:nvSpPr>
        <p:spPr>
          <a:xfrm>
            <a:off x="1013792" y="1564958"/>
            <a:ext cx="11178208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결론</a:t>
            </a:r>
            <a:endParaRPr lang="en-US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는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LLM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의 입력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프롬프트 간에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attention</a:t>
            </a:r>
            <a:r>
              <a:rPr lang="en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state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재사용하는 방식으로 추론을 가속화하는 기술</a:t>
            </a:r>
            <a:endParaRPr lang="en-US" altLang="ko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"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프롬프트 모듈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"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이라는 모듈화된 형식을 활용하여 자주 사용되는 텍스트 조각을 정의하고 이를 쉽게 재사용</a:t>
            </a:r>
            <a:endParaRPr lang="en-US" altLang="ko-KR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GPU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에서는 최대 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8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배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, CPU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에서는 최대 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60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배의 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TTFT(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첫 번째 토큰까지의 시간</a:t>
            </a: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)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지연 감소 효과를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8FCA5-380B-834C-9A7E-0C51BA3FD8E3}"/>
              </a:ext>
            </a:extLst>
          </p:cNvPr>
          <p:cNvSpPr txBox="1"/>
          <p:nvPr/>
        </p:nvSpPr>
        <p:spPr>
          <a:xfrm>
            <a:off x="1013792" y="3429000"/>
            <a:ext cx="972560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향후 과제</a:t>
            </a:r>
            <a:endParaRPr lang="en-US" altLang="ko-KR" b="1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를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기반으로 한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LLM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서비스 시스템 개발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GPU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캐시 대체 전략 최적화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KV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캐시 내의 메모리 오버헤드 감소를 위한 압축 기법 통합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동시 요청 간의 주의 상태 공유를 위한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GPU 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기법 개발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en-US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RAG를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위한 </a:t>
            </a:r>
            <a:r>
              <a:rPr 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</a:t>
            </a:r>
            <a:r>
              <a:rPr lang="ko-KR" altLang="en-US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의 활용</a:t>
            </a:r>
          </a:p>
        </p:txBody>
      </p:sp>
    </p:spTree>
    <p:extLst>
      <p:ext uri="{BB962C8B-B14F-4D97-AF65-F5344CB8AC3E}">
        <p14:creationId xmlns:p14="http://schemas.microsoft.com/office/powerpoint/2010/main" val="4036370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9623-0E3D-684B-9DF1-41E8EFD4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 err="1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부록</a:t>
            </a:r>
            <a:r>
              <a:rPr 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 </a:t>
            </a:r>
            <a:r>
              <a:rPr lang="en-US" altLang="ko-KR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- </a:t>
            </a:r>
            <a:r>
              <a:rPr 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Prompt Cache </a:t>
            </a:r>
            <a:r>
              <a:rPr lang="ko-KR" altLang="en-US" sz="3500" dirty="0">
                <a:latin typeface="KoPubWorldDotum_Pro Medium" pitchFamily="2" charset="-127"/>
                <a:ea typeface="KoPubWorldDotum_Pro Medium" pitchFamily="2" charset="-127"/>
                <a:cs typeface="KoPubWorldDotum_Pro Medium" pitchFamily="2" charset="-127"/>
              </a:rPr>
              <a:t>활용</a:t>
            </a:r>
            <a:endParaRPr lang="en-KR" sz="3500" dirty="0">
              <a:latin typeface="KoPubWorldDotum_Pro Medium" pitchFamily="2" charset="-127"/>
              <a:ea typeface="KoPubWorldDotum_Pro Medium" pitchFamily="2" charset="-127"/>
              <a:cs typeface="KoPubWorldDotum_Pro Medium" pitchFamily="2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AAC84-B181-D34E-88EA-611C4C90D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5" y="1504612"/>
            <a:ext cx="5467927" cy="2414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50979-2739-CC49-9515-ECBF84768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737" y="1426775"/>
            <a:ext cx="5693064" cy="24923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B3D3CC-9919-7649-B324-CD3B59AC5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65" y="4199658"/>
            <a:ext cx="5618594" cy="244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72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1091</Words>
  <Application>Microsoft Macintosh PowerPoint</Application>
  <PresentationFormat>Widescreen</PresentationFormat>
  <Paragraphs>159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KOPUBWORLDDOTUM_PRO MEDIUM</vt:lpstr>
      <vt:lpstr>Calibri Light</vt:lpstr>
      <vt:lpstr>KOPUBWORLDDOTUM_PRO MEDIUM</vt:lpstr>
      <vt:lpstr>Calibri</vt:lpstr>
      <vt:lpstr>Arial</vt:lpstr>
      <vt:lpstr>Office Theme</vt:lpstr>
      <vt:lpstr>Prompt Cache: Modular Attention Reuse For Low-Latency Inference</vt:lpstr>
      <vt:lpstr>논문의 목적</vt:lpstr>
      <vt:lpstr>Autoregressive Model</vt:lpstr>
      <vt:lpstr>KV Cache</vt:lpstr>
      <vt:lpstr>Cache 방법 비교</vt:lpstr>
      <vt:lpstr>Prompt Cache 해결책</vt:lpstr>
      <vt:lpstr>Design of prompt cache</vt:lpstr>
      <vt:lpstr>Other Features</vt:lpstr>
      <vt:lpstr>Encoding Schema</vt:lpstr>
      <vt:lpstr>Cache Inference</vt:lpstr>
      <vt:lpstr>Implementation</vt:lpstr>
      <vt:lpstr>Evaluation</vt:lpstr>
      <vt:lpstr>Evaluation</vt:lpstr>
      <vt:lpstr>결론 및 향후 과제</vt:lpstr>
      <vt:lpstr>부록 - Prompt Cache 활용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cache</dc:title>
  <dc:creator>Microsoft Office User</dc:creator>
  <cp:lastModifiedBy>Microsoft Office User</cp:lastModifiedBy>
  <cp:revision>11</cp:revision>
  <dcterms:created xsi:type="dcterms:W3CDTF">2025-01-02T14:38:17Z</dcterms:created>
  <dcterms:modified xsi:type="dcterms:W3CDTF">2025-01-05T12:12:23Z</dcterms:modified>
</cp:coreProperties>
</file>