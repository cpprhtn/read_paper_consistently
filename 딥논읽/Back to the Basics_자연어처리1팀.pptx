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ew from inside a stone structure, looking out toward stairs and a clear, blue sky"/>
          <p:cNvSpPr/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 modern white building with glass panels against a clear, blue sky"/>
          <p:cNvSpPr/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Small section of a modern shell bridge in Qingdao, Shandong, China with a partly cloudy sky above"/>
          <p:cNvSpPr/>
          <p:nvPr>
            <p:ph type="pic" idx="22"/>
          </p:nvPr>
        </p:nvSpPr>
        <p:spPr>
          <a:xfrm>
            <a:off x="9271000" y="1263848"/>
            <a:ext cx="16773843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Low angle exterior view of a modern building facade covered with aluminum discs under a clear, blue sky"/>
          <p:cNvSpPr/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Low angle view of a modern, curved building under a cloudy sky"/>
          <p:cNvSpPr/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View from inside a modern white building with glass panels, looking up to a bright, partly cloudy sky"/>
          <p:cNvSpPr/>
          <p:nvPr>
            <p:ph type="pic" idx="23"/>
          </p:nvPr>
        </p:nvSpPr>
        <p:spPr>
          <a:xfrm>
            <a:off x="-124635" y="1270000"/>
            <a:ext cx="16840169" cy="11243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Low angle view of the Azadi Tower in Tehran, Iran against a clear, bright sky"/>
          <p:cNvSpPr/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2022.12.04 자연어처리 1팀 김재민, 이기성, 주정현, 최재규, 김지연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84225">
              <a:defRPr sz="3420"/>
            </a:lvl1pPr>
          </a:lstStyle>
          <a:p>
            <a:pPr/>
            <a:r>
              <a:t>2022.12.04 자연어처리 1팀 김재민, 이기성, 주정현, 최재규, 김지연 </a:t>
            </a:r>
          </a:p>
        </p:txBody>
      </p:sp>
      <p:sp>
        <p:nvSpPr>
          <p:cNvPr id="152" name="Back to the Basics: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Back to the Basics: </a:t>
            </a:r>
          </a:p>
        </p:txBody>
      </p:sp>
      <p:sp>
        <p:nvSpPr>
          <p:cNvPr id="153" name="A Quantitative Analysis of Statistical and Graph-Based Term Weighting Schemes for Keyword Extraction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defTabSz="1365469">
              <a:lnSpc>
                <a:spcPct val="80000"/>
              </a:lnSpc>
              <a:defRPr spc="-129" sz="6496"/>
            </a:lvl1pPr>
          </a:lstStyle>
          <a:p>
            <a:pPr/>
            <a:r>
              <a:t>A Quantitative Analysis of Statistical and Graph-Based Term Weighting Schemes for Keyword Extraction </a:t>
            </a:r>
          </a:p>
        </p:txBody>
      </p:sp>
      <p:sp>
        <p:nvSpPr>
          <p:cNvPr id="154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Introdu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Introduction</a:t>
            </a:r>
          </a:p>
        </p:txBody>
      </p:sp>
      <p:sp>
        <p:nvSpPr>
          <p:cNvPr id="157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8" name="키워드 추출 : 문서에서 연관성 높은 단어를 추출하는 기법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키워드 추출 : 문서에서 연관성 높은 단어를 추출하는 기법</a:t>
            </a:r>
          </a:p>
          <a:p>
            <a:pPr/>
            <a:r>
              <a:t>여러 모델이 있지만, 실제로 적용하기에는 많은 문제가있다</a:t>
            </a:r>
          </a:p>
          <a:p>
            <a:pPr/>
            <a:r>
              <a:t>TF-IDF 와 같은 기존의 오래된 모델과 같은</a:t>
            </a:r>
            <a:br/>
            <a:r>
              <a:t> 비지도 학습을 통한 키워드 추출 분석 모델 비교</a:t>
            </a:r>
          </a:p>
        </p:txBody>
      </p:sp>
      <p:sp>
        <p:nvSpPr>
          <p:cNvPr id="159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Keyword Extra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Keyword Extraction</a:t>
            </a:r>
          </a:p>
        </p:txBody>
      </p:sp>
      <p:sp>
        <p:nvSpPr>
          <p:cNvPr id="162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3" name="문서안의 m 개의 단어중 , 문서를 대표할수있는 n개의 명사를 찾는것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12063" indent="-512063" defTabSz="2048204">
              <a:spcBef>
                <a:spcPts val="3700"/>
              </a:spcBef>
              <a:defRPr sz="4032"/>
            </a:pPr>
            <a:r>
              <a:t>문서안의 m 개의 단어중 , 문서를 대표할수있는 n개의 명사를 찾는것</a:t>
            </a:r>
          </a:p>
          <a:p>
            <a:pPr marL="512063" indent="-512063" defTabSz="2048204">
              <a:spcBef>
                <a:spcPts val="3700"/>
              </a:spcBef>
              <a:defRPr sz="4032"/>
            </a:pPr>
            <a:r>
              <a:t>키워드 추출 순서 : </a:t>
            </a:r>
          </a:p>
          <a:p>
            <a:pPr lvl="1" marL="1024127" indent="-512063" defTabSz="2048204">
              <a:spcBef>
                <a:spcPts val="3700"/>
              </a:spcBef>
              <a:defRPr sz="4032"/>
            </a:pPr>
            <a:r>
              <a:t>문서 d 를 대표할수있는 단어 후보군 선정</a:t>
            </a:r>
          </a:p>
          <a:p>
            <a:pPr lvl="1" marL="1024127" indent="-512063" defTabSz="2048204">
              <a:spcBef>
                <a:spcPts val="3700"/>
              </a:spcBef>
              <a:defRPr sz="4032"/>
            </a:pPr>
            <a:r>
              <a:t>각 단어 중요도 계산</a:t>
            </a:r>
          </a:p>
          <a:p>
            <a:pPr lvl="1" marL="1024127" indent="-512063" defTabSz="2048204">
              <a:spcBef>
                <a:spcPts val="3700"/>
              </a:spcBef>
              <a:defRPr sz="4032"/>
            </a:pPr>
            <a:r>
              <a:t>계산한 점수의 순위로 n 번째 단어 추출</a:t>
            </a:r>
          </a:p>
          <a:p>
            <a:pPr marL="512063" indent="-512063" defTabSz="2048204">
              <a:spcBef>
                <a:spcPts val="3700"/>
              </a:spcBef>
              <a:defRPr sz="4032"/>
            </a:pPr>
            <a:r>
              <a:t>점수 계산 방법 : </a:t>
            </a:r>
          </a:p>
          <a:p>
            <a:pPr lvl="1" marL="1493519" indent="-746759" defTabSz="2048204">
              <a:spcBef>
                <a:spcPts val="3700"/>
              </a:spcBef>
              <a:buSzPct val="100000"/>
              <a:buAutoNum type="arabicPeriod" startAt="1"/>
              <a:defRPr sz="4032"/>
            </a:pPr>
            <a:r>
              <a:t>통계적 방법</a:t>
            </a:r>
          </a:p>
          <a:p>
            <a:pPr lvl="1" marL="1493519" indent="-746759" defTabSz="2048204">
              <a:spcBef>
                <a:spcPts val="3700"/>
              </a:spcBef>
              <a:buSzPct val="100000"/>
              <a:buAutoNum type="arabicPeriod" startAt="1"/>
              <a:defRPr sz="4032"/>
            </a:pPr>
            <a:r>
              <a:t>그래프 기반 / 지도학습 / 비지도 학습 </a:t>
            </a:r>
          </a:p>
        </p:txBody>
      </p:sp>
      <p:sp>
        <p:nvSpPr>
          <p:cNvPr id="164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통계적 기법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pc="-164" sz="8245"/>
            </a:lvl1pPr>
          </a:lstStyle>
          <a:p>
            <a:pPr/>
            <a:r>
              <a:t>통계적 기법</a:t>
            </a:r>
          </a:p>
        </p:txBody>
      </p:sp>
      <p:sp>
        <p:nvSpPr>
          <p:cNvPr id="167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8" name="단어의 빈도, 길이 와 같은 통계적 기법을 사용, 중요도를 계산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단어의 빈도, 길이 와 같은 통계적 기법을 사용, 중요도를 계산</a:t>
            </a:r>
          </a:p>
          <a:p>
            <a:pPr/>
            <a:r>
              <a:t>가장 간단한 키워드 추출 : Term Frequency</a:t>
            </a:r>
          </a:p>
          <a:p>
            <a:pPr lvl="1"/>
            <a:r>
              <a:t>전치사와 같은 빈번한 단어들이 중요한 정보를 가진 단어보다 중요하겨 여겨질수있다</a:t>
            </a:r>
          </a:p>
          <a:p>
            <a:pPr/>
            <a:r>
              <a:t>TF-IDF , lexical specificity </a:t>
            </a:r>
          </a:p>
        </p:txBody>
      </p:sp>
      <p:sp>
        <p:nvSpPr>
          <p:cNvPr id="169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F-IDF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TF-IDF </a:t>
            </a:r>
          </a:p>
        </p:txBody>
      </p:sp>
      <p:sp>
        <p:nvSpPr>
          <p:cNvPr id="172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3" name="가장 유명하고 효과적인 통계적 키워드 추출 모델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1" marL="853439" indent="-426719" defTabSz="1706837">
              <a:spcBef>
                <a:spcPts val="3100"/>
              </a:spcBef>
              <a:defRPr sz="3359"/>
            </a:pPr>
            <a:r>
              <a:t>가장 유명하고 효과적인 통계적 키워드 추출 모델</a:t>
            </a:r>
          </a:p>
          <a:p>
            <a:pPr lvl="1" marL="853439" indent="-426719" defTabSz="1706837">
              <a:spcBef>
                <a:spcPts val="3100"/>
              </a:spcBef>
              <a:defRPr sz="3359"/>
            </a:pPr>
            <a:r>
              <a:t>주어진 문서 D에서의 각 문서 d와 문서의 단어 w </a:t>
            </a:r>
          </a:p>
          <a:p>
            <a:pPr lvl="1" marL="853439" indent="-426719" defTabSz="1706837">
              <a:spcBef>
                <a:spcPts val="3100"/>
              </a:spcBef>
              <a:defRPr sz="3359"/>
            </a:pPr>
          </a:p>
          <a:p>
            <a:pPr lvl="1" marL="853439" indent="-426719" defTabSz="1706837">
              <a:spcBef>
                <a:spcPts val="3100"/>
              </a:spcBef>
              <a:defRPr sz="3359"/>
            </a:pPr>
            <a:r>
              <a:t>각 문서에서 각 단어의 중요도 =</a:t>
            </a:r>
            <a:br/>
            <a:r>
              <a:t> 문서안의 단어 빈도(TF) * log( 전체 문서의수 / 전체문서에서 각 단어의수 ) (IDF)</a:t>
            </a:r>
          </a:p>
          <a:p>
            <a:pPr lvl="1" marL="853439" indent="-426719" defTabSz="1706837">
              <a:spcBef>
                <a:spcPts val="3100"/>
              </a:spcBef>
              <a:defRPr sz="3359"/>
            </a:pPr>
            <a:r>
              <a:t>TF-IDF 응용 모델 : KP-minor, RAKE, YAKE </a:t>
            </a:r>
          </a:p>
          <a:p>
            <a:pPr lvl="2" marL="1280159" indent="-426719" defTabSz="1706837">
              <a:spcBef>
                <a:spcPts val="3100"/>
              </a:spcBef>
              <a:defRPr sz="3359"/>
            </a:pPr>
            <a:r>
              <a:t>Kp-minor : tf-idf  + 단어 길이 + 문장에서 단어의 위치 </a:t>
            </a:r>
          </a:p>
          <a:p>
            <a:pPr lvl="2" marL="1280159" indent="-426719" defTabSz="1706837">
              <a:spcBef>
                <a:spcPts val="3100"/>
              </a:spcBef>
              <a:defRPr sz="3359"/>
            </a:pPr>
            <a:r>
              <a:t>RAKE : 단어의 빈도수 + 단어들이 동시에 나타았을떄 개수/ 빈도수 </a:t>
            </a:r>
          </a:p>
          <a:p>
            <a:pPr lvl="2" marL="1280159" indent="-426719" defTabSz="1706837">
              <a:spcBef>
                <a:spcPts val="3100"/>
              </a:spcBef>
              <a:defRPr sz="3359"/>
            </a:pPr>
            <a:r>
              <a:t>YAKE : 다양한 문장의위치, 단어/문장의빈도, 단어 분산, 문장의 분산 </a:t>
            </a:r>
          </a:p>
          <a:p>
            <a:pPr lvl="1" marL="853439" indent="-426719" defTabSz="1706837">
              <a:spcBef>
                <a:spcPts val="3100"/>
              </a:spcBef>
              <a:defRPr sz="3359"/>
            </a:pPr>
            <a:r>
              <a:t>해당 모델에서는 TF, IDF 모델만 고려</a:t>
            </a:r>
          </a:p>
        </p:txBody>
      </p:sp>
      <p:pic>
        <p:nvPicPr>
          <p:cNvPr id="17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431545" y="6700945"/>
            <a:ext cx="4584701" cy="1066801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Lexical Specific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Lexical Specificity</a:t>
            </a:r>
          </a:p>
        </p:txBody>
      </p:sp>
      <p:sp>
        <p:nvSpPr>
          <p:cNvPr id="178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9" name="큰 문서 집합군을 참조해서 작은 문서 집합군에서 중요한 단어를 찾아내는 통계기법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큰 문서 집합군을 참조해서 작은 문서 집합군에서 중요한 단어를 찾아내는 통계기법</a:t>
            </a:r>
          </a:p>
          <a:p>
            <a:pPr/>
            <a:r>
              <a:t>초기하 분포를 이용해서 중요한 대표 단어를 추출하는 방법</a:t>
            </a:r>
          </a:p>
          <a:p>
            <a:pPr lvl="1"/>
            <a:r>
              <a:t>초기하 분포 : N 개중 n 번 추출했을때 원하는 것이 K 개 뽑힐 확률</a:t>
            </a:r>
          </a:p>
          <a:p>
            <a:pPr lvl="2"/>
            <a:r>
              <a:t>k : 추출 키워드 단어 빈도</a:t>
            </a:r>
          </a:p>
          <a:p>
            <a:pPr lvl="2"/>
            <a:r>
              <a:t>n : 문서 집합의 사이즈 </a:t>
            </a:r>
          </a:p>
          <a:p>
            <a:pPr lvl="1"/>
            <a:r>
              <a:t>텍스트 데이터 분석, 개체명 에 가중치 주는 모델등 다양한 논문에서 사용됨</a:t>
            </a:r>
          </a:p>
        </p:txBody>
      </p:sp>
      <p:sp>
        <p:nvSpPr>
          <p:cNvPr id="180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raph base Method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Graph base Methods</a:t>
            </a:r>
          </a:p>
        </p:txBody>
      </p:sp>
      <p:sp>
        <p:nvSpPr>
          <p:cNvPr id="183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4" name="텍스트 문서 안의 단어를 node, 단어들 사이의 edge 를 다양하게 적용하여, 가장 연관 높은 단어 추출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텍스트 문서 안의 단어를 node, 단어들 사이의 edge 를 다양하게 적용하여, 가장 연관 높은 단어 추출</a:t>
            </a:r>
          </a:p>
          <a:p>
            <a:pPr/>
            <a:r>
              <a:t>Markov chain : 특정한 상태의 확률은 과거의 상태에 의존한다</a:t>
            </a:r>
          </a:p>
          <a:p>
            <a:pPr lvl="1"/>
          </a:p>
          <a:p>
            <a:pPr lvl="1"/>
            <a:r>
              <a:t>특정 단어 j 가 등장활 확률은 단어 i 와 j 의 가중치 단어 / 단어 i 와 연결된 모든 단어들에 대한 가중치의 합 </a:t>
            </a:r>
          </a:p>
        </p:txBody>
      </p:sp>
      <p:pic>
        <p:nvPicPr>
          <p:cNvPr id="18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872745" y="7409120"/>
            <a:ext cx="5702301" cy="927101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raph base Method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Graph base Methods</a:t>
            </a:r>
          </a:p>
        </p:txBody>
      </p:sp>
      <p:sp>
        <p:nvSpPr>
          <p:cNvPr id="189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0" name="TextRank : 방향성 없는 그래프를 사용하여, 단어와 단어 사이의 연결성이 있을때 edge 를 1 없으면  0 설정한 그래프 모델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TextRank : 방향성 없는 그래프를 사용하여, 단어와 단어 사이의 연결성이 있을때 edge 를 1 없으면  0 설정한 그래프 모델</a:t>
            </a:r>
          </a:p>
          <a:p>
            <a:pPr/>
            <a:r>
              <a:t>Single Rank : Text Rank 모델을 확장</a:t>
            </a:r>
          </a:p>
          <a:p>
            <a:pPr lvl="1"/>
            <a:r>
              <a:t> Edge : 윈도우 안의 공출현 빈도수 </a:t>
            </a:r>
          </a:p>
          <a:p>
            <a:pPr/>
            <a:r>
              <a:t>ExpandRank : TFIDF 값에 cosine 을 계산하고 가중치에 곱해주는 방식</a:t>
            </a:r>
          </a:p>
        </p:txBody>
      </p:sp>
      <p:sp>
        <p:nvSpPr>
          <p:cNvPr id="191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Experiment Sett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Experiment Setting</a:t>
            </a:r>
          </a:p>
        </p:txBody>
      </p:sp>
      <p:sp>
        <p:nvSpPr>
          <p:cNvPr id="194" name="Datase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Dataset</a:t>
            </a:r>
          </a:p>
        </p:txBody>
      </p:sp>
      <p:sp>
        <p:nvSpPr>
          <p:cNvPr id="195" name="15개 영문 public dataset 사용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15개 영문 public dataset 사용</a:t>
            </a:r>
          </a:p>
          <a:p>
            <a:pPr/>
            <a:r>
              <a:t>각 데이터에 키워드 추출을 진행하기 전, 단어별로 쪼갬 ( tokenize)</a:t>
            </a:r>
          </a:p>
          <a:p>
            <a:pPr/>
            <a:r>
              <a:t>NLTK 사용, 단어 stemmize 와 pos-tagg 진행</a:t>
            </a:r>
          </a:p>
          <a:p>
            <a:pPr/>
            <a:r>
              <a:t>단어 후보군 Pd 를 선택하고, 연결성이있을것같은 단어 (형용사 + 명사 ) 단어 생성</a:t>
            </a:r>
          </a:p>
          <a:p>
            <a:pPr/>
            <a:r>
              <a:t>YAKE 모델에서 추출한, stoplist 를 제거 처리</a:t>
            </a:r>
          </a:p>
        </p:txBody>
      </p:sp>
      <p:sp>
        <p:nvSpPr>
          <p:cNvPr id="196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Comparison Model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Comparison Models</a:t>
            </a:r>
          </a:p>
        </p:txBody>
      </p:sp>
      <p:sp>
        <p:nvSpPr>
          <p:cNvPr id="199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0" name="Statistics models:…"/>
          <p:cNvSpPr txBox="1"/>
          <p:nvPr>
            <p:ph type="body" idx="1"/>
          </p:nvPr>
        </p:nvSpPr>
        <p:spPr>
          <a:xfrm>
            <a:off x="1206500" y="3884225"/>
            <a:ext cx="21971000" cy="8620291"/>
          </a:xfrm>
          <a:prstGeom prst="rect">
            <a:avLst/>
          </a:prstGeom>
        </p:spPr>
        <p:txBody>
          <a:bodyPr/>
          <a:lstStyle/>
          <a:p>
            <a:pPr/>
            <a:r>
              <a:t>Statistics models: </a:t>
            </a:r>
          </a:p>
          <a:p>
            <a:pPr lvl="1"/>
            <a:r>
              <a:t>TF-IDF , TF, LexSpec</a:t>
            </a:r>
          </a:p>
          <a:p>
            <a:pPr lvl="2"/>
            <a:r>
              <a:t>각 단어의 통계를 중요점수도로 사용 , 후보군에서 높은 점수 단어 추출</a:t>
            </a:r>
          </a:p>
          <a:p>
            <a:pPr/>
            <a:r>
              <a:t>Graph base-models :</a:t>
            </a:r>
          </a:p>
          <a:p>
            <a:pPr lvl="1"/>
            <a:r>
              <a:t>TextRank, SingleRank, Position Rank, SingleTPR, Topic Rank </a:t>
            </a:r>
          </a:p>
          <a:p>
            <a:pPr lvl="1"/>
            <a:r>
              <a:t>TFIDFRank : Extensions of SingleRank , LexRank</a:t>
            </a:r>
          </a:p>
          <a:p>
            <a:pPr lvl="1"/>
            <a:r>
              <a:t>NetworkX 으로 단어 그래프 생성</a:t>
            </a:r>
          </a:p>
        </p:txBody>
      </p:sp>
      <p:sp>
        <p:nvSpPr>
          <p:cNvPr id="2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sul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Result</a:t>
            </a:r>
          </a:p>
        </p:txBody>
      </p:sp>
      <p:sp>
        <p:nvSpPr>
          <p:cNvPr id="204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5" name="P@5 : 평균 5 개의 문서에서 평균 정확률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20623" indent="-420623" defTabSz="1682453">
              <a:spcBef>
                <a:spcPts val="3100"/>
              </a:spcBef>
              <a:defRPr sz="3312"/>
            </a:pPr>
            <a:r>
              <a:t>P@5 : 평균 5 개의 문서에서 평균 정확률</a:t>
            </a:r>
          </a:p>
          <a:p>
            <a:pPr lvl="1" marL="841247" indent="-420623" defTabSz="1682453">
              <a:spcBef>
                <a:spcPts val="3100"/>
              </a:spcBef>
              <a:defRPr sz="3312"/>
            </a:pPr>
            <a:r>
              <a:t>:TFIDFRank 가 가장 높은 정확도</a:t>
            </a:r>
          </a:p>
          <a:p>
            <a:pPr marL="420623" indent="-420623" defTabSz="1682453">
              <a:spcBef>
                <a:spcPts val="3100"/>
              </a:spcBef>
              <a:defRPr sz="3312"/>
            </a:pPr>
            <a:r>
              <a:t>MRR : 우리가 찾는 키워드가 몇번째에 위치하는지 확인하고, (앞에 위치할수록 좋은 모델) 이므로 </a:t>
            </a:r>
            <a:br/>
            <a:r>
              <a:t>           키워드 위치순서의 역순으로 평가</a:t>
            </a:r>
          </a:p>
          <a:p>
            <a:pPr lvl="1" marL="841247" indent="-420623" defTabSz="1682453">
              <a:spcBef>
                <a:spcPts val="3100"/>
              </a:spcBef>
              <a:defRPr sz="3312"/>
            </a:pPr>
            <a:r>
              <a:t>LexRank , TFIDF 가장 높은 정확도</a:t>
            </a:r>
          </a:p>
          <a:p>
            <a:pPr marL="420623" indent="-420623" defTabSz="1682453">
              <a:spcBef>
                <a:spcPts val="3100"/>
              </a:spcBef>
              <a:defRPr sz="3312"/>
            </a:pPr>
            <a:r>
              <a:t>평균적으로  TFIDF , LexSpec, LexRank , TFIDFRank 가 높은 정확도를 보임</a:t>
            </a:r>
          </a:p>
          <a:p>
            <a:pPr marL="420623" indent="-420623" defTabSz="1682453">
              <a:spcBef>
                <a:spcPts val="3100"/>
              </a:spcBef>
              <a:defRPr sz="3312"/>
            </a:pPr>
            <a:r>
              <a:t>결과적으로 하이브리드 모델인 LexRank 와 TFIDFRank 모델이 높은 정확도를 보임</a:t>
            </a:r>
          </a:p>
          <a:p>
            <a:pPr marL="420623" indent="-420623" defTabSz="1682453">
              <a:spcBef>
                <a:spcPts val="3100"/>
              </a:spcBef>
              <a:defRPr sz="3312"/>
            </a:pPr>
            <a:r>
              <a:t>모델의 단순함에도 불구하고, Lexical specificity 모델과 TFIDF 모델이 효과적인 키워드 추출을 결과를 가짐 </a:t>
            </a:r>
          </a:p>
          <a:p>
            <a:pPr marL="420623" indent="-420623" defTabSz="1682453">
              <a:spcBef>
                <a:spcPts val="3100"/>
              </a:spcBef>
              <a:defRPr sz="3312"/>
            </a:pPr>
            <a:r>
              <a:t>TF 는 매우 낮은 정확도를 가지고있지만, TFIDF 는 TF에 IDF 를 적용해줌으로서, 개선된 결과를 가짐</a:t>
            </a:r>
          </a:p>
          <a:p>
            <a:pPr lvl="1" marL="841247" indent="-420623" defTabSz="1682453">
              <a:spcBef>
                <a:spcPts val="3100"/>
              </a:spcBef>
              <a:defRPr sz="3312"/>
            </a:pPr>
            <a:r>
              <a:t>하지만 모든 데이터에 적용되지 않음 </a:t>
            </a:r>
          </a:p>
        </p:txBody>
      </p:sp>
      <p:sp>
        <p:nvSpPr>
          <p:cNvPr id="2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Analysi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Analysis</a:t>
            </a:r>
          </a:p>
        </p:txBody>
      </p:sp>
      <p:sp>
        <p:nvSpPr>
          <p:cNvPr id="209" name="Mean Precision Analysi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Mean Precision Analysis</a:t>
            </a:r>
          </a:p>
        </p:txBody>
      </p:sp>
      <p:sp>
        <p:nvSpPr>
          <p:cNvPr id="210" name="P@5, MRR 정확률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P@5, MRR 정확률</a:t>
            </a:r>
          </a:p>
          <a:p>
            <a:pPr lvl="1"/>
            <a:r>
              <a:t>TFIDFRank 에서 가장 높은 정확도</a:t>
            </a:r>
          </a:p>
          <a:p>
            <a:pPr lvl="1"/>
            <a:r>
              <a:t>Wilcoxon rank 를사용해서 , 여러 메트릭에서 </a:t>
            </a:r>
            <a:br/>
            <a:r>
              <a:t>더 많은 점수를 얻은 모델이 나은 모델이라고 평가</a:t>
            </a:r>
          </a:p>
          <a:p>
            <a:pPr lvl="1"/>
            <a:r>
              <a:t>1. TFIDFRank, 2 LexRank, &amp; LexSpec, </a:t>
            </a:r>
            <a:br/>
            <a:r>
              <a:t>3.  SingleRank and TFIDF 4. PositionRank,</a:t>
            </a:r>
            <a:br/>
            <a:r>
              <a:t>TopicRank, 6.FirstN 7. SingleTPR 8.TF </a:t>
            </a:r>
          </a:p>
        </p:txBody>
      </p:sp>
      <p:sp>
        <p:nvSpPr>
          <p:cNvPr id="2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12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657006" y="4296502"/>
            <a:ext cx="8529558" cy="72384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Analysi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Analysis</a:t>
            </a:r>
          </a:p>
        </p:txBody>
      </p:sp>
      <p:sp>
        <p:nvSpPr>
          <p:cNvPr id="215" name="Regression Analysi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Regression Analysis</a:t>
            </a:r>
          </a:p>
        </p:txBody>
      </p:sp>
      <p:sp>
        <p:nvSpPr>
          <p:cNvPr id="216" name="어떤 모델이 데이터의 특성을 더 잘 이해하고 키워드 추출을 하는지 분석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어떤 모델이 데이터의 특성을 더 잘 이해하고 키워드 추출을 하는지 분석</a:t>
            </a:r>
          </a:p>
          <a:p>
            <a:pPr lvl="1"/>
            <a:r>
              <a:t>조합단어의 점수</a:t>
            </a:r>
          </a:p>
          <a:p>
            <a:pPr/>
            <a:r>
              <a:t>avg_word : 평균적인 토큰의 개수 , sd_word ( 토큰의 분산 ) : 문서의 길이 </a:t>
            </a:r>
          </a:p>
          <a:p>
            <a:pPr/>
            <a:r>
              <a:t>avg_vocab : unique 한 토큰의 개수, sd_word( unique 토큰의 문산) : 문서의 어휘수준</a:t>
            </a:r>
          </a:p>
          <a:p>
            <a:pPr/>
            <a:r>
              <a:t>avg_phrases , sd_phrases : 명사phrase 의 평균과 분산 : 주요 명사 개수 </a:t>
            </a:r>
          </a:p>
          <a:p>
            <a:pPr/>
            <a:r>
              <a:t>평균 점수 : avg_score1 - avg_score2 로 여러 metirc 의 평균 1 과 평균2의 차이 </a:t>
            </a:r>
          </a:p>
        </p:txBody>
      </p:sp>
      <p:sp>
        <p:nvSpPr>
          <p:cNvPr id="2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Discus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Discussion </a:t>
            </a:r>
          </a:p>
        </p:txBody>
      </p:sp>
      <p:sp>
        <p:nvSpPr>
          <p:cNvPr id="220" name="Statistics method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Statistics methods</a:t>
            </a:r>
          </a:p>
        </p:txBody>
      </p:sp>
      <p:sp>
        <p:nvSpPr>
          <p:cNvPr id="221" name="LexSpec vs. TFIDF…"/>
          <p:cNvSpPr txBox="1"/>
          <p:nvPr>
            <p:ph type="body" sz="half" idx="1"/>
          </p:nvPr>
        </p:nvSpPr>
        <p:spPr>
          <a:xfrm>
            <a:off x="1206500" y="8721631"/>
            <a:ext cx="21971000" cy="3782885"/>
          </a:xfrm>
          <a:prstGeom prst="rect">
            <a:avLst/>
          </a:prstGeom>
        </p:spPr>
        <p:txBody>
          <a:bodyPr/>
          <a:lstStyle/>
          <a:p>
            <a:pPr marL="341376" indent="-341376" defTabSz="1365469">
              <a:spcBef>
                <a:spcPts val="2500"/>
              </a:spcBef>
              <a:defRPr sz="2688"/>
            </a:pPr>
            <a:r>
              <a:t>LexSpec vs. TFIDF</a:t>
            </a:r>
          </a:p>
          <a:p>
            <a:pPr lvl="1" marL="682752" indent="-341376" defTabSz="1365469">
              <a:spcBef>
                <a:spcPts val="2500"/>
              </a:spcBef>
              <a:defRPr sz="2688"/>
            </a:pPr>
            <a:r>
              <a:t>LexSpec 과 TFIDF 는 비슷한 performance 를 가짐</a:t>
            </a:r>
          </a:p>
          <a:p>
            <a:pPr lvl="1" marL="682752" indent="-341376" defTabSz="1365469">
              <a:spcBef>
                <a:spcPts val="2500"/>
              </a:spcBef>
              <a:defRPr sz="2688"/>
            </a:pPr>
            <a:r>
              <a:t>P@5 에서 Lex Spec : 평균 토큰의 개수, 가 많고, unique 한 토큰의 분산이 많은 문장에 나은 결과 , TFIDF 는 토큰의 분산이 많은 문서에서 나은 성능을 보임</a:t>
            </a:r>
          </a:p>
          <a:p>
            <a:pPr lvl="1" marL="682752" indent="-341376" defTabSz="1365469">
              <a:spcBef>
                <a:spcPts val="2500"/>
              </a:spcBef>
              <a:defRPr sz="2688"/>
            </a:pPr>
            <a:r>
              <a:t>MRR : Lexpec 에서는 noun phrase 가 많은 경우, 중요한 키워드의 분산이 많은경우 나은 성능을 가짐</a:t>
            </a:r>
          </a:p>
          <a:p>
            <a:pPr lvl="2" marL="1024127" indent="-341376" defTabSz="1365469">
              <a:spcBef>
                <a:spcPts val="2500"/>
              </a:spcBef>
              <a:defRPr sz="2688"/>
            </a:pPr>
            <a:r>
              <a:t>TFIDF 는 어휘가 다양하고 긴 문서에서 나은 성능을 가짐</a:t>
            </a:r>
          </a:p>
        </p:txBody>
      </p:sp>
      <p:sp>
        <p:nvSpPr>
          <p:cNvPr id="2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23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31813" y="4501157"/>
            <a:ext cx="19480843" cy="37828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Discus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Discussion </a:t>
            </a:r>
          </a:p>
        </p:txBody>
      </p:sp>
      <p:sp>
        <p:nvSpPr>
          <p:cNvPr id="226" name="Statistics method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Statistics methods</a:t>
            </a:r>
          </a:p>
        </p:txBody>
      </p:sp>
      <p:sp>
        <p:nvSpPr>
          <p:cNvPr id="227" name="LexSpec vs. TFIDF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LexSpec vs. TFIDF</a:t>
            </a:r>
          </a:p>
          <a:p>
            <a:pPr lvl="1"/>
            <a:r>
              <a:t>LexSpec 은 통계적 특성을 가지며, 직접 확률을 계산할수있다</a:t>
            </a:r>
          </a:p>
          <a:p>
            <a:pPr lvl="2"/>
            <a:r>
              <a:t>TFIDF 처럼 문서를 쪼개는 과정이 필요하지않음</a:t>
            </a:r>
          </a:p>
          <a:p>
            <a:pPr lvl="2"/>
            <a:r>
              <a:t>문서의 길이에 큰 영향을받지않음</a:t>
            </a:r>
          </a:p>
          <a:p>
            <a:pPr lvl="1"/>
            <a:r>
              <a:t>TFIDF 는 특정한 상황에 더 조정이 가능한 모델 </a:t>
            </a:r>
          </a:p>
        </p:txBody>
      </p:sp>
      <p:sp>
        <p:nvSpPr>
          <p:cNvPr id="2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Discus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Discussion </a:t>
            </a:r>
          </a:p>
        </p:txBody>
      </p:sp>
      <p:sp>
        <p:nvSpPr>
          <p:cNvPr id="231" name="Graph base model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Graph base model</a:t>
            </a:r>
          </a:p>
        </p:txBody>
      </p:sp>
      <p:sp>
        <p:nvSpPr>
          <p:cNvPr id="232" name="SingleRank vs Topic Rank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SingleRank vs Topic Rank </a:t>
            </a:r>
          </a:p>
          <a:p>
            <a:pPr lvl="1"/>
            <a:r>
              <a:t>SingleRank 가 MRR 에서 훨씬 나은 성능을 가짐 </a:t>
            </a:r>
          </a:p>
          <a:p>
            <a:pPr lvl="1"/>
            <a:r>
              <a:t>Topic Rank 는 단어의 개수가 많고, 어휘가 풍부한 데이터에 적용하기 좋다</a:t>
            </a:r>
          </a:p>
          <a:p>
            <a:pPr lvl="1"/>
            <a:r>
              <a:t>SingleRank 는 명사(단어조합) 의 개수가 많고, 분산이많고 키워드 의 개수가 많은 문서에 좋다 </a:t>
            </a:r>
          </a:p>
        </p:txBody>
      </p:sp>
      <p:sp>
        <p:nvSpPr>
          <p:cNvPr id="2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tatistical vs Graph base mode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Statistical vs Graph base model</a:t>
            </a:r>
          </a:p>
        </p:txBody>
      </p:sp>
      <p:sp>
        <p:nvSpPr>
          <p:cNvPr id="23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7" name="모든통계, 그래프 모델을 비교했을때 P@5 점수에서는 SingleRank 가 가장 높은 평균 정확도를가짐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모든통계, 그래프 모델을 비교했을때 P@5 점수에서는 SingleRank 가 가장 높은 평균 정확도를가짐</a:t>
            </a:r>
          </a:p>
          <a:p>
            <a:pPr/>
            <a:r>
              <a:t>반면 MRR 에서는 통계적 모델이 더 나은 결과를 가짐 , LexRank 가 가장 높은 점수를 자김 </a:t>
            </a:r>
          </a:p>
          <a:p>
            <a:pPr/>
            <a:r>
              <a:t>하지만 평균적으로 모든 문서에 상위권 점수를 얻은것은 TFIDFRank 모델이다. </a:t>
            </a:r>
          </a:p>
          <a:p>
            <a:pPr lvl="1"/>
            <a:r>
              <a:t>하지만 TFIDFRank 모델은 TFIDF 에 그래프를 적용한 모델로, 통계적인 방식도, 안정적으로 사용될수있음을 시사한다.</a:t>
            </a:r>
          </a:p>
          <a:p>
            <a:pPr lvl="1"/>
            <a:r>
              <a:t>그래프 방법은 전반적으로 일관된 키워드를 추출할수있다. </a:t>
            </a:r>
          </a:p>
        </p:txBody>
      </p:sp>
      <p:sp>
        <p:nvSpPr>
          <p:cNvPr id="2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tatistical vs Graph base mode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Statistical vs Graph base model</a:t>
            </a:r>
          </a:p>
        </p:txBody>
      </p:sp>
      <p:sp>
        <p:nvSpPr>
          <p:cNvPr id="241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2" name="SingleRank 가 가장 안정적으로 평균적으로 많은 명사조합과, 분산 그리고 키워드가 많은경우에 가장 높은 성능을 가진다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SingleRank 가 가장 안정적으로 평균적으로 많은 명사조합과, 분산 그리고 키워드가 많은경우에 가장 높은 성능을 가진다. </a:t>
            </a:r>
          </a:p>
          <a:p>
            <a:pPr/>
            <a:r>
              <a:t>따라서 SingleRank 가 단어 후보군이 많고, 중요한 키워드가 많은 문서 경우, 그리고 어휘가 풍부한 문서에서 가장 효과가 뛰어나다. </a:t>
            </a:r>
          </a:p>
        </p:txBody>
      </p:sp>
      <p:sp>
        <p:nvSpPr>
          <p:cNvPr id="24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Conclu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Conclusion</a:t>
            </a:r>
          </a:p>
        </p:txBody>
      </p:sp>
      <p:sp>
        <p:nvSpPr>
          <p:cNvPr id="24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7" name="큰 스케일의 비지도 키워드 추출 분석을 비교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큰 스케일의 비지도 키워드 추출 분석을 비교</a:t>
            </a:r>
          </a:p>
          <a:p>
            <a:pPr/>
            <a:r>
              <a:t>단어의 빈도를 사용하는 통계모델들과, 그래프를 이용한 모델들을 비교 </a:t>
            </a:r>
          </a:p>
          <a:p>
            <a:pPr/>
            <a:r>
              <a:t>TFIDF 모델보다 덜사용되은 lexical model 이 더 나은 성능을 가짐 </a:t>
            </a:r>
          </a:p>
          <a:p>
            <a:pPr/>
            <a:r>
              <a:t>Graph-based 모델경우, 문서의 종류별로 다양한 성능을 가진다. </a:t>
            </a:r>
          </a:p>
        </p:txBody>
      </p:sp>
      <p:sp>
        <p:nvSpPr>
          <p:cNvPr id="2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5E5E5E"/>
      </a:dk1>
      <a:lt1>
        <a:srgbClr val="005E00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