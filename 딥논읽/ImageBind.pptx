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1"/>
  </p:sldMasterIdLst>
  <p:notesMasterIdLst>
    <p:notesMasterId r:id="rId38"/>
  </p:notesMasterIdLst>
  <p:handoutMasterIdLst>
    <p:handoutMasterId r:id="rId39"/>
  </p:handoutMasterIdLst>
  <p:sldIdLst>
    <p:sldId id="934" r:id="rId2"/>
    <p:sldId id="944" r:id="rId3"/>
    <p:sldId id="945" r:id="rId4"/>
    <p:sldId id="962" r:id="rId5"/>
    <p:sldId id="949" r:id="rId6"/>
    <p:sldId id="946" r:id="rId7"/>
    <p:sldId id="963" r:id="rId8"/>
    <p:sldId id="964" r:id="rId9"/>
    <p:sldId id="950" r:id="rId10"/>
    <p:sldId id="935" r:id="rId11"/>
    <p:sldId id="941" r:id="rId12"/>
    <p:sldId id="965" r:id="rId13"/>
    <p:sldId id="966" r:id="rId14"/>
    <p:sldId id="951" r:id="rId15"/>
    <p:sldId id="967" r:id="rId16"/>
    <p:sldId id="968" r:id="rId17"/>
    <p:sldId id="969" r:id="rId18"/>
    <p:sldId id="970" r:id="rId19"/>
    <p:sldId id="971" r:id="rId20"/>
    <p:sldId id="972" r:id="rId21"/>
    <p:sldId id="973" r:id="rId22"/>
    <p:sldId id="974" r:id="rId23"/>
    <p:sldId id="975" r:id="rId24"/>
    <p:sldId id="976" r:id="rId25"/>
    <p:sldId id="977" r:id="rId26"/>
    <p:sldId id="978" r:id="rId27"/>
    <p:sldId id="979" r:id="rId28"/>
    <p:sldId id="952" r:id="rId29"/>
    <p:sldId id="953" r:id="rId30"/>
    <p:sldId id="954" r:id="rId31"/>
    <p:sldId id="955" r:id="rId32"/>
    <p:sldId id="980" r:id="rId33"/>
    <p:sldId id="956" r:id="rId34"/>
    <p:sldId id="981" r:id="rId35"/>
    <p:sldId id="957" r:id="rId36"/>
    <p:sldId id="958" r:id="rId37"/>
  </p:sldIdLst>
  <p:sldSz cx="9144000" cy="6858000" type="screen4x3"/>
  <p:notesSz cx="6742113" cy="9874250"/>
  <p:defaultTex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55759C"/>
    <a:srgbClr val="4F81BD"/>
    <a:srgbClr val="0000FF"/>
    <a:srgbClr val="FFC000"/>
    <a:srgbClr val="66FF33"/>
    <a:srgbClr val="FF9900"/>
    <a:srgbClr val="595959"/>
    <a:srgbClr val="BCBCBC"/>
    <a:srgbClr val="61D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테마 스타일 2 - 강조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테마 스타일 1 - 강조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테마 스타일 1 - 강조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테마 스타일 2 - 강조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어두운 스타일 1 - 강조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어두운 스타일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보통 스타일 3 - 강조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A107856-5554-42FB-B03E-39F5DBC370BA}" styleName="보통 스타일 4 - 강조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밝은 스타일 3 - 강조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밝은 스타일 1 - 강조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91" autoAdjust="0"/>
    <p:restoredTop sz="92852" autoAdjust="0"/>
  </p:normalViewPr>
  <p:slideViewPr>
    <p:cSldViewPr snapToObjects="1">
      <p:cViewPr varScale="1">
        <p:scale>
          <a:sx n="74" d="100"/>
          <a:sy n="74" d="100"/>
        </p:scale>
        <p:origin x="1220" y="48"/>
      </p:cViewPr>
      <p:guideLst>
        <p:guide orient="horz" pos="2160"/>
        <p:guide pos="2880"/>
      </p:guideLst>
    </p:cSldViewPr>
  </p:slideViewPr>
  <p:outlineViewPr>
    <p:cViewPr>
      <p:scale>
        <a:sx n="33" d="100"/>
        <a:sy n="33" d="100"/>
      </p:scale>
      <p:origin x="0" y="192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101" d="100"/>
          <a:sy n="101" d="100"/>
        </p:scale>
        <p:origin x="-3018" y="-90"/>
      </p:cViewPr>
      <p:guideLst>
        <p:guide orient="horz" pos="3110"/>
        <p:guide pos="2124"/>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21582" cy="493713"/>
          </a:xfrm>
          <a:prstGeom prst="rect">
            <a:avLst/>
          </a:prstGeom>
        </p:spPr>
        <p:txBody>
          <a:bodyPr vert="horz" lIns="90845" tIns="45423" rIns="90845" bIns="45423" rtlCol="0"/>
          <a:lstStyle>
            <a:lvl1pPr algn="l">
              <a:defRPr sz="1200"/>
            </a:lvl1pPr>
          </a:lstStyle>
          <a:p>
            <a:endParaRPr lang="ko-KR" altLang="en-US"/>
          </a:p>
        </p:txBody>
      </p:sp>
      <p:sp>
        <p:nvSpPr>
          <p:cNvPr id="3" name="날짜 개체 틀 2"/>
          <p:cNvSpPr>
            <a:spLocks noGrp="1"/>
          </p:cNvSpPr>
          <p:nvPr>
            <p:ph type="dt" sz="quarter" idx="1"/>
          </p:nvPr>
        </p:nvSpPr>
        <p:spPr>
          <a:xfrm>
            <a:off x="3818972" y="0"/>
            <a:ext cx="2921582" cy="493713"/>
          </a:xfrm>
          <a:prstGeom prst="rect">
            <a:avLst/>
          </a:prstGeom>
        </p:spPr>
        <p:txBody>
          <a:bodyPr vert="horz" lIns="90845" tIns="45423" rIns="90845" bIns="45423" rtlCol="0"/>
          <a:lstStyle>
            <a:lvl1pPr algn="r">
              <a:defRPr sz="1200"/>
            </a:lvl1pPr>
          </a:lstStyle>
          <a:p>
            <a:fld id="{85C30BFA-5C6F-4751-A60F-1891D9D032AD}" type="datetimeFigureOut">
              <a:rPr lang="ko-KR" altLang="en-US" smtClean="0"/>
              <a:pPr/>
              <a:t>2023-06-25</a:t>
            </a:fld>
            <a:endParaRPr lang="ko-KR" altLang="en-US"/>
          </a:p>
        </p:txBody>
      </p:sp>
      <p:sp>
        <p:nvSpPr>
          <p:cNvPr id="4" name="바닥글 개체 틀 3"/>
          <p:cNvSpPr>
            <a:spLocks noGrp="1"/>
          </p:cNvSpPr>
          <p:nvPr>
            <p:ph type="ftr" sz="quarter" idx="2"/>
          </p:nvPr>
        </p:nvSpPr>
        <p:spPr>
          <a:xfrm>
            <a:off x="1" y="9378824"/>
            <a:ext cx="2921582" cy="493713"/>
          </a:xfrm>
          <a:prstGeom prst="rect">
            <a:avLst/>
          </a:prstGeom>
        </p:spPr>
        <p:txBody>
          <a:bodyPr vert="horz" lIns="90845" tIns="45423" rIns="90845" bIns="45423"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18972" y="9378824"/>
            <a:ext cx="2921582" cy="493713"/>
          </a:xfrm>
          <a:prstGeom prst="rect">
            <a:avLst/>
          </a:prstGeom>
        </p:spPr>
        <p:txBody>
          <a:bodyPr vert="horz" lIns="90845" tIns="45423" rIns="90845" bIns="45423" rtlCol="0" anchor="b"/>
          <a:lstStyle>
            <a:lvl1pPr algn="r">
              <a:defRPr sz="1200"/>
            </a:lvl1pPr>
          </a:lstStyle>
          <a:p>
            <a:fld id="{E885786E-BF44-4B4E-B288-71366A733281}" type="slidenum">
              <a:rPr lang="ko-KR" altLang="en-US" smtClean="0"/>
              <a:pPr/>
              <a:t>‹#›</a:t>
            </a:fld>
            <a:endParaRPr lang="ko-KR" altLang="en-US"/>
          </a:p>
        </p:txBody>
      </p:sp>
    </p:spTree>
    <p:extLst>
      <p:ext uri="{BB962C8B-B14F-4D97-AF65-F5344CB8AC3E}">
        <p14:creationId xmlns:p14="http://schemas.microsoft.com/office/powerpoint/2010/main" val="19146193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21582" cy="493713"/>
          </a:xfrm>
          <a:prstGeom prst="rect">
            <a:avLst/>
          </a:prstGeom>
        </p:spPr>
        <p:txBody>
          <a:bodyPr vert="horz" lIns="90845" tIns="45423" rIns="90845" bIns="45423" rtlCol="0"/>
          <a:lstStyle>
            <a:lvl1pPr algn="l" fontAlgn="auto">
              <a:spcBef>
                <a:spcPts val="0"/>
              </a:spcBef>
              <a:spcAft>
                <a:spcPts val="0"/>
              </a:spcAft>
              <a:defRPr kumimoji="0" sz="1200">
                <a:latin typeface="+mn-lt"/>
                <a:ea typeface="+mn-ea"/>
              </a:defRPr>
            </a:lvl1pPr>
          </a:lstStyle>
          <a:p>
            <a:pPr>
              <a:defRPr/>
            </a:pPr>
            <a:endParaRPr lang="ko-KR" altLang="en-US"/>
          </a:p>
        </p:txBody>
      </p:sp>
      <p:sp>
        <p:nvSpPr>
          <p:cNvPr id="3" name="날짜 개체 틀 2"/>
          <p:cNvSpPr>
            <a:spLocks noGrp="1"/>
          </p:cNvSpPr>
          <p:nvPr>
            <p:ph type="dt" idx="1"/>
          </p:nvPr>
        </p:nvSpPr>
        <p:spPr>
          <a:xfrm>
            <a:off x="3818972" y="0"/>
            <a:ext cx="2921582" cy="493713"/>
          </a:xfrm>
          <a:prstGeom prst="rect">
            <a:avLst/>
          </a:prstGeom>
        </p:spPr>
        <p:txBody>
          <a:bodyPr vert="horz" lIns="90845" tIns="45423" rIns="90845" bIns="45423" rtlCol="0"/>
          <a:lstStyle>
            <a:lvl1pPr algn="r" fontAlgn="auto">
              <a:spcBef>
                <a:spcPts val="0"/>
              </a:spcBef>
              <a:spcAft>
                <a:spcPts val="0"/>
              </a:spcAft>
              <a:defRPr kumimoji="0" sz="1200">
                <a:latin typeface="+mn-lt"/>
                <a:ea typeface="+mn-ea"/>
              </a:defRPr>
            </a:lvl1pPr>
          </a:lstStyle>
          <a:p>
            <a:pPr>
              <a:defRPr/>
            </a:pPr>
            <a:fld id="{5688D100-9705-4248-87A6-B01B0E7D9CB9}" type="datetimeFigureOut">
              <a:rPr lang="ko-KR" altLang="en-US"/>
              <a:pPr>
                <a:defRPr/>
              </a:pPr>
              <a:t>2023-06-25</a:t>
            </a:fld>
            <a:endParaRPr lang="ko-KR" altLang="en-US"/>
          </a:p>
        </p:txBody>
      </p:sp>
      <p:sp>
        <p:nvSpPr>
          <p:cNvPr id="4" name="슬라이드 이미지 개체 틀 3"/>
          <p:cNvSpPr>
            <a:spLocks noGrp="1" noRot="1" noChangeAspect="1"/>
          </p:cNvSpPr>
          <p:nvPr>
            <p:ph type="sldImg" idx="2"/>
          </p:nvPr>
        </p:nvSpPr>
        <p:spPr>
          <a:xfrm>
            <a:off x="903288" y="741363"/>
            <a:ext cx="4935537" cy="3703637"/>
          </a:xfrm>
          <a:prstGeom prst="rect">
            <a:avLst/>
          </a:prstGeom>
          <a:noFill/>
          <a:ln w="12700">
            <a:solidFill>
              <a:prstClr val="black"/>
            </a:solidFill>
          </a:ln>
        </p:spPr>
        <p:txBody>
          <a:bodyPr vert="horz" lIns="90845" tIns="45423" rIns="90845" bIns="45423" rtlCol="0" anchor="ctr"/>
          <a:lstStyle/>
          <a:p>
            <a:pPr lvl="0"/>
            <a:endParaRPr lang="ko-KR" altLang="en-US" noProof="0"/>
          </a:p>
        </p:txBody>
      </p:sp>
      <p:sp>
        <p:nvSpPr>
          <p:cNvPr id="5" name="슬라이드 노트 개체 틀 4"/>
          <p:cNvSpPr>
            <a:spLocks noGrp="1"/>
          </p:cNvSpPr>
          <p:nvPr>
            <p:ph type="body" sz="quarter" idx="3"/>
          </p:nvPr>
        </p:nvSpPr>
        <p:spPr>
          <a:xfrm>
            <a:off x="674212" y="4690269"/>
            <a:ext cx="5393690" cy="4443412"/>
          </a:xfrm>
          <a:prstGeom prst="rect">
            <a:avLst/>
          </a:prstGeom>
        </p:spPr>
        <p:txBody>
          <a:bodyPr vert="horz" lIns="90845" tIns="45423" rIns="90845" bIns="45423"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1" y="9378824"/>
            <a:ext cx="2921582" cy="493713"/>
          </a:xfrm>
          <a:prstGeom prst="rect">
            <a:avLst/>
          </a:prstGeom>
        </p:spPr>
        <p:txBody>
          <a:bodyPr vert="horz" lIns="90845" tIns="45423" rIns="90845" bIns="45423" rtlCol="0" anchor="b"/>
          <a:lstStyle>
            <a:lvl1pPr algn="l" fontAlgn="auto">
              <a:spcBef>
                <a:spcPts val="0"/>
              </a:spcBef>
              <a:spcAft>
                <a:spcPts val="0"/>
              </a:spcAft>
              <a:defRPr kumimoji="0" sz="1200">
                <a:latin typeface="+mn-lt"/>
                <a:ea typeface="+mn-ea"/>
              </a:defRPr>
            </a:lvl1pPr>
          </a:lstStyle>
          <a:p>
            <a:pPr>
              <a:defRPr/>
            </a:pPr>
            <a:endParaRPr lang="ko-KR" altLang="en-US"/>
          </a:p>
        </p:txBody>
      </p:sp>
      <p:sp>
        <p:nvSpPr>
          <p:cNvPr id="7" name="슬라이드 번호 개체 틀 6"/>
          <p:cNvSpPr>
            <a:spLocks noGrp="1"/>
          </p:cNvSpPr>
          <p:nvPr>
            <p:ph type="sldNum" sz="quarter" idx="5"/>
          </p:nvPr>
        </p:nvSpPr>
        <p:spPr>
          <a:xfrm>
            <a:off x="3818972" y="9378824"/>
            <a:ext cx="2921582" cy="493713"/>
          </a:xfrm>
          <a:prstGeom prst="rect">
            <a:avLst/>
          </a:prstGeom>
        </p:spPr>
        <p:txBody>
          <a:bodyPr vert="horz" lIns="90845" tIns="45423" rIns="90845" bIns="45423" rtlCol="0" anchor="b"/>
          <a:lstStyle>
            <a:lvl1pPr algn="r" fontAlgn="auto">
              <a:spcBef>
                <a:spcPts val="0"/>
              </a:spcBef>
              <a:spcAft>
                <a:spcPts val="0"/>
              </a:spcAft>
              <a:defRPr kumimoji="0" sz="1200">
                <a:latin typeface="+mn-lt"/>
                <a:ea typeface="+mn-ea"/>
              </a:defRPr>
            </a:lvl1pPr>
          </a:lstStyle>
          <a:p>
            <a:pPr>
              <a:defRPr/>
            </a:pPr>
            <a:fld id="{811EDD26-A168-4EA9-A3CB-289510ED9143}" type="slidenum">
              <a:rPr lang="ko-KR" altLang="en-US"/>
              <a:pPr>
                <a:defRPr/>
              </a:pPr>
              <a:t>‹#›</a:t>
            </a:fld>
            <a:endParaRPr lang="ko-KR" altLang="en-US"/>
          </a:p>
        </p:txBody>
      </p:sp>
    </p:spTree>
    <p:extLst>
      <p:ext uri="{BB962C8B-B14F-4D97-AF65-F5344CB8AC3E}">
        <p14:creationId xmlns:p14="http://schemas.microsoft.com/office/powerpoint/2010/main" val="1823469053"/>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643042" y="2000240"/>
            <a:ext cx="7215238" cy="1714511"/>
          </a:xfrm>
          <a:solidFill>
            <a:schemeClr val="tx1"/>
          </a:solidFill>
          <a:ln/>
          <a:effectLst>
            <a:outerShdw blurRad="40000" dist="23000" dir="5400000" rotWithShape="0">
              <a:srgbClr val="000000">
                <a:alpha val="35000"/>
              </a:srgbClr>
            </a:outerShdw>
            <a:reflection blurRad="6350" stA="52000" endA="300" endPos="35000" dir="5400000" sy="-100000" algn="bl" rotWithShape="0"/>
            <a:softEdge rad="63500"/>
          </a:effectLst>
        </p:spPr>
        <p:style>
          <a:lnRef idx="1">
            <a:schemeClr val="accent3"/>
          </a:lnRef>
          <a:fillRef idx="3">
            <a:schemeClr val="accent3"/>
          </a:fillRef>
          <a:effectRef idx="2">
            <a:schemeClr val="accent3"/>
          </a:effectRef>
          <a:fontRef idx="none"/>
        </p:style>
        <p:txBody>
          <a:bodyPr>
            <a:normAutofit/>
          </a:bodyPr>
          <a:lstStyle>
            <a:lvl1pPr marL="93663" indent="0" algn="l">
              <a:defRPr sz="2800" b="0" cap="none" spc="0" baseline="0">
                <a:ln w="12700">
                  <a:noFill/>
                  <a:prstDash val="solid"/>
                </a:ln>
                <a:solidFill>
                  <a:schemeClr val="bg1"/>
                </a:solidFill>
                <a:effectLst>
                  <a:outerShdw blurRad="50800" dist="38100" dir="18900000" algn="bl" rotWithShape="0">
                    <a:prstClr val="black">
                      <a:alpha val="40000"/>
                    </a:prstClr>
                  </a:outerShdw>
                </a:effectLst>
                <a:latin typeface="+mj-ea"/>
                <a:ea typeface="+mj-ea"/>
              </a:defRPr>
            </a:lvl1pPr>
          </a:lstStyle>
          <a:p>
            <a:r>
              <a:rPr lang="ko-KR" altLang="en-US" noProof="0" dirty="0"/>
              <a:t>마스터</a:t>
            </a:r>
            <a:r>
              <a:rPr lang="en-US" altLang="ko-KR" dirty="0"/>
              <a:t> </a:t>
            </a:r>
            <a:r>
              <a:rPr lang="ko-KR" altLang="en-US" dirty="0"/>
              <a:t>제목 스타일 편집</a:t>
            </a:r>
            <a:endParaRPr lang="en-US" altLang="ko-KR" dirty="0"/>
          </a:p>
        </p:txBody>
      </p:sp>
      <p:sp>
        <p:nvSpPr>
          <p:cNvPr id="3" name="부제목 2"/>
          <p:cNvSpPr>
            <a:spLocks noGrp="1"/>
          </p:cNvSpPr>
          <p:nvPr>
            <p:ph type="subTitle" idx="1"/>
          </p:nvPr>
        </p:nvSpPr>
        <p:spPr>
          <a:xfrm>
            <a:off x="1714480" y="4286256"/>
            <a:ext cx="6715172" cy="2071702"/>
          </a:xfrm>
        </p:spPr>
        <p:txBody>
          <a:bodyPr>
            <a:normAutofit/>
          </a:bodyPr>
          <a:lstStyle>
            <a:lvl1pPr marL="74613" indent="0" algn="r">
              <a:buNone/>
              <a:defRPr sz="2000" baseline="0">
                <a:solidFill>
                  <a:schemeClr val="tx2">
                    <a:lumMod val="75000"/>
                  </a:schemeClr>
                </a:solidFill>
                <a:effectLst>
                  <a:outerShdw blurRad="50800" dist="38100" dir="2700000" algn="tl" rotWithShape="0">
                    <a:prstClr val="black">
                      <a:alpha val="40000"/>
                    </a:prstClr>
                  </a:outerShdw>
                </a:effectLst>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17" name="모서리가 둥근 직사각형 16"/>
          <p:cNvSpPr/>
          <p:nvPr userDrawn="1"/>
        </p:nvSpPr>
        <p:spPr>
          <a:xfrm>
            <a:off x="357158" y="2000240"/>
            <a:ext cx="928694" cy="785818"/>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8" name="모서리가 둥근 직사각형 17"/>
          <p:cNvSpPr/>
          <p:nvPr userDrawn="1"/>
        </p:nvSpPr>
        <p:spPr>
          <a:xfrm>
            <a:off x="571472" y="2500306"/>
            <a:ext cx="928694" cy="785818"/>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9" name="모서리가 둥근 직사각형 18"/>
          <p:cNvSpPr/>
          <p:nvPr userDrawn="1"/>
        </p:nvSpPr>
        <p:spPr>
          <a:xfrm>
            <a:off x="214282" y="2928934"/>
            <a:ext cx="928694" cy="785818"/>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4" name="슬라이드 번호 개체 틀 5"/>
          <p:cNvSpPr>
            <a:spLocks noGrp="1"/>
          </p:cNvSpPr>
          <p:nvPr>
            <p:ph type="sldNum" sz="quarter" idx="10"/>
          </p:nvPr>
        </p:nvSpPr>
        <p:spPr>
          <a:xfrm>
            <a:off x="836406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cxnSp>
        <p:nvCxnSpPr>
          <p:cNvPr id="16" name="직선 연결선 15"/>
          <p:cNvCxnSpPr/>
          <p:nvPr userDrawn="1"/>
        </p:nvCxnSpPr>
        <p:spPr>
          <a:xfrm>
            <a:off x="0" y="6561348"/>
            <a:ext cx="9144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6700138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제목 및 내용">
    <p:spTree>
      <p:nvGrpSpPr>
        <p:cNvPr id="1" name=""/>
        <p:cNvGrpSpPr/>
        <p:nvPr/>
      </p:nvGrpSpPr>
      <p:grpSpPr>
        <a:xfrm>
          <a:off x="0" y="0"/>
          <a:ext cx="0" cy="0"/>
          <a:chOff x="0" y="0"/>
          <a:chExt cx="0" cy="0"/>
        </a:xfrm>
      </p:grpSpPr>
      <p:sp>
        <p:nvSpPr>
          <p:cNvPr id="14" name="직사각형 13"/>
          <p:cNvSpPr/>
          <p:nvPr userDrawn="1"/>
        </p:nvSpPr>
        <p:spPr>
          <a:xfrm>
            <a:off x="1233870" y="2271543"/>
            <a:ext cx="7119359" cy="90487"/>
          </a:xfrm>
          <a:prstGeom prst="rect">
            <a:avLst/>
          </a:prstGeom>
          <a:solidFill>
            <a:schemeClr val="tx1"/>
          </a:solidFill>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5" name="제목 1"/>
          <p:cNvSpPr>
            <a:spLocks noGrp="1"/>
          </p:cNvSpPr>
          <p:nvPr>
            <p:ph type="title"/>
          </p:nvPr>
        </p:nvSpPr>
        <p:spPr>
          <a:xfrm>
            <a:off x="1548358" y="1018919"/>
            <a:ext cx="6809830" cy="1202124"/>
          </a:xfrm>
        </p:spPr>
        <p:txBody>
          <a:bodyPr anchor="b" anchorCtr="0">
            <a:normAutofit/>
          </a:bodyPr>
          <a:lstStyle>
            <a:lvl1pPr algn="r">
              <a:defRPr sz="3200" b="1" i="0" baseline="0">
                <a:solidFill>
                  <a:schemeClr val="tx1"/>
                </a:solidFill>
                <a:effectLst>
                  <a:outerShdw blurRad="50800" dist="38100" dir="18900000" algn="bl" rotWithShape="0">
                    <a:prstClr val="black">
                      <a:alpha val="40000"/>
                    </a:prstClr>
                  </a:outerShdw>
                </a:effectLst>
                <a:latin typeface="+mj-ea"/>
                <a:ea typeface="+mj-ea"/>
              </a:defRPr>
            </a:lvl1pPr>
          </a:lstStyle>
          <a:p>
            <a:r>
              <a:rPr lang="ko-KR" altLang="en-US" dirty="0"/>
              <a:t>마스터 제목 스타일 편집</a:t>
            </a:r>
          </a:p>
        </p:txBody>
      </p:sp>
      <p:sp>
        <p:nvSpPr>
          <p:cNvPr id="19" name="모서리가 둥근 직사각형 18"/>
          <p:cNvSpPr/>
          <p:nvPr userDrawn="1"/>
        </p:nvSpPr>
        <p:spPr>
          <a:xfrm>
            <a:off x="359532" y="857722"/>
            <a:ext cx="694318" cy="652444"/>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0" name="모서리가 둥근 직사각형 19"/>
          <p:cNvSpPr/>
          <p:nvPr userDrawn="1"/>
        </p:nvSpPr>
        <p:spPr>
          <a:xfrm>
            <a:off x="673326" y="1336396"/>
            <a:ext cx="694318" cy="652444"/>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1" name="모서리가 둥근 직사각형 20"/>
          <p:cNvSpPr/>
          <p:nvPr userDrawn="1"/>
        </p:nvSpPr>
        <p:spPr>
          <a:xfrm>
            <a:off x="272173" y="1636316"/>
            <a:ext cx="694318" cy="652444"/>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6" name="슬라이드 번호 개체 틀 5"/>
          <p:cNvSpPr>
            <a:spLocks noGrp="1"/>
          </p:cNvSpPr>
          <p:nvPr>
            <p:ph type="sldNum" sz="quarter" idx="10"/>
          </p:nvPr>
        </p:nvSpPr>
        <p:spPr>
          <a:xfrm>
            <a:off x="835818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spTree>
    <p:extLst>
      <p:ext uri="{BB962C8B-B14F-4D97-AF65-F5344CB8AC3E}">
        <p14:creationId xmlns:p14="http://schemas.microsoft.com/office/powerpoint/2010/main" val="279089132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7" name="직사각형 6"/>
          <p:cNvSpPr/>
          <p:nvPr userDrawn="1"/>
        </p:nvSpPr>
        <p:spPr>
          <a:xfrm>
            <a:off x="1048502" y="782638"/>
            <a:ext cx="7935161" cy="90487"/>
          </a:xfrm>
          <a:prstGeom prst="rect">
            <a:avLst/>
          </a:prstGeom>
          <a:solidFill>
            <a:schemeClr val="tx1"/>
          </a:solidFill>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 name="제목 1"/>
          <p:cNvSpPr>
            <a:spLocks noGrp="1"/>
          </p:cNvSpPr>
          <p:nvPr>
            <p:ph type="title"/>
          </p:nvPr>
        </p:nvSpPr>
        <p:spPr>
          <a:xfrm>
            <a:off x="1151620" y="220646"/>
            <a:ext cx="7838453" cy="615931"/>
          </a:xfrm>
        </p:spPr>
        <p:txBody>
          <a:bodyPr>
            <a:normAutofit/>
          </a:bodyPr>
          <a:lstStyle>
            <a:lvl1pPr algn="l">
              <a:defRPr sz="2800" b="1" i="0" baseline="0">
                <a:solidFill>
                  <a:schemeClr val="tx1"/>
                </a:solidFill>
                <a:effectLst>
                  <a:outerShdw blurRad="50800" dist="38100" dir="18900000" algn="bl" rotWithShape="0">
                    <a:prstClr val="black">
                      <a:alpha val="40000"/>
                    </a:prstClr>
                  </a:outerShdw>
                </a:effectLst>
                <a:latin typeface="+mj-ea"/>
                <a:ea typeface="+mj-ea"/>
              </a:defRPr>
            </a:lvl1pPr>
          </a:lstStyle>
          <a:p>
            <a:r>
              <a:rPr lang="ko-KR" altLang="en-US" dirty="0"/>
              <a:t>마스터 제목 스타일 편집</a:t>
            </a:r>
          </a:p>
        </p:txBody>
      </p:sp>
      <p:sp>
        <p:nvSpPr>
          <p:cNvPr id="3" name="내용 개체 틀 2"/>
          <p:cNvSpPr>
            <a:spLocks noGrp="1"/>
          </p:cNvSpPr>
          <p:nvPr>
            <p:ph idx="1" hasCustomPrompt="1"/>
          </p:nvPr>
        </p:nvSpPr>
        <p:spPr>
          <a:xfrm>
            <a:off x="214282" y="1092168"/>
            <a:ext cx="8786874" cy="5408666"/>
          </a:xfrm>
        </p:spPr>
        <p:txBody>
          <a:bodyPr/>
          <a:lstStyle>
            <a:lvl1pPr marL="452438" indent="-452438">
              <a:spcBef>
                <a:spcPts val="1000"/>
              </a:spcBef>
              <a:spcAft>
                <a:spcPts val="0"/>
              </a:spcAft>
              <a:buFont typeface="Wingdings" pitchFamily="2" charset="2"/>
              <a:buChar char="v"/>
              <a:defRPr sz="2000" b="0" i="0" cap="none" spc="0" baseline="0">
                <a:ln w="1905">
                  <a:noFill/>
                </a:ln>
                <a:solidFill>
                  <a:schemeClr val="tx1"/>
                </a:solidFill>
                <a:effectLst/>
                <a:latin typeface="+mj-ea"/>
                <a:ea typeface="+mj-ea"/>
                <a:cs typeface="Times New Roman" pitchFamily="18" charset="0"/>
              </a:defRPr>
            </a:lvl1pPr>
            <a:lvl2pPr marL="804863" indent="-347663">
              <a:spcBef>
                <a:spcPts val="800"/>
              </a:spcBef>
              <a:buFontTx/>
              <a:buBlip>
                <a:blip r:embed="rId2"/>
              </a:buBlip>
              <a:defRPr sz="1800" b="0" baseline="0">
                <a:solidFill>
                  <a:schemeClr val="tx1"/>
                </a:solidFill>
                <a:latin typeface="+mj-ea"/>
                <a:ea typeface="+mj-ea"/>
                <a:cs typeface="Times New Roman" pitchFamily="18" charset="0"/>
              </a:defRPr>
            </a:lvl2pPr>
            <a:lvl3pPr marL="1168400" indent="-254000">
              <a:spcBef>
                <a:spcPts val="700"/>
              </a:spcBef>
              <a:defRPr sz="1600" b="0" baseline="0">
                <a:solidFill>
                  <a:schemeClr val="tx1"/>
                </a:solidFill>
                <a:latin typeface="+mj-ea"/>
                <a:ea typeface="+mj-ea"/>
              </a:defRPr>
            </a:lvl3pPr>
            <a:lvl4pPr>
              <a:spcBef>
                <a:spcPts val="600"/>
              </a:spcBef>
              <a:defRPr sz="1600" b="0" baseline="0">
                <a:solidFill>
                  <a:schemeClr val="tx1"/>
                </a:solidFill>
                <a:latin typeface="+mj-ea"/>
                <a:ea typeface="+mj-ea"/>
              </a:defRPr>
            </a:lvl4pPr>
            <a:lvl5pPr>
              <a:spcBef>
                <a:spcPts val="500"/>
              </a:spcBef>
              <a:defRPr sz="1400" b="0" baseline="0">
                <a:solidFill>
                  <a:schemeClr val="tx1"/>
                </a:solidFill>
                <a:latin typeface="+mj-ea"/>
                <a:ea typeface="+mj-ea"/>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grpSp>
        <p:nvGrpSpPr>
          <p:cNvPr id="23" name="그룹 22"/>
          <p:cNvGrpSpPr/>
          <p:nvPr userDrawn="1"/>
        </p:nvGrpSpPr>
        <p:grpSpPr>
          <a:xfrm>
            <a:off x="190949" y="158986"/>
            <a:ext cx="672639" cy="698549"/>
            <a:chOff x="226953" y="129332"/>
            <a:chExt cx="777856" cy="803286"/>
          </a:xfrm>
        </p:grpSpPr>
        <p:sp>
          <p:nvSpPr>
            <p:cNvPr id="24" name="모서리가 둥근 직사각형 23"/>
            <p:cNvSpPr/>
            <p:nvPr userDrawn="1"/>
          </p:nvSpPr>
          <p:spPr>
            <a:xfrm>
              <a:off x="361841" y="129332"/>
              <a:ext cx="500066" cy="428628"/>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5" name="모서리가 둥근 직사각형 24"/>
            <p:cNvSpPr/>
            <p:nvPr userDrawn="1"/>
          </p:nvSpPr>
          <p:spPr>
            <a:xfrm>
              <a:off x="504743" y="353148"/>
              <a:ext cx="500066" cy="428628"/>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6" name="모서리가 둥근 직사각형 25"/>
            <p:cNvSpPr/>
            <p:nvPr userDrawn="1"/>
          </p:nvSpPr>
          <p:spPr>
            <a:xfrm>
              <a:off x="226953" y="503990"/>
              <a:ext cx="500066" cy="428628"/>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grpSp>
      <p:sp>
        <p:nvSpPr>
          <p:cNvPr id="14" name="슬라이드 번호 개체 틀 5"/>
          <p:cNvSpPr>
            <a:spLocks noGrp="1"/>
          </p:cNvSpPr>
          <p:nvPr>
            <p:ph type="sldNum" sz="quarter" idx="10"/>
          </p:nvPr>
        </p:nvSpPr>
        <p:spPr>
          <a:xfrm>
            <a:off x="835818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spTree>
    <p:extLst>
      <p:ext uri="{BB962C8B-B14F-4D97-AF65-F5344CB8AC3E}">
        <p14:creationId xmlns:p14="http://schemas.microsoft.com/office/powerpoint/2010/main" val="30303642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9" name="직사각형 8"/>
          <p:cNvSpPr/>
          <p:nvPr userDrawn="1"/>
        </p:nvSpPr>
        <p:spPr>
          <a:xfrm>
            <a:off x="1048502" y="782638"/>
            <a:ext cx="7935161" cy="90487"/>
          </a:xfrm>
          <a:prstGeom prst="rect">
            <a:avLst/>
          </a:prstGeom>
          <a:solidFill>
            <a:schemeClr val="tx1"/>
          </a:solidFill>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8" name="제목 1"/>
          <p:cNvSpPr>
            <a:spLocks noGrp="1"/>
          </p:cNvSpPr>
          <p:nvPr>
            <p:ph type="title"/>
          </p:nvPr>
        </p:nvSpPr>
        <p:spPr>
          <a:xfrm>
            <a:off x="1151620" y="220646"/>
            <a:ext cx="7838453" cy="615931"/>
          </a:xfrm>
        </p:spPr>
        <p:txBody>
          <a:bodyPr>
            <a:normAutofit/>
          </a:bodyPr>
          <a:lstStyle>
            <a:lvl1pPr algn="l">
              <a:defRPr sz="2800" b="1" i="0" baseline="0">
                <a:solidFill>
                  <a:schemeClr val="tx1"/>
                </a:solidFill>
                <a:effectLst>
                  <a:outerShdw blurRad="50800" dist="38100" dir="18900000" algn="bl" rotWithShape="0">
                    <a:prstClr val="black">
                      <a:alpha val="40000"/>
                    </a:prstClr>
                  </a:outerShdw>
                </a:effectLst>
                <a:latin typeface="+mj-ea"/>
                <a:ea typeface="+mj-ea"/>
              </a:defRPr>
            </a:lvl1pPr>
          </a:lstStyle>
          <a:p>
            <a:r>
              <a:rPr lang="ko-KR" altLang="en-US" dirty="0"/>
              <a:t>마스터 제목 스타일 편집</a:t>
            </a:r>
          </a:p>
        </p:txBody>
      </p:sp>
      <p:grpSp>
        <p:nvGrpSpPr>
          <p:cNvPr id="2" name="그룹 1"/>
          <p:cNvGrpSpPr/>
          <p:nvPr userDrawn="1"/>
        </p:nvGrpSpPr>
        <p:grpSpPr>
          <a:xfrm>
            <a:off x="190949" y="158986"/>
            <a:ext cx="672639" cy="698549"/>
            <a:chOff x="226953" y="129332"/>
            <a:chExt cx="777856" cy="803286"/>
          </a:xfrm>
        </p:grpSpPr>
        <p:sp>
          <p:nvSpPr>
            <p:cNvPr id="24" name="모서리가 둥근 직사각형 23"/>
            <p:cNvSpPr/>
            <p:nvPr userDrawn="1"/>
          </p:nvSpPr>
          <p:spPr>
            <a:xfrm>
              <a:off x="361841" y="129332"/>
              <a:ext cx="500066" cy="428628"/>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5" name="모서리가 둥근 직사각형 24"/>
            <p:cNvSpPr/>
            <p:nvPr userDrawn="1"/>
          </p:nvSpPr>
          <p:spPr>
            <a:xfrm>
              <a:off x="504743" y="353148"/>
              <a:ext cx="500066" cy="428628"/>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6" name="모서리가 둥근 직사각형 25"/>
            <p:cNvSpPr/>
            <p:nvPr userDrawn="1"/>
          </p:nvSpPr>
          <p:spPr>
            <a:xfrm>
              <a:off x="226953" y="503990"/>
              <a:ext cx="500066" cy="428628"/>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grpSp>
      <p:sp>
        <p:nvSpPr>
          <p:cNvPr id="12" name="슬라이드 번호 개체 틀 5"/>
          <p:cNvSpPr>
            <a:spLocks noGrp="1"/>
          </p:cNvSpPr>
          <p:nvPr>
            <p:ph type="sldNum" sz="quarter" idx="10"/>
          </p:nvPr>
        </p:nvSpPr>
        <p:spPr>
          <a:xfrm>
            <a:off x="835818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spTree>
    <p:extLst>
      <p:ext uri="{BB962C8B-B14F-4D97-AF65-F5344CB8AC3E}">
        <p14:creationId xmlns:p14="http://schemas.microsoft.com/office/powerpoint/2010/main" val="171792501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제목 개체 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mn-lt"/>
                <a:ea typeface="+mn-ea"/>
              </a:defRPr>
            </a:lvl1pPr>
          </a:lstStyle>
          <a:p>
            <a:pPr>
              <a:defRPr/>
            </a:pPr>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a:solidFill>
                  <a:schemeClr val="tx1">
                    <a:tint val="75000"/>
                  </a:schemeClr>
                </a:solidFill>
                <a:latin typeface="+mn-lt"/>
                <a:ea typeface="+mn-ea"/>
              </a:defRPr>
            </a:lvl1pPr>
          </a:lstStyle>
          <a:p>
            <a:pPr>
              <a:defRPr/>
            </a:pPr>
            <a:fld id="{FD88BC96-86ED-4F8B-B297-F70E08D8F793}" type="slidenum">
              <a:rPr lang="ko-KR" altLang="en-US"/>
              <a:pPr>
                <a:defRPr/>
              </a:pPr>
              <a:t>‹#›</a:t>
            </a:fld>
            <a:endParaRPr lang="ko-KR" altLang="en-US" dirty="0"/>
          </a:p>
        </p:txBody>
      </p:sp>
    </p:spTree>
    <p:extLst>
      <p:ext uri="{BB962C8B-B14F-4D97-AF65-F5344CB8AC3E}">
        <p14:creationId xmlns:p14="http://schemas.microsoft.com/office/powerpoint/2010/main" val="2237676189"/>
      </p:ext>
    </p:extLst>
  </p:cSld>
  <p:clrMap bg1="lt1" tx1="dk1" bg2="lt2" tx2="dk2" accent1="accent1" accent2="accent2" accent3="accent3" accent4="accent4" accent5="accent5" accent6="accent6" hlink="hlink" folHlink="folHlink"/>
  <p:sldLayoutIdLst>
    <p:sldLayoutId id="2147483834" r:id="rId1"/>
    <p:sldLayoutId id="2147483837" r:id="rId2"/>
    <p:sldLayoutId id="2147483835" r:id="rId3"/>
    <p:sldLayoutId id="2147483836" r:id="rId4"/>
  </p:sldLayoutIdLst>
  <p:transition>
    <p:fade/>
  </p:transition>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2pPr>
      <a:lvl3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3pPr>
      <a:lvl4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4pPr>
      <a:lvl5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ctrTitle"/>
          </p:nvPr>
        </p:nvSpPr>
        <p:spPr/>
        <p:txBody>
          <a:bodyPr/>
          <a:lstStyle/>
          <a:p>
            <a:pPr algn="ctr"/>
            <a:r>
              <a:rPr lang="en-US" altLang="ko-KR" dirty="0">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t>IMAGEBIND: </a:t>
            </a:r>
            <a:br>
              <a:rPr lang="en-US" altLang="ko-KR" dirty="0">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br>
            <a:r>
              <a:rPr lang="en-US" altLang="ko-KR" dirty="0">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t>One Embedding Space To Bind Them All</a:t>
            </a:r>
            <a:endParaRPr lang="ko-KR" altLang="en-US" dirty="0">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endParaRPr>
          </a:p>
        </p:txBody>
      </p:sp>
      <p:sp>
        <p:nvSpPr>
          <p:cNvPr id="4" name="부제목 3"/>
          <p:cNvSpPr>
            <a:spLocks noGrp="1"/>
          </p:cNvSpPr>
          <p:nvPr>
            <p:ph type="subTitle" idx="1"/>
          </p:nvPr>
        </p:nvSpPr>
        <p:spPr/>
        <p:txBody>
          <a:bodyPr>
            <a:normAutofit/>
          </a:bodyPr>
          <a:lstStyle/>
          <a:p>
            <a:r>
              <a:rPr lang="ko-KR" altLang="en-US" b="1" dirty="0">
                <a:solidFill>
                  <a:schemeClr val="tx1"/>
                </a:solidFill>
                <a:ea typeface="08서울남산체 M" panose="02020603020101020101" pitchFamily="18" charset="-127"/>
                <a:cs typeface="Arial Unicode MS" panose="020B0604020202020204" pitchFamily="50" charset="-127"/>
              </a:rPr>
              <a:t>발표자</a:t>
            </a:r>
            <a:r>
              <a:rPr lang="en-US" altLang="ko-KR" b="1" dirty="0">
                <a:solidFill>
                  <a:schemeClr val="tx1"/>
                </a:solidFill>
                <a:ea typeface="08서울남산체 M" panose="02020603020101020101" pitchFamily="18" charset="-127"/>
                <a:cs typeface="Arial Unicode MS" panose="020B0604020202020204" pitchFamily="50" charset="-127"/>
              </a:rPr>
              <a:t>: </a:t>
            </a:r>
            <a:r>
              <a:rPr lang="ko-KR" altLang="en-US" b="1" dirty="0">
                <a:solidFill>
                  <a:schemeClr val="tx1"/>
                </a:solidFill>
                <a:ea typeface="08서울남산체 M" panose="02020603020101020101" pitchFamily="18" charset="-127"/>
                <a:cs typeface="Arial Unicode MS" panose="020B0604020202020204" pitchFamily="50" charset="-127"/>
              </a:rPr>
              <a:t>김병현 </a:t>
            </a:r>
            <a:endParaRPr lang="en-US" altLang="ko-KR" b="1" dirty="0">
              <a:solidFill>
                <a:schemeClr val="tx1"/>
              </a:solidFill>
              <a:ea typeface="08서울남산체 M" panose="02020603020101020101" pitchFamily="18" charset="-127"/>
              <a:cs typeface="Arial Unicode MS" panose="020B0604020202020204" pitchFamily="50" charset="-127"/>
            </a:endParaRPr>
          </a:p>
          <a:p>
            <a:endParaRPr lang="en-US" altLang="ko-KR" b="1" dirty="0">
              <a:solidFill>
                <a:schemeClr val="tx1"/>
              </a:solidFill>
              <a:ea typeface="08서울남산체 M" panose="02020603020101020101" pitchFamily="18" charset="-127"/>
              <a:cs typeface="Arial Unicode MS" panose="020B0604020202020204" pitchFamily="50" charset="-127"/>
            </a:endParaRPr>
          </a:p>
          <a:p>
            <a:r>
              <a:rPr lang="ko-KR" altLang="en-US" b="1" dirty="0">
                <a:solidFill>
                  <a:schemeClr val="tx1"/>
                </a:solidFill>
                <a:ea typeface="08서울남산체 M" panose="02020603020101020101" pitchFamily="18" charset="-127"/>
                <a:cs typeface="Arial Unicode MS" panose="020B0604020202020204" pitchFamily="50" charset="-127"/>
              </a:rPr>
              <a:t>이미지처리팀</a:t>
            </a:r>
            <a:r>
              <a:rPr lang="en-US" altLang="ko-KR" b="1" dirty="0">
                <a:solidFill>
                  <a:schemeClr val="tx1"/>
                </a:solidFill>
                <a:ea typeface="08서울남산체 M" panose="02020603020101020101" pitchFamily="18" charset="-127"/>
                <a:cs typeface="Arial Unicode MS" panose="020B0604020202020204" pitchFamily="50" charset="-127"/>
              </a:rPr>
              <a:t>: </a:t>
            </a:r>
            <a:r>
              <a:rPr lang="ko-KR" altLang="en-US" b="1" dirty="0" err="1">
                <a:solidFill>
                  <a:schemeClr val="tx1"/>
                </a:solidFill>
                <a:ea typeface="08서울남산체 M" panose="02020603020101020101" pitchFamily="18" charset="-127"/>
                <a:cs typeface="Arial Unicode MS" panose="020B0604020202020204" pitchFamily="50" charset="-127"/>
              </a:rPr>
              <a:t>류채은</a:t>
            </a:r>
            <a:r>
              <a:rPr lang="en-US" altLang="ko-KR" b="1" dirty="0">
                <a:solidFill>
                  <a:schemeClr val="tx1"/>
                </a:solidFill>
                <a:ea typeface="08서울남산체 M" panose="02020603020101020101" pitchFamily="18" charset="-127"/>
                <a:cs typeface="Arial Unicode MS" panose="020B0604020202020204" pitchFamily="50" charset="-127"/>
              </a:rPr>
              <a:t>, </a:t>
            </a:r>
            <a:r>
              <a:rPr lang="ko-KR" altLang="en-US" b="1" dirty="0" err="1">
                <a:solidFill>
                  <a:schemeClr val="tx1"/>
                </a:solidFill>
                <a:ea typeface="08서울남산체 M" panose="02020603020101020101" pitchFamily="18" charset="-127"/>
                <a:cs typeface="Arial Unicode MS" panose="020B0604020202020204" pitchFamily="50" charset="-127"/>
              </a:rPr>
              <a:t>안종식</a:t>
            </a:r>
            <a:r>
              <a:rPr lang="en-US" altLang="ko-KR" b="1" dirty="0">
                <a:solidFill>
                  <a:schemeClr val="tx1"/>
                </a:solidFill>
                <a:ea typeface="08서울남산체 M" panose="02020603020101020101" pitchFamily="18" charset="-127"/>
                <a:cs typeface="Arial Unicode MS" panose="020B0604020202020204" pitchFamily="50" charset="-127"/>
              </a:rPr>
              <a:t>, </a:t>
            </a:r>
            <a:r>
              <a:rPr lang="ko-KR" altLang="en-US" b="1" dirty="0">
                <a:solidFill>
                  <a:schemeClr val="tx1"/>
                </a:solidFill>
                <a:ea typeface="08서울남산체 M" panose="02020603020101020101" pitchFamily="18" charset="-127"/>
                <a:cs typeface="Arial Unicode MS" panose="020B0604020202020204" pitchFamily="50" charset="-127"/>
              </a:rPr>
              <a:t>조경진</a:t>
            </a:r>
            <a:r>
              <a:rPr lang="en-US" altLang="ko-KR" b="1" dirty="0">
                <a:solidFill>
                  <a:schemeClr val="tx1"/>
                </a:solidFill>
                <a:ea typeface="08서울남산체 M" panose="02020603020101020101" pitchFamily="18" charset="-127"/>
                <a:cs typeface="Arial Unicode MS" panose="020B0604020202020204" pitchFamily="50" charset="-127"/>
              </a:rPr>
              <a:t>, </a:t>
            </a:r>
            <a:r>
              <a:rPr lang="ko-KR" altLang="en-US" b="1" dirty="0">
                <a:solidFill>
                  <a:schemeClr val="tx1"/>
                </a:solidFill>
                <a:ea typeface="08서울남산체 M" panose="02020603020101020101" pitchFamily="18" charset="-127"/>
                <a:cs typeface="Arial Unicode MS" panose="020B0604020202020204" pitchFamily="50" charset="-127"/>
              </a:rPr>
              <a:t>최승준</a:t>
            </a:r>
            <a:endParaRPr lang="en-US" altLang="ko-KR" b="1" dirty="0">
              <a:solidFill>
                <a:schemeClr val="tx1"/>
              </a:solidFill>
              <a:ea typeface="08서울남산체 M" panose="02020603020101020101" pitchFamily="18" charset="-127"/>
              <a:cs typeface="Arial Unicode MS" panose="020B0604020202020204" pitchFamily="50" charset="-127"/>
            </a:endParaRPr>
          </a:p>
          <a:p>
            <a:endParaRPr lang="en-US" altLang="ko-KR" b="1" dirty="0">
              <a:solidFill>
                <a:schemeClr val="tx1"/>
              </a:solidFill>
              <a:ea typeface="08서울남산체 M" panose="02020603020101020101" pitchFamily="18" charset="-127"/>
              <a:cs typeface="Arial Unicode MS" panose="020B0604020202020204" pitchFamily="50" charset="-127"/>
            </a:endParaRPr>
          </a:p>
        </p:txBody>
      </p:sp>
      <p:sp>
        <p:nvSpPr>
          <p:cNvPr id="2" name="TextBox 1"/>
          <p:cNvSpPr txBox="1"/>
          <p:nvPr/>
        </p:nvSpPr>
        <p:spPr>
          <a:xfrm>
            <a:off x="4572000" y="1448780"/>
            <a:ext cx="4248472" cy="400110"/>
          </a:xfrm>
          <a:prstGeom prst="rect">
            <a:avLst/>
          </a:prstGeom>
          <a:noFill/>
        </p:spPr>
        <p:txBody>
          <a:bodyPr wrap="square" rtlCol="0">
            <a:spAutoFit/>
          </a:bodyPr>
          <a:lstStyle/>
          <a:p>
            <a:pPr algn="r"/>
            <a:r>
              <a:rPr lang="en-US" altLang="ko-KR" sz="2000" dirty="0">
                <a:latin typeface="Calibri" panose="020F0502020204030204" pitchFamily="34" charset="0"/>
                <a:ea typeface="08서울남산체 B" panose="02020603020101020101" pitchFamily="18" charset="-127"/>
                <a:cs typeface="Times New Roman" pitchFamily="18" charset="0"/>
              </a:rPr>
              <a:t>June 25</a:t>
            </a:r>
            <a:r>
              <a:rPr lang="en-US" altLang="ko-KR" sz="2000" baseline="30000" dirty="0">
                <a:latin typeface="Calibri" panose="020F0502020204030204" pitchFamily="34" charset="0"/>
                <a:ea typeface="08서울남산체 B" panose="02020603020101020101" pitchFamily="18" charset="-127"/>
                <a:cs typeface="Times New Roman" pitchFamily="18" charset="0"/>
              </a:rPr>
              <a:t>th</a:t>
            </a:r>
            <a:r>
              <a:rPr lang="en-US" altLang="ko-KR" sz="2000" dirty="0">
                <a:latin typeface="Calibri" panose="020F0502020204030204" pitchFamily="34" charset="0"/>
                <a:ea typeface="08서울남산체 B" panose="02020603020101020101" pitchFamily="18" charset="-127"/>
                <a:cs typeface="Times New Roman" pitchFamily="18" charset="0"/>
              </a:rPr>
              <a:t>, 2023</a:t>
            </a:r>
          </a:p>
        </p:txBody>
      </p:sp>
    </p:spTree>
    <p:extLst>
      <p:ext uri="{BB962C8B-B14F-4D97-AF65-F5344CB8AC3E}">
        <p14:creationId xmlns:p14="http://schemas.microsoft.com/office/powerpoint/2010/main" val="795769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A8CD945B-8BF8-6A04-A468-B9D9FE83095C}"/>
              </a:ext>
            </a:extLst>
          </p:cNvPr>
          <p:cNvSpPr>
            <a:spLocks noGrp="1"/>
          </p:cNvSpPr>
          <p:nvPr>
            <p:ph type="title"/>
          </p:nvPr>
        </p:nvSpPr>
        <p:spPr/>
        <p:txBody>
          <a:bodyPr/>
          <a:lstStyle/>
          <a:p>
            <a:r>
              <a:rPr lang="en-US" altLang="ko-KR" dirty="0" err="1"/>
              <a:t>ImageBind</a:t>
            </a:r>
            <a:endParaRPr lang="ko-KR" altLang="en-US" dirty="0"/>
          </a:p>
        </p:txBody>
      </p:sp>
      <p:sp>
        <p:nvSpPr>
          <p:cNvPr id="3" name="슬라이드 번호 개체 틀 2">
            <a:extLst>
              <a:ext uri="{FF2B5EF4-FFF2-40B4-BE49-F238E27FC236}">
                <a16:creationId xmlns:a16="http://schemas.microsoft.com/office/drawing/2014/main" id="{3FD5551B-DC92-CAC3-B329-0A42B3805005}"/>
              </a:ext>
            </a:extLst>
          </p:cNvPr>
          <p:cNvSpPr>
            <a:spLocks noGrp="1"/>
          </p:cNvSpPr>
          <p:nvPr>
            <p:ph type="sldNum" sz="quarter" idx="10"/>
          </p:nvPr>
        </p:nvSpPr>
        <p:spPr/>
        <p:txBody>
          <a:bodyPr/>
          <a:lstStyle/>
          <a:p>
            <a:pPr>
              <a:defRPr/>
            </a:pPr>
            <a:fld id="{7092A07C-4710-46A3-9C28-806B597ACB99}" type="slidenum">
              <a:rPr lang="ko-KR" altLang="en-US" smtClean="0"/>
              <a:pPr>
                <a:defRPr/>
              </a:pPr>
              <a:t>2</a:t>
            </a:fld>
            <a:endParaRPr lang="ko-KR" altLang="en-US" dirty="0"/>
          </a:p>
        </p:txBody>
      </p:sp>
      <p:sp>
        <p:nvSpPr>
          <p:cNvPr id="8" name="내용 개체 틀 7">
            <a:extLst>
              <a:ext uri="{FF2B5EF4-FFF2-40B4-BE49-F238E27FC236}">
                <a16:creationId xmlns:a16="http://schemas.microsoft.com/office/drawing/2014/main" id="{BCD6253B-AFB1-8D07-2E62-4A021B7A4FDB}"/>
              </a:ext>
            </a:extLst>
          </p:cNvPr>
          <p:cNvSpPr>
            <a:spLocks noGrp="1"/>
          </p:cNvSpPr>
          <p:nvPr>
            <p:ph idx="1"/>
          </p:nvPr>
        </p:nvSpPr>
        <p:spPr/>
        <p:txBody>
          <a:bodyPr/>
          <a:lstStyle/>
          <a:p>
            <a:r>
              <a:rPr lang="en-US" altLang="ko-KR" dirty="0"/>
              <a:t>The first AI model capable of binding data from six modalities at once, without the need for explicit supervision.</a:t>
            </a:r>
            <a:endParaRPr lang="ko-KR" altLang="en-US" dirty="0"/>
          </a:p>
        </p:txBody>
      </p:sp>
      <p:pic>
        <p:nvPicPr>
          <p:cNvPr id="9" name="hero_video-2f48dad3">
            <a:hlinkClick r:id="" action="ppaction://media"/>
            <a:extLst>
              <a:ext uri="{FF2B5EF4-FFF2-40B4-BE49-F238E27FC236}">
                <a16:creationId xmlns:a16="http://schemas.microsoft.com/office/drawing/2014/main" id="{35EBAB4D-90B8-D872-DB73-02540CA95DA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bwMode="auto">
          <a:xfrm>
            <a:off x="1428492" y="1808821"/>
            <a:ext cx="6142296" cy="5025368"/>
          </a:xfrm>
          <a:prstGeom prst="rect">
            <a:avLst/>
          </a:prstGeom>
          <a:noFill/>
          <a:ln w="9525">
            <a:noFill/>
            <a:miter lim="800000"/>
            <a:headEnd/>
            <a:tailEnd/>
          </a:ln>
        </p:spPr>
      </p:pic>
    </p:spTree>
    <p:extLst>
      <p:ext uri="{BB962C8B-B14F-4D97-AF65-F5344CB8AC3E}">
        <p14:creationId xmlns:p14="http://schemas.microsoft.com/office/powerpoint/2010/main" val="3676776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3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vol="80000">
                <p:cTn id="12" fill="hold" display="0">
                  <p:stCondLst>
                    <p:cond delay="indefinite"/>
                  </p:stCondLst>
                </p:cTn>
                <p:tgtEl>
                  <p:spTgt spid="9"/>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CCC91D-7C9E-4E5C-44CA-23E5796EF233}"/>
              </a:ext>
            </a:extLst>
          </p:cNvPr>
          <p:cNvSpPr>
            <a:spLocks noGrp="1"/>
          </p:cNvSpPr>
          <p:nvPr>
            <p:ph type="title"/>
          </p:nvPr>
        </p:nvSpPr>
        <p:spPr/>
        <p:txBody>
          <a:bodyPr/>
          <a:lstStyle/>
          <a:p>
            <a:r>
              <a:rPr lang="en-US" altLang="ko-KR" dirty="0"/>
              <a:t>Power of Image</a:t>
            </a:r>
          </a:p>
        </p:txBody>
      </p:sp>
      <p:sp>
        <p:nvSpPr>
          <p:cNvPr id="3" name="내용 개체 틀 2">
            <a:extLst>
              <a:ext uri="{FF2B5EF4-FFF2-40B4-BE49-F238E27FC236}">
                <a16:creationId xmlns:a16="http://schemas.microsoft.com/office/drawing/2014/main" id="{0D955436-AA2A-8C9E-764F-EACFFBF7F7EE}"/>
              </a:ext>
            </a:extLst>
          </p:cNvPr>
          <p:cNvSpPr>
            <a:spLocks noGrp="1"/>
          </p:cNvSpPr>
          <p:nvPr>
            <p:ph idx="1"/>
          </p:nvPr>
        </p:nvSpPr>
        <p:spPr/>
        <p:txBody>
          <a:bodyPr/>
          <a:lstStyle/>
          <a:p>
            <a:r>
              <a:rPr lang="en-US" altLang="ko-KR" b="1" dirty="0"/>
              <a:t>A single image can bind together many experiences </a:t>
            </a:r>
            <a:r>
              <a:rPr lang="en-US" altLang="ko-KR" dirty="0"/>
              <a:t>– an image of a beach can remind us of the sound of waves, the texture of the sand, a breeze, or even inspire a poem. This ‘binding’ property of images offers many sources of supervision to learn visual features, by aligning them with any of the sensory experiences associated with images. Ideally, for a single joint embedding space, visual features should be learned by aligning to all of these sensors. However, this requires acquiring all types and combinations of paired data with the same set of images, which is infeasible.</a:t>
            </a:r>
            <a:endParaRPr lang="ko-KR" altLang="en-US" dirty="0"/>
          </a:p>
        </p:txBody>
      </p:sp>
      <p:sp>
        <p:nvSpPr>
          <p:cNvPr id="4" name="슬라이드 번호 개체 틀 3">
            <a:extLst>
              <a:ext uri="{FF2B5EF4-FFF2-40B4-BE49-F238E27FC236}">
                <a16:creationId xmlns:a16="http://schemas.microsoft.com/office/drawing/2014/main" id="{0113BC48-02C3-70C8-E3BF-A32FAEFCE3FA}"/>
              </a:ext>
            </a:extLst>
          </p:cNvPr>
          <p:cNvSpPr>
            <a:spLocks noGrp="1"/>
          </p:cNvSpPr>
          <p:nvPr>
            <p:ph type="sldNum" sz="quarter" idx="10"/>
          </p:nvPr>
        </p:nvSpPr>
        <p:spPr/>
        <p:txBody>
          <a:bodyPr/>
          <a:lstStyle/>
          <a:p>
            <a:pPr>
              <a:defRPr/>
            </a:pPr>
            <a:fld id="{7092A07C-4710-46A3-9C28-806B597ACB99}" type="slidenum">
              <a:rPr lang="ko-KR" altLang="en-US" smtClean="0"/>
              <a:pPr>
                <a:defRPr/>
              </a:pPr>
              <a:t>3</a:t>
            </a:fld>
            <a:endParaRPr lang="ko-KR" altLang="en-US" dirty="0"/>
          </a:p>
        </p:txBody>
      </p:sp>
    </p:spTree>
    <p:extLst>
      <p:ext uri="{BB962C8B-B14F-4D97-AF65-F5344CB8AC3E}">
        <p14:creationId xmlns:p14="http://schemas.microsoft.com/office/powerpoint/2010/main" val="37300248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DAD9E5-3772-47F6-5298-E87E8F50A541}"/>
              </a:ext>
            </a:extLst>
          </p:cNvPr>
          <p:cNvSpPr>
            <a:spLocks noGrp="1"/>
          </p:cNvSpPr>
          <p:nvPr>
            <p:ph type="title"/>
          </p:nvPr>
        </p:nvSpPr>
        <p:spPr/>
        <p:txBody>
          <a:bodyPr/>
          <a:lstStyle/>
          <a:p>
            <a:r>
              <a:rPr lang="en-US" altLang="ko-KR" dirty="0"/>
              <a:t>Related Works </a:t>
            </a:r>
            <a:endParaRPr lang="ko-KR" altLang="en-US" dirty="0"/>
          </a:p>
        </p:txBody>
      </p:sp>
      <p:sp>
        <p:nvSpPr>
          <p:cNvPr id="3" name="내용 개체 틀 2">
            <a:extLst>
              <a:ext uri="{FF2B5EF4-FFF2-40B4-BE49-F238E27FC236}">
                <a16:creationId xmlns:a16="http://schemas.microsoft.com/office/drawing/2014/main" id="{78EDEB37-9378-A038-D8C7-3758285FA087}"/>
              </a:ext>
            </a:extLst>
          </p:cNvPr>
          <p:cNvSpPr>
            <a:spLocks noGrp="1"/>
          </p:cNvSpPr>
          <p:nvPr>
            <p:ph idx="1"/>
          </p:nvPr>
        </p:nvSpPr>
        <p:spPr/>
        <p:txBody>
          <a:bodyPr/>
          <a:lstStyle/>
          <a:p>
            <a:r>
              <a:rPr lang="en-US" altLang="ko-KR" dirty="0"/>
              <a:t>Language Image Pre-training</a:t>
            </a:r>
          </a:p>
          <a:p>
            <a:pPr lvl="1"/>
            <a:r>
              <a:rPr lang="en-US" altLang="ko-KR" dirty="0"/>
              <a:t>Learning Transferable Visual Models From Natural Language Supervision (CLIP)</a:t>
            </a:r>
            <a:endParaRPr lang="ko-KR" altLang="en-US" dirty="0"/>
          </a:p>
        </p:txBody>
      </p:sp>
      <p:sp>
        <p:nvSpPr>
          <p:cNvPr id="4" name="슬라이드 번호 개체 틀 3">
            <a:extLst>
              <a:ext uri="{FF2B5EF4-FFF2-40B4-BE49-F238E27FC236}">
                <a16:creationId xmlns:a16="http://schemas.microsoft.com/office/drawing/2014/main" id="{86DDCC30-3CDD-4B47-8F56-B503CCCCF90E}"/>
              </a:ext>
            </a:extLst>
          </p:cNvPr>
          <p:cNvSpPr>
            <a:spLocks noGrp="1"/>
          </p:cNvSpPr>
          <p:nvPr>
            <p:ph type="sldNum" sz="quarter" idx="10"/>
          </p:nvPr>
        </p:nvSpPr>
        <p:spPr/>
        <p:txBody>
          <a:bodyPr/>
          <a:lstStyle/>
          <a:p>
            <a:pPr>
              <a:defRPr/>
            </a:pPr>
            <a:fld id="{7092A07C-4710-46A3-9C28-806B597ACB99}" type="slidenum">
              <a:rPr lang="ko-KR" altLang="en-US" smtClean="0"/>
              <a:pPr>
                <a:defRPr/>
              </a:pPr>
              <a:t>4</a:t>
            </a:fld>
            <a:endParaRPr lang="ko-KR" altLang="en-US" dirty="0"/>
          </a:p>
        </p:txBody>
      </p:sp>
      <p:pic>
        <p:nvPicPr>
          <p:cNvPr id="7" name="그림 6">
            <a:extLst>
              <a:ext uri="{FF2B5EF4-FFF2-40B4-BE49-F238E27FC236}">
                <a16:creationId xmlns:a16="http://schemas.microsoft.com/office/drawing/2014/main" id="{5498822E-1282-B890-C666-BDD99AA9119D}"/>
              </a:ext>
            </a:extLst>
          </p:cNvPr>
          <p:cNvPicPr>
            <a:picLocks noChangeAspect="1"/>
          </p:cNvPicPr>
          <p:nvPr/>
        </p:nvPicPr>
        <p:blipFill>
          <a:blip r:embed="rId2"/>
          <a:stretch>
            <a:fillRect/>
          </a:stretch>
        </p:blipFill>
        <p:spPr>
          <a:xfrm>
            <a:off x="474074" y="2276872"/>
            <a:ext cx="8543796" cy="3958111"/>
          </a:xfrm>
          <a:prstGeom prst="rect">
            <a:avLst/>
          </a:prstGeom>
        </p:spPr>
      </p:pic>
      <p:sp>
        <p:nvSpPr>
          <p:cNvPr id="9" name="TextBox 8">
            <a:extLst>
              <a:ext uri="{FF2B5EF4-FFF2-40B4-BE49-F238E27FC236}">
                <a16:creationId xmlns:a16="http://schemas.microsoft.com/office/drawing/2014/main" id="{EF526510-306F-8CFB-F782-3C19D7D523FE}"/>
              </a:ext>
            </a:extLst>
          </p:cNvPr>
          <p:cNvSpPr txBox="1"/>
          <p:nvPr/>
        </p:nvSpPr>
        <p:spPr>
          <a:xfrm>
            <a:off x="4402682" y="6302449"/>
            <a:ext cx="4572000" cy="507831"/>
          </a:xfrm>
          <a:prstGeom prst="rect">
            <a:avLst/>
          </a:prstGeom>
          <a:noFill/>
        </p:spPr>
        <p:txBody>
          <a:bodyPr wrap="square">
            <a:spAutoFit/>
          </a:bodyPr>
          <a:lstStyle/>
          <a:p>
            <a:r>
              <a:rPr lang="en-US" altLang="ko-KR" sz="900" b="0" i="0" dirty="0">
                <a:solidFill>
                  <a:srgbClr val="222222"/>
                </a:solidFill>
                <a:effectLst/>
                <a:latin typeface="Arial" panose="020B0604020202020204" pitchFamily="34" charset="0"/>
              </a:rPr>
              <a:t>Radford, A., Kim, J. W., </a:t>
            </a:r>
            <a:r>
              <a:rPr lang="en-US" altLang="ko-KR" sz="900" b="0" i="0" dirty="0" err="1">
                <a:solidFill>
                  <a:srgbClr val="222222"/>
                </a:solidFill>
                <a:effectLst/>
                <a:latin typeface="Arial" panose="020B0604020202020204" pitchFamily="34" charset="0"/>
              </a:rPr>
              <a:t>Hallacy</a:t>
            </a:r>
            <a:r>
              <a:rPr lang="en-US" altLang="ko-KR" sz="900" b="0" i="0" dirty="0">
                <a:solidFill>
                  <a:srgbClr val="222222"/>
                </a:solidFill>
                <a:effectLst/>
                <a:latin typeface="Arial" panose="020B0604020202020204" pitchFamily="34" charset="0"/>
              </a:rPr>
              <a:t>, C., Ramesh, A., Goh, G., Agarwal, S., ... &amp; </a:t>
            </a:r>
            <a:r>
              <a:rPr lang="en-US" altLang="ko-KR" sz="900" b="0" i="0" dirty="0" err="1">
                <a:solidFill>
                  <a:srgbClr val="222222"/>
                </a:solidFill>
                <a:effectLst/>
                <a:latin typeface="Arial" panose="020B0604020202020204" pitchFamily="34" charset="0"/>
              </a:rPr>
              <a:t>Sutskever</a:t>
            </a:r>
            <a:r>
              <a:rPr lang="en-US" altLang="ko-KR" sz="900" b="0" i="0" dirty="0">
                <a:solidFill>
                  <a:srgbClr val="222222"/>
                </a:solidFill>
                <a:effectLst/>
                <a:latin typeface="Arial" panose="020B0604020202020204" pitchFamily="34" charset="0"/>
              </a:rPr>
              <a:t>, I. (2021, July). Learning transferable visual models from natural language supervision. In </a:t>
            </a:r>
            <a:r>
              <a:rPr lang="en-US" altLang="ko-KR" sz="900" b="0" i="1" dirty="0">
                <a:solidFill>
                  <a:srgbClr val="222222"/>
                </a:solidFill>
                <a:effectLst/>
                <a:latin typeface="Arial" panose="020B0604020202020204" pitchFamily="34" charset="0"/>
              </a:rPr>
              <a:t>International conference on machine learning</a:t>
            </a:r>
            <a:r>
              <a:rPr lang="en-US" altLang="ko-KR" sz="900" b="0" i="0" dirty="0">
                <a:solidFill>
                  <a:srgbClr val="222222"/>
                </a:solidFill>
                <a:effectLst/>
                <a:latin typeface="Arial" panose="020B0604020202020204" pitchFamily="34" charset="0"/>
              </a:rPr>
              <a:t> (pp. 8748-8763). PMLR.</a:t>
            </a:r>
            <a:endParaRPr lang="ko-KR" altLang="en-US" sz="900" dirty="0"/>
          </a:p>
        </p:txBody>
      </p:sp>
    </p:spTree>
    <p:extLst>
      <p:ext uri="{BB962C8B-B14F-4D97-AF65-F5344CB8AC3E}">
        <p14:creationId xmlns:p14="http://schemas.microsoft.com/office/powerpoint/2010/main" val="357443060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CE7AA7-0AE8-946E-06E1-09C2189001B7}"/>
              </a:ext>
            </a:extLst>
          </p:cNvPr>
          <p:cNvSpPr>
            <a:spLocks noGrp="1"/>
          </p:cNvSpPr>
          <p:nvPr>
            <p:ph type="title"/>
          </p:nvPr>
        </p:nvSpPr>
        <p:spPr/>
        <p:txBody>
          <a:bodyPr/>
          <a:lstStyle/>
          <a:p>
            <a:r>
              <a:rPr lang="en-US" altLang="ko-KR" dirty="0"/>
              <a:t>Related Works</a:t>
            </a:r>
            <a:endParaRPr lang="ko-KR" altLang="en-US" dirty="0"/>
          </a:p>
        </p:txBody>
      </p:sp>
      <p:sp>
        <p:nvSpPr>
          <p:cNvPr id="3" name="내용 개체 틀 2">
            <a:extLst>
              <a:ext uri="{FF2B5EF4-FFF2-40B4-BE49-F238E27FC236}">
                <a16:creationId xmlns:a16="http://schemas.microsoft.com/office/drawing/2014/main" id="{21461E2F-48D9-E8C5-E89D-CE315EC254B9}"/>
              </a:ext>
            </a:extLst>
          </p:cNvPr>
          <p:cNvSpPr>
            <a:spLocks noGrp="1"/>
          </p:cNvSpPr>
          <p:nvPr>
            <p:ph idx="1"/>
          </p:nvPr>
        </p:nvSpPr>
        <p:spPr/>
        <p:txBody>
          <a:bodyPr/>
          <a:lstStyle/>
          <a:p>
            <a:r>
              <a:rPr lang="en-US" altLang="ko-KR" dirty="0"/>
              <a:t>Feature Alignment</a:t>
            </a:r>
          </a:p>
          <a:p>
            <a:pPr lvl="1"/>
            <a:r>
              <a:rPr lang="en-US" altLang="ko-KR" dirty="0"/>
              <a:t>Language-driven Semantic Segmentation</a:t>
            </a:r>
            <a:endParaRPr lang="ko-KR" altLang="en-US" dirty="0"/>
          </a:p>
        </p:txBody>
      </p:sp>
      <p:sp>
        <p:nvSpPr>
          <p:cNvPr id="4" name="슬라이드 번호 개체 틀 3">
            <a:extLst>
              <a:ext uri="{FF2B5EF4-FFF2-40B4-BE49-F238E27FC236}">
                <a16:creationId xmlns:a16="http://schemas.microsoft.com/office/drawing/2014/main" id="{7B07E0E9-2B6F-1D21-839C-6190865C3702}"/>
              </a:ext>
            </a:extLst>
          </p:cNvPr>
          <p:cNvSpPr>
            <a:spLocks noGrp="1"/>
          </p:cNvSpPr>
          <p:nvPr>
            <p:ph type="sldNum" sz="quarter" idx="10"/>
          </p:nvPr>
        </p:nvSpPr>
        <p:spPr/>
        <p:txBody>
          <a:bodyPr/>
          <a:lstStyle/>
          <a:p>
            <a:pPr>
              <a:defRPr/>
            </a:pPr>
            <a:fld id="{7092A07C-4710-46A3-9C28-806B597ACB99}" type="slidenum">
              <a:rPr lang="ko-KR" altLang="en-US" smtClean="0"/>
              <a:pPr>
                <a:defRPr/>
              </a:pPr>
              <a:t>5</a:t>
            </a:fld>
            <a:endParaRPr lang="ko-KR" altLang="en-US" dirty="0"/>
          </a:p>
        </p:txBody>
      </p:sp>
      <p:pic>
        <p:nvPicPr>
          <p:cNvPr id="6" name="그림 5">
            <a:extLst>
              <a:ext uri="{FF2B5EF4-FFF2-40B4-BE49-F238E27FC236}">
                <a16:creationId xmlns:a16="http://schemas.microsoft.com/office/drawing/2014/main" id="{7A086655-B400-4D9C-91F7-3EA453C6B3B0}"/>
              </a:ext>
            </a:extLst>
          </p:cNvPr>
          <p:cNvPicPr>
            <a:picLocks noChangeAspect="1"/>
          </p:cNvPicPr>
          <p:nvPr/>
        </p:nvPicPr>
        <p:blipFill>
          <a:blip r:embed="rId2"/>
          <a:stretch>
            <a:fillRect/>
          </a:stretch>
        </p:blipFill>
        <p:spPr>
          <a:xfrm>
            <a:off x="392906" y="2024844"/>
            <a:ext cx="8358188" cy="4208094"/>
          </a:xfrm>
          <a:prstGeom prst="rect">
            <a:avLst/>
          </a:prstGeom>
        </p:spPr>
      </p:pic>
      <p:sp>
        <p:nvSpPr>
          <p:cNvPr id="8" name="TextBox 7">
            <a:extLst>
              <a:ext uri="{FF2B5EF4-FFF2-40B4-BE49-F238E27FC236}">
                <a16:creationId xmlns:a16="http://schemas.microsoft.com/office/drawing/2014/main" id="{A956B8EE-770C-8494-C342-C2663B1E325D}"/>
              </a:ext>
            </a:extLst>
          </p:cNvPr>
          <p:cNvSpPr txBox="1"/>
          <p:nvPr/>
        </p:nvSpPr>
        <p:spPr>
          <a:xfrm>
            <a:off x="4429156" y="6406702"/>
            <a:ext cx="4572000" cy="430887"/>
          </a:xfrm>
          <a:prstGeom prst="rect">
            <a:avLst/>
          </a:prstGeom>
          <a:noFill/>
        </p:spPr>
        <p:txBody>
          <a:bodyPr wrap="square">
            <a:spAutoFit/>
          </a:bodyPr>
          <a:lstStyle/>
          <a:p>
            <a:r>
              <a:rPr lang="en-US" altLang="ko-KR" sz="1100" b="0" i="0" dirty="0">
                <a:solidFill>
                  <a:srgbClr val="222222"/>
                </a:solidFill>
                <a:effectLst/>
                <a:latin typeface="Arial" panose="020B0604020202020204" pitchFamily="34" charset="0"/>
              </a:rPr>
              <a:t>Li, B., Weinberger, K. Q., </a:t>
            </a:r>
            <a:r>
              <a:rPr lang="en-US" altLang="ko-KR" sz="1100" b="0" i="0" dirty="0" err="1">
                <a:solidFill>
                  <a:srgbClr val="222222"/>
                </a:solidFill>
                <a:effectLst/>
                <a:latin typeface="Arial" panose="020B0604020202020204" pitchFamily="34" charset="0"/>
              </a:rPr>
              <a:t>Belongie</a:t>
            </a:r>
            <a:r>
              <a:rPr lang="en-US" altLang="ko-KR" sz="1100" b="0" i="0" dirty="0">
                <a:solidFill>
                  <a:srgbClr val="222222"/>
                </a:solidFill>
                <a:effectLst/>
                <a:latin typeface="Arial" panose="020B0604020202020204" pitchFamily="34" charset="0"/>
              </a:rPr>
              <a:t>, S., </a:t>
            </a:r>
            <a:r>
              <a:rPr lang="en-US" altLang="ko-KR" sz="1100" b="0" i="0" dirty="0" err="1">
                <a:solidFill>
                  <a:srgbClr val="222222"/>
                </a:solidFill>
                <a:effectLst/>
                <a:latin typeface="Arial" panose="020B0604020202020204" pitchFamily="34" charset="0"/>
              </a:rPr>
              <a:t>Koltun</a:t>
            </a:r>
            <a:r>
              <a:rPr lang="en-US" altLang="ko-KR" sz="1100" b="0" i="0" dirty="0">
                <a:solidFill>
                  <a:srgbClr val="222222"/>
                </a:solidFill>
                <a:effectLst/>
                <a:latin typeface="Arial" panose="020B0604020202020204" pitchFamily="34" charset="0"/>
              </a:rPr>
              <a:t>, V., &amp; </a:t>
            </a:r>
            <a:r>
              <a:rPr lang="en-US" altLang="ko-KR" sz="1100" b="0" i="0" dirty="0" err="1">
                <a:solidFill>
                  <a:srgbClr val="222222"/>
                </a:solidFill>
                <a:effectLst/>
                <a:latin typeface="Arial" panose="020B0604020202020204" pitchFamily="34" charset="0"/>
              </a:rPr>
              <a:t>Ranftl</a:t>
            </a:r>
            <a:r>
              <a:rPr lang="en-US" altLang="ko-KR" sz="1100" b="0" i="0" dirty="0">
                <a:solidFill>
                  <a:srgbClr val="222222"/>
                </a:solidFill>
                <a:effectLst/>
                <a:latin typeface="Arial" panose="020B0604020202020204" pitchFamily="34" charset="0"/>
              </a:rPr>
              <a:t>, R. (2022). Language-driven Semantic Segmentation. </a:t>
            </a:r>
            <a:r>
              <a:rPr lang="en-US" altLang="ko-KR" sz="1100" b="0" i="1" dirty="0" err="1">
                <a:solidFill>
                  <a:srgbClr val="222222"/>
                </a:solidFill>
                <a:effectLst/>
                <a:latin typeface="Arial" panose="020B0604020202020204" pitchFamily="34" charset="0"/>
              </a:rPr>
              <a:t>arXiv</a:t>
            </a:r>
            <a:r>
              <a:rPr lang="en-US" altLang="ko-KR" sz="1100" b="0" i="1" dirty="0">
                <a:solidFill>
                  <a:srgbClr val="222222"/>
                </a:solidFill>
                <a:effectLst/>
                <a:latin typeface="Arial" panose="020B0604020202020204" pitchFamily="34" charset="0"/>
              </a:rPr>
              <a:t> e-prints</a:t>
            </a:r>
            <a:r>
              <a:rPr lang="en-US" altLang="ko-KR" sz="1100" b="0" i="0" dirty="0">
                <a:solidFill>
                  <a:srgbClr val="222222"/>
                </a:solidFill>
                <a:effectLst/>
                <a:latin typeface="Arial" panose="020B0604020202020204" pitchFamily="34" charset="0"/>
              </a:rPr>
              <a:t>, arXiv-2201.</a:t>
            </a:r>
            <a:endParaRPr lang="ko-KR" altLang="en-US" dirty="0"/>
          </a:p>
        </p:txBody>
      </p:sp>
    </p:spTree>
    <p:extLst>
      <p:ext uri="{BB962C8B-B14F-4D97-AF65-F5344CB8AC3E}">
        <p14:creationId xmlns:p14="http://schemas.microsoft.com/office/powerpoint/2010/main" val="125087284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FD7F154-88B1-19F7-74A6-85897469F026}"/>
              </a:ext>
            </a:extLst>
          </p:cNvPr>
          <p:cNvSpPr>
            <a:spLocks noGrp="1"/>
          </p:cNvSpPr>
          <p:nvPr>
            <p:ph type="title"/>
          </p:nvPr>
        </p:nvSpPr>
        <p:spPr/>
        <p:txBody>
          <a:bodyPr/>
          <a:lstStyle/>
          <a:p>
            <a:r>
              <a:rPr lang="en-US" altLang="ko-KR" dirty="0"/>
              <a:t>Related Works </a:t>
            </a:r>
            <a:endParaRPr lang="ko-KR" altLang="en-US" dirty="0"/>
          </a:p>
        </p:txBody>
      </p:sp>
      <p:sp>
        <p:nvSpPr>
          <p:cNvPr id="3" name="내용 개체 틀 2">
            <a:extLst>
              <a:ext uri="{FF2B5EF4-FFF2-40B4-BE49-F238E27FC236}">
                <a16:creationId xmlns:a16="http://schemas.microsoft.com/office/drawing/2014/main" id="{4458C3A4-15B6-AA4D-755D-59891B3CDAC2}"/>
              </a:ext>
            </a:extLst>
          </p:cNvPr>
          <p:cNvSpPr>
            <a:spLocks noGrp="1"/>
          </p:cNvSpPr>
          <p:nvPr>
            <p:ph idx="1"/>
          </p:nvPr>
        </p:nvSpPr>
        <p:spPr/>
        <p:txBody>
          <a:bodyPr/>
          <a:lstStyle/>
          <a:p>
            <a:r>
              <a:rPr lang="en-US" altLang="ko-KR" dirty="0"/>
              <a:t>Multi-Modal Learning</a:t>
            </a:r>
          </a:p>
          <a:p>
            <a:pPr lvl="1"/>
            <a:r>
              <a:rPr lang="en-US" altLang="ko-KR" dirty="0" err="1"/>
              <a:t>AudioCLIP</a:t>
            </a:r>
            <a:endParaRPr lang="ko-KR" altLang="en-US" dirty="0"/>
          </a:p>
        </p:txBody>
      </p:sp>
      <p:sp>
        <p:nvSpPr>
          <p:cNvPr id="4" name="슬라이드 번호 개체 틀 3">
            <a:extLst>
              <a:ext uri="{FF2B5EF4-FFF2-40B4-BE49-F238E27FC236}">
                <a16:creationId xmlns:a16="http://schemas.microsoft.com/office/drawing/2014/main" id="{E4C52DFF-6066-5BDD-1B14-1FC9D45A3010}"/>
              </a:ext>
            </a:extLst>
          </p:cNvPr>
          <p:cNvSpPr>
            <a:spLocks noGrp="1"/>
          </p:cNvSpPr>
          <p:nvPr>
            <p:ph type="sldNum" sz="quarter" idx="10"/>
          </p:nvPr>
        </p:nvSpPr>
        <p:spPr/>
        <p:txBody>
          <a:bodyPr/>
          <a:lstStyle/>
          <a:p>
            <a:pPr>
              <a:defRPr/>
            </a:pPr>
            <a:fld id="{7092A07C-4710-46A3-9C28-806B597ACB99}" type="slidenum">
              <a:rPr lang="ko-KR" altLang="en-US" smtClean="0"/>
              <a:pPr>
                <a:defRPr/>
              </a:pPr>
              <a:t>6</a:t>
            </a:fld>
            <a:endParaRPr lang="ko-KR" altLang="en-US" dirty="0"/>
          </a:p>
        </p:txBody>
      </p:sp>
      <p:sp>
        <p:nvSpPr>
          <p:cNvPr id="6" name="TextBox 5">
            <a:extLst>
              <a:ext uri="{FF2B5EF4-FFF2-40B4-BE49-F238E27FC236}">
                <a16:creationId xmlns:a16="http://schemas.microsoft.com/office/drawing/2014/main" id="{814F13B2-D704-0EC9-9202-2146AED01195}"/>
              </a:ext>
            </a:extLst>
          </p:cNvPr>
          <p:cNvSpPr txBox="1"/>
          <p:nvPr/>
        </p:nvSpPr>
        <p:spPr>
          <a:xfrm>
            <a:off x="3258772" y="6304105"/>
            <a:ext cx="5742384" cy="553998"/>
          </a:xfrm>
          <a:prstGeom prst="rect">
            <a:avLst/>
          </a:prstGeom>
          <a:noFill/>
        </p:spPr>
        <p:txBody>
          <a:bodyPr wrap="square">
            <a:spAutoFit/>
          </a:bodyPr>
          <a:lstStyle/>
          <a:p>
            <a:r>
              <a:rPr lang="en-US" altLang="ko-KR" sz="1000" b="0" i="0" dirty="0" err="1">
                <a:solidFill>
                  <a:srgbClr val="222222"/>
                </a:solidFill>
                <a:effectLst/>
                <a:latin typeface="Arial" panose="020B0604020202020204" pitchFamily="34" charset="0"/>
              </a:rPr>
              <a:t>Guzhov</a:t>
            </a:r>
            <a:r>
              <a:rPr lang="en-US" altLang="ko-KR" sz="1000" b="0" i="0" dirty="0">
                <a:solidFill>
                  <a:srgbClr val="222222"/>
                </a:solidFill>
                <a:effectLst/>
                <a:latin typeface="Arial" panose="020B0604020202020204" pitchFamily="34" charset="0"/>
              </a:rPr>
              <a:t>, A., </a:t>
            </a:r>
            <a:r>
              <a:rPr lang="en-US" altLang="ko-KR" sz="1000" b="0" i="0" dirty="0" err="1">
                <a:solidFill>
                  <a:srgbClr val="222222"/>
                </a:solidFill>
                <a:effectLst/>
                <a:latin typeface="Arial" panose="020B0604020202020204" pitchFamily="34" charset="0"/>
              </a:rPr>
              <a:t>Raue</a:t>
            </a:r>
            <a:r>
              <a:rPr lang="en-US" altLang="ko-KR" sz="1000" b="0" i="0" dirty="0">
                <a:solidFill>
                  <a:srgbClr val="222222"/>
                </a:solidFill>
                <a:effectLst/>
                <a:latin typeface="Arial" panose="020B0604020202020204" pitchFamily="34" charset="0"/>
              </a:rPr>
              <a:t>, F., </a:t>
            </a:r>
            <a:r>
              <a:rPr lang="en-US" altLang="ko-KR" sz="1000" b="0" i="0" dirty="0" err="1">
                <a:solidFill>
                  <a:srgbClr val="222222"/>
                </a:solidFill>
                <a:effectLst/>
                <a:latin typeface="Arial" panose="020B0604020202020204" pitchFamily="34" charset="0"/>
              </a:rPr>
              <a:t>Hees</a:t>
            </a:r>
            <a:r>
              <a:rPr lang="en-US" altLang="ko-KR" sz="1000" b="0" i="0" dirty="0">
                <a:solidFill>
                  <a:srgbClr val="222222"/>
                </a:solidFill>
                <a:effectLst/>
                <a:latin typeface="Arial" panose="020B0604020202020204" pitchFamily="34" charset="0"/>
              </a:rPr>
              <a:t>, J., &amp; </a:t>
            </a:r>
            <a:r>
              <a:rPr lang="en-US" altLang="ko-KR" sz="1000" b="0" i="0" dirty="0" err="1">
                <a:solidFill>
                  <a:srgbClr val="222222"/>
                </a:solidFill>
                <a:effectLst/>
                <a:latin typeface="Arial" panose="020B0604020202020204" pitchFamily="34" charset="0"/>
              </a:rPr>
              <a:t>Dengel</a:t>
            </a:r>
            <a:r>
              <a:rPr lang="en-US" altLang="ko-KR" sz="1000" b="0" i="0" dirty="0">
                <a:solidFill>
                  <a:srgbClr val="222222"/>
                </a:solidFill>
                <a:effectLst/>
                <a:latin typeface="Arial" panose="020B0604020202020204" pitchFamily="34" charset="0"/>
              </a:rPr>
              <a:t>, A. (2022, May). </a:t>
            </a:r>
            <a:r>
              <a:rPr lang="en-US" altLang="ko-KR" sz="1000" b="0" i="0" dirty="0" err="1">
                <a:solidFill>
                  <a:srgbClr val="222222"/>
                </a:solidFill>
                <a:effectLst/>
                <a:latin typeface="Arial" panose="020B0604020202020204" pitchFamily="34" charset="0"/>
              </a:rPr>
              <a:t>Audioclip</a:t>
            </a:r>
            <a:r>
              <a:rPr lang="en-US" altLang="ko-KR" sz="1000" b="0" i="0" dirty="0">
                <a:solidFill>
                  <a:srgbClr val="222222"/>
                </a:solidFill>
                <a:effectLst/>
                <a:latin typeface="Arial" panose="020B0604020202020204" pitchFamily="34" charset="0"/>
              </a:rPr>
              <a:t>: Extending clip to image, text and audio. In </a:t>
            </a:r>
            <a:r>
              <a:rPr lang="en-US" altLang="ko-KR" sz="1000" b="0" i="1" dirty="0">
                <a:solidFill>
                  <a:srgbClr val="222222"/>
                </a:solidFill>
                <a:effectLst/>
                <a:latin typeface="Arial" panose="020B0604020202020204" pitchFamily="34" charset="0"/>
              </a:rPr>
              <a:t>ICASSP 2022-2022 IEEE International Conference on Acoustics, Speech and Signal Processing (ICASSP)</a:t>
            </a:r>
            <a:r>
              <a:rPr lang="en-US" altLang="ko-KR" sz="1000" b="0" i="0" dirty="0">
                <a:solidFill>
                  <a:srgbClr val="222222"/>
                </a:solidFill>
                <a:effectLst/>
                <a:latin typeface="Arial" panose="020B0604020202020204" pitchFamily="34" charset="0"/>
              </a:rPr>
              <a:t> (pp. 976-980). IEEE.</a:t>
            </a:r>
            <a:endParaRPr lang="ko-KR" altLang="en-US" sz="1000" dirty="0"/>
          </a:p>
        </p:txBody>
      </p:sp>
      <p:pic>
        <p:nvPicPr>
          <p:cNvPr id="8" name="그림 7">
            <a:extLst>
              <a:ext uri="{FF2B5EF4-FFF2-40B4-BE49-F238E27FC236}">
                <a16:creationId xmlns:a16="http://schemas.microsoft.com/office/drawing/2014/main" id="{2B56C707-10BD-7693-1C45-909BC2C8BE13}"/>
              </a:ext>
            </a:extLst>
          </p:cNvPr>
          <p:cNvPicPr>
            <a:picLocks noChangeAspect="1"/>
          </p:cNvPicPr>
          <p:nvPr/>
        </p:nvPicPr>
        <p:blipFill>
          <a:blip r:embed="rId2"/>
          <a:stretch>
            <a:fillRect/>
          </a:stretch>
        </p:blipFill>
        <p:spPr>
          <a:xfrm>
            <a:off x="755576" y="2024844"/>
            <a:ext cx="7416316" cy="3981738"/>
          </a:xfrm>
          <a:prstGeom prst="rect">
            <a:avLst/>
          </a:prstGeom>
        </p:spPr>
      </p:pic>
    </p:spTree>
    <p:extLst>
      <p:ext uri="{BB962C8B-B14F-4D97-AF65-F5344CB8AC3E}">
        <p14:creationId xmlns:p14="http://schemas.microsoft.com/office/powerpoint/2010/main" val="12487859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64FBCA-5D2F-8436-CB44-79E72D21E2D3}"/>
              </a:ext>
            </a:extLst>
          </p:cNvPr>
          <p:cNvSpPr>
            <a:spLocks noGrp="1"/>
          </p:cNvSpPr>
          <p:nvPr>
            <p:ph type="title"/>
          </p:nvPr>
        </p:nvSpPr>
        <p:spPr/>
        <p:txBody>
          <a:bodyPr/>
          <a:lstStyle/>
          <a:p>
            <a:r>
              <a:rPr lang="en-US" altLang="ko-KR" dirty="0"/>
              <a:t>Limitations of Previous Works</a:t>
            </a:r>
            <a:endParaRPr lang="ko-KR" altLang="en-US" dirty="0"/>
          </a:p>
        </p:txBody>
      </p:sp>
      <p:sp>
        <p:nvSpPr>
          <p:cNvPr id="3" name="내용 개체 틀 2">
            <a:extLst>
              <a:ext uri="{FF2B5EF4-FFF2-40B4-BE49-F238E27FC236}">
                <a16:creationId xmlns:a16="http://schemas.microsoft.com/office/drawing/2014/main" id="{66422D33-26E0-E5DF-39FA-66CD3E7A0552}"/>
              </a:ext>
            </a:extLst>
          </p:cNvPr>
          <p:cNvSpPr>
            <a:spLocks noGrp="1"/>
          </p:cNvSpPr>
          <p:nvPr>
            <p:ph idx="1"/>
          </p:nvPr>
        </p:nvSpPr>
        <p:spPr/>
        <p:txBody>
          <a:bodyPr/>
          <a:lstStyle/>
          <a:p>
            <a:r>
              <a:rPr lang="en-US" altLang="ko-KR" dirty="0"/>
              <a:t>Recently, many methods learn image features aligned with text, audio etc. These methods use a single pair of modalities or, at best, a few visual modalities. </a:t>
            </a:r>
            <a:r>
              <a:rPr lang="en-US" altLang="ko-KR" b="1" u="sng" dirty="0"/>
              <a:t>However, the final embeddings are limited to the pairs of modalities used for training.</a:t>
            </a:r>
            <a:r>
              <a:rPr lang="en-US" altLang="ko-KR" dirty="0"/>
              <a:t> Thus, video-audio embeddings cannot directly be used for image-text tasks and vice versa. A major obstacle in learning a true joint embedding is the absence of large quantities of multimodal data where all modalities are present together.</a:t>
            </a:r>
            <a:endParaRPr lang="ko-KR" altLang="en-US" dirty="0"/>
          </a:p>
        </p:txBody>
      </p:sp>
      <p:sp>
        <p:nvSpPr>
          <p:cNvPr id="4" name="슬라이드 번호 개체 틀 3">
            <a:extLst>
              <a:ext uri="{FF2B5EF4-FFF2-40B4-BE49-F238E27FC236}">
                <a16:creationId xmlns:a16="http://schemas.microsoft.com/office/drawing/2014/main" id="{8DE28F7E-70EA-DBA7-E51B-F8F72842E0D7}"/>
              </a:ext>
            </a:extLst>
          </p:cNvPr>
          <p:cNvSpPr>
            <a:spLocks noGrp="1"/>
          </p:cNvSpPr>
          <p:nvPr>
            <p:ph type="sldNum" sz="quarter" idx="10"/>
          </p:nvPr>
        </p:nvSpPr>
        <p:spPr/>
        <p:txBody>
          <a:bodyPr/>
          <a:lstStyle/>
          <a:p>
            <a:pPr>
              <a:defRPr/>
            </a:pPr>
            <a:fld id="{7092A07C-4710-46A3-9C28-806B597ACB99}" type="slidenum">
              <a:rPr lang="ko-KR" altLang="en-US" smtClean="0"/>
              <a:pPr>
                <a:defRPr/>
              </a:pPr>
              <a:t>7</a:t>
            </a:fld>
            <a:endParaRPr lang="ko-KR" altLang="en-US" dirty="0"/>
          </a:p>
        </p:txBody>
      </p:sp>
    </p:spTree>
    <p:extLst>
      <p:ext uri="{BB962C8B-B14F-4D97-AF65-F5344CB8AC3E}">
        <p14:creationId xmlns:p14="http://schemas.microsoft.com/office/powerpoint/2010/main" val="18518012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647A5C-9F95-BE8B-64E3-FE6B1AA9178D}"/>
              </a:ext>
            </a:extLst>
          </p:cNvPr>
          <p:cNvSpPr>
            <a:spLocks noGrp="1"/>
          </p:cNvSpPr>
          <p:nvPr>
            <p:ph type="title"/>
          </p:nvPr>
        </p:nvSpPr>
        <p:spPr/>
        <p:txBody>
          <a:bodyPr/>
          <a:lstStyle/>
          <a:p>
            <a:r>
              <a:rPr lang="en-US" altLang="ko-KR" dirty="0"/>
              <a:t>Contribution of this paper</a:t>
            </a:r>
            <a:endParaRPr lang="ko-KR" altLang="en-US" dirty="0"/>
          </a:p>
        </p:txBody>
      </p:sp>
      <p:sp>
        <p:nvSpPr>
          <p:cNvPr id="3" name="내용 개체 틀 2">
            <a:extLst>
              <a:ext uri="{FF2B5EF4-FFF2-40B4-BE49-F238E27FC236}">
                <a16:creationId xmlns:a16="http://schemas.microsoft.com/office/drawing/2014/main" id="{7F905F83-9C3D-E2F1-60C0-8EC8D3D96A19}"/>
              </a:ext>
            </a:extLst>
          </p:cNvPr>
          <p:cNvSpPr>
            <a:spLocks noGrp="1"/>
          </p:cNvSpPr>
          <p:nvPr>
            <p:ph idx="1"/>
          </p:nvPr>
        </p:nvSpPr>
        <p:spPr/>
        <p:txBody>
          <a:bodyPr/>
          <a:lstStyle/>
          <a:p>
            <a:r>
              <a:rPr lang="en-US" altLang="ko-KR" b="1" u="sng" dirty="0"/>
              <a:t>We use large-scale image-text paired data along with naturally paired ‘self-supervised’ data across four new modalities - audio, depth, thermal, and Inertial Measurement Unit (IMU) readings – and show strong emergent zero-shot classification and retrieval performance on tasks for each of these modalities.</a:t>
            </a:r>
            <a:r>
              <a:rPr lang="en-US" altLang="ko-KR" dirty="0"/>
              <a:t> These emergent properties improve as the underlying image representation is made stronger. On audio classification and retrieval benchmarks, IMAGEBIND’s emergent zero-shot classification matches or outperforms specialist models trained with direct audio-text supervision on benchmarks like ESC, Clotho, </a:t>
            </a:r>
            <a:r>
              <a:rPr lang="en-US" altLang="ko-KR" dirty="0" err="1"/>
              <a:t>AudioCaps</a:t>
            </a:r>
            <a:r>
              <a:rPr lang="en-US" altLang="ko-KR" dirty="0"/>
              <a:t>. IMAGEBIND representations also outperform specialist supervised models on few-shot evaluation benchmarks. Finally, we show that IMAGEBIND’s joint embeddings can be used for a wide variety of compositional tasks as illustrated in Figure 1, including cross-modal retrieval, combining embeddings via arithmetic, detecting audio sources in images, and generating images given audio input.</a:t>
            </a:r>
            <a:endParaRPr lang="ko-KR" altLang="en-US" dirty="0"/>
          </a:p>
        </p:txBody>
      </p:sp>
      <p:sp>
        <p:nvSpPr>
          <p:cNvPr id="4" name="슬라이드 번호 개체 틀 3">
            <a:extLst>
              <a:ext uri="{FF2B5EF4-FFF2-40B4-BE49-F238E27FC236}">
                <a16:creationId xmlns:a16="http://schemas.microsoft.com/office/drawing/2014/main" id="{B18D89F9-1F6B-8C09-9FD2-E5D6B6093A2A}"/>
              </a:ext>
            </a:extLst>
          </p:cNvPr>
          <p:cNvSpPr>
            <a:spLocks noGrp="1"/>
          </p:cNvSpPr>
          <p:nvPr>
            <p:ph type="sldNum" sz="quarter" idx="10"/>
          </p:nvPr>
        </p:nvSpPr>
        <p:spPr/>
        <p:txBody>
          <a:bodyPr/>
          <a:lstStyle/>
          <a:p>
            <a:pPr>
              <a:defRPr/>
            </a:pPr>
            <a:fld id="{7092A07C-4710-46A3-9C28-806B597ACB99}" type="slidenum">
              <a:rPr lang="ko-KR" altLang="en-US" smtClean="0"/>
              <a:pPr>
                <a:defRPr/>
              </a:pPr>
              <a:t>8</a:t>
            </a:fld>
            <a:endParaRPr lang="ko-KR" altLang="en-US" dirty="0"/>
          </a:p>
        </p:txBody>
      </p:sp>
    </p:spTree>
    <p:extLst>
      <p:ext uri="{BB962C8B-B14F-4D97-AF65-F5344CB8AC3E}">
        <p14:creationId xmlns:p14="http://schemas.microsoft.com/office/powerpoint/2010/main" val="40653202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A6EB5E-CD67-232A-1981-D594C1EDFD8C}"/>
              </a:ext>
            </a:extLst>
          </p:cNvPr>
          <p:cNvSpPr>
            <a:spLocks noGrp="1"/>
          </p:cNvSpPr>
          <p:nvPr>
            <p:ph type="title"/>
          </p:nvPr>
        </p:nvSpPr>
        <p:spPr/>
        <p:txBody>
          <a:bodyPr/>
          <a:lstStyle/>
          <a:p>
            <a:r>
              <a:rPr lang="en-US" altLang="ko-KR" dirty="0"/>
              <a:t>Q&amp;A </a:t>
            </a:r>
            <a:endParaRPr lang="ko-KR" altLang="en-US" dirty="0"/>
          </a:p>
        </p:txBody>
      </p:sp>
      <p:sp>
        <p:nvSpPr>
          <p:cNvPr id="3" name="내용 개체 틀 2">
            <a:extLst>
              <a:ext uri="{FF2B5EF4-FFF2-40B4-BE49-F238E27FC236}">
                <a16:creationId xmlns:a16="http://schemas.microsoft.com/office/drawing/2014/main" id="{63A772B5-1EC8-A4D3-A0CC-4C505CA07467}"/>
              </a:ext>
            </a:extLst>
          </p:cNvPr>
          <p:cNvSpPr>
            <a:spLocks noGrp="1"/>
          </p:cNvSpPr>
          <p:nvPr>
            <p:ph idx="1"/>
          </p:nvPr>
        </p:nvSpPr>
        <p:spPr/>
        <p:txBody>
          <a:bodyPr/>
          <a:lstStyle/>
          <a:p>
            <a:pPr marL="0" indent="0" algn="ctr">
              <a:buNone/>
            </a:pPr>
            <a:endParaRPr lang="en-US" altLang="ko-KR" sz="11500" dirty="0"/>
          </a:p>
          <a:p>
            <a:pPr marL="0" indent="0" algn="ctr">
              <a:buNone/>
            </a:pPr>
            <a:r>
              <a:rPr lang="en-US" altLang="ko-KR" sz="8800" dirty="0"/>
              <a:t>Q &amp; A </a:t>
            </a:r>
            <a:endParaRPr lang="ko-KR" altLang="en-US" sz="8800" dirty="0"/>
          </a:p>
        </p:txBody>
      </p:sp>
      <p:sp>
        <p:nvSpPr>
          <p:cNvPr id="4" name="슬라이드 번호 개체 틀 3">
            <a:extLst>
              <a:ext uri="{FF2B5EF4-FFF2-40B4-BE49-F238E27FC236}">
                <a16:creationId xmlns:a16="http://schemas.microsoft.com/office/drawing/2014/main" id="{23DDC8B4-F6E5-B5EF-2BD6-CE4B053DC9BF}"/>
              </a:ext>
            </a:extLst>
          </p:cNvPr>
          <p:cNvSpPr>
            <a:spLocks noGrp="1"/>
          </p:cNvSpPr>
          <p:nvPr>
            <p:ph type="sldNum" sz="quarter" idx="10"/>
          </p:nvPr>
        </p:nvSpPr>
        <p:spPr/>
        <p:txBody>
          <a:bodyPr/>
          <a:lstStyle/>
          <a:p>
            <a:pPr>
              <a:defRPr/>
            </a:pPr>
            <a:fld id="{7092A07C-4710-46A3-9C28-806B597ACB99}" type="slidenum">
              <a:rPr lang="ko-KR" altLang="en-US" smtClean="0"/>
              <a:pPr>
                <a:defRPr/>
              </a:pPr>
              <a:t>9</a:t>
            </a:fld>
            <a:endParaRPr lang="ko-KR" altLang="en-US" dirty="0"/>
          </a:p>
        </p:txBody>
      </p:sp>
    </p:spTree>
    <p:extLst>
      <p:ext uri="{BB962C8B-B14F-4D97-AF65-F5344CB8AC3E}">
        <p14:creationId xmlns:p14="http://schemas.microsoft.com/office/powerpoint/2010/main" val="124856635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BC0C52C5-9D82-B4E8-2E65-0E95B68C071B}"/>
              </a:ext>
            </a:extLst>
          </p:cNvPr>
          <p:cNvSpPr>
            <a:spLocks noGrp="1"/>
          </p:cNvSpPr>
          <p:nvPr>
            <p:ph type="title"/>
          </p:nvPr>
        </p:nvSpPr>
        <p:spPr/>
        <p:txBody>
          <a:bodyPr/>
          <a:lstStyle/>
          <a:p>
            <a:r>
              <a:rPr lang="en-US" altLang="ko-KR" dirty="0"/>
              <a:t>Method</a:t>
            </a:r>
            <a:endParaRPr lang="ko-KR" altLang="en-US" dirty="0"/>
          </a:p>
        </p:txBody>
      </p:sp>
      <p:sp>
        <p:nvSpPr>
          <p:cNvPr id="3" name="슬라이드 번호 개체 틀 2">
            <a:extLst>
              <a:ext uri="{FF2B5EF4-FFF2-40B4-BE49-F238E27FC236}">
                <a16:creationId xmlns:a16="http://schemas.microsoft.com/office/drawing/2014/main" id="{0EBF9DA9-86F8-4A2B-6E74-CE1AA246003C}"/>
              </a:ext>
            </a:extLst>
          </p:cNvPr>
          <p:cNvSpPr>
            <a:spLocks noGrp="1"/>
          </p:cNvSpPr>
          <p:nvPr>
            <p:ph type="sldNum" sz="quarter" idx="10"/>
          </p:nvPr>
        </p:nvSpPr>
        <p:spPr/>
        <p:txBody>
          <a:bodyPr/>
          <a:lstStyle/>
          <a:p>
            <a:pPr>
              <a:defRPr/>
            </a:pPr>
            <a:fld id="{7092A07C-4710-46A3-9C28-806B597ACB99}" type="slidenum">
              <a:rPr lang="ko-KR" altLang="en-US" smtClean="0"/>
              <a:pPr>
                <a:defRPr/>
              </a:pPr>
              <a:t>10</a:t>
            </a:fld>
            <a:endParaRPr lang="ko-KR" altLang="en-US" dirty="0"/>
          </a:p>
        </p:txBody>
      </p:sp>
      <p:pic>
        <p:nvPicPr>
          <p:cNvPr id="7" name="그림 6">
            <a:extLst>
              <a:ext uri="{FF2B5EF4-FFF2-40B4-BE49-F238E27FC236}">
                <a16:creationId xmlns:a16="http://schemas.microsoft.com/office/drawing/2014/main" id="{CE476645-9489-05B2-7F00-7863EDFF3BF8}"/>
              </a:ext>
            </a:extLst>
          </p:cNvPr>
          <p:cNvPicPr>
            <a:picLocks noChangeAspect="1"/>
          </p:cNvPicPr>
          <p:nvPr/>
        </p:nvPicPr>
        <p:blipFill>
          <a:blip r:embed="rId2"/>
          <a:stretch>
            <a:fillRect/>
          </a:stretch>
        </p:blipFill>
        <p:spPr>
          <a:xfrm>
            <a:off x="214282" y="2209594"/>
            <a:ext cx="8775791" cy="2674913"/>
          </a:xfrm>
          <a:prstGeom prst="rect">
            <a:avLst/>
          </a:prstGeom>
        </p:spPr>
      </p:pic>
    </p:spTree>
    <p:extLst>
      <p:ext uri="{BB962C8B-B14F-4D97-AF65-F5344CB8AC3E}">
        <p14:creationId xmlns:p14="http://schemas.microsoft.com/office/powerpoint/2010/main" val="12970306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99A065-7FE9-FFE0-84A4-5B96B36544BA}"/>
              </a:ext>
            </a:extLst>
          </p:cNvPr>
          <p:cNvSpPr>
            <a:spLocks noGrp="1"/>
          </p:cNvSpPr>
          <p:nvPr>
            <p:ph type="title"/>
          </p:nvPr>
        </p:nvSpPr>
        <p:spPr/>
        <p:txBody>
          <a:bodyPr/>
          <a:lstStyle/>
          <a:p>
            <a:r>
              <a:rPr lang="en-US" altLang="ko-KR" dirty="0"/>
              <a:t>Binding Modalities with Images</a:t>
            </a:r>
            <a:endParaRPr lang="ko-KR" altLang="en-US" dirty="0"/>
          </a:p>
        </p:txBody>
      </p:sp>
      <p:sp>
        <p:nvSpPr>
          <p:cNvPr id="4" name="슬라이드 번호 개체 틀 3">
            <a:extLst>
              <a:ext uri="{FF2B5EF4-FFF2-40B4-BE49-F238E27FC236}">
                <a16:creationId xmlns:a16="http://schemas.microsoft.com/office/drawing/2014/main" id="{B6458B73-0915-E3ED-ED5D-90AF8DC13843}"/>
              </a:ext>
            </a:extLst>
          </p:cNvPr>
          <p:cNvSpPr>
            <a:spLocks noGrp="1"/>
          </p:cNvSpPr>
          <p:nvPr>
            <p:ph type="sldNum" sz="quarter" idx="10"/>
          </p:nvPr>
        </p:nvSpPr>
        <p:spPr/>
        <p:txBody>
          <a:bodyPr/>
          <a:lstStyle/>
          <a:p>
            <a:pPr>
              <a:defRPr/>
            </a:pPr>
            <a:fld id="{7092A07C-4710-46A3-9C28-806B597ACB99}" type="slidenum">
              <a:rPr lang="ko-KR" altLang="en-US" smtClean="0"/>
              <a:pPr>
                <a:defRPr/>
              </a:pPr>
              <a:t>11</a:t>
            </a:fld>
            <a:endParaRPr lang="ko-KR" altLang="en-US" dirty="0"/>
          </a:p>
        </p:txBody>
      </p:sp>
      <p:grpSp>
        <p:nvGrpSpPr>
          <p:cNvPr id="9" name="그룹 8">
            <a:extLst>
              <a:ext uri="{FF2B5EF4-FFF2-40B4-BE49-F238E27FC236}">
                <a16:creationId xmlns:a16="http://schemas.microsoft.com/office/drawing/2014/main" id="{E479198C-6336-5B98-675B-414C99F0D60B}"/>
              </a:ext>
            </a:extLst>
          </p:cNvPr>
          <p:cNvGrpSpPr/>
          <p:nvPr/>
        </p:nvGrpSpPr>
        <p:grpSpPr>
          <a:xfrm>
            <a:off x="935595" y="1287277"/>
            <a:ext cx="6782748" cy="5382083"/>
            <a:chOff x="935595" y="1121426"/>
            <a:chExt cx="6782748" cy="5382083"/>
          </a:xfrm>
        </p:grpSpPr>
        <p:pic>
          <p:nvPicPr>
            <p:cNvPr id="6" name="그림 5">
              <a:extLst>
                <a:ext uri="{FF2B5EF4-FFF2-40B4-BE49-F238E27FC236}">
                  <a16:creationId xmlns:a16="http://schemas.microsoft.com/office/drawing/2014/main" id="{D6DC896C-C6EA-734C-87B1-FCDD42501ADE}"/>
                </a:ext>
              </a:extLst>
            </p:cNvPr>
            <p:cNvPicPr>
              <a:picLocks noChangeAspect="1"/>
            </p:cNvPicPr>
            <p:nvPr/>
          </p:nvPicPr>
          <p:blipFill>
            <a:blip r:embed="rId2"/>
            <a:stretch>
              <a:fillRect/>
            </a:stretch>
          </p:blipFill>
          <p:spPr>
            <a:xfrm>
              <a:off x="935595" y="1121426"/>
              <a:ext cx="6782747" cy="1700409"/>
            </a:xfrm>
            <a:prstGeom prst="rect">
              <a:avLst/>
            </a:prstGeom>
          </p:spPr>
        </p:pic>
        <p:pic>
          <p:nvPicPr>
            <p:cNvPr id="8" name="그림 7">
              <a:extLst>
                <a:ext uri="{FF2B5EF4-FFF2-40B4-BE49-F238E27FC236}">
                  <a16:creationId xmlns:a16="http://schemas.microsoft.com/office/drawing/2014/main" id="{12EE8DCC-9631-9042-ECB7-B2CD1C56F6A2}"/>
                </a:ext>
              </a:extLst>
            </p:cNvPr>
            <p:cNvPicPr>
              <a:picLocks noChangeAspect="1"/>
            </p:cNvPicPr>
            <p:nvPr/>
          </p:nvPicPr>
          <p:blipFill>
            <a:blip r:embed="rId3"/>
            <a:stretch>
              <a:fillRect/>
            </a:stretch>
          </p:blipFill>
          <p:spPr>
            <a:xfrm>
              <a:off x="935596" y="2750135"/>
              <a:ext cx="6782747" cy="3753374"/>
            </a:xfrm>
            <a:prstGeom prst="rect">
              <a:avLst/>
            </a:prstGeom>
          </p:spPr>
        </p:pic>
      </p:grpSp>
    </p:spTree>
    <p:extLst>
      <p:ext uri="{BB962C8B-B14F-4D97-AF65-F5344CB8AC3E}">
        <p14:creationId xmlns:p14="http://schemas.microsoft.com/office/powerpoint/2010/main" val="355507244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46598B5-02CD-F780-803E-79E1BBBDCDDC}"/>
              </a:ext>
            </a:extLst>
          </p:cNvPr>
          <p:cNvSpPr>
            <a:spLocks noGrp="1"/>
          </p:cNvSpPr>
          <p:nvPr>
            <p:ph type="title"/>
          </p:nvPr>
        </p:nvSpPr>
        <p:spPr/>
        <p:txBody>
          <a:bodyPr>
            <a:normAutofit/>
          </a:bodyPr>
          <a:lstStyle/>
          <a:p>
            <a:r>
              <a:rPr lang="en-US" altLang="ko-KR" dirty="0"/>
              <a:t>Binding Modalities with Images</a:t>
            </a:r>
            <a:endParaRPr lang="ko-KR" altLang="en-US" dirty="0"/>
          </a:p>
        </p:txBody>
      </p:sp>
      <p:sp>
        <p:nvSpPr>
          <p:cNvPr id="4" name="슬라이드 번호 개체 틀 3">
            <a:extLst>
              <a:ext uri="{FF2B5EF4-FFF2-40B4-BE49-F238E27FC236}">
                <a16:creationId xmlns:a16="http://schemas.microsoft.com/office/drawing/2014/main" id="{C79D42AB-7EE4-E6E9-0274-9B44E077F4F5}"/>
              </a:ext>
            </a:extLst>
          </p:cNvPr>
          <p:cNvSpPr>
            <a:spLocks noGrp="1"/>
          </p:cNvSpPr>
          <p:nvPr>
            <p:ph type="sldNum" sz="quarter" idx="10"/>
          </p:nvPr>
        </p:nvSpPr>
        <p:spPr/>
        <p:txBody>
          <a:bodyPr/>
          <a:lstStyle/>
          <a:p>
            <a:pPr>
              <a:defRPr/>
            </a:pPr>
            <a:fld id="{7092A07C-4710-46A3-9C28-806B597ACB99}" type="slidenum">
              <a:rPr lang="ko-KR" altLang="en-US" smtClean="0"/>
              <a:pPr>
                <a:defRPr/>
              </a:pPr>
              <a:t>12</a:t>
            </a:fld>
            <a:endParaRPr lang="ko-KR" altLang="en-US" dirty="0"/>
          </a:p>
        </p:txBody>
      </p:sp>
      <p:pic>
        <p:nvPicPr>
          <p:cNvPr id="6" name="그림 5">
            <a:extLst>
              <a:ext uri="{FF2B5EF4-FFF2-40B4-BE49-F238E27FC236}">
                <a16:creationId xmlns:a16="http://schemas.microsoft.com/office/drawing/2014/main" id="{9CB4E02D-3C06-DADE-813B-1AB9B3E30798}"/>
              </a:ext>
            </a:extLst>
          </p:cNvPr>
          <p:cNvPicPr>
            <a:picLocks noChangeAspect="1"/>
          </p:cNvPicPr>
          <p:nvPr/>
        </p:nvPicPr>
        <p:blipFill>
          <a:blip r:embed="rId2"/>
          <a:stretch>
            <a:fillRect/>
          </a:stretch>
        </p:blipFill>
        <p:spPr>
          <a:xfrm>
            <a:off x="683568" y="1772816"/>
            <a:ext cx="7595225" cy="4202061"/>
          </a:xfrm>
          <a:prstGeom prst="rect">
            <a:avLst/>
          </a:prstGeom>
        </p:spPr>
      </p:pic>
    </p:spTree>
    <p:extLst>
      <p:ext uri="{BB962C8B-B14F-4D97-AF65-F5344CB8AC3E}">
        <p14:creationId xmlns:p14="http://schemas.microsoft.com/office/powerpoint/2010/main" val="354884403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548591-4757-1222-D7A9-4C67523714FF}"/>
              </a:ext>
            </a:extLst>
          </p:cNvPr>
          <p:cNvSpPr>
            <a:spLocks noGrp="1"/>
          </p:cNvSpPr>
          <p:nvPr>
            <p:ph type="title"/>
          </p:nvPr>
        </p:nvSpPr>
        <p:spPr/>
        <p:txBody>
          <a:bodyPr/>
          <a:lstStyle/>
          <a:p>
            <a:r>
              <a:rPr lang="en-US" altLang="ko-KR" dirty="0"/>
              <a:t>Implementation Details</a:t>
            </a:r>
            <a:endParaRPr lang="ko-KR" altLang="en-US" dirty="0"/>
          </a:p>
        </p:txBody>
      </p:sp>
      <p:sp>
        <p:nvSpPr>
          <p:cNvPr id="3" name="내용 개체 틀 2">
            <a:extLst>
              <a:ext uri="{FF2B5EF4-FFF2-40B4-BE49-F238E27FC236}">
                <a16:creationId xmlns:a16="http://schemas.microsoft.com/office/drawing/2014/main" id="{AAD2A754-2A45-0E85-42CB-F76CC47689E6}"/>
              </a:ext>
            </a:extLst>
          </p:cNvPr>
          <p:cNvSpPr>
            <a:spLocks noGrp="1"/>
          </p:cNvSpPr>
          <p:nvPr>
            <p:ph idx="1"/>
          </p:nvPr>
        </p:nvSpPr>
        <p:spPr/>
        <p:txBody>
          <a:bodyPr/>
          <a:lstStyle/>
          <a:p>
            <a:r>
              <a:rPr lang="en-US" altLang="ko-KR" dirty="0"/>
              <a:t>We use a </a:t>
            </a:r>
            <a:r>
              <a:rPr lang="en-US" altLang="ko-KR" u="sng" dirty="0"/>
              <a:t>Transformer architecture for all the modality encoders</a:t>
            </a:r>
            <a:r>
              <a:rPr lang="en-US" altLang="ko-KR" dirty="0"/>
              <a:t>. We use </a:t>
            </a:r>
            <a:r>
              <a:rPr lang="en-US" altLang="ko-KR" b="1" dirty="0"/>
              <a:t>1) the Vision Transformer (</a:t>
            </a:r>
            <a:r>
              <a:rPr lang="en-US" altLang="ko-KR" b="1" dirty="0" err="1"/>
              <a:t>ViT</a:t>
            </a:r>
            <a:r>
              <a:rPr lang="en-US" altLang="ko-KR" b="1" dirty="0"/>
              <a:t>) for images</a:t>
            </a:r>
            <a:r>
              <a:rPr lang="en-US" altLang="ko-KR" dirty="0"/>
              <a:t>. Following, we use the </a:t>
            </a:r>
            <a:r>
              <a:rPr lang="en-US" altLang="ko-KR" b="1" dirty="0"/>
              <a:t>2) same encoder for images and videos</a:t>
            </a:r>
            <a:r>
              <a:rPr lang="en-US" altLang="ko-KR" dirty="0"/>
              <a:t>. </a:t>
            </a:r>
            <a:r>
              <a:rPr lang="en-US" altLang="ko-KR" u="sng" dirty="0"/>
              <a:t>We temporally inflate the patch projection layer of the </a:t>
            </a:r>
            <a:r>
              <a:rPr lang="en-US" altLang="ko-KR" u="sng" dirty="0" err="1"/>
              <a:t>ViT</a:t>
            </a:r>
            <a:r>
              <a:rPr lang="en-US" altLang="ko-KR" u="sng" dirty="0"/>
              <a:t> and use 2 frame video clips sampled from 2 seconds</a:t>
            </a:r>
            <a:r>
              <a:rPr lang="en-US" altLang="ko-KR" dirty="0"/>
              <a:t>. We follow for </a:t>
            </a:r>
            <a:r>
              <a:rPr lang="en-US" altLang="ko-KR" b="1" dirty="0"/>
              <a:t>3) encoding audio</a:t>
            </a:r>
            <a:r>
              <a:rPr lang="en-US" altLang="ko-KR" dirty="0"/>
              <a:t> and convert </a:t>
            </a:r>
            <a:r>
              <a:rPr lang="en-US" altLang="ko-KR" u="sng" dirty="0"/>
              <a:t>a 2 second audio sampled at 16kHz into spectrograms using 128 </a:t>
            </a:r>
            <a:r>
              <a:rPr lang="en-US" altLang="ko-KR" u="sng" dirty="0" err="1"/>
              <a:t>mel</a:t>
            </a:r>
            <a:r>
              <a:rPr lang="en-US" altLang="ko-KR" u="sng" dirty="0"/>
              <a:t>-spectrogram bins. As the spectrogram is also a 2D signal like an image, we use a </a:t>
            </a:r>
            <a:r>
              <a:rPr lang="en-US" altLang="ko-KR" u="sng" dirty="0" err="1"/>
              <a:t>ViT</a:t>
            </a:r>
            <a:r>
              <a:rPr lang="en-US" altLang="ko-KR" u="sng" dirty="0"/>
              <a:t> with a patch size of 16 and stride 10.</a:t>
            </a:r>
            <a:r>
              <a:rPr lang="en-US" altLang="ko-KR" dirty="0"/>
              <a:t> We treat </a:t>
            </a:r>
            <a:r>
              <a:rPr lang="en-US" altLang="ko-KR" b="1" dirty="0"/>
              <a:t>4) thermal images</a:t>
            </a:r>
            <a:r>
              <a:rPr lang="en-US" altLang="ko-KR" dirty="0"/>
              <a:t> and </a:t>
            </a:r>
            <a:r>
              <a:rPr lang="en-US" altLang="ko-KR" b="1" dirty="0"/>
              <a:t>5) depth images</a:t>
            </a:r>
            <a:r>
              <a:rPr lang="en-US" altLang="ko-KR" dirty="0"/>
              <a:t> as one-channel images and also use a </a:t>
            </a:r>
            <a:r>
              <a:rPr lang="en-US" altLang="ko-KR" dirty="0" err="1"/>
              <a:t>ViT</a:t>
            </a:r>
            <a:r>
              <a:rPr lang="en-US" altLang="ko-KR" dirty="0"/>
              <a:t> to encode them. We follow to convert depth into disparity maps for scale invariance. We extract the</a:t>
            </a:r>
            <a:r>
              <a:rPr lang="en-US" altLang="ko-KR" b="1" dirty="0"/>
              <a:t> 6) IMU signal</a:t>
            </a:r>
            <a:r>
              <a:rPr lang="en-US" altLang="ko-KR" dirty="0"/>
              <a:t> consisting of accelerometer and gyroscope measurements across the X, Y , and Z axes. We use </a:t>
            </a:r>
            <a:r>
              <a:rPr lang="en-US" altLang="ko-KR" u="sng" dirty="0"/>
              <a:t>5 second clips resulting in 2K time step IMU readings which are projected using a 1D convolution with a kernel size of 8</a:t>
            </a:r>
            <a:r>
              <a:rPr lang="en-US" altLang="ko-KR" dirty="0"/>
              <a:t>. The resulting sequence is encoded using a Transformer. Finally, we follow the </a:t>
            </a:r>
            <a:r>
              <a:rPr lang="en-US" altLang="ko-KR" b="1" dirty="0"/>
              <a:t>7) text encoder design from CLIP.</a:t>
            </a:r>
          </a:p>
          <a:p>
            <a:endParaRPr lang="ko-KR" altLang="en-US" dirty="0"/>
          </a:p>
        </p:txBody>
      </p:sp>
      <p:sp>
        <p:nvSpPr>
          <p:cNvPr id="4" name="슬라이드 번호 개체 틀 3">
            <a:extLst>
              <a:ext uri="{FF2B5EF4-FFF2-40B4-BE49-F238E27FC236}">
                <a16:creationId xmlns:a16="http://schemas.microsoft.com/office/drawing/2014/main" id="{1624D9C4-7285-3B6B-CBFD-D7F16A4B64C4}"/>
              </a:ext>
            </a:extLst>
          </p:cNvPr>
          <p:cNvSpPr>
            <a:spLocks noGrp="1"/>
          </p:cNvSpPr>
          <p:nvPr>
            <p:ph type="sldNum" sz="quarter" idx="10"/>
          </p:nvPr>
        </p:nvSpPr>
        <p:spPr/>
        <p:txBody>
          <a:bodyPr/>
          <a:lstStyle/>
          <a:p>
            <a:pPr>
              <a:defRPr/>
            </a:pPr>
            <a:fld id="{7092A07C-4710-46A3-9C28-806B597ACB99}" type="slidenum">
              <a:rPr lang="ko-KR" altLang="en-US" smtClean="0"/>
              <a:pPr>
                <a:defRPr/>
              </a:pPr>
              <a:t>13</a:t>
            </a:fld>
            <a:endParaRPr lang="ko-KR" altLang="en-US" dirty="0"/>
          </a:p>
        </p:txBody>
      </p:sp>
    </p:spTree>
    <p:extLst>
      <p:ext uri="{BB962C8B-B14F-4D97-AF65-F5344CB8AC3E}">
        <p14:creationId xmlns:p14="http://schemas.microsoft.com/office/powerpoint/2010/main" val="35904564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A6EB5E-CD67-232A-1981-D594C1EDFD8C}"/>
              </a:ext>
            </a:extLst>
          </p:cNvPr>
          <p:cNvSpPr>
            <a:spLocks noGrp="1"/>
          </p:cNvSpPr>
          <p:nvPr>
            <p:ph type="title"/>
          </p:nvPr>
        </p:nvSpPr>
        <p:spPr/>
        <p:txBody>
          <a:bodyPr/>
          <a:lstStyle/>
          <a:p>
            <a:r>
              <a:rPr lang="en-US" altLang="ko-KR" dirty="0"/>
              <a:t>Q&amp;A </a:t>
            </a:r>
            <a:endParaRPr lang="ko-KR" altLang="en-US" dirty="0"/>
          </a:p>
        </p:txBody>
      </p:sp>
      <p:sp>
        <p:nvSpPr>
          <p:cNvPr id="3" name="내용 개체 틀 2">
            <a:extLst>
              <a:ext uri="{FF2B5EF4-FFF2-40B4-BE49-F238E27FC236}">
                <a16:creationId xmlns:a16="http://schemas.microsoft.com/office/drawing/2014/main" id="{63A772B5-1EC8-A4D3-A0CC-4C505CA07467}"/>
              </a:ext>
            </a:extLst>
          </p:cNvPr>
          <p:cNvSpPr>
            <a:spLocks noGrp="1"/>
          </p:cNvSpPr>
          <p:nvPr>
            <p:ph idx="1"/>
          </p:nvPr>
        </p:nvSpPr>
        <p:spPr/>
        <p:txBody>
          <a:bodyPr/>
          <a:lstStyle/>
          <a:p>
            <a:pPr marL="0" indent="0" algn="ctr">
              <a:buNone/>
            </a:pPr>
            <a:endParaRPr lang="en-US" altLang="ko-KR" sz="11500" dirty="0"/>
          </a:p>
          <a:p>
            <a:pPr marL="0" indent="0" algn="ctr">
              <a:buNone/>
            </a:pPr>
            <a:r>
              <a:rPr lang="en-US" altLang="ko-KR" sz="8800" dirty="0"/>
              <a:t>Q &amp; A </a:t>
            </a:r>
            <a:endParaRPr lang="ko-KR" altLang="en-US" sz="8800" dirty="0"/>
          </a:p>
        </p:txBody>
      </p:sp>
      <p:sp>
        <p:nvSpPr>
          <p:cNvPr id="4" name="슬라이드 번호 개체 틀 3">
            <a:extLst>
              <a:ext uri="{FF2B5EF4-FFF2-40B4-BE49-F238E27FC236}">
                <a16:creationId xmlns:a16="http://schemas.microsoft.com/office/drawing/2014/main" id="{23DDC8B4-F6E5-B5EF-2BD6-CE4B053DC9BF}"/>
              </a:ext>
            </a:extLst>
          </p:cNvPr>
          <p:cNvSpPr>
            <a:spLocks noGrp="1"/>
          </p:cNvSpPr>
          <p:nvPr>
            <p:ph type="sldNum" sz="quarter" idx="10"/>
          </p:nvPr>
        </p:nvSpPr>
        <p:spPr/>
        <p:txBody>
          <a:bodyPr/>
          <a:lstStyle/>
          <a:p>
            <a:pPr>
              <a:defRPr/>
            </a:pPr>
            <a:fld id="{7092A07C-4710-46A3-9C28-806B597ACB99}" type="slidenum">
              <a:rPr lang="ko-KR" altLang="en-US" smtClean="0"/>
              <a:pPr>
                <a:defRPr/>
              </a:pPr>
              <a:t>14</a:t>
            </a:fld>
            <a:endParaRPr lang="ko-KR" altLang="en-US" dirty="0"/>
          </a:p>
        </p:txBody>
      </p:sp>
    </p:spTree>
    <p:extLst>
      <p:ext uri="{BB962C8B-B14F-4D97-AF65-F5344CB8AC3E}">
        <p14:creationId xmlns:p14="http://schemas.microsoft.com/office/powerpoint/2010/main" val="102625440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D93C73-B4C6-1A1C-C65E-2493EE41B428}"/>
              </a:ext>
            </a:extLst>
          </p:cNvPr>
          <p:cNvSpPr>
            <a:spLocks noGrp="1"/>
          </p:cNvSpPr>
          <p:nvPr>
            <p:ph type="title"/>
          </p:nvPr>
        </p:nvSpPr>
        <p:spPr/>
        <p:txBody>
          <a:bodyPr/>
          <a:lstStyle/>
          <a:p>
            <a:r>
              <a:rPr lang="en-US" altLang="ko-KR" dirty="0"/>
              <a:t>Image Classification Datasets</a:t>
            </a:r>
            <a:endParaRPr lang="ko-KR" altLang="en-US" dirty="0"/>
          </a:p>
        </p:txBody>
      </p:sp>
      <p:sp>
        <p:nvSpPr>
          <p:cNvPr id="3" name="내용 개체 틀 2">
            <a:extLst>
              <a:ext uri="{FF2B5EF4-FFF2-40B4-BE49-F238E27FC236}">
                <a16:creationId xmlns:a16="http://schemas.microsoft.com/office/drawing/2014/main" id="{DB0B0602-EAD8-E94B-D6A3-1AB0400913DC}"/>
              </a:ext>
            </a:extLst>
          </p:cNvPr>
          <p:cNvSpPr>
            <a:spLocks noGrp="1"/>
          </p:cNvSpPr>
          <p:nvPr>
            <p:ph idx="1"/>
          </p:nvPr>
        </p:nvSpPr>
        <p:spPr/>
        <p:txBody>
          <a:bodyPr/>
          <a:lstStyle/>
          <a:p>
            <a:r>
              <a:rPr lang="en-US" altLang="ko-KR" b="0" i="0" dirty="0">
                <a:solidFill>
                  <a:srgbClr val="000000"/>
                </a:solidFill>
                <a:effectLst/>
                <a:latin typeface="Lato" panose="020F0502020204030203" pitchFamily="34" charset="0"/>
              </a:rPr>
              <a:t>ImageNet (IN1K)</a:t>
            </a:r>
          </a:p>
          <a:p>
            <a:endParaRPr lang="en-US" altLang="ko-KR" b="0" i="0" dirty="0">
              <a:solidFill>
                <a:srgbClr val="000000"/>
              </a:solidFill>
              <a:effectLst/>
              <a:latin typeface="Lato" panose="020F0502020204030203" pitchFamily="34" charset="0"/>
            </a:endParaRPr>
          </a:p>
          <a:p>
            <a:endParaRPr lang="ko-KR" altLang="en-US" dirty="0"/>
          </a:p>
        </p:txBody>
      </p:sp>
      <p:sp>
        <p:nvSpPr>
          <p:cNvPr id="4" name="슬라이드 번호 개체 틀 3">
            <a:extLst>
              <a:ext uri="{FF2B5EF4-FFF2-40B4-BE49-F238E27FC236}">
                <a16:creationId xmlns:a16="http://schemas.microsoft.com/office/drawing/2014/main" id="{08D17204-CC7F-44C5-4E07-1E0B35997120}"/>
              </a:ext>
            </a:extLst>
          </p:cNvPr>
          <p:cNvSpPr>
            <a:spLocks noGrp="1"/>
          </p:cNvSpPr>
          <p:nvPr>
            <p:ph type="sldNum" sz="quarter" idx="10"/>
          </p:nvPr>
        </p:nvSpPr>
        <p:spPr/>
        <p:txBody>
          <a:bodyPr/>
          <a:lstStyle/>
          <a:p>
            <a:pPr>
              <a:defRPr/>
            </a:pPr>
            <a:fld id="{7092A07C-4710-46A3-9C28-806B597ACB99}" type="slidenum">
              <a:rPr lang="ko-KR" altLang="en-US" smtClean="0"/>
              <a:pPr>
                <a:defRPr/>
              </a:pPr>
              <a:t>15</a:t>
            </a:fld>
            <a:endParaRPr lang="ko-KR" altLang="en-US" dirty="0"/>
          </a:p>
        </p:txBody>
      </p:sp>
      <p:pic>
        <p:nvPicPr>
          <p:cNvPr id="6" name="그림 5">
            <a:extLst>
              <a:ext uri="{FF2B5EF4-FFF2-40B4-BE49-F238E27FC236}">
                <a16:creationId xmlns:a16="http://schemas.microsoft.com/office/drawing/2014/main" id="{D535B3F6-2125-C6F2-5651-27EF71AE6953}"/>
              </a:ext>
            </a:extLst>
          </p:cNvPr>
          <p:cNvPicPr>
            <a:picLocks noChangeAspect="1"/>
          </p:cNvPicPr>
          <p:nvPr/>
        </p:nvPicPr>
        <p:blipFill>
          <a:blip r:embed="rId2"/>
          <a:stretch>
            <a:fillRect/>
          </a:stretch>
        </p:blipFill>
        <p:spPr>
          <a:xfrm>
            <a:off x="326666" y="1808820"/>
            <a:ext cx="8424428" cy="3778496"/>
          </a:xfrm>
          <a:prstGeom prst="rect">
            <a:avLst/>
          </a:prstGeom>
        </p:spPr>
      </p:pic>
    </p:spTree>
    <p:extLst>
      <p:ext uri="{BB962C8B-B14F-4D97-AF65-F5344CB8AC3E}">
        <p14:creationId xmlns:p14="http://schemas.microsoft.com/office/powerpoint/2010/main" val="14042843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E75C87-E007-5489-8117-EEC7C51278B8}"/>
              </a:ext>
            </a:extLst>
          </p:cNvPr>
          <p:cNvSpPr>
            <a:spLocks noGrp="1"/>
          </p:cNvSpPr>
          <p:nvPr>
            <p:ph type="title"/>
          </p:nvPr>
        </p:nvSpPr>
        <p:spPr/>
        <p:txBody>
          <a:bodyPr/>
          <a:lstStyle/>
          <a:p>
            <a:r>
              <a:rPr lang="en-US" altLang="ko-KR" dirty="0"/>
              <a:t>Image Classification Datasets</a:t>
            </a:r>
            <a:endParaRPr lang="ko-KR" altLang="en-US" dirty="0"/>
          </a:p>
        </p:txBody>
      </p:sp>
      <p:sp>
        <p:nvSpPr>
          <p:cNvPr id="3" name="내용 개체 틀 2">
            <a:extLst>
              <a:ext uri="{FF2B5EF4-FFF2-40B4-BE49-F238E27FC236}">
                <a16:creationId xmlns:a16="http://schemas.microsoft.com/office/drawing/2014/main" id="{8F3FFFD8-B7BD-E680-72FC-052421917F6E}"/>
              </a:ext>
            </a:extLst>
          </p:cNvPr>
          <p:cNvSpPr>
            <a:spLocks noGrp="1"/>
          </p:cNvSpPr>
          <p:nvPr>
            <p:ph idx="1"/>
          </p:nvPr>
        </p:nvSpPr>
        <p:spPr/>
        <p:txBody>
          <a:bodyPr/>
          <a:lstStyle/>
          <a:p>
            <a:r>
              <a:rPr lang="en-US" altLang="ko-KR" dirty="0"/>
              <a:t>Places365 (P365)</a:t>
            </a:r>
            <a:endParaRPr lang="ko-KR" altLang="en-US" dirty="0"/>
          </a:p>
        </p:txBody>
      </p:sp>
      <p:sp>
        <p:nvSpPr>
          <p:cNvPr id="4" name="슬라이드 번호 개체 틀 3">
            <a:extLst>
              <a:ext uri="{FF2B5EF4-FFF2-40B4-BE49-F238E27FC236}">
                <a16:creationId xmlns:a16="http://schemas.microsoft.com/office/drawing/2014/main" id="{037CA645-F29E-1130-499F-2CEC0C0EBC9A}"/>
              </a:ext>
            </a:extLst>
          </p:cNvPr>
          <p:cNvSpPr>
            <a:spLocks noGrp="1"/>
          </p:cNvSpPr>
          <p:nvPr>
            <p:ph type="sldNum" sz="quarter" idx="10"/>
          </p:nvPr>
        </p:nvSpPr>
        <p:spPr/>
        <p:txBody>
          <a:bodyPr/>
          <a:lstStyle/>
          <a:p>
            <a:pPr>
              <a:defRPr/>
            </a:pPr>
            <a:fld id="{7092A07C-4710-46A3-9C28-806B597ACB99}" type="slidenum">
              <a:rPr lang="ko-KR" altLang="en-US" smtClean="0"/>
              <a:pPr>
                <a:defRPr/>
              </a:pPr>
              <a:t>16</a:t>
            </a:fld>
            <a:endParaRPr lang="ko-KR" altLang="en-US" dirty="0"/>
          </a:p>
        </p:txBody>
      </p:sp>
      <p:pic>
        <p:nvPicPr>
          <p:cNvPr id="6" name="그림 5">
            <a:extLst>
              <a:ext uri="{FF2B5EF4-FFF2-40B4-BE49-F238E27FC236}">
                <a16:creationId xmlns:a16="http://schemas.microsoft.com/office/drawing/2014/main" id="{B482EE33-04DD-744A-F0A7-586AD8EF044E}"/>
              </a:ext>
            </a:extLst>
          </p:cNvPr>
          <p:cNvPicPr>
            <a:picLocks noChangeAspect="1"/>
          </p:cNvPicPr>
          <p:nvPr/>
        </p:nvPicPr>
        <p:blipFill>
          <a:blip r:embed="rId2"/>
          <a:stretch>
            <a:fillRect/>
          </a:stretch>
        </p:blipFill>
        <p:spPr>
          <a:xfrm>
            <a:off x="827553" y="1736812"/>
            <a:ext cx="7560332" cy="4482246"/>
          </a:xfrm>
          <a:prstGeom prst="rect">
            <a:avLst/>
          </a:prstGeom>
        </p:spPr>
      </p:pic>
    </p:spTree>
    <p:extLst>
      <p:ext uri="{BB962C8B-B14F-4D97-AF65-F5344CB8AC3E}">
        <p14:creationId xmlns:p14="http://schemas.microsoft.com/office/powerpoint/2010/main" val="24355111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163329-7CFD-479A-1CFD-7B640EBF914B}"/>
              </a:ext>
            </a:extLst>
          </p:cNvPr>
          <p:cNvSpPr>
            <a:spLocks noGrp="1"/>
          </p:cNvSpPr>
          <p:nvPr>
            <p:ph type="title"/>
          </p:nvPr>
        </p:nvSpPr>
        <p:spPr/>
        <p:txBody>
          <a:bodyPr/>
          <a:lstStyle/>
          <a:p>
            <a:r>
              <a:rPr lang="en-US" altLang="ko-KR" dirty="0"/>
              <a:t>Video Datasets</a:t>
            </a:r>
            <a:endParaRPr lang="ko-KR" altLang="en-US" dirty="0"/>
          </a:p>
        </p:txBody>
      </p:sp>
      <p:sp>
        <p:nvSpPr>
          <p:cNvPr id="3" name="내용 개체 틀 2">
            <a:extLst>
              <a:ext uri="{FF2B5EF4-FFF2-40B4-BE49-F238E27FC236}">
                <a16:creationId xmlns:a16="http://schemas.microsoft.com/office/drawing/2014/main" id="{064C2C38-2642-6F07-BF7A-A86DB2A11BA1}"/>
              </a:ext>
            </a:extLst>
          </p:cNvPr>
          <p:cNvSpPr>
            <a:spLocks noGrp="1"/>
          </p:cNvSpPr>
          <p:nvPr>
            <p:ph idx="1"/>
          </p:nvPr>
        </p:nvSpPr>
        <p:spPr/>
        <p:txBody>
          <a:bodyPr/>
          <a:lstStyle/>
          <a:p>
            <a:r>
              <a:rPr lang="en-US" altLang="ko-KR" b="0" i="0" dirty="0">
                <a:solidFill>
                  <a:srgbClr val="000000"/>
                </a:solidFill>
                <a:effectLst/>
                <a:latin typeface="Lato" panose="020F0502020204030204" pitchFamily="34" charset="0"/>
              </a:rPr>
              <a:t>Kinetics 400 (K400)</a:t>
            </a:r>
          </a:p>
          <a:p>
            <a:endParaRPr lang="ko-KR" altLang="en-US" dirty="0"/>
          </a:p>
        </p:txBody>
      </p:sp>
      <p:sp>
        <p:nvSpPr>
          <p:cNvPr id="4" name="슬라이드 번호 개체 틀 3">
            <a:extLst>
              <a:ext uri="{FF2B5EF4-FFF2-40B4-BE49-F238E27FC236}">
                <a16:creationId xmlns:a16="http://schemas.microsoft.com/office/drawing/2014/main" id="{ECD406E6-F0DA-A30E-943A-3D15C8ED53BB}"/>
              </a:ext>
            </a:extLst>
          </p:cNvPr>
          <p:cNvSpPr>
            <a:spLocks noGrp="1"/>
          </p:cNvSpPr>
          <p:nvPr>
            <p:ph type="sldNum" sz="quarter" idx="10"/>
          </p:nvPr>
        </p:nvSpPr>
        <p:spPr/>
        <p:txBody>
          <a:bodyPr/>
          <a:lstStyle/>
          <a:p>
            <a:pPr>
              <a:defRPr/>
            </a:pPr>
            <a:fld id="{7092A07C-4710-46A3-9C28-806B597ACB99}" type="slidenum">
              <a:rPr lang="ko-KR" altLang="en-US" smtClean="0"/>
              <a:pPr>
                <a:defRPr/>
              </a:pPr>
              <a:t>17</a:t>
            </a:fld>
            <a:endParaRPr lang="ko-KR" altLang="en-US" dirty="0"/>
          </a:p>
        </p:txBody>
      </p:sp>
      <p:pic>
        <p:nvPicPr>
          <p:cNvPr id="6" name="그림 5">
            <a:extLst>
              <a:ext uri="{FF2B5EF4-FFF2-40B4-BE49-F238E27FC236}">
                <a16:creationId xmlns:a16="http://schemas.microsoft.com/office/drawing/2014/main" id="{ED453FC5-8711-C592-17BD-45334F75C31F}"/>
              </a:ext>
            </a:extLst>
          </p:cNvPr>
          <p:cNvPicPr>
            <a:picLocks noChangeAspect="1"/>
          </p:cNvPicPr>
          <p:nvPr/>
        </p:nvPicPr>
        <p:blipFill>
          <a:blip r:embed="rId2"/>
          <a:stretch>
            <a:fillRect/>
          </a:stretch>
        </p:blipFill>
        <p:spPr>
          <a:xfrm>
            <a:off x="516272" y="2007132"/>
            <a:ext cx="8244408" cy="3578738"/>
          </a:xfrm>
          <a:prstGeom prst="rect">
            <a:avLst/>
          </a:prstGeom>
        </p:spPr>
      </p:pic>
    </p:spTree>
    <p:extLst>
      <p:ext uri="{BB962C8B-B14F-4D97-AF65-F5344CB8AC3E}">
        <p14:creationId xmlns:p14="http://schemas.microsoft.com/office/powerpoint/2010/main" val="175998295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DE13246-D6D5-D43F-8090-182CACA10B7E}"/>
              </a:ext>
            </a:extLst>
          </p:cNvPr>
          <p:cNvSpPr>
            <a:spLocks noGrp="1"/>
          </p:cNvSpPr>
          <p:nvPr>
            <p:ph type="title"/>
          </p:nvPr>
        </p:nvSpPr>
        <p:spPr/>
        <p:txBody>
          <a:bodyPr/>
          <a:lstStyle/>
          <a:p>
            <a:r>
              <a:rPr lang="en-US" altLang="ko-KR" dirty="0"/>
              <a:t>Video Datasets</a:t>
            </a:r>
            <a:endParaRPr lang="ko-KR" altLang="en-US" dirty="0"/>
          </a:p>
        </p:txBody>
      </p:sp>
      <p:sp>
        <p:nvSpPr>
          <p:cNvPr id="3" name="내용 개체 틀 2">
            <a:extLst>
              <a:ext uri="{FF2B5EF4-FFF2-40B4-BE49-F238E27FC236}">
                <a16:creationId xmlns:a16="http://schemas.microsoft.com/office/drawing/2014/main" id="{EFE8461B-B575-1128-0A78-EB63E8888479}"/>
              </a:ext>
            </a:extLst>
          </p:cNvPr>
          <p:cNvSpPr>
            <a:spLocks noGrp="1"/>
          </p:cNvSpPr>
          <p:nvPr>
            <p:ph idx="1"/>
          </p:nvPr>
        </p:nvSpPr>
        <p:spPr/>
        <p:txBody>
          <a:bodyPr/>
          <a:lstStyle/>
          <a:p>
            <a:r>
              <a:rPr lang="en-US" altLang="ko-KR" dirty="0"/>
              <a:t>MSR-VTT</a:t>
            </a:r>
            <a:endParaRPr lang="ko-KR" altLang="en-US" dirty="0"/>
          </a:p>
        </p:txBody>
      </p:sp>
      <p:sp>
        <p:nvSpPr>
          <p:cNvPr id="4" name="슬라이드 번호 개체 틀 3">
            <a:extLst>
              <a:ext uri="{FF2B5EF4-FFF2-40B4-BE49-F238E27FC236}">
                <a16:creationId xmlns:a16="http://schemas.microsoft.com/office/drawing/2014/main" id="{5A9C0F9D-50F2-8F03-3268-90C0D9A02AF0}"/>
              </a:ext>
            </a:extLst>
          </p:cNvPr>
          <p:cNvSpPr>
            <a:spLocks noGrp="1"/>
          </p:cNvSpPr>
          <p:nvPr>
            <p:ph type="sldNum" sz="quarter" idx="10"/>
          </p:nvPr>
        </p:nvSpPr>
        <p:spPr/>
        <p:txBody>
          <a:bodyPr/>
          <a:lstStyle/>
          <a:p>
            <a:pPr>
              <a:defRPr/>
            </a:pPr>
            <a:fld id="{7092A07C-4710-46A3-9C28-806B597ACB99}" type="slidenum">
              <a:rPr lang="ko-KR" altLang="en-US" smtClean="0"/>
              <a:pPr>
                <a:defRPr/>
              </a:pPr>
              <a:t>18</a:t>
            </a:fld>
            <a:endParaRPr lang="ko-KR" altLang="en-US" dirty="0"/>
          </a:p>
        </p:txBody>
      </p:sp>
      <p:pic>
        <p:nvPicPr>
          <p:cNvPr id="6" name="그림 5">
            <a:extLst>
              <a:ext uri="{FF2B5EF4-FFF2-40B4-BE49-F238E27FC236}">
                <a16:creationId xmlns:a16="http://schemas.microsoft.com/office/drawing/2014/main" id="{46DC7FB3-633F-017D-5E83-E26922A1DC57}"/>
              </a:ext>
            </a:extLst>
          </p:cNvPr>
          <p:cNvPicPr>
            <a:picLocks noChangeAspect="1"/>
          </p:cNvPicPr>
          <p:nvPr/>
        </p:nvPicPr>
        <p:blipFill>
          <a:blip r:embed="rId2"/>
          <a:stretch>
            <a:fillRect/>
          </a:stretch>
        </p:blipFill>
        <p:spPr>
          <a:xfrm>
            <a:off x="428625" y="1916832"/>
            <a:ext cx="8358188" cy="3501298"/>
          </a:xfrm>
          <a:prstGeom prst="rect">
            <a:avLst/>
          </a:prstGeom>
        </p:spPr>
      </p:pic>
    </p:spTree>
    <p:extLst>
      <p:ext uri="{BB962C8B-B14F-4D97-AF65-F5344CB8AC3E}">
        <p14:creationId xmlns:p14="http://schemas.microsoft.com/office/powerpoint/2010/main" val="272919122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54FB4B-D69E-C0E2-B8A6-9976CFAE0DBD}"/>
              </a:ext>
            </a:extLst>
          </p:cNvPr>
          <p:cNvSpPr>
            <a:spLocks noGrp="1"/>
          </p:cNvSpPr>
          <p:nvPr>
            <p:ph type="title"/>
          </p:nvPr>
        </p:nvSpPr>
        <p:spPr/>
        <p:txBody>
          <a:bodyPr/>
          <a:lstStyle/>
          <a:p>
            <a:r>
              <a:rPr lang="en-US" altLang="ko-KR" dirty="0"/>
              <a:t>Depth Datasets</a:t>
            </a:r>
            <a:endParaRPr lang="ko-KR" altLang="en-US" dirty="0"/>
          </a:p>
        </p:txBody>
      </p:sp>
      <p:sp>
        <p:nvSpPr>
          <p:cNvPr id="3" name="내용 개체 틀 2">
            <a:extLst>
              <a:ext uri="{FF2B5EF4-FFF2-40B4-BE49-F238E27FC236}">
                <a16:creationId xmlns:a16="http://schemas.microsoft.com/office/drawing/2014/main" id="{199BC7EA-152E-FFD8-22FE-0E8FBDBBCE0A}"/>
              </a:ext>
            </a:extLst>
          </p:cNvPr>
          <p:cNvSpPr>
            <a:spLocks noGrp="1"/>
          </p:cNvSpPr>
          <p:nvPr>
            <p:ph idx="1"/>
          </p:nvPr>
        </p:nvSpPr>
        <p:spPr/>
        <p:txBody>
          <a:bodyPr/>
          <a:lstStyle/>
          <a:p>
            <a:r>
              <a:rPr lang="en-US" altLang="ko-KR" dirty="0"/>
              <a:t>NYUv2-Depth Only (NYU-D)</a:t>
            </a:r>
            <a:endParaRPr lang="ko-KR" altLang="en-US" dirty="0"/>
          </a:p>
        </p:txBody>
      </p:sp>
      <p:sp>
        <p:nvSpPr>
          <p:cNvPr id="4" name="슬라이드 번호 개체 틀 3">
            <a:extLst>
              <a:ext uri="{FF2B5EF4-FFF2-40B4-BE49-F238E27FC236}">
                <a16:creationId xmlns:a16="http://schemas.microsoft.com/office/drawing/2014/main" id="{BDED31CB-89D6-2D6A-8A14-98B34FCB2F76}"/>
              </a:ext>
            </a:extLst>
          </p:cNvPr>
          <p:cNvSpPr>
            <a:spLocks noGrp="1"/>
          </p:cNvSpPr>
          <p:nvPr>
            <p:ph type="sldNum" sz="quarter" idx="10"/>
          </p:nvPr>
        </p:nvSpPr>
        <p:spPr/>
        <p:txBody>
          <a:bodyPr/>
          <a:lstStyle/>
          <a:p>
            <a:pPr>
              <a:defRPr/>
            </a:pPr>
            <a:fld id="{7092A07C-4710-46A3-9C28-806B597ACB99}" type="slidenum">
              <a:rPr lang="ko-KR" altLang="en-US" smtClean="0"/>
              <a:pPr>
                <a:defRPr/>
              </a:pPr>
              <a:t>19</a:t>
            </a:fld>
            <a:endParaRPr lang="ko-KR" altLang="en-US" dirty="0"/>
          </a:p>
        </p:txBody>
      </p:sp>
      <p:pic>
        <p:nvPicPr>
          <p:cNvPr id="6" name="그림 5">
            <a:extLst>
              <a:ext uri="{FF2B5EF4-FFF2-40B4-BE49-F238E27FC236}">
                <a16:creationId xmlns:a16="http://schemas.microsoft.com/office/drawing/2014/main" id="{A2A56A85-54B4-E348-8FF5-267E4CBC5A7A}"/>
              </a:ext>
            </a:extLst>
          </p:cNvPr>
          <p:cNvPicPr>
            <a:picLocks noChangeAspect="1"/>
          </p:cNvPicPr>
          <p:nvPr/>
        </p:nvPicPr>
        <p:blipFill>
          <a:blip r:embed="rId2"/>
          <a:stretch>
            <a:fillRect/>
          </a:stretch>
        </p:blipFill>
        <p:spPr>
          <a:xfrm>
            <a:off x="755576" y="1607626"/>
            <a:ext cx="7380312" cy="4813813"/>
          </a:xfrm>
          <a:prstGeom prst="rect">
            <a:avLst/>
          </a:prstGeom>
        </p:spPr>
      </p:pic>
    </p:spTree>
    <p:extLst>
      <p:ext uri="{BB962C8B-B14F-4D97-AF65-F5344CB8AC3E}">
        <p14:creationId xmlns:p14="http://schemas.microsoft.com/office/powerpoint/2010/main" val="97276535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80C7315-F4B4-F550-2A0B-BFB729DD39E8}"/>
              </a:ext>
            </a:extLst>
          </p:cNvPr>
          <p:cNvSpPr>
            <a:spLocks noGrp="1"/>
          </p:cNvSpPr>
          <p:nvPr>
            <p:ph type="title"/>
          </p:nvPr>
        </p:nvSpPr>
        <p:spPr/>
        <p:txBody>
          <a:bodyPr/>
          <a:lstStyle/>
          <a:p>
            <a:r>
              <a:rPr lang="en-US" altLang="ko-KR" dirty="0"/>
              <a:t>Depth Datasets</a:t>
            </a:r>
            <a:endParaRPr lang="ko-KR" altLang="en-US" dirty="0"/>
          </a:p>
        </p:txBody>
      </p:sp>
      <p:sp>
        <p:nvSpPr>
          <p:cNvPr id="3" name="내용 개체 틀 2">
            <a:extLst>
              <a:ext uri="{FF2B5EF4-FFF2-40B4-BE49-F238E27FC236}">
                <a16:creationId xmlns:a16="http://schemas.microsoft.com/office/drawing/2014/main" id="{322255BD-041C-125B-F021-969658C4B374}"/>
              </a:ext>
            </a:extLst>
          </p:cNvPr>
          <p:cNvSpPr>
            <a:spLocks noGrp="1"/>
          </p:cNvSpPr>
          <p:nvPr>
            <p:ph idx="1"/>
          </p:nvPr>
        </p:nvSpPr>
        <p:spPr/>
        <p:txBody>
          <a:bodyPr/>
          <a:lstStyle/>
          <a:p>
            <a:r>
              <a:rPr lang="en-US" altLang="ko-KR" dirty="0"/>
              <a:t>SUN-Only Depth (SUN-D)</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45A26DFE-1118-60B6-02BE-161CB8A358DD}"/>
              </a:ext>
            </a:extLst>
          </p:cNvPr>
          <p:cNvSpPr>
            <a:spLocks noGrp="1"/>
          </p:cNvSpPr>
          <p:nvPr>
            <p:ph type="sldNum" sz="quarter" idx="10"/>
          </p:nvPr>
        </p:nvSpPr>
        <p:spPr/>
        <p:txBody>
          <a:bodyPr/>
          <a:lstStyle/>
          <a:p>
            <a:pPr>
              <a:defRPr/>
            </a:pPr>
            <a:fld id="{7092A07C-4710-46A3-9C28-806B597ACB99}" type="slidenum">
              <a:rPr lang="ko-KR" altLang="en-US" smtClean="0"/>
              <a:pPr>
                <a:defRPr/>
              </a:pPr>
              <a:t>20</a:t>
            </a:fld>
            <a:endParaRPr lang="ko-KR" altLang="en-US" dirty="0"/>
          </a:p>
        </p:txBody>
      </p:sp>
      <p:pic>
        <p:nvPicPr>
          <p:cNvPr id="6" name="그림 5">
            <a:extLst>
              <a:ext uri="{FF2B5EF4-FFF2-40B4-BE49-F238E27FC236}">
                <a16:creationId xmlns:a16="http://schemas.microsoft.com/office/drawing/2014/main" id="{71FA13E9-91A7-2AA3-1C3F-D82FAF2EDEC5}"/>
              </a:ext>
            </a:extLst>
          </p:cNvPr>
          <p:cNvPicPr>
            <a:picLocks noChangeAspect="1"/>
          </p:cNvPicPr>
          <p:nvPr/>
        </p:nvPicPr>
        <p:blipFill>
          <a:blip r:embed="rId2"/>
          <a:stretch>
            <a:fillRect/>
          </a:stretch>
        </p:blipFill>
        <p:spPr>
          <a:xfrm>
            <a:off x="539806" y="1755450"/>
            <a:ext cx="8563528" cy="4085818"/>
          </a:xfrm>
          <a:prstGeom prst="rect">
            <a:avLst/>
          </a:prstGeom>
        </p:spPr>
      </p:pic>
    </p:spTree>
    <p:extLst>
      <p:ext uri="{BB962C8B-B14F-4D97-AF65-F5344CB8AC3E}">
        <p14:creationId xmlns:p14="http://schemas.microsoft.com/office/powerpoint/2010/main" val="60351157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93FF20-8401-BA9B-DB5C-38760DDCB377}"/>
              </a:ext>
            </a:extLst>
          </p:cNvPr>
          <p:cNvSpPr>
            <a:spLocks noGrp="1"/>
          </p:cNvSpPr>
          <p:nvPr>
            <p:ph type="title"/>
          </p:nvPr>
        </p:nvSpPr>
        <p:spPr/>
        <p:txBody>
          <a:bodyPr/>
          <a:lstStyle/>
          <a:p>
            <a:r>
              <a:rPr lang="en-US" altLang="ko-KR" dirty="0"/>
              <a:t>Audio Datasets</a:t>
            </a:r>
            <a:endParaRPr lang="ko-KR" altLang="en-US" dirty="0"/>
          </a:p>
        </p:txBody>
      </p:sp>
      <p:sp>
        <p:nvSpPr>
          <p:cNvPr id="3" name="내용 개체 틀 2">
            <a:extLst>
              <a:ext uri="{FF2B5EF4-FFF2-40B4-BE49-F238E27FC236}">
                <a16:creationId xmlns:a16="http://schemas.microsoft.com/office/drawing/2014/main" id="{63C212C8-2CDB-53C0-8726-C6B8499C48AE}"/>
              </a:ext>
            </a:extLst>
          </p:cNvPr>
          <p:cNvSpPr>
            <a:spLocks noGrp="1"/>
          </p:cNvSpPr>
          <p:nvPr>
            <p:ph idx="1"/>
          </p:nvPr>
        </p:nvSpPr>
        <p:spPr/>
        <p:txBody>
          <a:bodyPr/>
          <a:lstStyle/>
          <a:p>
            <a:r>
              <a:rPr lang="en-US" altLang="ko-KR" dirty="0" err="1"/>
              <a:t>AudioSet</a:t>
            </a:r>
            <a:endParaRPr lang="ko-KR" altLang="en-US" dirty="0"/>
          </a:p>
        </p:txBody>
      </p:sp>
      <p:sp>
        <p:nvSpPr>
          <p:cNvPr id="4" name="슬라이드 번호 개체 틀 3">
            <a:extLst>
              <a:ext uri="{FF2B5EF4-FFF2-40B4-BE49-F238E27FC236}">
                <a16:creationId xmlns:a16="http://schemas.microsoft.com/office/drawing/2014/main" id="{25D64A7F-E9EC-6553-D453-13E7723C8A45}"/>
              </a:ext>
            </a:extLst>
          </p:cNvPr>
          <p:cNvSpPr>
            <a:spLocks noGrp="1"/>
          </p:cNvSpPr>
          <p:nvPr>
            <p:ph type="sldNum" sz="quarter" idx="10"/>
          </p:nvPr>
        </p:nvSpPr>
        <p:spPr/>
        <p:txBody>
          <a:bodyPr/>
          <a:lstStyle/>
          <a:p>
            <a:pPr>
              <a:defRPr/>
            </a:pPr>
            <a:fld id="{7092A07C-4710-46A3-9C28-806B597ACB99}" type="slidenum">
              <a:rPr lang="ko-KR" altLang="en-US" smtClean="0"/>
              <a:pPr>
                <a:defRPr/>
              </a:pPr>
              <a:t>21</a:t>
            </a:fld>
            <a:endParaRPr lang="ko-KR" altLang="en-US" dirty="0"/>
          </a:p>
        </p:txBody>
      </p:sp>
      <p:pic>
        <p:nvPicPr>
          <p:cNvPr id="6" name="그림 5">
            <a:extLst>
              <a:ext uri="{FF2B5EF4-FFF2-40B4-BE49-F238E27FC236}">
                <a16:creationId xmlns:a16="http://schemas.microsoft.com/office/drawing/2014/main" id="{C15B4EB6-BDD3-26BF-533D-D6D6DE3BE9DF}"/>
              </a:ext>
            </a:extLst>
          </p:cNvPr>
          <p:cNvPicPr>
            <a:picLocks noChangeAspect="1"/>
          </p:cNvPicPr>
          <p:nvPr/>
        </p:nvPicPr>
        <p:blipFill>
          <a:blip r:embed="rId2"/>
          <a:stretch>
            <a:fillRect/>
          </a:stretch>
        </p:blipFill>
        <p:spPr>
          <a:xfrm>
            <a:off x="214281" y="1654126"/>
            <a:ext cx="8645123" cy="4111705"/>
          </a:xfrm>
          <a:prstGeom prst="rect">
            <a:avLst/>
          </a:prstGeom>
        </p:spPr>
      </p:pic>
    </p:spTree>
    <p:extLst>
      <p:ext uri="{BB962C8B-B14F-4D97-AF65-F5344CB8AC3E}">
        <p14:creationId xmlns:p14="http://schemas.microsoft.com/office/powerpoint/2010/main" val="56740750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CAA986-F4CB-DA0C-B0DC-4485676AADFC}"/>
              </a:ext>
            </a:extLst>
          </p:cNvPr>
          <p:cNvSpPr>
            <a:spLocks noGrp="1"/>
          </p:cNvSpPr>
          <p:nvPr>
            <p:ph type="title"/>
          </p:nvPr>
        </p:nvSpPr>
        <p:spPr/>
        <p:txBody>
          <a:bodyPr/>
          <a:lstStyle/>
          <a:p>
            <a:r>
              <a:rPr lang="en-US" altLang="ko-KR" dirty="0"/>
              <a:t>Audio Datasets</a:t>
            </a:r>
            <a:endParaRPr lang="ko-KR" altLang="en-US" dirty="0"/>
          </a:p>
        </p:txBody>
      </p:sp>
      <p:sp>
        <p:nvSpPr>
          <p:cNvPr id="3" name="내용 개체 틀 2">
            <a:extLst>
              <a:ext uri="{FF2B5EF4-FFF2-40B4-BE49-F238E27FC236}">
                <a16:creationId xmlns:a16="http://schemas.microsoft.com/office/drawing/2014/main" id="{649570F7-F8EE-42B6-9CA6-F91159F1979D}"/>
              </a:ext>
            </a:extLst>
          </p:cNvPr>
          <p:cNvSpPr>
            <a:spLocks noGrp="1"/>
          </p:cNvSpPr>
          <p:nvPr>
            <p:ph idx="1"/>
          </p:nvPr>
        </p:nvSpPr>
        <p:spPr/>
        <p:txBody>
          <a:bodyPr/>
          <a:lstStyle/>
          <a:p>
            <a:r>
              <a:rPr lang="en-US" altLang="ko-KR" dirty="0"/>
              <a:t>ESC-50</a:t>
            </a:r>
            <a:endParaRPr lang="ko-KR" altLang="en-US" dirty="0"/>
          </a:p>
        </p:txBody>
      </p:sp>
      <p:sp>
        <p:nvSpPr>
          <p:cNvPr id="4" name="슬라이드 번호 개체 틀 3">
            <a:extLst>
              <a:ext uri="{FF2B5EF4-FFF2-40B4-BE49-F238E27FC236}">
                <a16:creationId xmlns:a16="http://schemas.microsoft.com/office/drawing/2014/main" id="{EAFABEDA-F3FF-C48C-C8AF-7F5CF30DCBC0}"/>
              </a:ext>
            </a:extLst>
          </p:cNvPr>
          <p:cNvSpPr>
            <a:spLocks noGrp="1"/>
          </p:cNvSpPr>
          <p:nvPr>
            <p:ph type="sldNum" sz="quarter" idx="10"/>
          </p:nvPr>
        </p:nvSpPr>
        <p:spPr/>
        <p:txBody>
          <a:bodyPr/>
          <a:lstStyle/>
          <a:p>
            <a:pPr>
              <a:defRPr/>
            </a:pPr>
            <a:fld id="{7092A07C-4710-46A3-9C28-806B597ACB99}" type="slidenum">
              <a:rPr lang="ko-KR" altLang="en-US" smtClean="0"/>
              <a:pPr>
                <a:defRPr/>
              </a:pPr>
              <a:t>22</a:t>
            </a:fld>
            <a:endParaRPr lang="ko-KR" altLang="en-US" dirty="0"/>
          </a:p>
        </p:txBody>
      </p:sp>
      <p:pic>
        <p:nvPicPr>
          <p:cNvPr id="6" name="그림 5">
            <a:extLst>
              <a:ext uri="{FF2B5EF4-FFF2-40B4-BE49-F238E27FC236}">
                <a16:creationId xmlns:a16="http://schemas.microsoft.com/office/drawing/2014/main" id="{8E2CCCBD-EAA2-B888-7316-A48A353DAF7A}"/>
              </a:ext>
            </a:extLst>
          </p:cNvPr>
          <p:cNvPicPr>
            <a:picLocks noChangeAspect="1"/>
          </p:cNvPicPr>
          <p:nvPr/>
        </p:nvPicPr>
        <p:blipFill>
          <a:blip r:embed="rId2"/>
          <a:stretch>
            <a:fillRect/>
          </a:stretch>
        </p:blipFill>
        <p:spPr>
          <a:xfrm>
            <a:off x="287524" y="1979090"/>
            <a:ext cx="8358188" cy="3786742"/>
          </a:xfrm>
          <a:prstGeom prst="rect">
            <a:avLst/>
          </a:prstGeom>
        </p:spPr>
      </p:pic>
    </p:spTree>
    <p:extLst>
      <p:ext uri="{BB962C8B-B14F-4D97-AF65-F5344CB8AC3E}">
        <p14:creationId xmlns:p14="http://schemas.microsoft.com/office/powerpoint/2010/main" val="8528983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E889AA-8F83-20AC-72AA-B7D800727A05}"/>
              </a:ext>
            </a:extLst>
          </p:cNvPr>
          <p:cNvSpPr>
            <a:spLocks noGrp="1"/>
          </p:cNvSpPr>
          <p:nvPr>
            <p:ph type="title"/>
          </p:nvPr>
        </p:nvSpPr>
        <p:spPr/>
        <p:txBody>
          <a:bodyPr/>
          <a:lstStyle/>
          <a:p>
            <a:r>
              <a:rPr lang="en-US" altLang="ko-KR" dirty="0"/>
              <a:t>Audio Datasets</a:t>
            </a:r>
            <a:endParaRPr lang="ko-KR" altLang="en-US" dirty="0"/>
          </a:p>
        </p:txBody>
      </p:sp>
      <p:sp>
        <p:nvSpPr>
          <p:cNvPr id="3" name="내용 개체 틀 2">
            <a:extLst>
              <a:ext uri="{FF2B5EF4-FFF2-40B4-BE49-F238E27FC236}">
                <a16:creationId xmlns:a16="http://schemas.microsoft.com/office/drawing/2014/main" id="{BE6C9B1A-3DBE-5807-D8D3-A4406508FF4A}"/>
              </a:ext>
            </a:extLst>
          </p:cNvPr>
          <p:cNvSpPr>
            <a:spLocks noGrp="1"/>
          </p:cNvSpPr>
          <p:nvPr>
            <p:ph idx="1"/>
          </p:nvPr>
        </p:nvSpPr>
        <p:spPr/>
        <p:txBody>
          <a:bodyPr/>
          <a:lstStyle/>
          <a:p>
            <a:r>
              <a:rPr lang="en-US" altLang="ko-KR" dirty="0"/>
              <a:t>Clotho</a:t>
            </a:r>
            <a:endParaRPr lang="ko-KR" altLang="en-US" dirty="0"/>
          </a:p>
        </p:txBody>
      </p:sp>
      <p:sp>
        <p:nvSpPr>
          <p:cNvPr id="4" name="슬라이드 번호 개체 틀 3">
            <a:extLst>
              <a:ext uri="{FF2B5EF4-FFF2-40B4-BE49-F238E27FC236}">
                <a16:creationId xmlns:a16="http://schemas.microsoft.com/office/drawing/2014/main" id="{1F2DB38B-EE65-63FA-2F16-3D9A9C034DDD}"/>
              </a:ext>
            </a:extLst>
          </p:cNvPr>
          <p:cNvSpPr>
            <a:spLocks noGrp="1"/>
          </p:cNvSpPr>
          <p:nvPr>
            <p:ph type="sldNum" sz="quarter" idx="10"/>
          </p:nvPr>
        </p:nvSpPr>
        <p:spPr/>
        <p:txBody>
          <a:bodyPr/>
          <a:lstStyle/>
          <a:p>
            <a:pPr>
              <a:defRPr/>
            </a:pPr>
            <a:fld id="{7092A07C-4710-46A3-9C28-806B597ACB99}" type="slidenum">
              <a:rPr lang="ko-KR" altLang="en-US" smtClean="0"/>
              <a:pPr>
                <a:defRPr/>
              </a:pPr>
              <a:t>23</a:t>
            </a:fld>
            <a:endParaRPr lang="ko-KR" altLang="en-US" dirty="0"/>
          </a:p>
        </p:txBody>
      </p:sp>
      <p:pic>
        <p:nvPicPr>
          <p:cNvPr id="6" name="그림 5">
            <a:extLst>
              <a:ext uri="{FF2B5EF4-FFF2-40B4-BE49-F238E27FC236}">
                <a16:creationId xmlns:a16="http://schemas.microsoft.com/office/drawing/2014/main" id="{537059F8-172C-7B85-6717-639723173C90}"/>
              </a:ext>
            </a:extLst>
          </p:cNvPr>
          <p:cNvPicPr>
            <a:picLocks noChangeAspect="1"/>
          </p:cNvPicPr>
          <p:nvPr/>
        </p:nvPicPr>
        <p:blipFill>
          <a:blip r:embed="rId2"/>
          <a:stretch>
            <a:fillRect/>
          </a:stretch>
        </p:blipFill>
        <p:spPr>
          <a:xfrm>
            <a:off x="395536" y="1816173"/>
            <a:ext cx="8676456" cy="3960655"/>
          </a:xfrm>
          <a:prstGeom prst="rect">
            <a:avLst/>
          </a:prstGeom>
        </p:spPr>
      </p:pic>
    </p:spTree>
    <p:extLst>
      <p:ext uri="{BB962C8B-B14F-4D97-AF65-F5344CB8AC3E}">
        <p14:creationId xmlns:p14="http://schemas.microsoft.com/office/powerpoint/2010/main" val="21057248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E889AA-8F83-20AC-72AA-B7D800727A05}"/>
              </a:ext>
            </a:extLst>
          </p:cNvPr>
          <p:cNvSpPr>
            <a:spLocks noGrp="1"/>
          </p:cNvSpPr>
          <p:nvPr>
            <p:ph type="title"/>
          </p:nvPr>
        </p:nvSpPr>
        <p:spPr/>
        <p:txBody>
          <a:bodyPr/>
          <a:lstStyle/>
          <a:p>
            <a:r>
              <a:rPr lang="en-US" altLang="ko-KR" dirty="0"/>
              <a:t>Audio Datasets</a:t>
            </a:r>
            <a:endParaRPr lang="ko-KR" altLang="en-US" dirty="0"/>
          </a:p>
        </p:txBody>
      </p:sp>
      <p:sp>
        <p:nvSpPr>
          <p:cNvPr id="3" name="내용 개체 틀 2">
            <a:extLst>
              <a:ext uri="{FF2B5EF4-FFF2-40B4-BE49-F238E27FC236}">
                <a16:creationId xmlns:a16="http://schemas.microsoft.com/office/drawing/2014/main" id="{BE6C9B1A-3DBE-5807-D8D3-A4406508FF4A}"/>
              </a:ext>
            </a:extLst>
          </p:cNvPr>
          <p:cNvSpPr>
            <a:spLocks noGrp="1"/>
          </p:cNvSpPr>
          <p:nvPr>
            <p:ph idx="1"/>
          </p:nvPr>
        </p:nvSpPr>
        <p:spPr/>
        <p:txBody>
          <a:bodyPr/>
          <a:lstStyle/>
          <a:p>
            <a:r>
              <a:rPr lang="en-US" altLang="ko-KR" dirty="0" err="1"/>
              <a:t>AudioCaps</a:t>
            </a:r>
            <a:endParaRPr lang="ko-KR" altLang="en-US" dirty="0"/>
          </a:p>
        </p:txBody>
      </p:sp>
      <p:sp>
        <p:nvSpPr>
          <p:cNvPr id="4" name="슬라이드 번호 개체 틀 3">
            <a:extLst>
              <a:ext uri="{FF2B5EF4-FFF2-40B4-BE49-F238E27FC236}">
                <a16:creationId xmlns:a16="http://schemas.microsoft.com/office/drawing/2014/main" id="{1F2DB38B-EE65-63FA-2F16-3D9A9C034DDD}"/>
              </a:ext>
            </a:extLst>
          </p:cNvPr>
          <p:cNvSpPr>
            <a:spLocks noGrp="1"/>
          </p:cNvSpPr>
          <p:nvPr>
            <p:ph type="sldNum" sz="quarter" idx="10"/>
          </p:nvPr>
        </p:nvSpPr>
        <p:spPr/>
        <p:txBody>
          <a:bodyPr/>
          <a:lstStyle/>
          <a:p>
            <a:pPr>
              <a:defRPr/>
            </a:pPr>
            <a:fld id="{7092A07C-4710-46A3-9C28-806B597ACB99}" type="slidenum">
              <a:rPr lang="ko-KR" altLang="en-US" smtClean="0"/>
              <a:pPr>
                <a:defRPr/>
              </a:pPr>
              <a:t>24</a:t>
            </a:fld>
            <a:endParaRPr lang="ko-KR" altLang="en-US" dirty="0"/>
          </a:p>
        </p:txBody>
      </p:sp>
      <p:pic>
        <p:nvPicPr>
          <p:cNvPr id="7" name="그림 6">
            <a:extLst>
              <a:ext uri="{FF2B5EF4-FFF2-40B4-BE49-F238E27FC236}">
                <a16:creationId xmlns:a16="http://schemas.microsoft.com/office/drawing/2014/main" id="{5A66B38E-C736-EB43-879D-330F1D8B4783}"/>
              </a:ext>
            </a:extLst>
          </p:cNvPr>
          <p:cNvPicPr>
            <a:picLocks noChangeAspect="1"/>
          </p:cNvPicPr>
          <p:nvPr/>
        </p:nvPicPr>
        <p:blipFill>
          <a:blip r:embed="rId2"/>
          <a:stretch>
            <a:fillRect/>
          </a:stretch>
        </p:blipFill>
        <p:spPr>
          <a:xfrm>
            <a:off x="683568" y="2055422"/>
            <a:ext cx="7488832" cy="3526597"/>
          </a:xfrm>
          <a:prstGeom prst="rect">
            <a:avLst/>
          </a:prstGeom>
        </p:spPr>
      </p:pic>
    </p:spTree>
    <p:extLst>
      <p:ext uri="{BB962C8B-B14F-4D97-AF65-F5344CB8AC3E}">
        <p14:creationId xmlns:p14="http://schemas.microsoft.com/office/powerpoint/2010/main" val="42693752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E889AA-8F83-20AC-72AA-B7D800727A05}"/>
              </a:ext>
            </a:extLst>
          </p:cNvPr>
          <p:cNvSpPr>
            <a:spLocks noGrp="1"/>
          </p:cNvSpPr>
          <p:nvPr>
            <p:ph type="title"/>
          </p:nvPr>
        </p:nvSpPr>
        <p:spPr/>
        <p:txBody>
          <a:bodyPr/>
          <a:lstStyle/>
          <a:p>
            <a:r>
              <a:rPr lang="en-US" altLang="ko-KR" dirty="0"/>
              <a:t>Audio Datasets</a:t>
            </a:r>
            <a:endParaRPr lang="ko-KR" altLang="en-US" dirty="0"/>
          </a:p>
        </p:txBody>
      </p:sp>
      <p:sp>
        <p:nvSpPr>
          <p:cNvPr id="3" name="내용 개체 틀 2">
            <a:extLst>
              <a:ext uri="{FF2B5EF4-FFF2-40B4-BE49-F238E27FC236}">
                <a16:creationId xmlns:a16="http://schemas.microsoft.com/office/drawing/2014/main" id="{BE6C9B1A-3DBE-5807-D8D3-A4406508FF4A}"/>
              </a:ext>
            </a:extLst>
          </p:cNvPr>
          <p:cNvSpPr>
            <a:spLocks noGrp="1"/>
          </p:cNvSpPr>
          <p:nvPr>
            <p:ph idx="1"/>
          </p:nvPr>
        </p:nvSpPr>
        <p:spPr/>
        <p:txBody>
          <a:bodyPr/>
          <a:lstStyle/>
          <a:p>
            <a:r>
              <a:rPr lang="en-US" altLang="ko-KR" dirty="0"/>
              <a:t>VGG-Sound</a:t>
            </a:r>
            <a:endParaRPr lang="ko-KR" altLang="en-US" dirty="0"/>
          </a:p>
        </p:txBody>
      </p:sp>
      <p:sp>
        <p:nvSpPr>
          <p:cNvPr id="4" name="슬라이드 번호 개체 틀 3">
            <a:extLst>
              <a:ext uri="{FF2B5EF4-FFF2-40B4-BE49-F238E27FC236}">
                <a16:creationId xmlns:a16="http://schemas.microsoft.com/office/drawing/2014/main" id="{1F2DB38B-EE65-63FA-2F16-3D9A9C034DDD}"/>
              </a:ext>
            </a:extLst>
          </p:cNvPr>
          <p:cNvSpPr>
            <a:spLocks noGrp="1"/>
          </p:cNvSpPr>
          <p:nvPr>
            <p:ph type="sldNum" sz="quarter" idx="10"/>
          </p:nvPr>
        </p:nvSpPr>
        <p:spPr/>
        <p:txBody>
          <a:bodyPr/>
          <a:lstStyle/>
          <a:p>
            <a:pPr>
              <a:defRPr/>
            </a:pPr>
            <a:fld id="{7092A07C-4710-46A3-9C28-806B597ACB99}" type="slidenum">
              <a:rPr lang="ko-KR" altLang="en-US" smtClean="0"/>
              <a:pPr>
                <a:defRPr/>
              </a:pPr>
              <a:t>25</a:t>
            </a:fld>
            <a:endParaRPr lang="ko-KR" altLang="en-US" dirty="0"/>
          </a:p>
        </p:txBody>
      </p:sp>
      <p:pic>
        <p:nvPicPr>
          <p:cNvPr id="6" name="그림 5">
            <a:extLst>
              <a:ext uri="{FF2B5EF4-FFF2-40B4-BE49-F238E27FC236}">
                <a16:creationId xmlns:a16="http://schemas.microsoft.com/office/drawing/2014/main" id="{F583E9FA-4D04-A90D-A2C1-D4179BD0B163}"/>
              </a:ext>
            </a:extLst>
          </p:cNvPr>
          <p:cNvPicPr>
            <a:picLocks noChangeAspect="1"/>
          </p:cNvPicPr>
          <p:nvPr/>
        </p:nvPicPr>
        <p:blipFill>
          <a:blip r:embed="rId2"/>
          <a:stretch>
            <a:fillRect/>
          </a:stretch>
        </p:blipFill>
        <p:spPr>
          <a:xfrm>
            <a:off x="647564" y="1897861"/>
            <a:ext cx="8496436" cy="3314927"/>
          </a:xfrm>
          <a:prstGeom prst="rect">
            <a:avLst/>
          </a:prstGeom>
        </p:spPr>
      </p:pic>
    </p:spTree>
    <p:extLst>
      <p:ext uri="{BB962C8B-B14F-4D97-AF65-F5344CB8AC3E}">
        <p14:creationId xmlns:p14="http://schemas.microsoft.com/office/powerpoint/2010/main" val="11534000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FD45FD6-D6A8-C60C-3369-50C1DEC47D5A}"/>
              </a:ext>
            </a:extLst>
          </p:cNvPr>
          <p:cNvSpPr>
            <a:spLocks noGrp="1"/>
          </p:cNvSpPr>
          <p:nvPr>
            <p:ph type="title"/>
          </p:nvPr>
        </p:nvSpPr>
        <p:spPr/>
        <p:txBody>
          <a:bodyPr/>
          <a:lstStyle/>
          <a:p>
            <a:r>
              <a:rPr lang="en-US" altLang="ko-KR" dirty="0"/>
              <a:t>Infrared Dataset</a:t>
            </a:r>
            <a:endParaRPr lang="ko-KR" altLang="en-US" dirty="0"/>
          </a:p>
        </p:txBody>
      </p:sp>
      <p:sp>
        <p:nvSpPr>
          <p:cNvPr id="3" name="내용 개체 틀 2">
            <a:extLst>
              <a:ext uri="{FF2B5EF4-FFF2-40B4-BE49-F238E27FC236}">
                <a16:creationId xmlns:a16="http://schemas.microsoft.com/office/drawing/2014/main" id="{9B19F82A-0DE4-C0FD-6FAD-F956A4DA21E8}"/>
              </a:ext>
            </a:extLst>
          </p:cNvPr>
          <p:cNvSpPr>
            <a:spLocks noGrp="1"/>
          </p:cNvSpPr>
          <p:nvPr>
            <p:ph idx="1"/>
          </p:nvPr>
        </p:nvSpPr>
        <p:spPr/>
        <p:txBody>
          <a:bodyPr/>
          <a:lstStyle/>
          <a:p>
            <a:r>
              <a:rPr lang="en-US" altLang="ko-KR" dirty="0"/>
              <a:t>LLVIP</a:t>
            </a:r>
            <a:endParaRPr lang="ko-KR" altLang="en-US" dirty="0"/>
          </a:p>
        </p:txBody>
      </p:sp>
      <p:sp>
        <p:nvSpPr>
          <p:cNvPr id="4" name="슬라이드 번호 개체 틀 3">
            <a:extLst>
              <a:ext uri="{FF2B5EF4-FFF2-40B4-BE49-F238E27FC236}">
                <a16:creationId xmlns:a16="http://schemas.microsoft.com/office/drawing/2014/main" id="{1479C28A-E821-A278-D1F5-7003CFBE9DF5}"/>
              </a:ext>
            </a:extLst>
          </p:cNvPr>
          <p:cNvSpPr>
            <a:spLocks noGrp="1"/>
          </p:cNvSpPr>
          <p:nvPr>
            <p:ph type="sldNum" sz="quarter" idx="10"/>
          </p:nvPr>
        </p:nvSpPr>
        <p:spPr/>
        <p:txBody>
          <a:bodyPr/>
          <a:lstStyle/>
          <a:p>
            <a:pPr>
              <a:defRPr/>
            </a:pPr>
            <a:fld id="{7092A07C-4710-46A3-9C28-806B597ACB99}" type="slidenum">
              <a:rPr lang="ko-KR" altLang="en-US" smtClean="0"/>
              <a:pPr>
                <a:defRPr/>
              </a:pPr>
              <a:t>26</a:t>
            </a:fld>
            <a:endParaRPr lang="ko-KR" altLang="en-US" dirty="0"/>
          </a:p>
        </p:txBody>
      </p:sp>
      <p:pic>
        <p:nvPicPr>
          <p:cNvPr id="6" name="그림 5">
            <a:extLst>
              <a:ext uri="{FF2B5EF4-FFF2-40B4-BE49-F238E27FC236}">
                <a16:creationId xmlns:a16="http://schemas.microsoft.com/office/drawing/2014/main" id="{689379FC-B872-A483-13D5-E98F711EDD31}"/>
              </a:ext>
            </a:extLst>
          </p:cNvPr>
          <p:cNvPicPr>
            <a:picLocks noChangeAspect="1"/>
          </p:cNvPicPr>
          <p:nvPr/>
        </p:nvPicPr>
        <p:blipFill>
          <a:blip r:embed="rId2"/>
          <a:stretch>
            <a:fillRect/>
          </a:stretch>
        </p:blipFill>
        <p:spPr>
          <a:xfrm>
            <a:off x="415622" y="1952836"/>
            <a:ext cx="8496436" cy="4352743"/>
          </a:xfrm>
          <a:prstGeom prst="rect">
            <a:avLst/>
          </a:prstGeom>
        </p:spPr>
      </p:pic>
    </p:spTree>
    <p:extLst>
      <p:ext uri="{BB962C8B-B14F-4D97-AF65-F5344CB8AC3E}">
        <p14:creationId xmlns:p14="http://schemas.microsoft.com/office/powerpoint/2010/main" val="245492980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3869672-CC34-0DB3-D4BC-A23C164A54B7}"/>
              </a:ext>
            </a:extLst>
          </p:cNvPr>
          <p:cNvSpPr>
            <a:spLocks noGrp="1"/>
          </p:cNvSpPr>
          <p:nvPr>
            <p:ph type="title"/>
          </p:nvPr>
        </p:nvSpPr>
        <p:spPr/>
        <p:txBody>
          <a:bodyPr/>
          <a:lstStyle/>
          <a:p>
            <a:r>
              <a:rPr lang="en-US" altLang="ko-KR" dirty="0"/>
              <a:t>IMU Dataset</a:t>
            </a:r>
            <a:endParaRPr lang="ko-KR" altLang="en-US" dirty="0"/>
          </a:p>
        </p:txBody>
      </p:sp>
      <p:sp>
        <p:nvSpPr>
          <p:cNvPr id="3" name="내용 개체 틀 2">
            <a:extLst>
              <a:ext uri="{FF2B5EF4-FFF2-40B4-BE49-F238E27FC236}">
                <a16:creationId xmlns:a16="http://schemas.microsoft.com/office/drawing/2014/main" id="{13BDFC95-DDB1-DB14-FDAC-BA6CC1A8FDDC}"/>
              </a:ext>
            </a:extLst>
          </p:cNvPr>
          <p:cNvSpPr>
            <a:spLocks noGrp="1"/>
          </p:cNvSpPr>
          <p:nvPr>
            <p:ph idx="1"/>
          </p:nvPr>
        </p:nvSpPr>
        <p:spPr/>
        <p:txBody>
          <a:bodyPr/>
          <a:lstStyle/>
          <a:p>
            <a:r>
              <a:rPr lang="en-US" altLang="ko-KR" dirty="0"/>
              <a:t>Ego4D</a:t>
            </a:r>
            <a:endParaRPr lang="ko-KR" altLang="en-US" dirty="0"/>
          </a:p>
        </p:txBody>
      </p:sp>
      <p:sp>
        <p:nvSpPr>
          <p:cNvPr id="4" name="슬라이드 번호 개체 틀 3">
            <a:extLst>
              <a:ext uri="{FF2B5EF4-FFF2-40B4-BE49-F238E27FC236}">
                <a16:creationId xmlns:a16="http://schemas.microsoft.com/office/drawing/2014/main" id="{3CB7CC57-6E77-C4CF-2559-C6D7C7760189}"/>
              </a:ext>
            </a:extLst>
          </p:cNvPr>
          <p:cNvSpPr>
            <a:spLocks noGrp="1"/>
          </p:cNvSpPr>
          <p:nvPr>
            <p:ph type="sldNum" sz="quarter" idx="10"/>
          </p:nvPr>
        </p:nvSpPr>
        <p:spPr/>
        <p:txBody>
          <a:bodyPr/>
          <a:lstStyle/>
          <a:p>
            <a:pPr>
              <a:defRPr/>
            </a:pPr>
            <a:fld id="{7092A07C-4710-46A3-9C28-806B597ACB99}" type="slidenum">
              <a:rPr lang="ko-KR" altLang="en-US" smtClean="0"/>
              <a:pPr>
                <a:defRPr/>
              </a:pPr>
              <a:t>27</a:t>
            </a:fld>
            <a:endParaRPr lang="ko-KR" altLang="en-US" dirty="0"/>
          </a:p>
        </p:txBody>
      </p:sp>
      <p:pic>
        <p:nvPicPr>
          <p:cNvPr id="1026" name="Picture 2">
            <a:extLst>
              <a:ext uri="{FF2B5EF4-FFF2-40B4-BE49-F238E27FC236}">
                <a16:creationId xmlns:a16="http://schemas.microsoft.com/office/drawing/2014/main" id="{B8EF8A29-0BE2-E8B8-582D-86C06F6553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5596" y="1772816"/>
            <a:ext cx="7093090" cy="451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80025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AF01A37-3E82-297C-BBA3-6B181EBAA15A}"/>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161B5D10-B3C7-D021-C6E5-E3B780570582}"/>
              </a:ext>
            </a:extLst>
          </p:cNvPr>
          <p:cNvSpPr>
            <a:spLocks noGrp="1"/>
          </p:cNvSpPr>
          <p:nvPr>
            <p:ph idx="1"/>
          </p:nvPr>
        </p:nvSpPr>
        <p:spPr/>
        <p:txBody>
          <a:bodyPr/>
          <a:lstStyle/>
          <a:p>
            <a:r>
              <a:rPr lang="en-US" altLang="ko-KR" dirty="0"/>
              <a:t>Emergent zero-shot classification</a:t>
            </a:r>
            <a:endParaRPr lang="ko-KR" altLang="en-US" dirty="0"/>
          </a:p>
        </p:txBody>
      </p:sp>
      <p:sp>
        <p:nvSpPr>
          <p:cNvPr id="4" name="슬라이드 번호 개체 틀 3">
            <a:extLst>
              <a:ext uri="{FF2B5EF4-FFF2-40B4-BE49-F238E27FC236}">
                <a16:creationId xmlns:a16="http://schemas.microsoft.com/office/drawing/2014/main" id="{F0623CB2-008C-CAE7-D0E3-7D8C89A0B715}"/>
              </a:ext>
            </a:extLst>
          </p:cNvPr>
          <p:cNvSpPr>
            <a:spLocks noGrp="1"/>
          </p:cNvSpPr>
          <p:nvPr>
            <p:ph type="sldNum" sz="quarter" idx="10"/>
          </p:nvPr>
        </p:nvSpPr>
        <p:spPr/>
        <p:txBody>
          <a:bodyPr/>
          <a:lstStyle/>
          <a:p>
            <a:pPr>
              <a:defRPr/>
            </a:pPr>
            <a:fld id="{7092A07C-4710-46A3-9C28-806B597ACB99}" type="slidenum">
              <a:rPr lang="ko-KR" altLang="en-US" smtClean="0"/>
              <a:pPr>
                <a:defRPr/>
              </a:pPr>
              <a:t>28</a:t>
            </a:fld>
            <a:endParaRPr lang="ko-KR" altLang="en-US" dirty="0"/>
          </a:p>
        </p:txBody>
      </p:sp>
      <p:pic>
        <p:nvPicPr>
          <p:cNvPr id="6" name="그림 5">
            <a:extLst>
              <a:ext uri="{FF2B5EF4-FFF2-40B4-BE49-F238E27FC236}">
                <a16:creationId xmlns:a16="http://schemas.microsoft.com/office/drawing/2014/main" id="{1019AC20-0374-B24D-5BAD-A38407CEFC18}"/>
              </a:ext>
            </a:extLst>
          </p:cNvPr>
          <p:cNvPicPr>
            <a:picLocks noChangeAspect="1"/>
          </p:cNvPicPr>
          <p:nvPr/>
        </p:nvPicPr>
        <p:blipFill>
          <a:blip r:embed="rId2"/>
          <a:stretch>
            <a:fillRect/>
          </a:stretch>
        </p:blipFill>
        <p:spPr>
          <a:xfrm>
            <a:off x="342087" y="1952836"/>
            <a:ext cx="8587631" cy="3156850"/>
          </a:xfrm>
          <a:prstGeom prst="rect">
            <a:avLst/>
          </a:prstGeom>
        </p:spPr>
      </p:pic>
    </p:spTree>
    <p:extLst>
      <p:ext uri="{BB962C8B-B14F-4D97-AF65-F5344CB8AC3E}">
        <p14:creationId xmlns:p14="http://schemas.microsoft.com/office/powerpoint/2010/main" val="260579911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6193B56-8258-7A43-9889-D2BA2E0CD3A6}"/>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CE8E7E19-F9C8-5BA7-1E03-5337B6A011C0}"/>
              </a:ext>
            </a:extLst>
          </p:cNvPr>
          <p:cNvSpPr>
            <a:spLocks noGrp="1"/>
          </p:cNvSpPr>
          <p:nvPr>
            <p:ph idx="1"/>
          </p:nvPr>
        </p:nvSpPr>
        <p:spPr/>
        <p:txBody>
          <a:bodyPr/>
          <a:lstStyle/>
          <a:p>
            <a:r>
              <a:rPr lang="en-US" altLang="ko-KR" dirty="0"/>
              <a:t>Emergent zero-shot audio retrieval and classification</a:t>
            </a:r>
            <a:endParaRPr lang="ko-KR" altLang="en-US" dirty="0"/>
          </a:p>
        </p:txBody>
      </p:sp>
      <p:sp>
        <p:nvSpPr>
          <p:cNvPr id="4" name="슬라이드 번호 개체 틀 3">
            <a:extLst>
              <a:ext uri="{FF2B5EF4-FFF2-40B4-BE49-F238E27FC236}">
                <a16:creationId xmlns:a16="http://schemas.microsoft.com/office/drawing/2014/main" id="{7436ECF9-4EB6-3162-4C19-6355E7026241}"/>
              </a:ext>
            </a:extLst>
          </p:cNvPr>
          <p:cNvSpPr>
            <a:spLocks noGrp="1"/>
          </p:cNvSpPr>
          <p:nvPr>
            <p:ph type="sldNum" sz="quarter" idx="10"/>
          </p:nvPr>
        </p:nvSpPr>
        <p:spPr/>
        <p:txBody>
          <a:bodyPr/>
          <a:lstStyle/>
          <a:p>
            <a:pPr>
              <a:defRPr/>
            </a:pPr>
            <a:fld id="{7092A07C-4710-46A3-9C28-806B597ACB99}" type="slidenum">
              <a:rPr lang="ko-KR" altLang="en-US" smtClean="0"/>
              <a:pPr>
                <a:defRPr/>
              </a:pPr>
              <a:t>29</a:t>
            </a:fld>
            <a:endParaRPr lang="ko-KR" altLang="en-US" dirty="0"/>
          </a:p>
        </p:txBody>
      </p:sp>
      <p:pic>
        <p:nvPicPr>
          <p:cNvPr id="6" name="그림 5">
            <a:extLst>
              <a:ext uri="{FF2B5EF4-FFF2-40B4-BE49-F238E27FC236}">
                <a16:creationId xmlns:a16="http://schemas.microsoft.com/office/drawing/2014/main" id="{A202A6CB-6CD9-9E3C-44D2-6DA82F069EF3}"/>
              </a:ext>
            </a:extLst>
          </p:cNvPr>
          <p:cNvPicPr>
            <a:picLocks noChangeAspect="1"/>
          </p:cNvPicPr>
          <p:nvPr/>
        </p:nvPicPr>
        <p:blipFill>
          <a:blip r:embed="rId2"/>
          <a:stretch>
            <a:fillRect/>
          </a:stretch>
        </p:blipFill>
        <p:spPr>
          <a:xfrm>
            <a:off x="1619672" y="1895627"/>
            <a:ext cx="5687219" cy="4744112"/>
          </a:xfrm>
          <a:prstGeom prst="rect">
            <a:avLst/>
          </a:prstGeom>
        </p:spPr>
      </p:pic>
    </p:spTree>
    <p:extLst>
      <p:ext uri="{BB962C8B-B14F-4D97-AF65-F5344CB8AC3E}">
        <p14:creationId xmlns:p14="http://schemas.microsoft.com/office/powerpoint/2010/main" val="1571543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DE1820-3737-1160-8E73-F1918A99F58C}"/>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4B9961FC-5A61-9A04-D112-D4B1739061C9}"/>
              </a:ext>
            </a:extLst>
          </p:cNvPr>
          <p:cNvSpPr>
            <a:spLocks noGrp="1"/>
          </p:cNvSpPr>
          <p:nvPr>
            <p:ph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3B093D86-6A80-6C69-F2AE-360EDA45B314}"/>
              </a:ext>
            </a:extLst>
          </p:cNvPr>
          <p:cNvSpPr>
            <a:spLocks noGrp="1"/>
          </p:cNvSpPr>
          <p:nvPr>
            <p:ph type="sldNum" sz="quarter" idx="10"/>
          </p:nvPr>
        </p:nvSpPr>
        <p:spPr/>
        <p:txBody>
          <a:bodyPr/>
          <a:lstStyle/>
          <a:p>
            <a:pPr>
              <a:defRPr/>
            </a:pPr>
            <a:fld id="{7092A07C-4710-46A3-9C28-806B597ACB99}" type="slidenum">
              <a:rPr lang="ko-KR" altLang="en-US" smtClean="0"/>
              <a:pPr>
                <a:defRPr/>
              </a:pPr>
              <a:t>30</a:t>
            </a:fld>
            <a:endParaRPr lang="ko-KR" altLang="en-US" dirty="0"/>
          </a:p>
        </p:txBody>
      </p:sp>
      <p:pic>
        <p:nvPicPr>
          <p:cNvPr id="6" name="그림 5">
            <a:extLst>
              <a:ext uri="{FF2B5EF4-FFF2-40B4-BE49-F238E27FC236}">
                <a16:creationId xmlns:a16="http://schemas.microsoft.com/office/drawing/2014/main" id="{F4B5A8CA-1FCB-65DE-0C02-597A1E6C4E0A}"/>
              </a:ext>
            </a:extLst>
          </p:cNvPr>
          <p:cNvPicPr>
            <a:picLocks noChangeAspect="1"/>
          </p:cNvPicPr>
          <p:nvPr/>
        </p:nvPicPr>
        <p:blipFill>
          <a:blip r:embed="rId2"/>
          <a:stretch>
            <a:fillRect/>
          </a:stretch>
        </p:blipFill>
        <p:spPr>
          <a:xfrm>
            <a:off x="1015380" y="1628800"/>
            <a:ext cx="7004237" cy="4392488"/>
          </a:xfrm>
          <a:prstGeom prst="rect">
            <a:avLst/>
          </a:prstGeom>
        </p:spPr>
      </p:pic>
    </p:spTree>
    <p:extLst>
      <p:ext uri="{BB962C8B-B14F-4D97-AF65-F5344CB8AC3E}">
        <p14:creationId xmlns:p14="http://schemas.microsoft.com/office/powerpoint/2010/main" val="369568576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E94526-05B4-B4FF-C9D9-CD588C246406}"/>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C47C7F3D-BC3F-170C-2DA1-51F2173418CE}"/>
              </a:ext>
            </a:extLst>
          </p:cNvPr>
          <p:cNvSpPr>
            <a:spLocks noGrp="1"/>
          </p:cNvSpPr>
          <p:nvPr>
            <p:ph idx="1"/>
          </p:nvPr>
        </p:nvSpPr>
        <p:spPr/>
        <p:txBody>
          <a:bodyPr/>
          <a:lstStyle/>
          <a:p>
            <a:r>
              <a:rPr lang="en-US" altLang="ko-KR" dirty="0"/>
              <a:t>Few-shot classification</a:t>
            </a:r>
            <a:endParaRPr lang="ko-KR" altLang="en-US" dirty="0"/>
          </a:p>
        </p:txBody>
      </p:sp>
      <p:sp>
        <p:nvSpPr>
          <p:cNvPr id="4" name="슬라이드 번호 개체 틀 3">
            <a:extLst>
              <a:ext uri="{FF2B5EF4-FFF2-40B4-BE49-F238E27FC236}">
                <a16:creationId xmlns:a16="http://schemas.microsoft.com/office/drawing/2014/main" id="{0C86E1BE-75F3-4E2F-BB97-A908BF017A1A}"/>
              </a:ext>
            </a:extLst>
          </p:cNvPr>
          <p:cNvSpPr>
            <a:spLocks noGrp="1"/>
          </p:cNvSpPr>
          <p:nvPr>
            <p:ph type="sldNum" sz="quarter" idx="10"/>
          </p:nvPr>
        </p:nvSpPr>
        <p:spPr/>
        <p:txBody>
          <a:bodyPr/>
          <a:lstStyle/>
          <a:p>
            <a:pPr>
              <a:defRPr/>
            </a:pPr>
            <a:fld id="{7092A07C-4710-46A3-9C28-806B597ACB99}" type="slidenum">
              <a:rPr lang="ko-KR" altLang="en-US" smtClean="0"/>
              <a:pPr>
                <a:defRPr/>
              </a:pPr>
              <a:t>31</a:t>
            </a:fld>
            <a:endParaRPr lang="ko-KR" altLang="en-US" dirty="0"/>
          </a:p>
        </p:txBody>
      </p:sp>
      <p:pic>
        <p:nvPicPr>
          <p:cNvPr id="6" name="그림 5">
            <a:extLst>
              <a:ext uri="{FF2B5EF4-FFF2-40B4-BE49-F238E27FC236}">
                <a16:creationId xmlns:a16="http://schemas.microsoft.com/office/drawing/2014/main" id="{64BE30AA-A1B7-9B17-6534-95D4254C2BA5}"/>
              </a:ext>
            </a:extLst>
          </p:cNvPr>
          <p:cNvPicPr>
            <a:picLocks noChangeAspect="1"/>
          </p:cNvPicPr>
          <p:nvPr/>
        </p:nvPicPr>
        <p:blipFill>
          <a:blip r:embed="rId2"/>
          <a:stretch>
            <a:fillRect/>
          </a:stretch>
        </p:blipFill>
        <p:spPr>
          <a:xfrm>
            <a:off x="2087724" y="1700808"/>
            <a:ext cx="5196058" cy="4686985"/>
          </a:xfrm>
          <a:prstGeom prst="rect">
            <a:avLst/>
          </a:prstGeom>
        </p:spPr>
      </p:pic>
    </p:spTree>
    <p:extLst>
      <p:ext uri="{BB962C8B-B14F-4D97-AF65-F5344CB8AC3E}">
        <p14:creationId xmlns:p14="http://schemas.microsoft.com/office/powerpoint/2010/main" val="301121453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A684E99-84C6-4D5A-14E2-8FC54B36923C}"/>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07CB542C-3325-200A-E666-43C9CF4BCDA1}"/>
              </a:ext>
            </a:extLst>
          </p:cNvPr>
          <p:cNvSpPr>
            <a:spLocks noGrp="1"/>
          </p:cNvSpPr>
          <p:nvPr>
            <p:ph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1D403D6B-F33E-765E-F86C-A9273BDE46EB}"/>
              </a:ext>
            </a:extLst>
          </p:cNvPr>
          <p:cNvSpPr>
            <a:spLocks noGrp="1"/>
          </p:cNvSpPr>
          <p:nvPr>
            <p:ph type="sldNum" sz="quarter" idx="10"/>
          </p:nvPr>
        </p:nvSpPr>
        <p:spPr/>
        <p:txBody>
          <a:bodyPr/>
          <a:lstStyle/>
          <a:p>
            <a:pPr>
              <a:defRPr/>
            </a:pPr>
            <a:fld id="{7092A07C-4710-46A3-9C28-806B597ACB99}" type="slidenum">
              <a:rPr lang="ko-KR" altLang="en-US" smtClean="0"/>
              <a:pPr>
                <a:defRPr/>
              </a:pPr>
              <a:t>32</a:t>
            </a:fld>
            <a:endParaRPr lang="ko-KR" altLang="en-US" dirty="0"/>
          </a:p>
        </p:txBody>
      </p:sp>
      <p:pic>
        <p:nvPicPr>
          <p:cNvPr id="6" name="그림 5">
            <a:extLst>
              <a:ext uri="{FF2B5EF4-FFF2-40B4-BE49-F238E27FC236}">
                <a16:creationId xmlns:a16="http://schemas.microsoft.com/office/drawing/2014/main" id="{34AD5C50-4B94-122C-8C8B-A4FFDCF028E0}"/>
              </a:ext>
            </a:extLst>
          </p:cNvPr>
          <p:cNvPicPr>
            <a:picLocks noChangeAspect="1"/>
          </p:cNvPicPr>
          <p:nvPr/>
        </p:nvPicPr>
        <p:blipFill>
          <a:blip r:embed="rId2"/>
          <a:stretch>
            <a:fillRect/>
          </a:stretch>
        </p:blipFill>
        <p:spPr>
          <a:xfrm>
            <a:off x="1367644" y="1701842"/>
            <a:ext cx="5751105" cy="4719047"/>
          </a:xfrm>
          <a:prstGeom prst="rect">
            <a:avLst/>
          </a:prstGeom>
        </p:spPr>
      </p:pic>
    </p:spTree>
    <p:extLst>
      <p:ext uri="{BB962C8B-B14F-4D97-AF65-F5344CB8AC3E}">
        <p14:creationId xmlns:p14="http://schemas.microsoft.com/office/powerpoint/2010/main" val="233756405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E94526-05B4-B4FF-C9D9-CD588C246406}"/>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C47C7F3D-BC3F-170C-2DA1-51F2173418CE}"/>
              </a:ext>
            </a:extLst>
          </p:cNvPr>
          <p:cNvSpPr>
            <a:spLocks noGrp="1"/>
          </p:cNvSpPr>
          <p:nvPr>
            <p:ph idx="1"/>
          </p:nvPr>
        </p:nvSpPr>
        <p:spPr/>
        <p:txBody>
          <a:bodyPr/>
          <a:lstStyle/>
          <a:p>
            <a:r>
              <a:rPr lang="en-US" altLang="ko-KR" dirty="0"/>
              <a:t>Object detection with audio queries</a:t>
            </a:r>
            <a:endParaRPr lang="ko-KR" altLang="en-US" dirty="0"/>
          </a:p>
        </p:txBody>
      </p:sp>
      <p:sp>
        <p:nvSpPr>
          <p:cNvPr id="4" name="슬라이드 번호 개체 틀 3">
            <a:extLst>
              <a:ext uri="{FF2B5EF4-FFF2-40B4-BE49-F238E27FC236}">
                <a16:creationId xmlns:a16="http://schemas.microsoft.com/office/drawing/2014/main" id="{0C86E1BE-75F3-4E2F-BB97-A908BF017A1A}"/>
              </a:ext>
            </a:extLst>
          </p:cNvPr>
          <p:cNvSpPr>
            <a:spLocks noGrp="1"/>
          </p:cNvSpPr>
          <p:nvPr>
            <p:ph type="sldNum" sz="quarter" idx="10"/>
          </p:nvPr>
        </p:nvSpPr>
        <p:spPr/>
        <p:txBody>
          <a:bodyPr/>
          <a:lstStyle/>
          <a:p>
            <a:pPr>
              <a:defRPr/>
            </a:pPr>
            <a:fld id="{7092A07C-4710-46A3-9C28-806B597ACB99}" type="slidenum">
              <a:rPr lang="ko-KR" altLang="en-US" smtClean="0"/>
              <a:pPr>
                <a:defRPr/>
              </a:pPr>
              <a:t>33</a:t>
            </a:fld>
            <a:endParaRPr lang="ko-KR" altLang="en-US" dirty="0"/>
          </a:p>
        </p:txBody>
      </p:sp>
      <p:pic>
        <p:nvPicPr>
          <p:cNvPr id="7" name="그림 6">
            <a:extLst>
              <a:ext uri="{FF2B5EF4-FFF2-40B4-BE49-F238E27FC236}">
                <a16:creationId xmlns:a16="http://schemas.microsoft.com/office/drawing/2014/main" id="{B2C746E7-333A-E8A5-294D-300028D2CF26}"/>
              </a:ext>
            </a:extLst>
          </p:cNvPr>
          <p:cNvPicPr>
            <a:picLocks noChangeAspect="1"/>
          </p:cNvPicPr>
          <p:nvPr/>
        </p:nvPicPr>
        <p:blipFill>
          <a:blip r:embed="rId2"/>
          <a:stretch>
            <a:fillRect/>
          </a:stretch>
        </p:blipFill>
        <p:spPr>
          <a:xfrm>
            <a:off x="1729218" y="2276872"/>
            <a:ext cx="5601482" cy="3334215"/>
          </a:xfrm>
          <a:prstGeom prst="rect">
            <a:avLst/>
          </a:prstGeom>
        </p:spPr>
      </p:pic>
    </p:spTree>
    <p:extLst>
      <p:ext uri="{BB962C8B-B14F-4D97-AF65-F5344CB8AC3E}">
        <p14:creationId xmlns:p14="http://schemas.microsoft.com/office/powerpoint/2010/main" val="409817638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EA23D5C-507B-75A3-279D-55A6F09CB609}"/>
              </a:ext>
            </a:extLst>
          </p:cNvPr>
          <p:cNvSpPr>
            <a:spLocks noGrp="1"/>
          </p:cNvSpPr>
          <p:nvPr>
            <p:ph type="title"/>
          </p:nvPr>
        </p:nvSpPr>
        <p:spPr/>
        <p:txBody>
          <a:bodyPr/>
          <a:lstStyle/>
          <a:p>
            <a:r>
              <a:rPr lang="en-US" altLang="ko-KR" dirty="0"/>
              <a:t>Ablation Study </a:t>
            </a:r>
            <a:endParaRPr lang="ko-KR" altLang="en-US" dirty="0"/>
          </a:p>
        </p:txBody>
      </p:sp>
      <p:sp>
        <p:nvSpPr>
          <p:cNvPr id="3" name="내용 개체 틀 2">
            <a:extLst>
              <a:ext uri="{FF2B5EF4-FFF2-40B4-BE49-F238E27FC236}">
                <a16:creationId xmlns:a16="http://schemas.microsoft.com/office/drawing/2014/main" id="{D1ACDEBB-2DD9-60E0-0A86-73C143937457}"/>
              </a:ext>
            </a:extLst>
          </p:cNvPr>
          <p:cNvSpPr>
            <a:spLocks noGrp="1"/>
          </p:cNvSpPr>
          <p:nvPr>
            <p:ph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42D23A5F-B5F7-6660-584E-4F95324F5E08}"/>
              </a:ext>
            </a:extLst>
          </p:cNvPr>
          <p:cNvSpPr>
            <a:spLocks noGrp="1"/>
          </p:cNvSpPr>
          <p:nvPr>
            <p:ph type="sldNum" sz="quarter" idx="10"/>
          </p:nvPr>
        </p:nvSpPr>
        <p:spPr/>
        <p:txBody>
          <a:bodyPr/>
          <a:lstStyle/>
          <a:p>
            <a:pPr>
              <a:defRPr/>
            </a:pPr>
            <a:fld id="{7092A07C-4710-46A3-9C28-806B597ACB99}" type="slidenum">
              <a:rPr lang="ko-KR" altLang="en-US" smtClean="0"/>
              <a:pPr>
                <a:defRPr/>
              </a:pPr>
              <a:t>34</a:t>
            </a:fld>
            <a:endParaRPr lang="ko-KR" altLang="en-US" dirty="0"/>
          </a:p>
        </p:txBody>
      </p:sp>
      <p:pic>
        <p:nvPicPr>
          <p:cNvPr id="6" name="그림 5">
            <a:extLst>
              <a:ext uri="{FF2B5EF4-FFF2-40B4-BE49-F238E27FC236}">
                <a16:creationId xmlns:a16="http://schemas.microsoft.com/office/drawing/2014/main" id="{59F1A495-54FD-F2AC-FE27-D93B82A1D138}"/>
              </a:ext>
            </a:extLst>
          </p:cNvPr>
          <p:cNvPicPr>
            <a:picLocks noChangeAspect="1"/>
          </p:cNvPicPr>
          <p:nvPr/>
        </p:nvPicPr>
        <p:blipFill>
          <a:blip r:embed="rId2"/>
          <a:stretch>
            <a:fillRect/>
          </a:stretch>
        </p:blipFill>
        <p:spPr>
          <a:xfrm>
            <a:off x="214282" y="1956386"/>
            <a:ext cx="8748300" cy="3084756"/>
          </a:xfrm>
          <a:prstGeom prst="rect">
            <a:avLst/>
          </a:prstGeom>
        </p:spPr>
      </p:pic>
    </p:spTree>
    <p:extLst>
      <p:ext uri="{BB962C8B-B14F-4D97-AF65-F5344CB8AC3E}">
        <p14:creationId xmlns:p14="http://schemas.microsoft.com/office/powerpoint/2010/main" val="423848577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A6EB5E-CD67-232A-1981-D594C1EDFD8C}"/>
              </a:ext>
            </a:extLst>
          </p:cNvPr>
          <p:cNvSpPr>
            <a:spLocks noGrp="1"/>
          </p:cNvSpPr>
          <p:nvPr>
            <p:ph type="title"/>
          </p:nvPr>
        </p:nvSpPr>
        <p:spPr/>
        <p:txBody>
          <a:bodyPr/>
          <a:lstStyle/>
          <a:p>
            <a:r>
              <a:rPr lang="en-US" altLang="ko-KR" dirty="0"/>
              <a:t>Q&amp;A </a:t>
            </a:r>
            <a:endParaRPr lang="ko-KR" altLang="en-US" dirty="0"/>
          </a:p>
        </p:txBody>
      </p:sp>
      <p:sp>
        <p:nvSpPr>
          <p:cNvPr id="3" name="내용 개체 틀 2">
            <a:extLst>
              <a:ext uri="{FF2B5EF4-FFF2-40B4-BE49-F238E27FC236}">
                <a16:creationId xmlns:a16="http://schemas.microsoft.com/office/drawing/2014/main" id="{63A772B5-1EC8-A4D3-A0CC-4C505CA07467}"/>
              </a:ext>
            </a:extLst>
          </p:cNvPr>
          <p:cNvSpPr>
            <a:spLocks noGrp="1"/>
          </p:cNvSpPr>
          <p:nvPr>
            <p:ph idx="1"/>
          </p:nvPr>
        </p:nvSpPr>
        <p:spPr/>
        <p:txBody>
          <a:bodyPr/>
          <a:lstStyle/>
          <a:p>
            <a:pPr marL="0" indent="0" algn="ctr">
              <a:buNone/>
            </a:pPr>
            <a:endParaRPr lang="en-US" altLang="ko-KR" sz="11500" dirty="0"/>
          </a:p>
          <a:p>
            <a:pPr marL="0" indent="0" algn="ctr">
              <a:buNone/>
            </a:pPr>
            <a:r>
              <a:rPr lang="en-US" altLang="ko-KR" sz="8800" dirty="0"/>
              <a:t>Q &amp; A </a:t>
            </a:r>
            <a:endParaRPr lang="ko-KR" altLang="en-US" sz="8800" dirty="0"/>
          </a:p>
        </p:txBody>
      </p:sp>
      <p:sp>
        <p:nvSpPr>
          <p:cNvPr id="4" name="슬라이드 번호 개체 틀 3">
            <a:extLst>
              <a:ext uri="{FF2B5EF4-FFF2-40B4-BE49-F238E27FC236}">
                <a16:creationId xmlns:a16="http://schemas.microsoft.com/office/drawing/2014/main" id="{23DDC8B4-F6E5-B5EF-2BD6-CE4B053DC9BF}"/>
              </a:ext>
            </a:extLst>
          </p:cNvPr>
          <p:cNvSpPr>
            <a:spLocks noGrp="1"/>
          </p:cNvSpPr>
          <p:nvPr>
            <p:ph type="sldNum" sz="quarter" idx="10"/>
          </p:nvPr>
        </p:nvSpPr>
        <p:spPr/>
        <p:txBody>
          <a:bodyPr/>
          <a:lstStyle/>
          <a:p>
            <a:pPr>
              <a:defRPr/>
            </a:pPr>
            <a:fld id="{7092A07C-4710-46A3-9C28-806B597ACB99}" type="slidenum">
              <a:rPr lang="ko-KR" altLang="en-US" smtClean="0"/>
              <a:pPr>
                <a:defRPr/>
              </a:pPr>
              <a:t>35</a:t>
            </a:fld>
            <a:endParaRPr lang="ko-KR" altLang="en-US" dirty="0"/>
          </a:p>
        </p:txBody>
      </p:sp>
    </p:spTree>
    <p:extLst>
      <p:ext uri="{BB962C8B-B14F-4D97-AF65-F5344CB8AC3E}">
        <p14:creationId xmlns:p14="http://schemas.microsoft.com/office/powerpoint/2010/main" val="255788277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A6EB5E-CD67-232A-1981-D594C1EDFD8C}"/>
              </a:ext>
            </a:extLst>
          </p:cNvPr>
          <p:cNvSpPr>
            <a:spLocks noGrp="1"/>
          </p:cNvSpPr>
          <p:nvPr>
            <p:ph type="title"/>
          </p:nvPr>
        </p:nvSpPr>
        <p:spPr/>
        <p:txBody>
          <a:bodyPr/>
          <a:lstStyle/>
          <a:p>
            <a:r>
              <a:rPr lang="en-US" altLang="ko-KR" dirty="0"/>
              <a:t>Thank you for your attention!!</a:t>
            </a:r>
            <a:endParaRPr lang="ko-KR" altLang="en-US" dirty="0"/>
          </a:p>
        </p:txBody>
      </p:sp>
      <p:sp>
        <p:nvSpPr>
          <p:cNvPr id="3" name="내용 개체 틀 2">
            <a:extLst>
              <a:ext uri="{FF2B5EF4-FFF2-40B4-BE49-F238E27FC236}">
                <a16:creationId xmlns:a16="http://schemas.microsoft.com/office/drawing/2014/main" id="{63A772B5-1EC8-A4D3-A0CC-4C505CA07467}"/>
              </a:ext>
            </a:extLst>
          </p:cNvPr>
          <p:cNvSpPr>
            <a:spLocks noGrp="1"/>
          </p:cNvSpPr>
          <p:nvPr>
            <p:ph idx="1"/>
          </p:nvPr>
        </p:nvSpPr>
        <p:spPr/>
        <p:txBody>
          <a:bodyPr/>
          <a:lstStyle/>
          <a:p>
            <a:pPr marL="0" indent="0" algn="ctr">
              <a:buNone/>
            </a:pPr>
            <a:endParaRPr lang="en-US" altLang="ko-KR" sz="6600" dirty="0"/>
          </a:p>
          <a:p>
            <a:pPr marL="0" indent="0" algn="ctr">
              <a:buNone/>
            </a:pPr>
            <a:r>
              <a:rPr lang="en-US" altLang="ko-KR" sz="6600" dirty="0"/>
              <a:t>Thank you </a:t>
            </a:r>
            <a:br>
              <a:rPr lang="en-US" altLang="ko-KR" sz="6600" dirty="0"/>
            </a:br>
            <a:r>
              <a:rPr lang="en-US" altLang="ko-KR" sz="6600" dirty="0"/>
              <a:t>for your attention!!</a:t>
            </a:r>
            <a:endParaRPr lang="ko-KR" altLang="en-US" sz="6000" dirty="0"/>
          </a:p>
        </p:txBody>
      </p:sp>
      <p:sp>
        <p:nvSpPr>
          <p:cNvPr id="4" name="슬라이드 번호 개체 틀 3">
            <a:extLst>
              <a:ext uri="{FF2B5EF4-FFF2-40B4-BE49-F238E27FC236}">
                <a16:creationId xmlns:a16="http://schemas.microsoft.com/office/drawing/2014/main" id="{23DDC8B4-F6E5-B5EF-2BD6-CE4B053DC9BF}"/>
              </a:ext>
            </a:extLst>
          </p:cNvPr>
          <p:cNvSpPr>
            <a:spLocks noGrp="1"/>
          </p:cNvSpPr>
          <p:nvPr>
            <p:ph type="sldNum" sz="quarter" idx="10"/>
          </p:nvPr>
        </p:nvSpPr>
        <p:spPr/>
        <p:txBody>
          <a:bodyPr/>
          <a:lstStyle/>
          <a:p>
            <a:pPr>
              <a:defRPr/>
            </a:pPr>
            <a:fld id="{7092A07C-4710-46A3-9C28-806B597ACB99}" type="slidenum">
              <a:rPr lang="ko-KR" altLang="en-US" smtClean="0"/>
              <a:pPr>
                <a:defRPr/>
              </a:pPr>
              <a:t>36</a:t>
            </a:fld>
            <a:endParaRPr lang="ko-KR" altLang="en-US" dirty="0"/>
          </a:p>
        </p:txBody>
      </p:sp>
    </p:spTree>
    <p:extLst>
      <p:ext uri="{BB962C8B-B14F-4D97-AF65-F5344CB8AC3E}">
        <p14:creationId xmlns:p14="http://schemas.microsoft.com/office/powerpoint/2010/main" val="4042031010"/>
      </p:ext>
    </p:extLst>
  </p:cSld>
  <p:clrMapOvr>
    <a:masterClrMapping/>
  </p:clrMapOvr>
  <p:transition>
    <p:fade/>
  </p:transition>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dirty="0" smtClean="0">
            <a:latin typeface="Calibri" panose="020F0502020204030204" pitchFamily="34" charset="0"/>
            <a:ea typeface="08서울남산체 B" panose="02020603020101020101" pitchFamily="18" charset="-127"/>
            <a:cs typeface="Times New Roman" pitchFamily="18" charset="0"/>
          </a:defRPr>
        </a:defP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61685</TotalTime>
  <Words>964</Words>
  <Application>Microsoft Office PowerPoint</Application>
  <PresentationFormat>화면 슬라이드 쇼(4:3)</PresentationFormat>
  <Paragraphs>114</Paragraphs>
  <Slides>36</Slides>
  <Notes>0</Notes>
  <HiddenSlides>0</HiddenSlides>
  <MMClips>1</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36</vt:i4>
      </vt:variant>
    </vt:vector>
  </HeadingPairs>
  <TitlesOfParts>
    <vt:vector size="43" baseType="lpstr">
      <vt:lpstr>굴림</vt:lpstr>
      <vt:lpstr>맑은 고딕</vt:lpstr>
      <vt:lpstr>Arial</vt:lpstr>
      <vt:lpstr>Calibri</vt:lpstr>
      <vt:lpstr>Lato</vt:lpstr>
      <vt:lpstr>Wingdings</vt:lpstr>
      <vt:lpstr>Office 테마</vt:lpstr>
      <vt:lpstr>IMAGEBIND:  One Embedding Space To Bind Them All</vt:lpstr>
      <vt:lpstr>ImageBind</vt:lpstr>
      <vt:lpstr>Power of Image</vt:lpstr>
      <vt:lpstr>Related Works </vt:lpstr>
      <vt:lpstr>Related Works</vt:lpstr>
      <vt:lpstr>Related Works </vt:lpstr>
      <vt:lpstr>Limitations of Previous Works</vt:lpstr>
      <vt:lpstr>Contribution of this paper</vt:lpstr>
      <vt:lpstr>Q&amp;A </vt:lpstr>
      <vt:lpstr>Method</vt:lpstr>
      <vt:lpstr>Binding Modalities with Images</vt:lpstr>
      <vt:lpstr>Binding Modalities with Images</vt:lpstr>
      <vt:lpstr>Implementation Details</vt:lpstr>
      <vt:lpstr>Q&amp;A </vt:lpstr>
      <vt:lpstr>Image Classification Datasets</vt:lpstr>
      <vt:lpstr>Image Classification Datasets</vt:lpstr>
      <vt:lpstr>Video Datasets</vt:lpstr>
      <vt:lpstr>Video Datasets</vt:lpstr>
      <vt:lpstr>Depth Datasets</vt:lpstr>
      <vt:lpstr>Depth Datasets</vt:lpstr>
      <vt:lpstr>Audio Datasets</vt:lpstr>
      <vt:lpstr>Audio Datasets</vt:lpstr>
      <vt:lpstr>Audio Datasets</vt:lpstr>
      <vt:lpstr>Audio Datasets</vt:lpstr>
      <vt:lpstr>Audio Datasets</vt:lpstr>
      <vt:lpstr>Infrared Dataset</vt:lpstr>
      <vt:lpstr>IMU Dataset</vt:lpstr>
      <vt:lpstr>Experiments</vt:lpstr>
      <vt:lpstr>Experiments</vt:lpstr>
      <vt:lpstr>Experiments</vt:lpstr>
      <vt:lpstr>Experiments</vt:lpstr>
      <vt:lpstr>Experiments</vt:lpstr>
      <vt:lpstr>Experiments</vt:lpstr>
      <vt:lpstr>Ablation Study </vt:lpstr>
      <vt:lpstr>Q&amp;A </vt:lpstr>
      <vt:lpstr>Thank you for your attention!!</vt:lpstr>
    </vt:vector>
  </TitlesOfParts>
  <Company>U of 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zelos</dc:creator>
  <cp:lastModifiedBy>kimbh.mail@gmail.com</cp:lastModifiedBy>
  <cp:revision>2976</cp:revision>
  <cp:lastPrinted>2016-03-04T01:44:28Z</cp:lastPrinted>
  <dcterms:created xsi:type="dcterms:W3CDTF">2008-03-01T21:32:25Z</dcterms:created>
  <dcterms:modified xsi:type="dcterms:W3CDTF">2023-06-25T11:55:26Z</dcterms:modified>
</cp:coreProperties>
</file>