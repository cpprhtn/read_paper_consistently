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3" r:id="rId1"/>
  </p:sldMasterIdLst>
  <p:notesMasterIdLst>
    <p:notesMasterId r:id="rId32"/>
  </p:notesMasterIdLst>
  <p:handoutMasterIdLst>
    <p:handoutMasterId r:id="rId33"/>
  </p:handoutMasterIdLst>
  <p:sldIdLst>
    <p:sldId id="934" r:id="rId2"/>
    <p:sldId id="1318" r:id="rId3"/>
    <p:sldId id="1333" r:id="rId4"/>
    <p:sldId id="1342" r:id="rId5"/>
    <p:sldId id="1343" r:id="rId6"/>
    <p:sldId id="1345" r:id="rId7"/>
    <p:sldId id="1344" r:id="rId8"/>
    <p:sldId id="1334" r:id="rId9"/>
    <p:sldId id="1337" r:id="rId10"/>
    <p:sldId id="1320" r:id="rId11"/>
    <p:sldId id="1348" r:id="rId12"/>
    <p:sldId id="1349" r:id="rId13"/>
    <p:sldId id="1346" r:id="rId14"/>
    <p:sldId id="1322" r:id="rId15"/>
    <p:sldId id="1326" r:id="rId16"/>
    <p:sldId id="1327" r:id="rId17"/>
    <p:sldId id="1323" r:id="rId18"/>
    <p:sldId id="1324" r:id="rId19"/>
    <p:sldId id="1325" r:id="rId20"/>
    <p:sldId id="1338" r:id="rId21"/>
    <p:sldId id="1332" r:id="rId22"/>
    <p:sldId id="1328" r:id="rId23"/>
    <p:sldId id="1329" r:id="rId24"/>
    <p:sldId id="1330" r:id="rId25"/>
    <p:sldId id="1331" r:id="rId26"/>
    <p:sldId id="1351" r:id="rId27"/>
    <p:sldId id="1350" r:id="rId28"/>
    <p:sldId id="1336" r:id="rId29"/>
    <p:sldId id="1340" r:id="rId30"/>
    <p:sldId id="1339" r:id="rId31"/>
  </p:sldIdLst>
  <p:sldSz cx="9144000" cy="6858000" type="screen4x3"/>
  <p:notesSz cx="6742113" cy="9874250"/>
  <p:defaultTex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10">
          <p15:clr>
            <a:srgbClr val="A4A3A4"/>
          </p15:clr>
        </p15:guide>
        <p15:guide id="2" pos="21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61D6FF"/>
    <a:srgbClr val="E9EDF4"/>
    <a:srgbClr val="55759C"/>
    <a:srgbClr val="4F81BD"/>
    <a:srgbClr val="FFC000"/>
    <a:srgbClr val="66FF33"/>
    <a:srgbClr val="FF9900"/>
    <a:srgbClr val="595959"/>
    <a:srgbClr val="BCBC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테마 스타일 2 - 강조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테마 스타일 1 - 강조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테마 스타일 1 - 강조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테마 스타일 1 - 강조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테마 스타일 2 - 강조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보통 스타일 1 - 강조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어두운 스타일 1 - 강조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어두운 스타일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A488322-F2BA-4B5B-9748-0D474271808F}" styleName="보통 스타일 3 - 강조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A107856-5554-42FB-B03E-39F5DBC370BA}" styleName="보통 스타일 4 - 강조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밝은 스타일 3 - 강조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E3FDE45-AF77-4B5C-9715-49D594BDF05E}" styleName="밝은 스타일 1 - 강조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밝은 스타일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2833802-FEF1-4C79-8D5D-14CF1EAF98D9}" styleName="밝은 스타일 2 - 강조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밝은 스타일 3 - 강조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44" autoAdjust="0"/>
    <p:restoredTop sz="92852" autoAdjust="0"/>
  </p:normalViewPr>
  <p:slideViewPr>
    <p:cSldViewPr snapToObjects="1">
      <p:cViewPr>
        <p:scale>
          <a:sx n="100" d="100"/>
          <a:sy n="100" d="100"/>
        </p:scale>
        <p:origin x="2052" y="210"/>
      </p:cViewPr>
      <p:guideLst>
        <p:guide orient="horz" pos="2160"/>
        <p:guide pos="2880"/>
      </p:guideLst>
    </p:cSldViewPr>
  </p:slideViewPr>
  <p:outlineViewPr>
    <p:cViewPr>
      <p:scale>
        <a:sx n="33" d="100"/>
        <a:sy n="33" d="100"/>
      </p:scale>
      <p:origin x="0" y="1920"/>
    </p:cViewPr>
  </p:outlineViewPr>
  <p:notesTextViewPr>
    <p:cViewPr>
      <p:scale>
        <a:sx n="3" d="2"/>
        <a:sy n="3" d="2"/>
      </p:scale>
      <p:origin x="0" y="0"/>
    </p:cViewPr>
  </p:notesTextViewPr>
  <p:sorterViewPr>
    <p:cViewPr>
      <p:scale>
        <a:sx n="66" d="100"/>
        <a:sy n="66" d="100"/>
      </p:scale>
      <p:origin x="0" y="0"/>
    </p:cViewPr>
  </p:sorterViewPr>
  <p:notesViewPr>
    <p:cSldViewPr snapToObjects="1">
      <p:cViewPr varScale="1">
        <p:scale>
          <a:sx n="101" d="100"/>
          <a:sy n="101" d="100"/>
        </p:scale>
        <p:origin x="-3018" y="-90"/>
      </p:cViewPr>
      <p:guideLst>
        <p:guide orient="horz" pos="3110"/>
        <p:guide pos="2124"/>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21582" cy="493713"/>
          </a:xfrm>
          <a:prstGeom prst="rect">
            <a:avLst/>
          </a:prstGeom>
        </p:spPr>
        <p:txBody>
          <a:bodyPr vert="horz" lIns="90845" tIns="45423" rIns="90845" bIns="45423" rtlCol="0"/>
          <a:lstStyle>
            <a:lvl1pPr algn="l">
              <a:defRPr sz="1200"/>
            </a:lvl1pPr>
          </a:lstStyle>
          <a:p>
            <a:endParaRPr lang="ko-KR" altLang="en-US"/>
          </a:p>
        </p:txBody>
      </p:sp>
      <p:sp>
        <p:nvSpPr>
          <p:cNvPr id="3" name="날짜 개체 틀 2"/>
          <p:cNvSpPr>
            <a:spLocks noGrp="1"/>
          </p:cNvSpPr>
          <p:nvPr>
            <p:ph type="dt" sz="quarter" idx="1"/>
          </p:nvPr>
        </p:nvSpPr>
        <p:spPr>
          <a:xfrm>
            <a:off x="3818972" y="0"/>
            <a:ext cx="2921582" cy="493713"/>
          </a:xfrm>
          <a:prstGeom prst="rect">
            <a:avLst/>
          </a:prstGeom>
        </p:spPr>
        <p:txBody>
          <a:bodyPr vert="horz" lIns="90845" tIns="45423" rIns="90845" bIns="45423" rtlCol="0"/>
          <a:lstStyle>
            <a:lvl1pPr algn="r">
              <a:defRPr sz="1200"/>
            </a:lvl1pPr>
          </a:lstStyle>
          <a:p>
            <a:fld id="{85C30BFA-5C6F-4751-A60F-1891D9D032AD}" type="datetimeFigureOut">
              <a:rPr lang="ko-KR" altLang="en-US" smtClean="0"/>
              <a:pPr/>
              <a:t>2022-12-11</a:t>
            </a:fld>
            <a:endParaRPr lang="ko-KR" altLang="en-US"/>
          </a:p>
        </p:txBody>
      </p:sp>
      <p:sp>
        <p:nvSpPr>
          <p:cNvPr id="4" name="바닥글 개체 틀 3"/>
          <p:cNvSpPr>
            <a:spLocks noGrp="1"/>
          </p:cNvSpPr>
          <p:nvPr>
            <p:ph type="ftr" sz="quarter" idx="2"/>
          </p:nvPr>
        </p:nvSpPr>
        <p:spPr>
          <a:xfrm>
            <a:off x="1" y="9378824"/>
            <a:ext cx="2921582" cy="493713"/>
          </a:xfrm>
          <a:prstGeom prst="rect">
            <a:avLst/>
          </a:prstGeom>
        </p:spPr>
        <p:txBody>
          <a:bodyPr vert="horz" lIns="90845" tIns="45423" rIns="90845" bIns="45423"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18972" y="9378824"/>
            <a:ext cx="2921582" cy="493713"/>
          </a:xfrm>
          <a:prstGeom prst="rect">
            <a:avLst/>
          </a:prstGeom>
        </p:spPr>
        <p:txBody>
          <a:bodyPr vert="horz" lIns="90845" tIns="45423" rIns="90845" bIns="45423" rtlCol="0" anchor="b"/>
          <a:lstStyle>
            <a:lvl1pPr algn="r">
              <a:defRPr sz="1200"/>
            </a:lvl1pPr>
          </a:lstStyle>
          <a:p>
            <a:fld id="{E885786E-BF44-4B4E-B288-71366A733281}" type="slidenum">
              <a:rPr lang="ko-KR" altLang="en-US" smtClean="0"/>
              <a:pPr/>
              <a:t>‹#›</a:t>
            </a:fld>
            <a:endParaRPr lang="ko-KR" altLang="en-US"/>
          </a:p>
        </p:txBody>
      </p:sp>
    </p:spTree>
    <p:extLst>
      <p:ext uri="{BB962C8B-B14F-4D97-AF65-F5344CB8AC3E}">
        <p14:creationId xmlns:p14="http://schemas.microsoft.com/office/powerpoint/2010/main" val="19146193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21582" cy="493713"/>
          </a:xfrm>
          <a:prstGeom prst="rect">
            <a:avLst/>
          </a:prstGeom>
        </p:spPr>
        <p:txBody>
          <a:bodyPr vert="horz" lIns="90845" tIns="45423" rIns="90845" bIns="45423" rtlCol="0"/>
          <a:lstStyle>
            <a:lvl1pPr algn="l" fontAlgn="auto">
              <a:spcBef>
                <a:spcPts val="0"/>
              </a:spcBef>
              <a:spcAft>
                <a:spcPts val="0"/>
              </a:spcAft>
              <a:defRPr kumimoji="0" sz="1200">
                <a:latin typeface="+mn-lt"/>
                <a:ea typeface="+mn-ea"/>
              </a:defRPr>
            </a:lvl1pPr>
          </a:lstStyle>
          <a:p>
            <a:pPr>
              <a:defRPr/>
            </a:pPr>
            <a:endParaRPr lang="ko-KR" altLang="en-US"/>
          </a:p>
        </p:txBody>
      </p:sp>
      <p:sp>
        <p:nvSpPr>
          <p:cNvPr id="3" name="날짜 개체 틀 2"/>
          <p:cNvSpPr>
            <a:spLocks noGrp="1"/>
          </p:cNvSpPr>
          <p:nvPr>
            <p:ph type="dt" idx="1"/>
          </p:nvPr>
        </p:nvSpPr>
        <p:spPr>
          <a:xfrm>
            <a:off x="3818972" y="0"/>
            <a:ext cx="2921582" cy="493713"/>
          </a:xfrm>
          <a:prstGeom prst="rect">
            <a:avLst/>
          </a:prstGeom>
        </p:spPr>
        <p:txBody>
          <a:bodyPr vert="horz" lIns="90845" tIns="45423" rIns="90845" bIns="45423" rtlCol="0"/>
          <a:lstStyle>
            <a:lvl1pPr algn="r" fontAlgn="auto">
              <a:spcBef>
                <a:spcPts val="0"/>
              </a:spcBef>
              <a:spcAft>
                <a:spcPts val="0"/>
              </a:spcAft>
              <a:defRPr kumimoji="0" sz="1200">
                <a:latin typeface="+mn-lt"/>
                <a:ea typeface="+mn-ea"/>
              </a:defRPr>
            </a:lvl1pPr>
          </a:lstStyle>
          <a:p>
            <a:pPr>
              <a:defRPr/>
            </a:pPr>
            <a:fld id="{5688D100-9705-4248-87A6-B01B0E7D9CB9}" type="datetimeFigureOut">
              <a:rPr lang="ko-KR" altLang="en-US"/>
              <a:pPr>
                <a:defRPr/>
              </a:pPr>
              <a:t>2022-12-11</a:t>
            </a:fld>
            <a:endParaRPr lang="ko-KR" altLang="en-US"/>
          </a:p>
        </p:txBody>
      </p:sp>
      <p:sp>
        <p:nvSpPr>
          <p:cNvPr id="4" name="슬라이드 이미지 개체 틀 3"/>
          <p:cNvSpPr>
            <a:spLocks noGrp="1" noRot="1" noChangeAspect="1"/>
          </p:cNvSpPr>
          <p:nvPr>
            <p:ph type="sldImg" idx="2"/>
          </p:nvPr>
        </p:nvSpPr>
        <p:spPr>
          <a:xfrm>
            <a:off x="903288" y="741363"/>
            <a:ext cx="4935537" cy="3703637"/>
          </a:xfrm>
          <a:prstGeom prst="rect">
            <a:avLst/>
          </a:prstGeom>
          <a:noFill/>
          <a:ln w="12700">
            <a:solidFill>
              <a:prstClr val="black"/>
            </a:solidFill>
          </a:ln>
        </p:spPr>
        <p:txBody>
          <a:bodyPr vert="horz" lIns="90845" tIns="45423" rIns="90845" bIns="45423" rtlCol="0" anchor="ctr"/>
          <a:lstStyle/>
          <a:p>
            <a:pPr lvl="0"/>
            <a:endParaRPr lang="ko-KR" altLang="en-US" noProof="0"/>
          </a:p>
        </p:txBody>
      </p:sp>
      <p:sp>
        <p:nvSpPr>
          <p:cNvPr id="5" name="슬라이드 노트 개체 틀 4"/>
          <p:cNvSpPr>
            <a:spLocks noGrp="1"/>
          </p:cNvSpPr>
          <p:nvPr>
            <p:ph type="body" sz="quarter" idx="3"/>
          </p:nvPr>
        </p:nvSpPr>
        <p:spPr>
          <a:xfrm>
            <a:off x="674212" y="4690269"/>
            <a:ext cx="5393690" cy="4443412"/>
          </a:xfrm>
          <a:prstGeom prst="rect">
            <a:avLst/>
          </a:prstGeom>
        </p:spPr>
        <p:txBody>
          <a:bodyPr vert="horz" lIns="90845" tIns="45423" rIns="90845" bIns="45423"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1" y="9378824"/>
            <a:ext cx="2921582" cy="493713"/>
          </a:xfrm>
          <a:prstGeom prst="rect">
            <a:avLst/>
          </a:prstGeom>
        </p:spPr>
        <p:txBody>
          <a:bodyPr vert="horz" lIns="90845" tIns="45423" rIns="90845" bIns="45423" rtlCol="0" anchor="b"/>
          <a:lstStyle>
            <a:lvl1pPr algn="l" fontAlgn="auto">
              <a:spcBef>
                <a:spcPts val="0"/>
              </a:spcBef>
              <a:spcAft>
                <a:spcPts val="0"/>
              </a:spcAft>
              <a:defRPr kumimoji="0" sz="1200">
                <a:latin typeface="+mn-lt"/>
                <a:ea typeface="+mn-ea"/>
              </a:defRPr>
            </a:lvl1pPr>
          </a:lstStyle>
          <a:p>
            <a:pPr>
              <a:defRPr/>
            </a:pPr>
            <a:endParaRPr lang="ko-KR" altLang="en-US"/>
          </a:p>
        </p:txBody>
      </p:sp>
      <p:sp>
        <p:nvSpPr>
          <p:cNvPr id="7" name="슬라이드 번호 개체 틀 6"/>
          <p:cNvSpPr>
            <a:spLocks noGrp="1"/>
          </p:cNvSpPr>
          <p:nvPr>
            <p:ph type="sldNum" sz="quarter" idx="5"/>
          </p:nvPr>
        </p:nvSpPr>
        <p:spPr>
          <a:xfrm>
            <a:off x="3818972" y="9378824"/>
            <a:ext cx="2921582" cy="493713"/>
          </a:xfrm>
          <a:prstGeom prst="rect">
            <a:avLst/>
          </a:prstGeom>
        </p:spPr>
        <p:txBody>
          <a:bodyPr vert="horz" lIns="90845" tIns="45423" rIns="90845" bIns="45423" rtlCol="0" anchor="b"/>
          <a:lstStyle>
            <a:lvl1pPr algn="r" fontAlgn="auto">
              <a:spcBef>
                <a:spcPts val="0"/>
              </a:spcBef>
              <a:spcAft>
                <a:spcPts val="0"/>
              </a:spcAft>
              <a:defRPr kumimoji="0" sz="1200">
                <a:latin typeface="+mn-lt"/>
                <a:ea typeface="+mn-ea"/>
              </a:defRPr>
            </a:lvl1pPr>
          </a:lstStyle>
          <a:p>
            <a:pPr>
              <a:defRPr/>
            </a:pPr>
            <a:fld id="{811EDD26-A168-4EA9-A3CB-289510ED9143}" type="slidenum">
              <a:rPr lang="ko-KR" altLang="en-US"/>
              <a:pPr>
                <a:defRPr/>
              </a:pPr>
              <a:t>‹#›</a:t>
            </a:fld>
            <a:endParaRPr lang="ko-KR" altLang="en-US"/>
          </a:p>
        </p:txBody>
      </p:sp>
    </p:spTree>
    <p:extLst>
      <p:ext uri="{BB962C8B-B14F-4D97-AF65-F5344CB8AC3E}">
        <p14:creationId xmlns:p14="http://schemas.microsoft.com/office/powerpoint/2010/main" val="1823469053"/>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a:defRPr/>
            </a:pPr>
            <a:fld id="{811EDD26-A168-4EA9-A3CB-289510ED9143}" type="slidenum">
              <a:rPr lang="ko-KR" altLang="en-US" smtClean="0"/>
              <a:pPr>
                <a:defRPr/>
              </a:pPr>
              <a:t>11</a:t>
            </a:fld>
            <a:endParaRPr lang="ko-KR" altLang="en-US"/>
          </a:p>
        </p:txBody>
      </p:sp>
    </p:spTree>
    <p:extLst>
      <p:ext uri="{BB962C8B-B14F-4D97-AF65-F5344CB8AC3E}">
        <p14:creationId xmlns:p14="http://schemas.microsoft.com/office/powerpoint/2010/main" val="796170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a:defRPr/>
            </a:pPr>
            <a:fld id="{811EDD26-A168-4EA9-A3CB-289510ED9143}" type="slidenum">
              <a:rPr lang="ko-KR" altLang="en-US" smtClean="0"/>
              <a:pPr>
                <a:defRPr/>
              </a:pPr>
              <a:t>12</a:t>
            </a:fld>
            <a:endParaRPr lang="ko-KR" altLang="en-US"/>
          </a:p>
        </p:txBody>
      </p:sp>
    </p:spTree>
    <p:extLst>
      <p:ext uri="{BB962C8B-B14F-4D97-AF65-F5344CB8AC3E}">
        <p14:creationId xmlns:p14="http://schemas.microsoft.com/office/powerpoint/2010/main" val="3807560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643042" y="2000240"/>
            <a:ext cx="7215238" cy="1714511"/>
          </a:xfrm>
          <a:solidFill>
            <a:schemeClr val="tx1"/>
          </a:solidFill>
          <a:ln/>
          <a:effectLst>
            <a:outerShdw blurRad="40000" dist="23000" dir="5400000" rotWithShape="0">
              <a:srgbClr val="000000">
                <a:alpha val="35000"/>
              </a:srgbClr>
            </a:outerShdw>
            <a:reflection blurRad="6350" stA="52000" endA="300" endPos="35000" dir="5400000" sy="-100000" algn="bl" rotWithShape="0"/>
            <a:softEdge rad="63500"/>
          </a:effectLst>
        </p:spPr>
        <p:style>
          <a:lnRef idx="1">
            <a:schemeClr val="accent3"/>
          </a:lnRef>
          <a:fillRef idx="3">
            <a:schemeClr val="accent3"/>
          </a:fillRef>
          <a:effectRef idx="2">
            <a:schemeClr val="accent3"/>
          </a:effectRef>
          <a:fontRef idx="none"/>
        </p:style>
        <p:txBody>
          <a:bodyPr>
            <a:normAutofit/>
          </a:bodyPr>
          <a:lstStyle>
            <a:lvl1pPr marL="93663" indent="0" algn="l">
              <a:defRPr sz="2800" b="0" cap="none" spc="0" baseline="0">
                <a:ln w="12700">
                  <a:noFill/>
                  <a:prstDash val="solid"/>
                </a:ln>
                <a:solidFill>
                  <a:schemeClr val="bg1"/>
                </a:solidFill>
                <a:effectLst>
                  <a:outerShdw blurRad="50800" dist="38100" dir="18900000" algn="bl" rotWithShape="0">
                    <a:prstClr val="black">
                      <a:alpha val="40000"/>
                    </a:prstClr>
                  </a:outerShdw>
                </a:effectLst>
                <a:latin typeface="+mj-ea"/>
                <a:ea typeface="+mj-ea"/>
              </a:defRPr>
            </a:lvl1pPr>
          </a:lstStyle>
          <a:p>
            <a:r>
              <a:rPr lang="ko-KR" altLang="en-US" noProof="0" dirty="0"/>
              <a:t>마스터</a:t>
            </a:r>
            <a:r>
              <a:rPr lang="en-US" altLang="ko-KR" dirty="0"/>
              <a:t> </a:t>
            </a:r>
            <a:r>
              <a:rPr lang="ko-KR" altLang="en-US" dirty="0"/>
              <a:t>제목 스타일 편집</a:t>
            </a:r>
            <a:endParaRPr lang="en-US" altLang="ko-KR" dirty="0"/>
          </a:p>
        </p:txBody>
      </p:sp>
      <p:sp>
        <p:nvSpPr>
          <p:cNvPr id="3" name="부제목 2"/>
          <p:cNvSpPr>
            <a:spLocks noGrp="1"/>
          </p:cNvSpPr>
          <p:nvPr>
            <p:ph type="subTitle" idx="1"/>
          </p:nvPr>
        </p:nvSpPr>
        <p:spPr>
          <a:xfrm>
            <a:off x="1714480" y="4286256"/>
            <a:ext cx="6715172" cy="2071702"/>
          </a:xfrm>
        </p:spPr>
        <p:txBody>
          <a:bodyPr>
            <a:normAutofit/>
          </a:bodyPr>
          <a:lstStyle>
            <a:lvl1pPr marL="74613" indent="0" algn="r">
              <a:buNone/>
              <a:defRPr sz="2000" baseline="0">
                <a:solidFill>
                  <a:schemeClr val="tx2">
                    <a:lumMod val="75000"/>
                  </a:schemeClr>
                </a:solidFill>
                <a:effectLst>
                  <a:outerShdw blurRad="50800" dist="38100" dir="2700000" algn="tl" rotWithShape="0">
                    <a:prstClr val="black">
                      <a:alpha val="40000"/>
                    </a:prstClr>
                  </a:outerShdw>
                </a:effectLst>
                <a:latin typeface="+mj-ea"/>
                <a:ea typeface="+mj-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a:t>마스터 부제목 스타일 편집</a:t>
            </a:r>
          </a:p>
        </p:txBody>
      </p:sp>
      <p:sp>
        <p:nvSpPr>
          <p:cNvPr id="17" name="모서리가 둥근 직사각형 16"/>
          <p:cNvSpPr/>
          <p:nvPr userDrawn="1"/>
        </p:nvSpPr>
        <p:spPr>
          <a:xfrm>
            <a:off x="357158" y="2000240"/>
            <a:ext cx="928694" cy="785818"/>
          </a:xfrm>
          <a:prstGeom prst="roundRect">
            <a:avLst/>
          </a:prstGeom>
          <a:solidFill>
            <a:srgbClr val="FFFF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18" name="모서리가 둥근 직사각형 17"/>
          <p:cNvSpPr/>
          <p:nvPr userDrawn="1"/>
        </p:nvSpPr>
        <p:spPr>
          <a:xfrm>
            <a:off x="571472" y="2500306"/>
            <a:ext cx="928694" cy="785818"/>
          </a:xfrm>
          <a:prstGeom prst="roundRect">
            <a:avLst/>
          </a:prstGeom>
          <a:solidFill>
            <a:srgbClr val="FFC0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19" name="모서리가 둥근 직사각형 18"/>
          <p:cNvSpPr/>
          <p:nvPr userDrawn="1"/>
        </p:nvSpPr>
        <p:spPr>
          <a:xfrm>
            <a:off x="214282" y="2928934"/>
            <a:ext cx="928694" cy="785818"/>
          </a:xfrm>
          <a:prstGeom prst="roundRect">
            <a:avLst/>
          </a:prstGeom>
          <a:solidFill>
            <a:schemeClr val="accent6">
              <a:lumMod val="75000"/>
            </a:schemeClr>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14" name="슬라이드 번호 개체 틀 5"/>
          <p:cNvSpPr>
            <a:spLocks noGrp="1"/>
          </p:cNvSpPr>
          <p:nvPr>
            <p:ph type="sldNum" sz="quarter" idx="10"/>
          </p:nvPr>
        </p:nvSpPr>
        <p:spPr>
          <a:xfrm>
            <a:off x="8364068" y="6581104"/>
            <a:ext cx="785812" cy="257113"/>
          </a:xfrm>
        </p:spPr>
        <p:txBody>
          <a:bodyPr/>
          <a:lstStyle>
            <a:lvl1pPr>
              <a:defRPr b="1" baseline="0">
                <a:solidFill>
                  <a:schemeClr val="tx1"/>
                </a:solidFill>
                <a:latin typeface="Calibri" pitchFamily="34" charset="0"/>
                <a:cs typeface="Times New Roman" pitchFamily="18" charset="0"/>
              </a:defRPr>
            </a:lvl1pPr>
          </a:lstStyle>
          <a:p>
            <a:pPr>
              <a:defRPr/>
            </a:pPr>
            <a:fld id="{7092A07C-4710-46A3-9C28-806B597ACB99}" type="slidenum">
              <a:rPr lang="ko-KR" altLang="en-US"/>
              <a:pPr>
                <a:defRPr/>
              </a:pPr>
              <a:t>‹#›</a:t>
            </a:fld>
            <a:endParaRPr lang="ko-KR" altLang="en-US" dirty="0"/>
          </a:p>
        </p:txBody>
      </p:sp>
      <p:cxnSp>
        <p:nvCxnSpPr>
          <p:cNvPr id="16" name="직선 연결선 15"/>
          <p:cNvCxnSpPr/>
          <p:nvPr userDrawn="1"/>
        </p:nvCxnSpPr>
        <p:spPr>
          <a:xfrm>
            <a:off x="0" y="6561348"/>
            <a:ext cx="91440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6700138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제목 및 내용">
    <p:spTree>
      <p:nvGrpSpPr>
        <p:cNvPr id="1" name=""/>
        <p:cNvGrpSpPr/>
        <p:nvPr/>
      </p:nvGrpSpPr>
      <p:grpSpPr>
        <a:xfrm>
          <a:off x="0" y="0"/>
          <a:ext cx="0" cy="0"/>
          <a:chOff x="0" y="0"/>
          <a:chExt cx="0" cy="0"/>
        </a:xfrm>
      </p:grpSpPr>
      <p:sp>
        <p:nvSpPr>
          <p:cNvPr id="14" name="직사각형 13"/>
          <p:cNvSpPr/>
          <p:nvPr userDrawn="1"/>
        </p:nvSpPr>
        <p:spPr>
          <a:xfrm>
            <a:off x="1233870" y="2271543"/>
            <a:ext cx="7119359" cy="90487"/>
          </a:xfrm>
          <a:prstGeom prst="rect">
            <a:avLst/>
          </a:prstGeom>
          <a:solidFill>
            <a:schemeClr val="tx1"/>
          </a:solidFill>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15" name="제목 1"/>
          <p:cNvSpPr>
            <a:spLocks noGrp="1"/>
          </p:cNvSpPr>
          <p:nvPr>
            <p:ph type="title"/>
          </p:nvPr>
        </p:nvSpPr>
        <p:spPr>
          <a:xfrm>
            <a:off x="1548358" y="1018919"/>
            <a:ext cx="6809830" cy="1202124"/>
          </a:xfrm>
        </p:spPr>
        <p:txBody>
          <a:bodyPr anchor="b" anchorCtr="0">
            <a:normAutofit/>
          </a:bodyPr>
          <a:lstStyle>
            <a:lvl1pPr algn="r">
              <a:defRPr sz="3200" b="1" i="0" baseline="0">
                <a:solidFill>
                  <a:schemeClr val="tx1"/>
                </a:solidFill>
                <a:effectLst>
                  <a:outerShdw blurRad="50800" dist="38100" dir="18900000" algn="bl" rotWithShape="0">
                    <a:prstClr val="black">
                      <a:alpha val="40000"/>
                    </a:prstClr>
                  </a:outerShdw>
                </a:effectLst>
                <a:latin typeface="+mj-ea"/>
                <a:ea typeface="+mj-ea"/>
              </a:defRPr>
            </a:lvl1pPr>
          </a:lstStyle>
          <a:p>
            <a:r>
              <a:rPr lang="ko-KR" altLang="en-US" dirty="0"/>
              <a:t>마스터 제목 스타일 편집</a:t>
            </a:r>
          </a:p>
        </p:txBody>
      </p:sp>
      <p:sp>
        <p:nvSpPr>
          <p:cNvPr id="19" name="모서리가 둥근 직사각형 18"/>
          <p:cNvSpPr/>
          <p:nvPr userDrawn="1"/>
        </p:nvSpPr>
        <p:spPr>
          <a:xfrm>
            <a:off x="359532" y="857722"/>
            <a:ext cx="694318" cy="652444"/>
          </a:xfrm>
          <a:prstGeom prst="roundRect">
            <a:avLst/>
          </a:prstGeom>
          <a:solidFill>
            <a:srgbClr val="FFFF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20" name="모서리가 둥근 직사각형 19"/>
          <p:cNvSpPr/>
          <p:nvPr userDrawn="1"/>
        </p:nvSpPr>
        <p:spPr>
          <a:xfrm>
            <a:off x="673326" y="1336396"/>
            <a:ext cx="694318" cy="652444"/>
          </a:xfrm>
          <a:prstGeom prst="roundRect">
            <a:avLst/>
          </a:prstGeom>
          <a:solidFill>
            <a:srgbClr val="FFC0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21" name="모서리가 둥근 직사각형 20"/>
          <p:cNvSpPr/>
          <p:nvPr userDrawn="1"/>
        </p:nvSpPr>
        <p:spPr>
          <a:xfrm>
            <a:off x="272173" y="1636316"/>
            <a:ext cx="694318" cy="652444"/>
          </a:xfrm>
          <a:prstGeom prst="roundRect">
            <a:avLst/>
          </a:prstGeom>
          <a:solidFill>
            <a:schemeClr val="accent6">
              <a:lumMod val="75000"/>
            </a:schemeClr>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16" name="슬라이드 번호 개체 틀 5"/>
          <p:cNvSpPr>
            <a:spLocks noGrp="1"/>
          </p:cNvSpPr>
          <p:nvPr>
            <p:ph type="sldNum" sz="quarter" idx="10"/>
          </p:nvPr>
        </p:nvSpPr>
        <p:spPr>
          <a:xfrm>
            <a:off x="8358188" y="6581104"/>
            <a:ext cx="785812" cy="257113"/>
          </a:xfrm>
        </p:spPr>
        <p:txBody>
          <a:bodyPr/>
          <a:lstStyle>
            <a:lvl1pPr>
              <a:defRPr b="1" baseline="0">
                <a:solidFill>
                  <a:schemeClr val="tx1"/>
                </a:solidFill>
                <a:latin typeface="Calibri" pitchFamily="34" charset="0"/>
                <a:cs typeface="Times New Roman" pitchFamily="18" charset="0"/>
              </a:defRPr>
            </a:lvl1pPr>
          </a:lstStyle>
          <a:p>
            <a:pPr>
              <a:defRPr/>
            </a:pPr>
            <a:fld id="{7092A07C-4710-46A3-9C28-806B597ACB99}" type="slidenum">
              <a:rPr lang="ko-KR" altLang="en-US"/>
              <a:pPr>
                <a:defRPr/>
              </a:pPr>
              <a:t>‹#›</a:t>
            </a:fld>
            <a:endParaRPr lang="ko-KR" altLang="en-US" dirty="0"/>
          </a:p>
        </p:txBody>
      </p:sp>
    </p:spTree>
    <p:extLst>
      <p:ext uri="{BB962C8B-B14F-4D97-AF65-F5344CB8AC3E}">
        <p14:creationId xmlns:p14="http://schemas.microsoft.com/office/powerpoint/2010/main" val="279089132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7" name="직사각형 6"/>
          <p:cNvSpPr/>
          <p:nvPr userDrawn="1"/>
        </p:nvSpPr>
        <p:spPr>
          <a:xfrm>
            <a:off x="1048502" y="782638"/>
            <a:ext cx="7935161" cy="90487"/>
          </a:xfrm>
          <a:prstGeom prst="rect">
            <a:avLst/>
          </a:prstGeom>
          <a:solidFill>
            <a:schemeClr val="tx1"/>
          </a:solidFill>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2" name="제목 1"/>
          <p:cNvSpPr>
            <a:spLocks noGrp="1"/>
          </p:cNvSpPr>
          <p:nvPr>
            <p:ph type="title"/>
          </p:nvPr>
        </p:nvSpPr>
        <p:spPr>
          <a:xfrm>
            <a:off x="1151620" y="220646"/>
            <a:ext cx="7838453" cy="615931"/>
          </a:xfrm>
        </p:spPr>
        <p:txBody>
          <a:bodyPr>
            <a:normAutofit/>
          </a:bodyPr>
          <a:lstStyle>
            <a:lvl1pPr algn="l">
              <a:defRPr sz="2800" b="1" i="0" baseline="0">
                <a:solidFill>
                  <a:schemeClr val="tx1"/>
                </a:solidFill>
                <a:effectLst>
                  <a:outerShdw blurRad="50800" dist="38100" dir="18900000" algn="bl" rotWithShape="0">
                    <a:prstClr val="black">
                      <a:alpha val="40000"/>
                    </a:prstClr>
                  </a:outerShdw>
                </a:effectLst>
                <a:latin typeface="+mj-ea"/>
                <a:ea typeface="+mj-ea"/>
              </a:defRPr>
            </a:lvl1pPr>
          </a:lstStyle>
          <a:p>
            <a:r>
              <a:rPr lang="ko-KR" altLang="en-US" dirty="0"/>
              <a:t>마스터 제목 스타일 편집</a:t>
            </a:r>
          </a:p>
        </p:txBody>
      </p:sp>
      <p:sp>
        <p:nvSpPr>
          <p:cNvPr id="3" name="내용 개체 틀 2"/>
          <p:cNvSpPr>
            <a:spLocks noGrp="1"/>
          </p:cNvSpPr>
          <p:nvPr>
            <p:ph idx="1"/>
          </p:nvPr>
        </p:nvSpPr>
        <p:spPr>
          <a:xfrm>
            <a:off x="214282" y="1092168"/>
            <a:ext cx="8786874" cy="5294302"/>
          </a:xfrm>
        </p:spPr>
        <p:txBody>
          <a:bodyPr/>
          <a:lstStyle>
            <a:lvl1pPr marL="452438" indent="-452438">
              <a:spcBef>
                <a:spcPts val="1000"/>
              </a:spcBef>
              <a:spcAft>
                <a:spcPts val="0"/>
              </a:spcAft>
              <a:buFont typeface="Wingdings" pitchFamily="2" charset="2"/>
              <a:buChar char="v"/>
              <a:defRPr sz="2400" b="1" i="0" cap="none" spc="0" baseline="0">
                <a:ln w="1905">
                  <a:noFill/>
                </a:ln>
                <a:solidFill>
                  <a:schemeClr val="tx1"/>
                </a:solidFill>
                <a:effectLst/>
                <a:latin typeface="+mj-ea"/>
                <a:ea typeface="+mj-ea"/>
                <a:cs typeface="Times New Roman" pitchFamily="18" charset="0"/>
              </a:defRPr>
            </a:lvl1pPr>
            <a:lvl2pPr marL="804863" indent="-347663">
              <a:spcBef>
                <a:spcPts val="800"/>
              </a:spcBef>
              <a:buFontTx/>
              <a:buBlip>
                <a:blip r:embed="rId2"/>
              </a:buBlip>
              <a:defRPr sz="2000" b="1" baseline="0">
                <a:solidFill>
                  <a:schemeClr val="tx1">
                    <a:lumMod val="65000"/>
                    <a:lumOff val="35000"/>
                  </a:schemeClr>
                </a:solidFill>
                <a:latin typeface="+mj-ea"/>
                <a:ea typeface="+mj-ea"/>
                <a:cs typeface="Times New Roman" pitchFamily="18" charset="0"/>
              </a:defRPr>
            </a:lvl2pPr>
            <a:lvl3pPr marL="1168400" indent="-254000">
              <a:spcBef>
                <a:spcPts val="700"/>
              </a:spcBef>
              <a:defRPr sz="1800" baseline="0">
                <a:latin typeface="+mj-ea"/>
                <a:ea typeface="+mj-ea"/>
              </a:defRPr>
            </a:lvl3pPr>
            <a:lvl4pPr>
              <a:spcBef>
                <a:spcPts val="600"/>
              </a:spcBef>
              <a:defRPr sz="1800" baseline="0">
                <a:latin typeface="+mj-ea"/>
                <a:ea typeface="+mj-ea"/>
              </a:defRPr>
            </a:lvl4pPr>
            <a:lvl5pPr>
              <a:spcBef>
                <a:spcPts val="500"/>
              </a:spcBef>
              <a:defRPr sz="1600" baseline="0">
                <a:latin typeface="+mj-ea"/>
                <a:ea typeface="+mj-ea"/>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grpSp>
        <p:nvGrpSpPr>
          <p:cNvPr id="23" name="그룹 22"/>
          <p:cNvGrpSpPr/>
          <p:nvPr userDrawn="1"/>
        </p:nvGrpSpPr>
        <p:grpSpPr>
          <a:xfrm>
            <a:off x="190949" y="158986"/>
            <a:ext cx="672639" cy="698549"/>
            <a:chOff x="226953" y="129332"/>
            <a:chExt cx="777856" cy="803286"/>
          </a:xfrm>
        </p:grpSpPr>
        <p:sp>
          <p:nvSpPr>
            <p:cNvPr id="24" name="모서리가 둥근 직사각형 23"/>
            <p:cNvSpPr/>
            <p:nvPr userDrawn="1"/>
          </p:nvSpPr>
          <p:spPr>
            <a:xfrm>
              <a:off x="361841" y="129332"/>
              <a:ext cx="500066" cy="428628"/>
            </a:xfrm>
            <a:prstGeom prst="roundRect">
              <a:avLst/>
            </a:prstGeom>
            <a:solidFill>
              <a:srgbClr val="FFFF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25" name="모서리가 둥근 직사각형 24"/>
            <p:cNvSpPr/>
            <p:nvPr userDrawn="1"/>
          </p:nvSpPr>
          <p:spPr>
            <a:xfrm>
              <a:off x="504743" y="353148"/>
              <a:ext cx="500066" cy="428628"/>
            </a:xfrm>
            <a:prstGeom prst="roundRect">
              <a:avLst/>
            </a:prstGeom>
            <a:solidFill>
              <a:srgbClr val="FFC0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26" name="모서리가 둥근 직사각형 25"/>
            <p:cNvSpPr/>
            <p:nvPr userDrawn="1"/>
          </p:nvSpPr>
          <p:spPr>
            <a:xfrm>
              <a:off x="226953" y="503990"/>
              <a:ext cx="500066" cy="428628"/>
            </a:xfrm>
            <a:prstGeom prst="roundRect">
              <a:avLst/>
            </a:prstGeom>
            <a:solidFill>
              <a:schemeClr val="accent6">
                <a:lumMod val="75000"/>
              </a:schemeClr>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grpSp>
      <p:sp>
        <p:nvSpPr>
          <p:cNvPr id="14" name="슬라이드 번호 개체 틀 5"/>
          <p:cNvSpPr>
            <a:spLocks noGrp="1"/>
          </p:cNvSpPr>
          <p:nvPr>
            <p:ph type="sldNum" sz="quarter" idx="10"/>
          </p:nvPr>
        </p:nvSpPr>
        <p:spPr>
          <a:xfrm>
            <a:off x="8358188" y="6581104"/>
            <a:ext cx="785812" cy="257113"/>
          </a:xfrm>
        </p:spPr>
        <p:txBody>
          <a:bodyPr/>
          <a:lstStyle>
            <a:lvl1pPr>
              <a:defRPr b="1" baseline="0">
                <a:solidFill>
                  <a:schemeClr val="tx1"/>
                </a:solidFill>
                <a:latin typeface="Calibri" pitchFamily="34" charset="0"/>
                <a:cs typeface="Times New Roman" pitchFamily="18" charset="0"/>
              </a:defRPr>
            </a:lvl1pPr>
          </a:lstStyle>
          <a:p>
            <a:pPr>
              <a:defRPr/>
            </a:pPr>
            <a:fld id="{7092A07C-4710-46A3-9C28-806B597ACB99}" type="slidenum">
              <a:rPr lang="ko-KR" altLang="en-US"/>
              <a:pPr>
                <a:defRPr/>
              </a:pPr>
              <a:t>‹#›</a:t>
            </a:fld>
            <a:endParaRPr lang="ko-KR" altLang="en-US" dirty="0"/>
          </a:p>
        </p:txBody>
      </p:sp>
      <p:sp>
        <p:nvSpPr>
          <p:cNvPr id="5" name="바닥글 개체 틀 4">
            <a:extLst>
              <a:ext uri="{FF2B5EF4-FFF2-40B4-BE49-F238E27FC236}">
                <a16:creationId xmlns:a16="http://schemas.microsoft.com/office/drawing/2014/main" id="{FF1E99FA-10DD-B773-2172-738D5EB0477D}"/>
              </a:ext>
            </a:extLst>
          </p:cNvPr>
          <p:cNvSpPr>
            <a:spLocks noGrp="1"/>
          </p:cNvSpPr>
          <p:nvPr>
            <p:ph type="ftr" sz="quarter" idx="12"/>
          </p:nvPr>
        </p:nvSpPr>
        <p:spPr>
          <a:xfrm>
            <a:off x="228600" y="6581104"/>
            <a:ext cx="2759224" cy="238812"/>
          </a:xfrm>
        </p:spPr>
        <p:txBody>
          <a:bodyPr/>
          <a:lstStyle/>
          <a:p>
            <a:pPr>
              <a:defRPr/>
            </a:pPr>
            <a:endParaRPr lang="ko-KR" altLang="en-US" dirty="0"/>
          </a:p>
        </p:txBody>
      </p:sp>
    </p:spTree>
    <p:extLst>
      <p:ext uri="{BB962C8B-B14F-4D97-AF65-F5344CB8AC3E}">
        <p14:creationId xmlns:p14="http://schemas.microsoft.com/office/powerpoint/2010/main" val="30303642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9" name="직사각형 8"/>
          <p:cNvSpPr/>
          <p:nvPr userDrawn="1"/>
        </p:nvSpPr>
        <p:spPr>
          <a:xfrm>
            <a:off x="1048502" y="782638"/>
            <a:ext cx="7935161" cy="90487"/>
          </a:xfrm>
          <a:prstGeom prst="rect">
            <a:avLst/>
          </a:prstGeom>
          <a:solidFill>
            <a:schemeClr val="tx1"/>
          </a:solidFill>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18" name="제목 1"/>
          <p:cNvSpPr>
            <a:spLocks noGrp="1"/>
          </p:cNvSpPr>
          <p:nvPr>
            <p:ph type="title"/>
          </p:nvPr>
        </p:nvSpPr>
        <p:spPr>
          <a:xfrm>
            <a:off x="1151620" y="220646"/>
            <a:ext cx="7838453" cy="615931"/>
          </a:xfrm>
        </p:spPr>
        <p:txBody>
          <a:bodyPr>
            <a:normAutofit/>
          </a:bodyPr>
          <a:lstStyle>
            <a:lvl1pPr algn="l">
              <a:defRPr sz="2800" b="1" i="0" baseline="0">
                <a:solidFill>
                  <a:schemeClr val="tx1"/>
                </a:solidFill>
                <a:effectLst>
                  <a:outerShdw blurRad="50800" dist="38100" dir="18900000" algn="bl" rotWithShape="0">
                    <a:prstClr val="black">
                      <a:alpha val="40000"/>
                    </a:prstClr>
                  </a:outerShdw>
                </a:effectLst>
                <a:latin typeface="+mj-ea"/>
                <a:ea typeface="+mj-ea"/>
              </a:defRPr>
            </a:lvl1pPr>
          </a:lstStyle>
          <a:p>
            <a:r>
              <a:rPr lang="ko-KR" altLang="en-US" dirty="0"/>
              <a:t>마스터 제목 스타일 편집</a:t>
            </a:r>
          </a:p>
        </p:txBody>
      </p:sp>
      <p:grpSp>
        <p:nvGrpSpPr>
          <p:cNvPr id="2" name="그룹 1"/>
          <p:cNvGrpSpPr/>
          <p:nvPr userDrawn="1"/>
        </p:nvGrpSpPr>
        <p:grpSpPr>
          <a:xfrm>
            <a:off x="190949" y="158986"/>
            <a:ext cx="672639" cy="698549"/>
            <a:chOff x="226953" y="129332"/>
            <a:chExt cx="777856" cy="803286"/>
          </a:xfrm>
        </p:grpSpPr>
        <p:sp>
          <p:nvSpPr>
            <p:cNvPr id="24" name="모서리가 둥근 직사각형 23"/>
            <p:cNvSpPr/>
            <p:nvPr userDrawn="1"/>
          </p:nvSpPr>
          <p:spPr>
            <a:xfrm>
              <a:off x="361841" y="129332"/>
              <a:ext cx="500066" cy="428628"/>
            </a:xfrm>
            <a:prstGeom prst="roundRect">
              <a:avLst/>
            </a:prstGeom>
            <a:solidFill>
              <a:srgbClr val="FFFF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25" name="모서리가 둥근 직사각형 24"/>
            <p:cNvSpPr/>
            <p:nvPr userDrawn="1"/>
          </p:nvSpPr>
          <p:spPr>
            <a:xfrm>
              <a:off x="504743" y="353148"/>
              <a:ext cx="500066" cy="428628"/>
            </a:xfrm>
            <a:prstGeom prst="roundRect">
              <a:avLst/>
            </a:prstGeom>
            <a:solidFill>
              <a:srgbClr val="FFC000"/>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sp>
          <p:nvSpPr>
            <p:cNvPr id="26" name="모서리가 둥근 직사각형 25"/>
            <p:cNvSpPr/>
            <p:nvPr userDrawn="1"/>
          </p:nvSpPr>
          <p:spPr>
            <a:xfrm>
              <a:off x="226953" y="503990"/>
              <a:ext cx="500066" cy="428628"/>
            </a:xfrm>
            <a:prstGeom prst="roundRect">
              <a:avLst/>
            </a:prstGeom>
            <a:solidFill>
              <a:schemeClr val="accent6">
                <a:lumMod val="75000"/>
              </a:schemeClr>
            </a:solidFill>
            <a:ln>
              <a:noFill/>
            </a:ln>
            <a:effectLst>
              <a:glow rad="139700">
                <a:schemeClr val="accent6">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anchor="ctr"/>
            <a:lstStyle/>
            <a:p>
              <a:pPr algn="ctr" fontAlgn="auto">
                <a:spcBef>
                  <a:spcPts val="0"/>
                </a:spcBef>
                <a:spcAft>
                  <a:spcPts val="0"/>
                </a:spcAft>
                <a:defRPr/>
              </a:pPr>
              <a:endParaRPr kumimoji="0" lang="ko-KR" altLang="en-US">
                <a:latin typeface="Calibri" pitchFamily="34" charset="0"/>
              </a:endParaRPr>
            </a:p>
          </p:txBody>
        </p:sp>
      </p:grpSp>
      <p:sp>
        <p:nvSpPr>
          <p:cNvPr id="12" name="슬라이드 번호 개체 틀 5"/>
          <p:cNvSpPr>
            <a:spLocks noGrp="1"/>
          </p:cNvSpPr>
          <p:nvPr>
            <p:ph type="sldNum" sz="quarter" idx="10"/>
          </p:nvPr>
        </p:nvSpPr>
        <p:spPr>
          <a:xfrm>
            <a:off x="8358188" y="6581104"/>
            <a:ext cx="785812" cy="257113"/>
          </a:xfrm>
        </p:spPr>
        <p:txBody>
          <a:bodyPr/>
          <a:lstStyle>
            <a:lvl1pPr>
              <a:defRPr b="1" baseline="0">
                <a:solidFill>
                  <a:schemeClr val="tx1"/>
                </a:solidFill>
                <a:latin typeface="Calibri" pitchFamily="34" charset="0"/>
                <a:cs typeface="Times New Roman" pitchFamily="18" charset="0"/>
              </a:defRPr>
            </a:lvl1pPr>
          </a:lstStyle>
          <a:p>
            <a:pPr>
              <a:defRPr/>
            </a:pPr>
            <a:fld id="{7092A07C-4710-46A3-9C28-806B597ACB99}" type="slidenum">
              <a:rPr lang="ko-KR" altLang="en-US"/>
              <a:pPr>
                <a:defRPr/>
              </a:pPr>
              <a:t>‹#›</a:t>
            </a:fld>
            <a:endParaRPr lang="ko-KR" altLang="en-US" dirty="0"/>
          </a:p>
        </p:txBody>
      </p:sp>
    </p:spTree>
    <p:extLst>
      <p:ext uri="{BB962C8B-B14F-4D97-AF65-F5344CB8AC3E}">
        <p14:creationId xmlns:p14="http://schemas.microsoft.com/office/powerpoint/2010/main" val="171792501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제목 개체 틀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7" name="텍스트 개체 틀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kumimoji="0" sz="1200">
                <a:solidFill>
                  <a:schemeClr val="tx1">
                    <a:tint val="75000"/>
                  </a:schemeClr>
                </a:solidFill>
                <a:latin typeface="+mn-lt"/>
                <a:ea typeface="+mn-ea"/>
              </a:defRPr>
            </a:lvl1pPr>
          </a:lstStyle>
          <a:p>
            <a:pPr>
              <a:defRPr/>
            </a:pPr>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kumimoji="0" sz="1200">
                <a:solidFill>
                  <a:schemeClr val="tx1">
                    <a:tint val="75000"/>
                  </a:schemeClr>
                </a:solidFill>
                <a:latin typeface="+mn-lt"/>
                <a:ea typeface="+mn-ea"/>
              </a:defRPr>
            </a:lvl1pPr>
          </a:lstStyle>
          <a:p>
            <a:pPr>
              <a:defRPr/>
            </a:pPr>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kumimoji="0" sz="1200">
                <a:solidFill>
                  <a:schemeClr val="tx1">
                    <a:tint val="75000"/>
                  </a:schemeClr>
                </a:solidFill>
                <a:latin typeface="+mn-lt"/>
                <a:ea typeface="+mn-ea"/>
              </a:defRPr>
            </a:lvl1pPr>
          </a:lstStyle>
          <a:p>
            <a:pPr>
              <a:defRPr/>
            </a:pPr>
            <a:fld id="{FD88BC96-86ED-4F8B-B297-F70E08D8F793}" type="slidenum">
              <a:rPr lang="ko-KR" altLang="en-US"/>
              <a:pPr>
                <a:defRPr/>
              </a:pPr>
              <a:t>‹#›</a:t>
            </a:fld>
            <a:endParaRPr lang="ko-KR" altLang="en-US" dirty="0"/>
          </a:p>
        </p:txBody>
      </p:sp>
    </p:spTree>
    <p:extLst>
      <p:ext uri="{BB962C8B-B14F-4D97-AF65-F5344CB8AC3E}">
        <p14:creationId xmlns:p14="http://schemas.microsoft.com/office/powerpoint/2010/main" val="2237676189"/>
      </p:ext>
    </p:extLst>
  </p:cSld>
  <p:clrMap bg1="lt1" tx1="dk1" bg2="lt2" tx2="dk2" accent1="accent1" accent2="accent2" accent3="accent3" accent4="accent4" accent5="accent5" accent6="accent6" hlink="hlink" folHlink="folHlink"/>
  <p:sldLayoutIdLst>
    <p:sldLayoutId id="2147483834" r:id="rId1"/>
    <p:sldLayoutId id="2147483837" r:id="rId2"/>
    <p:sldLayoutId id="2147483835" r:id="rId3"/>
    <p:sldLayoutId id="2147483836" r:id="rId4"/>
  </p:sldLayoutIdLst>
  <p:transition>
    <p:fade/>
  </p:transition>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Calibri" pitchFamily="34" charset="0"/>
          <a:ea typeface="맑은 고딕" pitchFamily="50" charset="-127"/>
        </a:defRPr>
      </a:lvl2pPr>
      <a:lvl3pPr algn="ctr" rtl="0" eaLnBrk="0" fontAlgn="base" latinLnBrk="1" hangingPunct="0">
        <a:spcBef>
          <a:spcPct val="0"/>
        </a:spcBef>
        <a:spcAft>
          <a:spcPct val="0"/>
        </a:spcAft>
        <a:defRPr sz="4400">
          <a:solidFill>
            <a:schemeClr val="tx1"/>
          </a:solidFill>
          <a:latin typeface="Calibri" pitchFamily="34" charset="0"/>
          <a:ea typeface="맑은 고딕" pitchFamily="50" charset="-127"/>
        </a:defRPr>
      </a:lvl3pPr>
      <a:lvl4pPr algn="ctr" rtl="0" eaLnBrk="0" fontAlgn="base" latinLnBrk="1" hangingPunct="0">
        <a:spcBef>
          <a:spcPct val="0"/>
        </a:spcBef>
        <a:spcAft>
          <a:spcPct val="0"/>
        </a:spcAft>
        <a:defRPr sz="4400">
          <a:solidFill>
            <a:schemeClr val="tx1"/>
          </a:solidFill>
          <a:latin typeface="Calibri" pitchFamily="34" charset="0"/>
          <a:ea typeface="맑은 고딕" pitchFamily="50" charset="-127"/>
        </a:defRPr>
      </a:lvl4pPr>
      <a:lvl5pPr algn="ctr" rtl="0" eaLnBrk="0" fontAlgn="base" latinLnBrk="1" hangingPunct="0">
        <a:spcBef>
          <a:spcPct val="0"/>
        </a:spcBef>
        <a:spcAft>
          <a:spcPct val="0"/>
        </a:spcAft>
        <a:defRPr sz="4400">
          <a:solidFill>
            <a:schemeClr val="tx1"/>
          </a:solidFill>
          <a:latin typeface="Calibri" pitchFamily="34" charset="0"/>
          <a:ea typeface="맑은 고딕" pitchFamily="50" charset="-127"/>
        </a:defRPr>
      </a:lvl5pPr>
      <a:lvl6pPr marL="457200" algn="ctr" rtl="0" fontAlgn="base" latinLnBrk="1">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1">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1">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1">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1"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rxiv.org/search/cs?searchtype=author&amp;query=Saxena%2C+S" TargetMode="External"/><Relationship Id="rId2" Type="http://schemas.openxmlformats.org/officeDocument/2006/relationships/hyperlink" Target="https://arxiv.org/search/cs?searchtype=author&amp;query=Chen%2C+T" TargetMode="External"/><Relationship Id="rId1" Type="http://schemas.openxmlformats.org/officeDocument/2006/relationships/slideLayout" Target="../slideLayouts/slideLayout1.xml"/><Relationship Id="rId6" Type="http://schemas.openxmlformats.org/officeDocument/2006/relationships/hyperlink" Target="https://arxiv.org/search/cs?searchtype=author&amp;query=Hinton%2C+G" TargetMode="External"/><Relationship Id="rId5" Type="http://schemas.openxmlformats.org/officeDocument/2006/relationships/hyperlink" Target="https://arxiv.org/search/cs?searchtype=author&amp;query=Fleet%2C+D+J" TargetMode="External"/><Relationship Id="rId4" Type="http://schemas.openxmlformats.org/officeDocument/2006/relationships/hyperlink" Target="https://arxiv.org/search/cs?searchtype=author&amp;query=Li%2C+L"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hyperlink" Target="https://ai.googleblog.com/2022/04/pix2seq-new-language-interface-for.html" TargetMode="Externa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ctrTitle"/>
          </p:nvPr>
        </p:nvSpPr>
        <p:spPr/>
        <p:txBody>
          <a:bodyPr/>
          <a:lstStyle/>
          <a:p>
            <a:pPr algn="ctr"/>
            <a:r>
              <a:rPr lang="en-US" altLang="ko-KR" dirty="0">
                <a:effectLst>
                  <a:outerShdw blurRad="38100" dist="38100" dir="2700000" algn="tl">
                    <a:srgbClr val="000000">
                      <a:alpha val="43137"/>
                    </a:srgbClr>
                  </a:outerShdw>
                </a:effectLst>
                <a:latin typeface="맑은 고딕" panose="020B0503020000020004" pitchFamily="50" charset="-127"/>
                <a:ea typeface="맑은 고딕" panose="020B0503020000020004" pitchFamily="50" charset="-127"/>
              </a:rPr>
              <a:t>Pix2Seq: A New Language Interface for Object Detection</a:t>
            </a:r>
            <a:endParaRPr lang="ko-KR" altLang="en-US" dirty="0">
              <a:effectLst>
                <a:outerShdw blurRad="38100" dist="38100" dir="2700000" algn="tl">
                  <a:srgbClr val="000000">
                    <a:alpha val="43137"/>
                  </a:srgbClr>
                </a:outerShdw>
              </a:effectLst>
              <a:latin typeface="맑은 고딕" panose="020B0503020000020004" pitchFamily="50" charset="-127"/>
              <a:ea typeface="맑은 고딕" panose="020B0503020000020004" pitchFamily="50" charset="-127"/>
            </a:endParaRPr>
          </a:p>
        </p:txBody>
      </p:sp>
      <p:sp>
        <p:nvSpPr>
          <p:cNvPr id="4" name="부제목 3"/>
          <p:cNvSpPr>
            <a:spLocks noGrp="1"/>
          </p:cNvSpPr>
          <p:nvPr>
            <p:ph type="subTitle" idx="1"/>
          </p:nvPr>
        </p:nvSpPr>
        <p:spPr>
          <a:xfrm>
            <a:off x="2069296" y="4286256"/>
            <a:ext cx="6715172" cy="2071702"/>
          </a:xfrm>
        </p:spPr>
        <p:txBody>
          <a:bodyPr>
            <a:normAutofit/>
          </a:bodyPr>
          <a:lstStyle/>
          <a:p>
            <a:r>
              <a:rPr lang="ko-KR" altLang="en-US" sz="2400" b="1" dirty="0">
                <a:solidFill>
                  <a:schemeClr val="tx1"/>
                </a:solidFill>
                <a:cs typeface="Arial Unicode MS" panose="020B0604020202020204" pitchFamily="50" charset="-127"/>
              </a:rPr>
              <a:t>이미지처리팀 </a:t>
            </a:r>
            <a:r>
              <a:rPr lang="en-US" altLang="ko-KR" sz="2400" b="1" dirty="0">
                <a:solidFill>
                  <a:schemeClr val="tx1"/>
                </a:solidFill>
                <a:cs typeface="Arial Unicode MS" panose="020B0604020202020204" pitchFamily="50" charset="-127"/>
              </a:rPr>
              <a:t>Detection</a:t>
            </a:r>
          </a:p>
          <a:p>
            <a:endParaRPr lang="en-US" altLang="ko-KR" sz="2400" b="1" dirty="0">
              <a:solidFill>
                <a:schemeClr val="tx1"/>
              </a:solidFill>
              <a:ea typeface="08서울남산체 M" panose="02020603020101020101" pitchFamily="18" charset="-127"/>
              <a:cs typeface="Arial Unicode MS" panose="020B0604020202020204" pitchFamily="50" charset="-127"/>
            </a:endParaRPr>
          </a:p>
          <a:p>
            <a:r>
              <a:rPr lang="ko-KR" altLang="en-US" b="1" dirty="0">
                <a:solidFill>
                  <a:schemeClr val="tx1"/>
                </a:solidFill>
                <a:ea typeface="08서울남산체 M" panose="02020603020101020101" pitchFamily="18" charset="-127"/>
              </a:rPr>
              <a:t>김병현</a:t>
            </a:r>
            <a:r>
              <a:rPr lang="en-US" altLang="ko-KR" b="1" dirty="0">
                <a:solidFill>
                  <a:schemeClr val="tx1"/>
                </a:solidFill>
                <a:ea typeface="08서울남산체 M" panose="02020603020101020101" pitchFamily="18" charset="-127"/>
              </a:rPr>
              <a:t>, </a:t>
            </a:r>
            <a:r>
              <a:rPr lang="ko-KR" altLang="en-US" b="1" dirty="0">
                <a:solidFill>
                  <a:schemeClr val="tx1"/>
                </a:solidFill>
                <a:ea typeface="08서울남산체 M" panose="02020603020101020101" pitchFamily="18" charset="-127"/>
              </a:rPr>
              <a:t>김선옥</a:t>
            </a:r>
            <a:r>
              <a:rPr lang="en-US" altLang="ko-KR" b="1" dirty="0">
                <a:solidFill>
                  <a:schemeClr val="tx1"/>
                </a:solidFill>
                <a:ea typeface="08서울남산체 M" panose="02020603020101020101" pitchFamily="18" charset="-127"/>
              </a:rPr>
              <a:t>, </a:t>
            </a:r>
            <a:r>
              <a:rPr lang="ko-KR" altLang="en-US" b="1" dirty="0">
                <a:solidFill>
                  <a:schemeClr val="tx1"/>
                </a:solidFill>
                <a:ea typeface="08서울남산체 M" panose="02020603020101020101" pitchFamily="18" charset="-127"/>
              </a:rPr>
              <a:t>김현진</a:t>
            </a:r>
            <a:r>
              <a:rPr lang="en-US" altLang="ko-KR" b="1" dirty="0">
                <a:solidFill>
                  <a:schemeClr val="tx1"/>
                </a:solidFill>
                <a:ea typeface="08서울남산체 M" panose="02020603020101020101" pitchFamily="18" charset="-127"/>
              </a:rPr>
              <a:t>, </a:t>
            </a:r>
            <a:r>
              <a:rPr lang="ko-KR" altLang="en-US" b="1" dirty="0" err="1">
                <a:solidFill>
                  <a:schemeClr val="tx1"/>
                </a:solidFill>
                <a:ea typeface="08서울남산체 M" panose="02020603020101020101" pitchFamily="18" charset="-127"/>
              </a:rPr>
              <a:t>안종식</a:t>
            </a:r>
            <a:r>
              <a:rPr lang="en-US" altLang="ko-KR" b="1" dirty="0">
                <a:solidFill>
                  <a:schemeClr val="tx1"/>
                </a:solidFill>
                <a:ea typeface="08서울남산체 M" panose="02020603020101020101" pitchFamily="18" charset="-127"/>
              </a:rPr>
              <a:t>, </a:t>
            </a:r>
            <a:r>
              <a:rPr lang="ko-KR" altLang="en-US" b="1" dirty="0" err="1">
                <a:solidFill>
                  <a:schemeClr val="tx1"/>
                </a:solidFill>
                <a:ea typeface="08서울남산체 M" panose="02020603020101020101" pitchFamily="18" charset="-127"/>
              </a:rPr>
              <a:t>이찬혁</a:t>
            </a:r>
            <a:r>
              <a:rPr lang="en-US" altLang="ko-KR" b="1" dirty="0">
                <a:solidFill>
                  <a:schemeClr val="tx1"/>
                </a:solidFill>
                <a:ea typeface="08서울남산체 M" panose="02020603020101020101" pitchFamily="18" charset="-127"/>
              </a:rPr>
              <a:t>, </a:t>
            </a:r>
            <a:r>
              <a:rPr lang="ko-KR" altLang="en-US" b="1" dirty="0" err="1">
                <a:solidFill>
                  <a:schemeClr val="tx1"/>
                </a:solidFill>
                <a:ea typeface="08서울남산체 M" panose="02020603020101020101" pitchFamily="18" charset="-127"/>
              </a:rPr>
              <a:t>현청천</a:t>
            </a:r>
            <a:endParaRPr lang="en-US" altLang="ko-KR" b="1" dirty="0">
              <a:solidFill>
                <a:schemeClr val="tx1"/>
              </a:solidFill>
              <a:ea typeface="08서울남산체 M" panose="02020603020101020101" pitchFamily="18" charset="-127"/>
            </a:endParaRPr>
          </a:p>
        </p:txBody>
      </p:sp>
      <p:sp>
        <p:nvSpPr>
          <p:cNvPr id="2" name="TextBox 1">
            <a:extLst>
              <a:ext uri="{FF2B5EF4-FFF2-40B4-BE49-F238E27FC236}">
                <a16:creationId xmlns:a16="http://schemas.microsoft.com/office/drawing/2014/main" id="{EFEE1D22-F807-10E2-CCC5-189D0A1CF51D}"/>
              </a:ext>
            </a:extLst>
          </p:cNvPr>
          <p:cNvSpPr txBox="1"/>
          <p:nvPr/>
        </p:nvSpPr>
        <p:spPr>
          <a:xfrm>
            <a:off x="1719231" y="1196752"/>
            <a:ext cx="7061909" cy="707886"/>
          </a:xfrm>
          <a:prstGeom prst="rect">
            <a:avLst/>
          </a:prstGeom>
          <a:noFill/>
        </p:spPr>
        <p:txBody>
          <a:bodyPr wrap="square" rtlCol="0">
            <a:spAutoFit/>
          </a:bodyPr>
          <a:lstStyle/>
          <a:p>
            <a:pPr algn="r"/>
            <a:r>
              <a:rPr lang="en-US" altLang="ko-KR" sz="2000" b="1" dirty="0">
                <a:latin typeface="Calibri" panose="020F0502020204030204" pitchFamily="34" charset="0"/>
                <a:ea typeface="08서울남산체 B" panose="02020603020101020101" pitchFamily="18" charset="-127"/>
                <a:cs typeface="Times New Roman" pitchFamily="18" charset="0"/>
              </a:rPr>
              <a:t>ICLR 2022</a:t>
            </a:r>
          </a:p>
          <a:p>
            <a:pPr algn="r"/>
            <a:r>
              <a:rPr lang="sv-SE" altLang="ko-KR" sz="2000" dirty="0">
                <a:latin typeface="Calibri" panose="020F0502020204030204" pitchFamily="34" charset="0"/>
                <a:ea typeface="08서울남산체 B" panose="02020603020101020101" pitchFamily="18" charset="-127"/>
                <a:cs typeface="Times New Roman" pitchFamily="18" charset="0"/>
                <a:hlinkClick r:id="rId2">
                  <a:extLst>
                    <a:ext uri="{A12FA001-AC4F-418D-AE19-62706E023703}">
                      <ahyp:hlinkClr xmlns:ahyp="http://schemas.microsoft.com/office/drawing/2018/hyperlinkcolor" val="tx"/>
                    </a:ext>
                  </a:extLst>
                </a:hlinkClick>
              </a:rPr>
              <a:t>Ting Chen</a:t>
            </a:r>
            <a:r>
              <a:rPr lang="sv-SE" altLang="ko-KR" sz="2000" dirty="0">
                <a:latin typeface="Calibri" panose="020F0502020204030204" pitchFamily="34" charset="0"/>
                <a:ea typeface="08서울남산체 B" panose="02020603020101020101" pitchFamily="18" charset="-127"/>
                <a:cs typeface="Times New Roman" pitchFamily="18" charset="0"/>
              </a:rPr>
              <a:t>, </a:t>
            </a:r>
            <a:r>
              <a:rPr lang="sv-SE" altLang="ko-KR" sz="2000" dirty="0">
                <a:latin typeface="Calibri" panose="020F0502020204030204" pitchFamily="34" charset="0"/>
                <a:ea typeface="08서울남산체 B" panose="02020603020101020101" pitchFamily="18" charset="-127"/>
                <a:cs typeface="Times New Roman" pitchFamily="18" charset="0"/>
                <a:hlinkClick r:id="rId3">
                  <a:extLst>
                    <a:ext uri="{A12FA001-AC4F-418D-AE19-62706E023703}">
                      <ahyp:hlinkClr xmlns:ahyp="http://schemas.microsoft.com/office/drawing/2018/hyperlinkcolor" val="tx"/>
                    </a:ext>
                  </a:extLst>
                </a:hlinkClick>
              </a:rPr>
              <a:t>Saurabh Saxena</a:t>
            </a:r>
            <a:r>
              <a:rPr lang="sv-SE" altLang="ko-KR" sz="2000" dirty="0">
                <a:latin typeface="Calibri" panose="020F0502020204030204" pitchFamily="34" charset="0"/>
                <a:ea typeface="08서울남산체 B" panose="02020603020101020101" pitchFamily="18" charset="-127"/>
                <a:cs typeface="Times New Roman" pitchFamily="18" charset="0"/>
              </a:rPr>
              <a:t>, </a:t>
            </a:r>
            <a:r>
              <a:rPr lang="sv-SE" altLang="ko-KR" sz="2000" dirty="0">
                <a:latin typeface="Calibri" panose="020F0502020204030204" pitchFamily="34" charset="0"/>
                <a:ea typeface="08서울남산체 B" panose="02020603020101020101" pitchFamily="18" charset="-127"/>
                <a:cs typeface="Times New Roman" pitchFamily="18" charset="0"/>
                <a:hlinkClick r:id="rId4">
                  <a:extLst>
                    <a:ext uri="{A12FA001-AC4F-418D-AE19-62706E023703}">
                      <ahyp:hlinkClr xmlns:ahyp="http://schemas.microsoft.com/office/drawing/2018/hyperlinkcolor" val="tx"/>
                    </a:ext>
                  </a:extLst>
                </a:hlinkClick>
              </a:rPr>
              <a:t>Lala Li</a:t>
            </a:r>
            <a:r>
              <a:rPr lang="sv-SE" altLang="ko-KR" sz="2000" dirty="0">
                <a:latin typeface="Calibri" panose="020F0502020204030204" pitchFamily="34" charset="0"/>
                <a:ea typeface="08서울남산체 B" panose="02020603020101020101" pitchFamily="18" charset="-127"/>
                <a:cs typeface="Times New Roman" pitchFamily="18" charset="0"/>
              </a:rPr>
              <a:t>, </a:t>
            </a:r>
            <a:r>
              <a:rPr lang="sv-SE" altLang="ko-KR" sz="2000" dirty="0">
                <a:latin typeface="Calibri" panose="020F0502020204030204" pitchFamily="34" charset="0"/>
                <a:ea typeface="08서울남산체 B" panose="02020603020101020101" pitchFamily="18" charset="-127"/>
                <a:cs typeface="Times New Roman" pitchFamily="18" charset="0"/>
                <a:hlinkClick r:id="rId5">
                  <a:extLst>
                    <a:ext uri="{A12FA001-AC4F-418D-AE19-62706E023703}">
                      <ahyp:hlinkClr xmlns:ahyp="http://schemas.microsoft.com/office/drawing/2018/hyperlinkcolor" val="tx"/>
                    </a:ext>
                  </a:extLst>
                </a:hlinkClick>
              </a:rPr>
              <a:t>David J. Fleet</a:t>
            </a:r>
            <a:r>
              <a:rPr lang="sv-SE" altLang="ko-KR" sz="2000" dirty="0">
                <a:latin typeface="Calibri" panose="020F0502020204030204" pitchFamily="34" charset="0"/>
                <a:ea typeface="08서울남산체 B" panose="02020603020101020101" pitchFamily="18" charset="-127"/>
                <a:cs typeface="Times New Roman" pitchFamily="18" charset="0"/>
              </a:rPr>
              <a:t>, </a:t>
            </a:r>
            <a:r>
              <a:rPr lang="sv-SE" altLang="ko-KR" sz="2000" dirty="0">
                <a:latin typeface="Calibri" panose="020F0502020204030204" pitchFamily="34" charset="0"/>
                <a:ea typeface="08서울남산체 B" panose="02020603020101020101" pitchFamily="18" charset="-127"/>
                <a:cs typeface="Times New Roman" pitchFamily="18" charset="0"/>
                <a:hlinkClick r:id="rId6">
                  <a:extLst>
                    <a:ext uri="{A12FA001-AC4F-418D-AE19-62706E023703}">
                      <ahyp:hlinkClr xmlns:ahyp="http://schemas.microsoft.com/office/drawing/2018/hyperlinkcolor" val="tx"/>
                    </a:ext>
                  </a:extLst>
                </a:hlinkClick>
              </a:rPr>
              <a:t>Geoffrey Hinton</a:t>
            </a:r>
            <a:endParaRPr lang="ko-KR" altLang="en-US" sz="2000" dirty="0">
              <a:latin typeface="Calibri" panose="020F0502020204030204" pitchFamily="34" charset="0"/>
              <a:ea typeface="08서울남산체 B" panose="02020603020101020101" pitchFamily="18" charset="-127"/>
              <a:cs typeface="Times New Roman" pitchFamily="18" charset="0"/>
            </a:endParaRPr>
          </a:p>
        </p:txBody>
      </p:sp>
    </p:spTree>
    <p:extLst>
      <p:ext uri="{BB962C8B-B14F-4D97-AF65-F5344CB8AC3E}">
        <p14:creationId xmlns:p14="http://schemas.microsoft.com/office/powerpoint/2010/main" val="7957697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ko-KR" dirty="0"/>
              <a:t>Pix2Seq</a:t>
            </a:r>
            <a:endParaRPr lang="ko-KR" altLang="en-US" dirty="0"/>
          </a:p>
        </p:txBody>
      </p:sp>
      <p:sp>
        <p:nvSpPr>
          <p:cNvPr id="5" name="Content Placeholder 4"/>
          <p:cNvSpPr>
            <a:spLocks noGrp="1"/>
          </p:cNvSpPr>
          <p:nvPr>
            <p:ph idx="1"/>
          </p:nvPr>
        </p:nvSpPr>
        <p:spPr/>
        <p:txBody>
          <a:bodyPr/>
          <a:lstStyle/>
          <a:p>
            <a:r>
              <a:rPr lang="en-US" altLang="ko-KR" dirty="0"/>
              <a:t>Object detection as a language modeling task </a:t>
            </a:r>
          </a:p>
          <a:p>
            <a:pPr lvl="1"/>
            <a:r>
              <a:rPr lang="en-US" altLang="ko-KR" dirty="0"/>
              <a:t>Object descriptions as sequences of discrete tokens </a:t>
            </a:r>
          </a:p>
          <a:p>
            <a:pPr lvl="2"/>
            <a:r>
              <a:rPr lang="en-US" altLang="ko-KR" dirty="0"/>
              <a:t>Quantization and serialization scheme converting bounding boxes and class labels into sequences of discrete tokens (similar to captions)</a:t>
            </a:r>
            <a:endParaRPr lang="ko-KR" altLang="en-US" dirty="0"/>
          </a:p>
        </p:txBody>
      </p:sp>
      <p:sp>
        <p:nvSpPr>
          <p:cNvPr id="3" name="Slide Number Placeholder 2"/>
          <p:cNvSpPr>
            <a:spLocks noGrp="1"/>
          </p:cNvSpPr>
          <p:nvPr>
            <p:ph type="sldNum" sz="quarter" idx="10"/>
          </p:nvPr>
        </p:nvSpPr>
        <p:spPr/>
        <p:txBody>
          <a:bodyPr/>
          <a:lstStyle/>
          <a:p>
            <a:pPr>
              <a:defRPr/>
            </a:pPr>
            <a:fld id="{7092A07C-4710-46A3-9C28-806B597ACB99}" type="slidenum">
              <a:rPr lang="ko-KR" altLang="en-US" smtClean="0"/>
              <a:pPr>
                <a:defRPr/>
              </a:pPr>
              <a:t>2</a:t>
            </a:fld>
            <a:endParaRPr lang="ko-KR" altLang="en-US" dirty="0"/>
          </a:p>
        </p:txBody>
      </p:sp>
      <p:pic>
        <p:nvPicPr>
          <p:cNvPr id="1026" name="Picture 2">
            <a:extLst>
              <a:ext uri="{FF2B5EF4-FFF2-40B4-BE49-F238E27FC236}">
                <a16:creationId xmlns:a16="http://schemas.microsoft.com/office/drawing/2014/main" id="{D0661A67-39F7-0F36-E039-CC1546F821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30" y="2996952"/>
            <a:ext cx="8358188" cy="323879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55276ED-2498-31F3-1B69-8A769BA49618}"/>
              </a:ext>
            </a:extLst>
          </p:cNvPr>
          <p:cNvSpPr txBox="1"/>
          <p:nvPr/>
        </p:nvSpPr>
        <p:spPr>
          <a:xfrm>
            <a:off x="2843808" y="6127772"/>
            <a:ext cx="3708412" cy="338554"/>
          </a:xfrm>
          <a:prstGeom prst="rect">
            <a:avLst/>
          </a:prstGeom>
          <a:noFill/>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Conceptual illustration of Pix2Seq [1]</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Tree>
    <p:extLst>
      <p:ext uri="{BB962C8B-B14F-4D97-AF65-F5344CB8AC3E}">
        <p14:creationId xmlns:p14="http://schemas.microsoft.com/office/powerpoint/2010/main" val="339911984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F01A183-B3CD-877B-1A86-DA5553F89A0A}"/>
              </a:ext>
            </a:extLst>
          </p:cNvPr>
          <p:cNvSpPr>
            <a:spLocks noGrp="1"/>
          </p:cNvSpPr>
          <p:nvPr>
            <p:ph type="title"/>
          </p:nvPr>
        </p:nvSpPr>
        <p:spPr/>
        <p:txBody>
          <a:bodyPr/>
          <a:lstStyle/>
          <a:p>
            <a:r>
              <a:rPr lang="en-US" altLang="ko-KR" dirty="0"/>
              <a:t>Introduction</a:t>
            </a:r>
            <a:endParaRPr lang="ko-KR" altLang="en-US" dirty="0"/>
          </a:p>
        </p:txBody>
      </p:sp>
      <p:sp>
        <p:nvSpPr>
          <p:cNvPr id="3" name="내용 개체 틀 2">
            <a:extLst>
              <a:ext uri="{FF2B5EF4-FFF2-40B4-BE49-F238E27FC236}">
                <a16:creationId xmlns:a16="http://schemas.microsoft.com/office/drawing/2014/main" id="{0B950FEA-532D-8546-498E-F0E807DCA333}"/>
              </a:ext>
            </a:extLst>
          </p:cNvPr>
          <p:cNvSpPr>
            <a:spLocks noGrp="1"/>
          </p:cNvSpPr>
          <p:nvPr>
            <p:ph idx="1"/>
          </p:nvPr>
        </p:nvSpPr>
        <p:spPr/>
        <p:txBody>
          <a:bodyPr/>
          <a:lstStyle/>
          <a:p>
            <a:r>
              <a:rPr lang="en-US" altLang="ko-KR" dirty="0"/>
              <a:t>Characteristics of the existing object detectors </a:t>
            </a:r>
          </a:p>
          <a:p>
            <a:pPr lvl="1"/>
            <a:r>
              <a:rPr lang="en-US" altLang="ko-KR" dirty="0"/>
              <a:t>Large set of proposals </a:t>
            </a:r>
          </a:p>
          <a:p>
            <a:pPr lvl="2"/>
            <a:r>
              <a:rPr lang="en-US" altLang="ko-KR" dirty="0"/>
              <a:t>Anchor, and Region Proposal Networks (Faster R-CNN [2])</a:t>
            </a:r>
          </a:p>
          <a:p>
            <a:pPr lvl="2"/>
            <a:r>
              <a:rPr lang="en-US" altLang="ko-KR" dirty="0"/>
              <a:t>Windows Centers (FCOS [3])</a:t>
            </a:r>
          </a:p>
          <a:p>
            <a:pPr lvl="2"/>
            <a:r>
              <a:rPr lang="en-US" altLang="ko-KR" dirty="0"/>
              <a:t>Non-maximum suppression to prevent duplicate detection results</a:t>
            </a:r>
          </a:p>
          <a:p>
            <a:pPr lvl="1"/>
            <a:r>
              <a:rPr lang="en-US" altLang="ko-KR" dirty="0"/>
              <a:t>Specialized architectures </a:t>
            </a:r>
          </a:p>
          <a:p>
            <a:pPr lvl="2"/>
            <a:r>
              <a:rPr lang="en-US" altLang="ko-KR" dirty="0"/>
              <a:t>Feature Pyramid Networks [4]</a:t>
            </a:r>
          </a:p>
          <a:p>
            <a:pPr lvl="2"/>
            <a:r>
              <a:rPr lang="en-US" altLang="ko-KR" dirty="0"/>
              <a:t>Extra layers </a:t>
            </a:r>
          </a:p>
          <a:p>
            <a:pPr lvl="3"/>
            <a:r>
              <a:rPr lang="en-US" altLang="ko-KR" dirty="0"/>
              <a:t>Faster R-CNN [2], YOLO [5], DETR [6] …. </a:t>
            </a:r>
          </a:p>
          <a:p>
            <a:pPr lvl="3"/>
            <a:r>
              <a:rPr lang="en-US" altLang="ko-KR" dirty="0"/>
              <a:t>Stacking extra layers (Cascade R-CNN [7])</a:t>
            </a:r>
          </a:p>
          <a:p>
            <a:pPr lvl="1"/>
            <a:r>
              <a:rPr lang="en-US" altLang="ko-KR" dirty="0"/>
              <a:t>Highly tailored loss functions </a:t>
            </a:r>
          </a:p>
          <a:p>
            <a:pPr lvl="2"/>
            <a:r>
              <a:rPr lang="en-US" altLang="ko-KR" dirty="0"/>
              <a:t>Bounding box regression (Faster R-CNN [2])</a:t>
            </a:r>
          </a:p>
          <a:p>
            <a:pPr lvl="2"/>
            <a:r>
              <a:rPr lang="en-US" altLang="ko-KR" dirty="0"/>
              <a:t>Intersection over union (Generalized </a:t>
            </a:r>
            <a:r>
              <a:rPr lang="en-US" altLang="ko-KR" dirty="0" err="1"/>
              <a:t>IoU</a:t>
            </a:r>
            <a:r>
              <a:rPr lang="en-US" altLang="ko-KR" dirty="0"/>
              <a:t> [8])</a:t>
            </a:r>
          </a:p>
          <a:p>
            <a:pPr lvl="2"/>
            <a:r>
              <a:rPr lang="en-US" altLang="ko-KR" dirty="0"/>
              <a:t>Set-based Matching (DETR [6])</a:t>
            </a:r>
          </a:p>
        </p:txBody>
      </p:sp>
      <p:sp>
        <p:nvSpPr>
          <p:cNvPr id="4" name="슬라이드 번호 개체 틀 3">
            <a:extLst>
              <a:ext uri="{FF2B5EF4-FFF2-40B4-BE49-F238E27FC236}">
                <a16:creationId xmlns:a16="http://schemas.microsoft.com/office/drawing/2014/main" id="{B57F4EE8-3077-9A44-D731-F1E4D41709CE}"/>
              </a:ext>
            </a:extLst>
          </p:cNvPr>
          <p:cNvSpPr>
            <a:spLocks noGrp="1"/>
          </p:cNvSpPr>
          <p:nvPr>
            <p:ph type="sldNum" sz="quarter" idx="10"/>
          </p:nvPr>
        </p:nvSpPr>
        <p:spPr/>
        <p:txBody>
          <a:bodyPr/>
          <a:lstStyle/>
          <a:p>
            <a:pPr>
              <a:defRPr/>
            </a:pPr>
            <a:fld id="{7092A07C-4710-46A3-9C28-806B597ACB99}" type="slidenum">
              <a:rPr lang="ko-KR" altLang="en-US" smtClean="0"/>
              <a:pPr>
                <a:defRPr/>
              </a:pPr>
              <a:t>3</a:t>
            </a:fld>
            <a:endParaRPr lang="ko-KR" altLang="en-US" dirty="0"/>
          </a:p>
        </p:txBody>
      </p:sp>
    </p:spTree>
    <p:extLst>
      <p:ext uri="{BB962C8B-B14F-4D97-AF65-F5344CB8AC3E}">
        <p14:creationId xmlns:p14="http://schemas.microsoft.com/office/powerpoint/2010/main" val="124465219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05C5D15-5FB9-9800-96B4-98ADE8AC4C15}"/>
              </a:ext>
            </a:extLst>
          </p:cNvPr>
          <p:cNvSpPr>
            <a:spLocks noGrp="1"/>
          </p:cNvSpPr>
          <p:nvPr>
            <p:ph type="title"/>
          </p:nvPr>
        </p:nvSpPr>
        <p:spPr/>
        <p:txBody>
          <a:bodyPr/>
          <a:lstStyle/>
          <a:p>
            <a:r>
              <a:rPr lang="en-US" altLang="ko-KR" dirty="0"/>
              <a:t>Characteristic 1: Large Set of Proposals  </a:t>
            </a:r>
            <a:endParaRPr lang="ko-KR" altLang="en-US" dirty="0"/>
          </a:p>
        </p:txBody>
      </p:sp>
      <p:sp>
        <p:nvSpPr>
          <p:cNvPr id="3" name="내용 개체 틀 2">
            <a:extLst>
              <a:ext uri="{FF2B5EF4-FFF2-40B4-BE49-F238E27FC236}">
                <a16:creationId xmlns:a16="http://schemas.microsoft.com/office/drawing/2014/main" id="{30973B2F-671D-7D22-0884-A345B299F611}"/>
              </a:ext>
            </a:extLst>
          </p:cNvPr>
          <p:cNvSpPr>
            <a:spLocks noGrp="1"/>
          </p:cNvSpPr>
          <p:nvPr>
            <p:ph idx="1"/>
          </p:nvPr>
        </p:nvSpPr>
        <p:spPr/>
        <p:txBody>
          <a:bodyPr/>
          <a:lstStyle/>
          <a:p>
            <a:r>
              <a:rPr lang="en-US" altLang="ko-KR" dirty="0"/>
              <a:t>Anchors in Faster R-CNN [2]</a:t>
            </a:r>
            <a:endParaRPr lang="ko-KR" altLang="en-US" dirty="0"/>
          </a:p>
        </p:txBody>
      </p:sp>
      <p:sp>
        <p:nvSpPr>
          <p:cNvPr id="4" name="슬라이드 번호 개체 틀 3">
            <a:extLst>
              <a:ext uri="{FF2B5EF4-FFF2-40B4-BE49-F238E27FC236}">
                <a16:creationId xmlns:a16="http://schemas.microsoft.com/office/drawing/2014/main" id="{0FC38BCC-E97E-CCCE-703A-6FC51B3315A4}"/>
              </a:ext>
            </a:extLst>
          </p:cNvPr>
          <p:cNvSpPr>
            <a:spLocks noGrp="1"/>
          </p:cNvSpPr>
          <p:nvPr>
            <p:ph type="sldNum" sz="quarter" idx="10"/>
          </p:nvPr>
        </p:nvSpPr>
        <p:spPr/>
        <p:txBody>
          <a:bodyPr/>
          <a:lstStyle/>
          <a:p>
            <a:pPr>
              <a:defRPr/>
            </a:pPr>
            <a:fld id="{7092A07C-4710-46A3-9C28-806B597ACB99}" type="slidenum">
              <a:rPr lang="ko-KR" altLang="en-US" smtClean="0"/>
              <a:pPr>
                <a:defRPr/>
              </a:pPr>
              <a:t>4</a:t>
            </a:fld>
            <a:endParaRPr lang="ko-KR" altLang="en-US" dirty="0"/>
          </a:p>
        </p:txBody>
      </p:sp>
      <p:pic>
        <p:nvPicPr>
          <p:cNvPr id="2050" name="Picture 2" descr="Object Detection and Classification using R-CNNs | Telesens">
            <a:extLst>
              <a:ext uri="{FF2B5EF4-FFF2-40B4-BE49-F238E27FC236}">
                <a16:creationId xmlns:a16="http://schemas.microsoft.com/office/drawing/2014/main" id="{0F3E3251-93D8-AE0F-2C00-7FA2C54E2D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828" y="1704689"/>
            <a:ext cx="7668344" cy="4865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91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39CDC1-2564-72D5-CB98-592651BEEDC5}"/>
              </a:ext>
            </a:extLst>
          </p:cNvPr>
          <p:cNvSpPr>
            <a:spLocks noGrp="1"/>
          </p:cNvSpPr>
          <p:nvPr>
            <p:ph type="title"/>
          </p:nvPr>
        </p:nvSpPr>
        <p:spPr/>
        <p:txBody>
          <a:bodyPr/>
          <a:lstStyle/>
          <a:p>
            <a:r>
              <a:rPr lang="en-US" altLang="ko-KR" dirty="0"/>
              <a:t>Characteristic 2: Specialized Architectures </a:t>
            </a:r>
            <a:endParaRPr lang="ko-KR" altLang="en-US" dirty="0"/>
          </a:p>
        </p:txBody>
      </p:sp>
      <p:sp>
        <p:nvSpPr>
          <p:cNvPr id="3" name="내용 개체 틀 2">
            <a:extLst>
              <a:ext uri="{FF2B5EF4-FFF2-40B4-BE49-F238E27FC236}">
                <a16:creationId xmlns:a16="http://schemas.microsoft.com/office/drawing/2014/main" id="{4D0500ED-6808-1621-1DD4-9317BA181906}"/>
              </a:ext>
            </a:extLst>
          </p:cNvPr>
          <p:cNvSpPr>
            <a:spLocks noGrp="1"/>
          </p:cNvSpPr>
          <p:nvPr>
            <p:ph idx="1"/>
          </p:nvPr>
        </p:nvSpPr>
        <p:spPr/>
        <p:txBody>
          <a:bodyPr/>
          <a:lstStyle/>
          <a:p>
            <a:r>
              <a:rPr lang="en-US" altLang="ko-KR" dirty="0"/>
              <a:t>Feature Pyramid Networks [4]</a:t>
            </a:r>
          </a:p>
          <a:p>
            <a:pPr lvl="1"/>
            <a:r>
              <a:rPr lang="en-US" altLang="ko-KR" dirty="0"/>
              <a:t>Mix 1) semantic information and 2) spatial information </a:t>
            </a:r>
            <a:endParaRPr lang="ko-KR" altLang="en-US" dirty="0"/>
          </a:p>
        </p:txBody>
      </p:sp>
      <p:sp>
        <p:nvSpPr>
          <p:cNvPr id="4" name="슬라이드 번호 개체 틀 3">
            <a:extLst>
              <a:ext uri="{FF2B5EF4-FFF2-40B4-BE49-F238E27FC236}">
                <a16:creationId xmlns:a16="http://schemas.microsoft.com/office/drawing/2014/main" id="{FBF19E46-7907-D206-9C96-8B88EEC8210E}"/>
              </a:ext>
            </a:extLst>
          </p:cNvPr>
          <p:cNvSpPr>
            <a:spLocks noGrp="1"/>
          </p:cNvSpPr>
          <p:nvPr>
            <p:ph type="sldNum" sz="quarter" idx="10"/>
          </p:nvPr>
        </p:nvSpPr>
        <p:spPr/>
        <p:txBody>
          <a:bodyPr/>
          <a:lstStyle/>
          <a:p>
            <a:pPr>
              <a:defRPr/>
            </a:pPr>
            <a:fld id="{7092A07C-4710-46A3-9C28-806B597ACB99}" type="slidenum">
              <a:rPr lang="ko-KR" altLang="en-US" smtClean="0"/>
              <a:pPr>
                <a:defRPr/>
              </a:pPr>
              <a:t>5</a:t>
            </a:fld>
            <a:endParaRPr lang="ko-KR" altLang="en-US" dirty="0"/>
          </a:p>
        </p:txBody>
      </p:sp>
      <p:pic>
        <p:nvPicPr>
          <p:cNvPr id="5" name="그림 4">
            <a:extLst>
              <a:ext uri="{FF2B5EF4-FFF2-40B4-BE49-F238E27FC236}">
                <a16:creationId xmlns:a16="http://schemas.microsoft.com/office/drawing/2014/main" id="{F0B19A3F-F01F-3567-55EE-26492AB08B90}"/>
              </a:ext>
            </a:extLst>
          </p:cNvPr>
          <p:cNvPicPr>
            <a:picLocks noChangeAspect="1"/>
          </p:cNvPicPr>
          <p:nvPr/>
        </p:nvPicPr>
        <p:blipFill rotWithShape="1">
          <a:blip r:embed="rId2"/>
          <a:srcRect b="40637"/>
          <a:stretch/>
        </p:blipFill>
        <p:spPr>
          <a:xfrm>
            <a:off x="1403648" y="2286224"/>
            <a:ext cx="6812681" cy="4197563"/>
          </a:xfrm>
          <a:prstGeom prst="rect">
            <a:avLst/>
          </a:prstGeom>
        </p:spPr>
      </p:pic>
    </p:spTree>
    <p:extLst>
      <p:ext uri="{BB962C8B-B14F-4D97-AF65-F5344CB8AC3E}">
        <p14:creationId xmlns:p14="http://schemas.microsoft.com/office/powerpoint/2010/main" val="111338696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39CDC1-2564-72D5-CB98-592651BEEDC5}"/>
              </a:ext>
            </a:extLst>
          </p:cNvPr>
          <p:cNvSpPr>
            <a:spLocks noGrp="1"/>
          </p:cNvSpPr>
          <p:nvPr>
            <p:ph type="title"/>
          </p:nvPr>
        </p:nvSpPr>
        <p:spPr/>
        <p:txBody>
          <a:bodyPr/>
          <a:lstStyle/>
          <a:p>
            <a:r>
              <a:rPr lang="en-US" altLang="ko-KR" dirty="0"/>
              <a:t>Characteristic 2: Specialized Architectures </a:t>
            </a:r>
            <a:endParaRPr lang="ko-KR" altLang="en-US" dirty="0"/>
          </a:p>
        </p:txBody>
      </p:sp>
      <p:sp>
        <p:nvSpPr>
          <p:cNvPr id="3" name="내용 개체 틀 2">
            <a:extLst>
              <a:ext uri="{FF2B5EF4-FFF2-40B4-BE49-F238E27FC236}">
                <a16:creationId xmlns:a16="http://schemas.microsoft.com/office/drawing/2014/main" id="{4D0500ED-6808-1621-1DD4-9317BA181906}"/>
              </a:ext>
            </a:extLst>
          </p:cNvPr>
          <p:cNvSpPr>
            <a:spLocks noGrp="1"/>
          </p:cNvSpPr>
          <p:nvPr>
            <p:ph idx="1"/>
          </p:nvPr>
        </p:nvSpPr>
        <p:spPr/>
        <p:txBody>
          <a:bodyPr/>
          <a:lstStyle/>
          <a:p>
            <a:r>
              <a:rPr lang="en-US" altLang="ko-KR" dirty="0"/>
              <a:t>Extra layers: Cascade R-CNN [7]</a:t>
            </a:r>
            <a:endParaRPr lang="ko-KR" altLang="en-US" dirty="0"/>
          </a:p>
        </p:txBody>
      </p:sp>
      <p:sp>
        <p:nvSpPr>
          <p:cNvPr id="4" name="슬라이드 번호 개체 틀 3">
            <a:extLst>
              <a:ext uri="{FF2B5EF4-FFF2-40B4-BE49-F238E27FC236}">
                <a16:creationId xmlns:a16="http://schemas.microsoft.com/office/drawing/2014/main" id="{FBF19E46-7907-D206-9C96-8B88EEC8210E}"/>
              </a:ext>
            </a:extLst>
          </p:cNvPr>
          <p:cNvSpPr>
            <a:spLocks noGrp="1"/>
          </p:cNvSpPr>
          <p:nvPr>
            <p:ph type="sldNum" sz="quarter" idx="10"/>
          </p:nvPr>
        </p:nvSpPr>
        <p:spPr/>
        <p:txBody>
          <a:bodyPr/>
          <a:lstStyle/>
          <a:p>
            <a:pPr>
              <a:defRPr/>
            </a:pPr>
            <a:fld id="{7092A07C-4710-46A3-9C28-806B597ACB99}" type="slidenum">
              <a:rPr lang="ko-KR" altLang="en-US" smtClean="0"/>
              <a:pPr>
                <a:defRPr/>
              </a:pPr>
              <a:t>6</a:t>
            </a:fld>
            <a:endParaRPr lang="ko-KR" altLang="en-US" dirty="0"/>
          </a:p>
        </p:txBody>
      </p:sp>
      <p:pic>
        <p:nvPicPr>
          <p:cNvPr id="7" name="그림 6">
            <a:extLst>
              <a:ext uri="{FF2B5EF4-FFF2-40B4-BE49-F238E27FC236}">
                <a16:creationId xmlns:a16="http://schemas.microsoft.com/office/drawing/2014/main" id="{926BC6F7-E100-D9D2-BC06-44C953141438}"/>
              </a:ext>
            </a:extLst>
          </p:cNvPr>
          <p:cNvPicPr>
            <a:picLocks noChangeAspect="1"/>
          </p:cNvPicPr>
          <p:nvPr/>
        </p:nvPicPr>
        <p:blipFill>
          <a:blip r:embed="rId2"/>
          <a:stretch>
            <a:fillRect/>
          </a:stretch>
        </p:blipFill>
        <p:spPr>
          <a:xfrm>
            <a:off x="217879" y="2511361"/>
            <a:ext cx="8786874" cy="2648284"/>
          </a:xfrm>
          <a:prstGeom prst="rect">
            <a:avLst/>
          </a:prstGeom>
        </p:spPr>
      </p:pic>
    </p:spTree>
    <p:extLst>
      <p:ext uri="{BB962C8B-B14F-4D97-AF65-F5344CB8AC3E}">
        <p14:creationId xmlns:p14="http://schemas.microsoft.com/office/powerpoint/2010/main" val="127560521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BA631D6-1916-1C98-DB49-3DDBE881D672}"/>
              </a:ext>
            </a:extLst>
          </p:cNvPr>
          <p:cNvSpPr>
            <a:spLocks noGrp="1"/>
          </p:cNvSpPr>
          <p:nvPr>
            <p:ph type="title"/>
          </p:nvPr>
        </p:nvSpPr>
        <p:spPr>
          <a:xfrm>
            <a:off x="1151620" y="220646"/>
            <a:ext cx="8244916" cy="615931"/>
          </a:xfrm>
        </p:spPr>
        <p:txBody>
          <a:bodyPr>
            <a:normAutofit/>
          </a:bodyPr>
          <a:lstStyle/>
          <a:p>
            <a:r>
              <a:rPr lang="en-US" altLang="ko-KR" dirty="0"/>
              <a:t>Characteristic 3: Highly tailored loss functions </a:t>
            </a:r>
            <a:endParaRPr lang="ko-KR" altLang="en-US" dirty="0"/>
          </a:p>
        </p:txBody>
      </p:sp>
      <p:sp>
        <p:nvSpPr>
          <p:cNvPr id="3" name="내용 개체 틀 2">
            <a:extLst>
              <a:ext uri="{FF2B5EF4-FFF2-40B4-BE49-F238E27FC236}">
                <a16:creationId xmlns:a16="http://schemas.microsoft.com/office/drawing/2014/main" id="{2C99D8E5-477F-5F31-4FE0-9419A55B8708}"/>
              </a:ext>
            </a:extLst>
          </p:cNvPr>
          <p:cNvSpPr>
            <a:spLocks noGrp="1"/>
          </p:cNvSpPr>
          <p:nvPr>
            <p:ph idx="1"/>
          </p:nvPr>
        </p:nvSpPr>
        <p:spPr/>
        <p:txBody>
          <a:bodyPr/>
          <a:lstStyle/>
          <a:p>
            <a:r>
              <a:rPr lang="en-US" altLang="ko-KR" dirty="0"/>
              <a:t>Set-based matching loss: DETR [6] </a:t>
            </a:r>
            <a:endParaRPr lang="ko-KR" altLang="en-US" dirty="0"/>
          </a:p>
        </p:txBody>
      </p:sp>
      <p:sp>
        <p:nvSpPr>
          <p:cNvPr id="4" name="슬라이드 번호 개체 틀 3">
            <a:extLst>
              <a:ext uri="{FF2B5EF4-FFF2-40B4-BE49-F238E27FC236}">
                <a16:creationId xmlns:a16="http://schemas.microsoft.com/office/drawing/2014/main" id="{A5EC02F9-8D0E-EC3C-2583-852BC7FB3FA5}"/>
              </a:ext>
            </a:extLst>
          </p:cNvPr>
          <p:cNvSpPr>
            <a:spLocks noGrp="1"/>
          </p:cNvSpPr>
          <p:nvPr>
            <p:ph type="sldNum" sz="quarter" idx="10"/>
          </p:nvPr>
        </p:nvSpPr>
        <p:spPr/>
        <p:txBody>
          <a:bodyPr/>
          <a:lstStyle/>
          <a:p>
            <a:pPr>
              <a:defRPr/>
            </a:pPr>
            <a:fld id="{7092A07C-4710-46A3-9C28-806B597ACB99}" type="slidenum">
              <a:rPr lang="ko-KR" altLang="en-US" smtClean="0"/>
              <a:pPr>
                <a:defRPr/>
              </a:pPr>
              <a:t>7</a:t>
            </a:fld>
            <a:endParaRPr lang="ko-KR" altLang="en-US" dirty="0"/>
          </a:p>
        </p:txBody>
      </p:sp>
      <p:pic>
        <p:nvPicPr>
          <p:cNvPr id="8" name="그림 7">
            <a:extLst>
              <a:ext uri="{FF2B5EF4-FFF2-40B4-BE49-F238E27FC236}">
                <a16:creationId xmlns:a16="http://schemas.microsoft.com/office/drawing/2014/main" id="{F617D050-CE19-6EDC-8741-50BBD6DE6569}"/>
              </a:ext>
            </a:extLst>
          </p:cNvPr>
          <p:cNvPicPr>
            <a:picLocks noChangeAspect="1"/>
          </p:cNvPicPr>
          <p:nvPr/>
        </p:nvPicPr>
        <p:blipFill>
          <a:blip r:embed="rId2"/>
          <a:stretch>
            <a:fillRect/>
          </a:stretch>
        </p:blipFill>
        <p:spPr>
          <a:xfrm>
            <a:off x="1028205" y="5676103"/>
            <a:ext cx="7087589" cy="905001"/>
          </a:xfrm>
          <a:prstGeom prst="rect">
            <a:avLst/>
          </a:prstGeom>
        </p:spPr>
      </p:pic>
      <p:pic>
        <p:nvPicPr>
          <p:cNvPr id="10" name="그림 9">
            <a:extLst>
              <a:ext uri="{FF2B5EF4-FFF2-40B4-BE49-F238E27FC236}">
                <a16:creationId xmlns:a16="http://schemas.microsoft.com/office/drawing/2014/main" id="{98CC19DC-7497-85C2-2334-909B95D566A5}"/>
              </a:ext>
            </a:extLst>
          </p:cNvPr>
          <p:cNvPicPr>
            <a:picLocks noChangeAspect="1"/>
          </p:cNvPicPr>
          <p:nvPr/>
        </p:nvPicPr>
        <p:blipFill>
          <a:blip r:embed="rId3"/>
          <a:stretch>
            <a:fillRect/>
          </a:stretch>
        </p:blipFill>
        <p:spPr>
          <a:xfrm>
            <a:off x="1063923" y="1751267"/>
            <a:ext cx="7087589" cy="3723082"/>
          </a:xfrm>
          <a:prstGeom prst="rect">
            <a:avLst/>
          </a:prstGeom>
        </p:spPr>
      </p:pic>
      <p:cxnSp>
        <p:nvCxnSpPr>
          <p:cNvPr id="12" name="직선 화살표 연결선 11">
            <a:extLst>
              <a:ext uri="{FF2B5EF4-FFF2-40B4-BE49-F238E27FC236}">
                <a16:creationId xmlns:a16="http://schemas.microsoft.com/office/drawing/2014/main" id="{5140CD29-F878-ED03-E2B1-473C7722C243}"/>
              </a:ext>
            </a:extLst>
          </p:cNvPr>
          <p:cNvCxnSpPr/>
          <p:nvPr/>
        </p:nvCxnSpPr>
        <p:spPr>
          <a:xfrm flipH="1">
            <a:off x="5472100" y="3104964"/>
            <a:ext cx="1584176" cy="24842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311832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0A2EB45-6A8E-6DF4-FCB0-9CF5BB416222}"/>
              </a:ext>
            </a:extLst>
          </p:cNvPr>
          <p:cNvSpPr>
            <a:spLocks noGrp="1"/>
          </p:cNvSpPr>
          <p:nvPr>
            <p:ph type="title"/>
          </p:nvPr>
        </p:nvSpPr>
        <p:spPr/>
        <p:txBody>
          <a:bodyPr/>
          <a:lstStyle/>
          <a:p>
            <a:r>
              <a:rPr lang="en-US" altLang="ko-KR" dirty="0"/>
              <a:t>Introduction </a:t>
            </a:r>
            <a:endParaRPr lang="ko-KR" altLang="en-US" dirty="0"/>
          </a:p>
        </p:txBody>
      </p:sp>
      <p:sp>
        <p:nvSpPr>
          <p:cNvPr id="3" name="내용 개체 틀 2">
            <a:extLst>
              <a:ext uri="{FF2B5EF4-FFF2-40B4-BE49-F238E27FC236}">
                <a16:creationId xmlns:a16="http://schemas.microsoft.com/office/drawing/2014/main" id="{56BDFB58-7086-B736-824A-36C3F87FAB15}"/>
              </a:ext>
            </a:extLst>
          </p:cNvPr>
          <p:cNvSpPr>
            <a:spLocks noGrp="1"/>
          </p:cNvSpPr>
          <p:nvPr>
            <p:ph idx="1"/>
          </p:nvPr>
        </p:nvSpPr>
        <p:spPr/>
        <p:txBody>
          <a:bodyPr/>
          <a:lstStyle/>
          <a:p>
            <a:r>
              <a:rPr lang="en-US" altLang="ko-KR" dirty="0"/>
              <a:t>Goal of this paper </a:t>
            </a:r>
          </a:p>
          <a:p>
            <a:pPr lvl="1"/>
            <a:r>
              <a:rPr lang="en-US" altLang="ko-KR" dirty="0"/>
              <a:t>Generalized architecture for object detection </a:t>
            </a:r>
          </a:p>
          <a:p>
            <a:pPr lvl="2"/>
            <a:r>
              <a:rPr lang="en-US" altLang="ko-KR" dirty="0"/>
              <a:t>Intuition </a:t>
            </a:r>
          </a:p>
          <a:p>
            <a:pPr lvl="3"/>
            <a:r>
              <a:rPr lang="en-US" altLang="ko-KR" dirty="0"/>
              <a:t>If a neural net knows where and what the objects are,</a:t>
            </a:r>
            <a:br>
              <a:rPr lang="en-US" altLang="ko-KR" dirty="0"/>
            </a:br>
            <a:r>
              <a:rPr lang="en-US" altLang="ko-KR" dirty="0"/>
              <a:t>we just need to</a:t>
            </a:r>
            <a:r>
              <a:rPr lang="en-US" altLang="ko-KR" i="1" dirty="0"/>
              <a:t> </a:t>
            </a:r>
            <a:r>
              <a:rPr lang="en-US" altLang="ko-KR" b="1" i="1" u="sng" dirty="0"/>
              <a:t>teach it to read them out.</a:t>
            </a:r>
          </a:p>
          <a:p>
            <a:pPr marL="1168400" marR="0" lvl="2" indent="-254000" algn="l" defTabSz="914400" rtl="0" eaLnBrk="0" fontAlgn="base" latinLnBrk="1" hangingPunct="0">
              <a:lnSpc>
                <a:spcPct val="100000"/>
              </a:lnSpc>
              <a:spcBef>
                <a:spcPts val="700"/>
              </a:spcBef>
              <a:spcAft>
                <a:spcPct val="0"/>
              </a:spcAft>
              <a:buClrTx/>
              <a:buSzTx/>
              <a:buFont typeface="Arial" charset="0"/>
              <a:buChar char="•"/>
              <a:tabLst/>
              <a:defRPr/>
            </a:pPr>
            <a:r>
              <a:rPr kumimoji="0" lang="en-US" altLang="ko-KR" sz="18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Avoid</a:t>
            </a:r>
          </a:p>
          <a:p>
            <a:pPr marL="1600200" marR="0" lvl="3" indent="-228600" algn="l" defTabSz="914400" rtl="0" eaLnBrk="0" fontAlgn="base" latinLnBrk="1" hangingPunct="0">
              <a:lnSpc>
                <a:spcPct val="100000"/>
              </a:lnSpc>
              <a:spcBef>
                <a:spcPts val="600"/>
              </a:spcBef>
              <a:spcAft>
                <a:spcPct val="0"/>
              </a:spcAft>
              <a:buClrTx/>
              <a:buSzTx/>
              <a:buFont typeface="Arial" charset="0"/>
              <a:buChar char="–"/>
              <a:tabLst/>
              <a:defRPr/>
            </a:pPr>
            <a:r>
              <a:rPr kumimoji="0" lang="en-US" altLang="ko-KR" sz="18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Bounding box proposal </a:t>
            </a:r>
          </a:p>
          <a:p>
            <a:pPr marL="1600200" marR="0" lvl="3" indent="-228600" algn="l" defTabSz="914400" rtl="0" eaLnBrk="0" fontAlgn="base" latinLnBrk="1" hangingPunct="0">
              <a:lnSpc>
                <a:spcPct val="100000"/>
              </a:lnSpc>
              <a:spcBef>
                <a:spcPts val="600"/>
              </a:spcBef>
              <a:spcAft>
                <a:spcPct val="0"/>
              </a:spcAft>
              <a:buClrTx/>
              <a:buSzTx/>
              <a:buFont typeface="Arial" charset="0"/>
              <a:buChar char="–"/>
              <a:tabLst/>
              <a:defRPr/>
            </a:pPr>
            <a:r>
              <a:rPr kumimoji="0" lang="en-US" altLang="ko-KR" sz="18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Specialized architecture </a:t>
            </a:r>
          </a:p>
          <a:p>
            <a:pPr marL="1600200" marR="0" lvl="3" indent="-228600" algn="l" defTabSz="914400" rtl="0" eaLnBrk="0" fontAlgn="base" latinLnBrk="1" hangingPunct="0">
              <a:lnSpc>
                <a:spcPct val="100000"/>
              </a:lnSpc>
              <a:spcBef>
                <a:spcPts val="600"/>
              </a:spcBef>
              <a:spcAft>
                <a:spcPct val="0"/>
              </a:spcAft>
              <a:buClrTx/>
              <a:buSzTx/>
              <a:buFont typeface="Arial" charset="0"/>
              <a:buChar char="–"/>
              <a:tabLst/>
              <a:defRPr/>
            </a:pPr>
            <a:r>
              <a:rPr kumimoji="0" lang="en-US" altLang="ko-KR" sz="18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Highly tailored loss function </a:t>
            </a:r>
          </a:p>
          <a:p>
            <a:pPr marL="1168400" marR="0" lvl="2" indent="-254000" algn="l" defTabSz="914400" rtl="0" eaLnBrk="0" fontAlgn="base" latinLnBrk="1" hangingPunct="0">
              <a:lnSpc>
                <a:spcPct val="100000"/>
              </a:lnSpc>
              <a:spcBef>
                <a:spcPts val="700"/>
              </a:spcBef>
              <a:spcAft>
                <a:spcPct val="0"/>
              </a:spcAft>
              <a:buClrTx/>
              <a:buSzTx/>
              <a:buFont typeface="Arial" charset="0"/>
              <a:buChar char="•"/>
              <a:tabLst/>
              <a:defRPr/>
            </a:pPr>
            <a:endParaRPr kumimoji="0" lang="en-US" altLang="ko-KR" sz="18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p>
            <a:pPr marL="1168400" marR="0" lvl="2" indent="-254000" algn="l" defTabSz="914400" rtl="0" eaLnBrk="0" fontAlgn="base" latinLnBrk="1" hangingPunct="0">
              <a:lnSpc>
                <a:spcPct val="100000"/>
              </a:lnSpc>
              <a:spcBef>
                <a:spcPts val="700"/>
              </a:spcBef>
              <a:spcAft>
                <a:spcPct val="0"/>
              </a:spcAft>
              <a:buClrTx/>
              <a:buSzTx/>
              <a:buFont typeface="Arial" charset="0"/>
              <a:buChar char="•"/>
              <a:tabLst/>
              <a:defRPr/>
            </a:pPr>
            <a:r>
              <a:rPr kumimoji="0" lang="en-US" altLang="ko-KR" sz="18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Main components </a:t>
            </a:r>
          </a:p>
          <a:p>
            <a:pPr marL="1600200" marR="0" lvl="3" indent="-228600" algn="l" defTabSz="914400" rtl="0" eaLnBrk="0" fontAlgn="base" latinLnBrk="1" hangingPunct="0">
              <a:lnSpc>
                <a:spcPct val="100000"/>
              </a:lnSpc>
              <a:spcBef>
                <a:spcPts val="600"/>
              </a:spcBef>
              <a:spcAft>
                <a:spcPct val="0"/>
              </a:spcAft>
              <a:buClrTx/>
              <a:buSzTx/>
              <a:buFont typeface="Arial" charset="0"/>
              <a:buChar char="–"/>
              <a:tabLst/>
              <a:defRPr/>
            </a:pPr>
            <a:r>
              <a:rPr kumimoji="0" lang="en-US" altLang="ko-KR" dirty="0">
                <a:solidFill>
                  <a:prstClr val="black"/>
                </a:solidFill>
                <a:latin typeface="맑은 고딕" panose="020B0503020000020004" pitchFamily="50" charset="-127"/>
                <a:ea typeface="맑은 고딕" panose="020B0503020000020004" pitchFamily="50" charset="-127"/>
              </a:rPr>
              <a:t>Bounding box as </a:t>
            </a:r>
            <a:r>
              <a:rPr kumimoji="0" lang="en-US" altLang="ko-KR" b="1" u="sng" dirty="0">
                <a:solidFill>
                  <a:prstClr val="black"/>
                </a:solidFill>
                <a:latin typeface="맑은 고딕" panose="020B0503020000020004" pitchFamily="50" charset="-127"/>
                <a:ea typeface="맑은 고딕" panose="020B0503020000020004" pitchFamily="50" charset="-127"/>
              </a:rPr>
              <a:t>Sequence </a:t>
            </a:r>
            <a:endParaRPr kumimoji="0" lang="en-US" altLang="ko-KR" sz="1800" b="1" i="0" u="sng"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p>
            <a:pPr marL="1600200" marR="0" lvl="3" indent="-228600" algn="l" defTabSz="914400" rtl="0" eaLnBrk="0" fontAlgn="base" latinLnBrk="1" hangingPunct="0">
              <a:lnSpc>
                <a:spcPct val="100000"/>
              </a:lnSpc>
              <a:spcBef>
                <a:spcPts val="600"/>
              </a:spcBef>
              <a:spcAft>
                <a:spcPct val="0"/>
              </a:spcAft>
              <a:buClrTx/>
              <a:buSzTx/>
              <a:buFont typeface="Arial" charset="0"/>
              <a:buChar char="–"/>
              <a:tabLst/>
              <a:defRPr/>
            </a:pPr>
            <a:r>
              <a:rPr kumimoji="0" lang="en-US" altLang="ko-KR" sz="1800" b="1" i="0" u="sng"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General encoder-decoder</a:t>
            </a:r>
            <a:r>
              <a:rPr kumimoji="0" lang="en-US" altLang="ko-KR" sz="18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 architecture </a:t>
            </a:r>
          </a:p>
          <a:p>
            <a:pPr marL="1600200" marR="0" lvl="3" indent="-228600" algn="l" defTabSz="914400" rtl="0" eaLnBrk="0" fontAlgn="base" latinLnBrk="1" hangingPunct="0">
              <a:lnSpc>
                <a:spcPct val="100000"/>
              </a:lnSpc>
              <a:spcBef>
                <a:spcPts val="600"/>
              </a:spcBef>
              <a:spcAft>
                <a:spcPct val="0"/>
              </a:spcAft>
              <a:buClrTx/>
              <a:buSzTx/>
              <a:buFont typeface="Arial" charset="0"/>
              <a:buChar char="–"/>
              <a:tabLst/>
              <a:defRPr/>
            </a:pPr>
            <a:r>
              <a:rPr kumimoji="0" lang="en-US" altLang="ko-KR" sz="1800" b="1" i="0" u="sng"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Maximum likelihood loss</a:t>
            </a:r>
            <a:r>
              <a:rPr kumimoji="0" lang="en-US" altLang="ko-KR" sz="18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 </a:t>
            </a:r>
          </a:p>
          <a:p>
            <a:pPr lvl="2" indent="-228600">
              <a:spcBef>
                <a:spcPts val="600"/>
              </a:spcBef>
              <a:buFont typeface="Arial" charset="0"/>
              <a:buChar char="–"/>
              <a:defRPr/>
            </a:pPr>
            <a:endParaRPr kumimoji="0" lang="en-US" altLang="ko-KR"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p>
            <a:pPr lvl="2"/>
            <a:endParaRPr lang="en-US" altLang="ko-KR" dirty="0"/>
          </a:p>
          <a:p>
            <a:pPr marL="914400" lvl="2" indent="0">
              <a:buNone/>
            </a:pPr>
            <a:endParaRPr lang="en-US" altLang="ko-KR" b="1" i="1" u="sng" dirty="0"/>
          </a:p>
          <a:p>
            <a:pPr lvl="2"/>
            <a:endParaRPr lang="en-US" altLang="ko-KR" b="1" i="1" u="sng" dirty="0"/>
          </a:p>
          <a:p>
            <a:endParaRPr lang="ko-KR" altLang="en-US" i="1" dirty="0"/>
          </a:p>
        </p:txBody>
      </p:sp>
      <p:sp>
        <p:nvSpPr>
          <p:cNvPr id="4" name="슬라이드 번호 개체 틀 3">
            <a:extLst>
              <a:ext uri="{FF2B5EF4-FFF2-40B4-BE49-F238E27FC236}">
                <a16:creationId xmlns:a16="http://schemas.microsoft.com/office/drawing/2014/main" id="{902CAEFC-F3A2-372E-99DF-96F7C94C4D81}"/>
              </a:ext>
            </a:extLst>
          </p:cNvPr>
          <p:cNvSpPr>
            <a:spLocks noGrp="1"/>
          </p:cNvSpPr>
          <p:nvPr>
            <p:ph type="sldNum" sz="quarter" idx="10"/>
          </p:nvPr>
        </p:nvSpPr>
        <p:spPr/>
        <p:txBody>
          <a:bodyPr/>
          <a:lstStyle/>
          <a:p>
            <a:pPr>
              <a:defRPr/>
            </a:pPr>
            <a:fld id="{7092A07C-4710-46A3-9C28-806B597ACB99}" type="slidenum">
              <a:rPr lang="ko-KR" altLang="en-US" smtClean="0"/>
              <a:pPr>
                <a:defRPr/>
              </a:pPr>
              <a:t>8</a:t>
            </a:fld>
            <a:endParaRPr lang="ko-KR" altLang="en-US" dirty="0"/>
          </a:p>
        </p:txBody>
      </p:sp>
    </p:spTree>
    <p:extLst>
      <p:ext uri="{BB962C8B-B14F-4D97-AF65-F5344CB8AC3E}">
        <p14:creationId xmlns:p14="http://schemas.microsoft.com/office/powerpoint/2010/main" val="91248085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BBFB0E8-9167-2F7E-2650-306BECD1B3F2}"/>
              </a:ext>
            </a:extLst>
          </p:cNvPr>
          <p:cNvSpPr>
            <a:spLocks noGrp="1"/>
          </p:cNvSpPr>
          <p:nvPr>
            <p:ph type="title"/>
          </p:nvPr>
        </p:nvSpPr>
        <p:spPr/>
        <p:txBody>
          <a:bodyPr/>
          <a:lstStyle/>
          <a:p>
            <a:r>
              <a:rPr lang="en-US" altLang="ko-KR" dirty="0"/>
              <a:t>Q &amp; A </a:t>
            </a:r>
            <a:endParaRPr lang="ko-KR" altLang="en-US" dirty="0"/>
          </a:p>
        </p:txBody>
      </p:sp>
      <p:sp>
        <p:nvSpPr>
          <p:cNvPr id="3" name="내용 개체 틀 2">
            <a:extLst>
              <a:ext uri="{FF2B5EF4-FFF2-40B4-BE49-F238E27FC236}">
                <a16:creationId xmlns:a16="http://schemas.microsoft.com/office/drawing/2014/main" id="{BEFD6EDF-8F93-49B9-ACFC-B71555BE8AA9}"/>
              </a:ext>
            </a:extLst>
          </p:cNvPr>
          <p:cNvSpPr>
            <a:spLocks noGrp="1"/>
          </p:cNvSpPr>
          <p:nvPr>
            <p:ph idx="1"/>
          </p:nvPr>
        </p:nvSpPr>
        <p:spPr/>
        <p:txBody>
          <a:bodyPr/>
          <a:lstStyle/>
          <a:p>
            <a:pPr marL="0" indent="0" algn="ctr">
              <a:buNone/>
            </a:pPr>
            <a:endParaRPr lang="en-US" altLang="ko-KR" sz="3200" dirty="0"/>
          </a:p>
          <a:p>
            <a:pPr marL="0" indent="0" algn="ctr">
              <a:buNone/>
            </a:pPr>
            <a:endParaRPr lang="en-US" altLang="ko-KR" sz="5400" dirty="0"/>
          </a:p>
          <a:p>
            <a:pPr marL="0" indent="0" algn="ctr">
              <a:buNone/>
            </a:pPr>
            <a:r>
              <a:rPr lang="en-US" altLang="ko-KR" sz="11500" dirty="0"/>
              <a:t>Q &amp; A</a:t>
            </a:r>
            <a:endParaRPr lang="ko-KR" altLang="en-US" sz="11500" dirty="0"/>
          </a:p>
        </p:txBody>
      </p:sp>
      <p:sp>
        <p:nvSpPr>
          <p:cNvPr id="4" name="슬라이드 번호 개체 틀 3">
            <a:extLst>
              <a:ext uri="{FF2B5EF4-FFF2-40B4-BE49-F238E27FC236}">
                <a16:creationId xmlns:a16="http://schemas.microsoft.com/office/drawing/2014/main" id="{582E1E55-853F-3733-A86C-E5DA5C9DAEC1}"/>
              </a:ext>
            </a:extLst>
          </p:cNvPr>
          <p:cNvSpPr>
            <a:spLocks noGrp="1"/>
          </p:cNvSpPr>
          <p:nvPr>
            <p:ph type="sldNum" sz="quarter" idx="10"/>
          </p:nvPr>
        </p:nvSpPr>
        <p:spPr/>
        <p:txBody>
          <a:bodyPr/>
          <a:lstStyle/>
          <a:p>
            <a:pPr>
              <a:defRPr/>
            </a:pPr>
            <a:fld id="{7092A07C-4710-46A3-9C28-806B597ACB99}" type="slidenum">
              <a:rPr lang="ko-KR" altLang="en-US" smtClean="0"/>
              <a:pPr>
                <a:defRPr/>
              </a:pPr>
              <a:t>9</a:t>
            </a:fld>
            <a:endParaRPr lang="ko-KR" altLang="en-US" dirty="0"/>
          </a:p>
        </p:txBody>
      </p:sp>
    </p:spTree>
    <p:extLst>
      <p:ext uri="{BB962C8B-B14F-4D97-AF65-F5344CB8AC3E}">
        <p14:creationId xmlns:p14="http://schemas.microsoft.com/office/powerpoint/2010/main" val="231446718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21F8C3A-19A2-E449-2376-E0B78F5EE628}"/>
              </a:ext>
            </a:extLst>
          </p:cNvPr>
          <p:cNvSpPr>
            <a:spLocks noGrp="1"/>
          </p:cNvSpPr>
          <p:nvPr>
            <p:ph type="title"/>
          </p:nvPr>
        </p:nvSpPr>
        <p:spPr/>
        <p:txBody>
          <a:bodyPr/>
          <a:lstStyle/>
          <a:p>
            <a:r>
              <a:rPr lang="en-US" altLang="ko-KR" dirty="0"/>
              <a:t>The Pix2Seq Framework</a:t>
            </a:r>
            <a:endParaRPr lang="ko-KR" altLang="en-US" dirty="0"/>
          </a:p>
        </p:txBody>
      </p:sp>
      <p:sp>
        <p:nvSpPr>
          <p:cNvPr id="3" name="내용 개체 틀 2">
            <a:extLst>
              <a:ext uri="{FF2B5EF4-FFF2-40B4-BE49-F238E27FC236}">
                <a16:creationId xmlns:a16="http://schemas.microsoft.com/office/drawing/2014/main" id="{675C3096-C84B-5271-22A2-8CC7786A135E}"/>
              </a:ext>
            </a:extLst>
          </p:cNvPr>
          <p:cNvSpPr>
            <a:spLocks noGrp="1"/>
          </p:cNvSpPr>
          <p:nvPr>
            <p:ph idx="1"/>
          </p:nvPr>
        </p:nvSpPr>
        <p:spPr/>
        <p:txBody>
          <a:bodyPr/>
          <a:lstStyle/>
          <a:p>
            <a:r>
              <a:rPr lang="en-US" altLang="ko-KR" dirty="0"/>
              <a:t>Main components of Pix2Seq</a:t>
            </a:r>
          </a:p>
          <a:p>
            <a:pPr lvl="1"/>
            <a:r>
              <a:rPr lang="en-US" altLang="ko-KR" dirty="0"/>
              <a:t>Image Augmentation </a:t>
            </a:r>
          </a:p>
          <a:p>
            <a:pPr lvl="1"/>
            <a:r>
              <a:rPr lang="en-US" altLang="ko-KR" dirty="0"/>
              <a:t>Sequence construction &amp; augmentation </a:t>
            </a:r>
          </a:p>
          <a:p>
            <a:pPr lvl="1"/>
            <a:r>
              <a:rPr lang="en-US" altLang="ko-KR" dirty="0"/>
              <a:t>Architecture </a:t>
            </a:r>
          </a:p>
          <a:p>
            <a:pPr lvl="1"/>
            <a:r>
              <a:rPr lang="en-US" altLang="ko-KR" dirty="0"/>
              <a:t>Objective/loss function </a:t>
            </a:r>
            <a:endParaRPr lang="ko-KR" altLang="en-US" dirty="0"/>
          </a:p>
        </p:txBody>
      </p:sp>
      <p:sp>
        <p:nvSpPr>
          <p:cNvPr id="4" name="슬라이드 번호 개체 틀 3">
            <a:extLst>
              <a:ext uri="{FF2B5EF4-FFF2-40B4-BE49-F238E27FC236}">
                <a16:creationId xmlns:a16="http://schemas.microsoft.com/office/drawing/2014/main" id="{E5095E25-D4B9-7EFC-716F-6F4E55B133CB}"/>
              </a:ext>
            </a:extLst>
          </p:cNvPr>
          <p:cNvSpPr>
            <a:spLocks noGrp="1"/>
          </p:cNvSpPr>
          <p:nvPr>
            <p:ph type="sldNum" sz="quarter" idx="10"/>
          </p:nvPr>
        </p:nvSpPr>
        <p:spPr/>
        <p:txBody>
          <a:bodyPr/>
          <a:lstStyle/>
          <a:p>
            <a:pPr>
              <a:defRPr/>
            </a:pPr>
            <a:fld id="{7092A07C-4710-46A3-9C28-806B597ACB99}" type="slidenum">
              <a:rPr lang="ko-KR" altLang="en-US" smtClean="0"/>
              <a:pPr>
                <a:defRPr/>
              </a:pPr>
              <a:t>10</a:t>
            </a:fld>
            <a:endParaRPr lang="ko-KR" altLang="en-US" dirty="0"/>
          </a:p>
        </p:txBody>
      </p:sp>
      <p:pic>
        <p:nvPicPr>
          <p:cNvPr id="6" name="그림 5">
            <a:extLst>
              <a:ext uri="{FF2B5EF4-FFF2-40B4-BE49-F238E27FC236}">
                <a16:creationId xmlns:a16="http://schemas.microsoft.com/office/drawing/2014/main" id="{B5684C1C-CD6B-8005-507D-E6E1D73138D9}"/>
              </a:ext>
            </a:extLst>
          </p:cNvPr>
          <p:cNvPicPr>
            <a:picLocks noChangeAspect="1"/>
          </p:cNvPicPr>
          <p:nvPr/>
        </p:nvPicPr>
        <p:blipFill>
          <a:blip r:embed="rId2"/>
          <a:stretch>
            <a:fillRect/>
          </a:stretch>
        </p:blipFill>
        <p:spPr>
          <a:xfrm>
            <a:off x="435160" y="3571236"/>
            <a:ext cx="8482327" cy="3202111"/>
          </a:xfrm>
          <a:prstGeom prst="rect">
            <a:avLst/>
          </a:prstGeom>
        </p:spPr>
      </p:pic>
    </p:spTree>
    <p:extLst>
      <p:ext uri="{BB962C8B-B14F-4D97-AF65-F5344CB8AC3E}">
        <p14:creationId xmlns:p14="http://schemas.microsoft.com/office/powerpoint/2010/main" val="63877354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EFFFEEB-AA6B-9E11-5614-6272DD204EE6}"/>
              </a:ext>
            </a:extLst>
          </p:cNvPr>
          <p:cNvSpPr>
            <a:spLocks noGrp="1"/>
          </p:cNvSpPr>
          <p:nvPr>
            <p:ph type="title"/>
          </p:nvPr>
        </p:nvSpPr>
        <p:spPr/>
        <p:txBody>
          <a:bodyPr>
            <a:normAutofit/>
          </a:bodyPr>
          <a:lstStyle/>
          <a:p>
            <a:r>
              <a:rPr lang="en-US" altLang="ko-KR" dirty="0"/>
              <a:t>Sequence Construction</a:t>
            </a:r>
            <a:endParaRPr lang="ko-KR" altLang="en-US" dirty="0"/>
          </a:p>
        </p:txBody>
      </p:sp>
      <p:sp>
        <p:nvSpPr>
          <p:cNvPr id="3" name="내용 개체 틀 2">
            <a:extLst>
              <a:ext uri="{FF2B5EF4-FFF2-40B4-BE49-F238E27FC236}">
                <a16:creationId xmlns:a16="http://schemas.microsoft.com/office/drawing/2014/main" id="{E2D1192B-05D1-23FC-E290-DA2B9ECC0F30}"/>
              </a:ext>
            </a:extLst>
          </p:cNvPr>
          <p:cNvSpPr>
            <a:spLocks noGrp="1"/>
          </p:cNvSpPr>
          <p:nvPr>
            <p:ph idx="1"/>
          </p:nvPr>
        </p:nvSpPr>
        <p:spPr/>
        <p:txBody>
          <a:bodyPr/>
          <a:lstStyle/>
          <a:p>
            <a:r>
              <a:rPr lang="en-US" altLang="ko-KR" dirty="0"/>
              <a:t>Sequence Construction from Object Descriptions</a:t>
            </a:r>
          </a:p>
          <a:p>
            <a:pPr lvl="1"/>
            <a:r>
              <a:rPr lang="en-US" altLang="ko-KR" dirty="0"/>
              <a:t>Object representation: a sequence of five discrete tokens</a:t>
            </a:r>
          </a:p>
          <a:p>
            <a:pPr lvl="2"/>
            <a:r>
              <a:rPr lang="en-US" altLang="ko-KR" dirty="0" err="1"/>
              <a:t>ymin</a:t>
            </a:r>
            <a:r>
              <a:rPr lang="en-US" altLang="ko-KR" dirty="0"/>
              <a:t>, </a:t>
            </a:r>
            <a:r>
              <a:rPr lang="en-US" altLang="ko-KR" dirty="0" err="1"/>
              <a:t>xmin</a:t>
            </a:r>
            <a:r>
              <a:rPr lang="en-US" altLang="ko-KR" dirty="0"/>
              <a:t>, </a:t>
            </a:r>
            <a:r>
              <a:rPr lang="en-US" altLang="ko-KR" dirty="0" err="1"/>
              <a:t>ymax</a:t>
            </a:r>
            <a:r>
              <a:rPr lang="en-US" altLang="ko-KR" dirty="0"/>
              <a:t>, </a:t>
            </a:r>
            <a:r>
              <a:rPr lang="en-US" altLang="ko-KR" dirty="0" err="1"/>
              <a:t>xmax</a:t>
            </a:r>
            <a:r>
              <a:rPr lang="en-US" altLang="ko-KR" dirty="0"/>
              <a:t>, c</a:t>
            </a:r>
          </a:p>
          <a:p>
            <a:pPr lvl="2"/>
            <a:r>
              <a:rPr lang="en-US" altLang="ko-KR" dirty="0"/>
              <a:t>Uniformly discretized into an integer between [1, </a:t>
            </a:r>
            <a:r>
              <a:rPr lang="en-US" altLang="ko-KR" dirty="0" err="1"/>
              <a:t>nbins</a:t>
            </a:r>
            <a:r>
              <a:rPr lang="en-US" altLang="ko-KR" dirty="0"/>
              <a:t>]</a:t>
            </a:r>
          </a:p>
          <a:p>
            <a:pPr lvl="2"/>
            <a:r>
              <a:rPr lang="en-US" altLang="ko-KR" dirty="0"/>
              <a:t>The vocabulary size is equal to number of bins + number of classes. </a:t>
            </a:r>
            <a:endParaRPr lang="ko-KR" altLang="en-US" dirty="0"/>
          </a:p>
        </p:txBody>
      </p:sp>
      <p:sp>
        <p:nvSpPr>
          <p:cNvPr id="4" name="슬라이드 번호 개체 틀 3">
            <a:extLst>
              <a:ext uri="{FF2B5EF4-FFF2-40B4-BE49-F238E27FC236}">
                <a16:creationId xmlns:a16="http://schemas.microsoft.com/office/drawing/2014/main" id="{F1A113F2-158E-D1A8-7203-890153C2A97F}"/>
              </a:ext>
            </a:extLst>
          </p:cNvPr>
          <p:cNvSpPr>
            <a:spLocks noGrp="1"/>
          </p:cNvSpPr>
          <p:nvPr>
            <p:ph type="sldNum" sz="quarter" idx="10"/>
          </p:nvPr>
        </p:nvSpPr>
        <p:spPr/>
        <p:txBody>
          <a:bodyPr/>
          <a:lstStyle/>
          <a:p>
            <a:pPr>
              <a:defRPr/>
            </a:pPr>
            <a:fld id="{7092A07C-4710-46A3-9C28-806B597ACB99}" type="slidenum">
              <a:rPr lang="ko-KR" altLang="en-US" smtClean="0"/>
              <a:pPr>
                <a:defRPr/>
              </a:pPr>
              <a:t>11</a:t>
            </a:fld>
            <a:endParaRPr lang="ko-KR" altLang="en-US" dirty="0"/>
          </a:p>
        </p:txBody>
      </p:sp>
      <p:sp>
        <p:nvSpPr>
          <p:cNvPr id="9" name="TextBox 8">
            <a:extLst>
              <a:ext uri="{FF2B5EF4-FFF2-40B4-BE49-F238E27FC236}">
                <a16:creationId xmlns:a16="http://schemas.microsoft.com/office/drawing/2014/main" id="{27A85459-ED75-E4AB-9F92-CBCD193698B6}"/>
              </a:ext>
            </a:extLst>
          </p:cNvPr>
          <p:cNvSpPr txBox="1"/>
          <p:nvPr/>
        </p:nvSpPr>
        <p:spPr>
          <a:xfrm>
            <a:off x="2694050" y="6468077"/>
            <a:ext cx="3961544" cy="338554"/>
          </a:xfrm>
          <a:prstGeom prst="rect">
            <a:avLst/>
          </a:prstGeom>
          <a:noFill/>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Construction of bounding box sequence</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
        <p:nvSpPr>
          <p:cNvPr id="6" name="TextBox 5">
            <a:extLst>
              <a:ext uri="{FF2B5EF4-FFF2-40B4-BE49-F238E27FC236}">
                <a16:creationId xmlns:a16="http://schemas.microsoft.com/office/drawing/2014/main" id="{194E8DC9-0151-D588-D6F0-3A2973FB85D7}"/>
              </a:ext>
            </a:extLst>
          </p:cNvPr>
          <p:cNvSpPr txBox="1"/>
          <p:nvPr/>
        </p:nvSpPr>
        <p:spPr>
          <a:xfrm>
            <a:off x="2559844" y="3178143"/>
            <a:ext cx="576064" cy="338554"/>
          </a:xfrm>
          <a:prstGeom prst="rect">
            <a:avLst/>
          </a:prstGeom>
          <a:noFill/>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(0, 0)</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
        <p:nvSpPr>
          <p:cNvPr id="7" name="TextBox 6">
            <a:extLst>
              <a:ext uri="{FF2B5EF4-FFF2-40B4-BE49-F238E27FC236}">
                <a16:creationId xmlns:a16="http://schemas.microsoft.com/office/drawing/2014/main" id="{FDCCF9D1-2207-CB08-E9DA-B91638FD9BA6}"/>
              </a:ext>
            </a:extLst>
          </p:cNvPr>
          <p:cNvSpPr txBox="1"/>
          <p:nvPr/>
        </p:nvSpPr>
        <p:spPr>
          <a:xfrm>
            <a:off x="5868144" y="6263147"/>
            <a:ext cx="1137815" cy="338554"/>
          </a:xfrm>
          <a:prstGeom prst="rect">
            <a:avLst/>
          </a:prstGeom>
          <a:noFill/>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(600, 600)</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pic>
        <p:nvPicPr>
          <p:cNvPr id="10" name="그림 9">
            <a:extLst>
              <a:ext uri="{FF2B5EF4-FFF2-40B4-BE49-F238E27FC236}">
                <a16:creationId xmlns:a16="http://schemas.microsoft.com/office/drawing/2014/main" id="{714B6100-2D36-CA3A-24C4-C4F2F26FF33A}"/>
              </a:ext>
            </a:extLst>
          </p:cNvPr>
          <p:cNvPicPr>
            <a:picLocks/>
          </p:cNvPicPr>
          <p:nvPr/>
        </p:nvPicPr>
        <p:blipFill>
          <a:blip r:embed="rId3"/>
          <a:stretch>
            <a:fillRect/>
          </a:stretch>
        </p:blipFill>
        <p:spPr>
          <a:xfrm>
            <a:off x="3109331" y="3444737"/>
            <a:ext cx="2925337" cy="2925337"/>
          </a:xfrm>
          <a:prstGeom prst="rect">
            <a:avLst/>
          </a:prstGeom>
        </p:spPr>
      </p:pic>
      <p:sp>
        <p:nvSpPr>
          <p:cNvPr id="11" name="직사각형 10">
            <a:extLst>
              <a:ext uri="{FF2B5EF4-FFF2-40B4-BE49-F238E27FC236}">
                <a16:creationId xmlns:a16="http://schemas.microsoft.com/office/drawing/2014/main" id="{1CA37FEE-671D-3513-0396-359B13FF875A}"/>
              </a:ext>
            </a:extLst>
          </p:cNvPr>
          <p:cNvSpPr/>
          <p:nvPr/>
        </p:nvSpPr>
        <p:spPr>
          <a:xfrm>
            <a:off x="3275856" y="3645024"/>
            <a:ext cx="1512168" cy="237626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6772D40F-0DB3-83A3-8023-98732DE84130}"/>
              </a:ext>
            </a:extLst>
          </p:cNvPr>
          <p:cNvSpPr/>
          <p:nvPr/>
        </p:nvSpPr>
        <p:spPr>
          <a:xfrm>
            <a:off x="4716016" y="4065818"/>
            <a:ext cx="1311997" cy="1966488"/>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TextBox 12">
            <a:extLst>
              <a:ext uri="{FF2B5EF4-FFF2-40B4-BE49-F238E27FC236}">
                <a16:creationId xmlns:a16="http://schemas.microsoft.com/office/drawing/2014/main" id="{DD54CA9D-613B-45C7-7C47-E406920BB0D0}"/>
              </a:ext>
            </a:extLst>
          </p:cNvPr>
          <p:cNvSpPr txBox="1"/>
          <p:nvPr/>
        </p:nvSpPr>
        <p:spPr>
          <a:xfrm>
            <a:off x="3275856" y="3310615"/>
            <a:ext cx="648072" cy="338554"/>
          </a:xfrm>
          <a:prstGeom prst="rect">
            <a:avLst/>
          </a:prstGeom>
          <a:solidFill>
            <a:srgbClr val="00B050"/>
          </a:solidFill>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dog</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
        <p:nvSpPr>
          <p:cNvPr id="14" name="TextBox 13">
            <a:extLst>
              <a:ext uri="{FF2B5EF4-FFF2-40B4-BE49-F238E27FC236}">
                <a16:creationId xmlns:a16="http://schemas.microsoft.com/office/drawing/2014/main" id="{EC650A84-9D8C-2AC9-5D6E-6707D1F33939}"/>
              </a:ext>
            </a:extLst>
          </p:cNvPr>
          <p:cNvSpPr txBox="1"/>
          <p:nvPr/>
        </p:nvSpPr>
        <p:spPr>
          <a:xfrm>
            <a:off x="4724034" y="3717032"/>
            <a:ext cx="648072" cy="338554"/>
          </a:xfrm>
          <a:prstGeom prst="rect">
            <a:avLst/>
          </a:prstGeom>
          <a:solidFill>
            <a:srgbClr val="61D6FF"/>
          </a:solidFill>
          <a:ln>
            <a:solidFill>
              <a:srgbClr val="0000FF"/>
            </a:solidFill>
          </a:ln>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cat</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Tree>
    <p:extLst>
      <p:ext uri="{BB962C8B-B14F-4D97-AF65-F5344CB8AC3E}">
        <p14:creationId xmlns:p14="http://schemas.microsoft.com/office/powerpoint/2010/main" val="48339653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EFFFEEB-AA6B-9E11-5614-6272DD204EE6}"/>
              </a:ext>
            </a:extLst>
          </p:cNvPr>
          <p:cNvSpPr>
            <a:spLocks noGrp="1"/>
          </p:cNvSpPr>
          <p:nvPr>
            <p:ph type="title"/>
          </p:nvPr>
        </p:nvSpPr>
        <p:spPr/>
        <p:txBody>
          <a:bodyPr>
            <a:normAutofit/>
          </a:bodyPr>
          <a:lstStyle/>
          <a:p>
            <a:r>
              <a:rPr lang="en-US" altLang="ko-KR" dirty="0"/>
              <a:t>Sequence Construction</a:t>
            </a:r>
            <a:endParaRPr lang="ko-KR" altLang="en-US" dirty="0"/>
          </a:p>
        </p:txBody>
      </p:sp>
      <p:sp>
        <p:nvSpPr>
          <p:cNvPr id="3" name="내용 개체 틀 2">
            <a:extLst>
              <a:ext uri="{FF2B5EF4-FFF2-40B4-BE49-F238E27FC236}">
                <a16:creationId xmlns:a16="http://schemas.microsoft.com/office/drawing/2014/main" id="{E2D1192B-05D1-23FC-E290-DA2B9ECC0F30}"/>
              </a:ext>
            </a:extLst>
          </p:cNvPr>
          <p:cNvSpPr>
            <a:spLocks noGrp="1"/>
          </p:cNvSpPr>
          <p:nvPr>
            <p:ph idx="1"/>
          </p:nvPr>
        </p:nvSpPr>
        <p:spPr/>
        <p:txBody>
          <a:bodyPr/>
          <a:lstStyle/>
          <a:p>
            <a:r>
              <a:rPr lang="en-US" altLang="ko-KR" dirty="0"/>
              <a:t>Sequence Construction from Object Descriptions</a:t>
            </a:r>
          </a:p>
          <a:p>
            <a:pPr lvl="1"/>
            <a:r>
              <a:rPr lang="en-US" altLang="ko-KR" dirty="0"/>
              <a:t>Object representation: a sequence of five discrete tokens</a:t>
            </a:r>
          </a:p>
          <a:p>
            <a:pPr lvl="2"/>
            <a:r>
              <a:rPr lang="en-US" altLang="ko-KR" dirty="0" err="1"/>
              <a:t>ymin</a:t>
            </a:r>
            <a:r>
              <a:rPr lang="en-US" altLang="ko-KR" dirty="0"/>
              <a:t>, </a:t>
            </a:r>
            <a:r>
              <a:rPr lang="en-US" altLang="ko-KR" dirty="0" err="1"/>
              <a:t>xmin</a:t>
            </a:r>
            <a:r>
              <a:rPr lang="en-US" altLang="ko-KR" dirty="0"/>
              <a:t>, </a:t>
            </a:r>
            <a:r>
              <a:rPr lang="en-US" altLang="ko-KR" dirty="0" err="1"/>
              <a:t>ymax</a:t>
            </a:r>
            <a:r>
              <a:rPr lang="en-US" altLang="ko-KR" dirty="0"/>
              <a:t>, </a:t>
            </a:r>
            <a:r>
              <a:rPr lang="en-US" altLang="ko-KR" dirty="0" err="1"/>
              <a:t>xmax</a:t>
            </a:r>
            <a:r>
              <a:rPr lang="en-US" altLang="ko-KR" dirty="0"/>
              <a:t>, c</a:t>
            </a:r>
          </a:p>
          <a:p>
            <a:pPr lvl="2"/>
            <a:r>
              <a:rPr lang="en-US" altLang="ko-KR" dirty="0"/>
              <a:t>Uniformly discretized into an integer between [1, </a:t>
            </a:r>
            <a:r>
              <a:rPr lang="en-US" altLang="ko-KR" dirty="0" err="1"/>
              <a:t>nbins</a:t>
            </a:r>
            <a:r>
              <a:rPr lang="en-US" altLang="ko-KR" dirty="0"/>
              <a:t>]</a:t>
            </a:r>
          </a:p>
          <a:p>
            <a:pPr lvl="2"/>
            <a:r>
              <a:rPr lang="en-US" altLang="ko-KR" dirty="0"/>
              <a:t>The vocabulary size is equal to number of bins + number of classes. </a:t>
            </a:r>
            <a:endParaRPr lang="ko-KR" altLang="en-US" dirty="0"/>
          </a:p>
        </p:txBody>
      </p:sp>
      <p:sp>
        <p:nvSpPr>
          <p:cNvPr id="4" name="슬라이드 번호 개체 틀 3">
            <a:extLst>
              <a:ext uri="{FF2B5EF4-FFF2-40B4-BE49-F238E27FC236}">
                <a16:creationId xmlns:a16="http://schemas.microsoft.com/office/drawing/2014/main" id="{F1A113F2-158E-D1A8-7203-890153C2A97F}"/>
              </a:ext>
            </a:extLst>
          </p:cNvPr>
          <p:cNvSpPr>
            <a:spLocks noGrp="1"/>
          </p:cNvSpPr>
          <p:nvPr>
            <p:ph type="sldNum" sz="quarter" idx="10"/>
          </p:nvPr>
        </p:nvSpPr>
        <p:spPr/>
        <p:txBody>
          <a:bodyPr/>
          <a:lstStyle/>
          <a:p>
            <a:pPr>
              <a:defRPr/>
            </a:pPr>
            <a:fld id="{7092A07C-4710-46A3-9C28-806B597ACB99}" type="slidenum">
              <a:rPr lang="ko-KR" altLang="en-US" smtClean="0"/>
              <a:pPr>
                <a:defRPr/>
              </a:pPr>
              <a:t>12</a:t>
            </a:fld>
            <a:endParaRPr lang="ko-KR" altLang="en-US" dirty="0"/>
          </a:p>
        </p:txBody>
      </p:sp>
      <p:sp>
        <p:nvSpPr>
          <p:cNvPr id="9" name="TextBox 8">
            <a:extLst>
              <a:ext uri="{FF2B5EF4-FFF2-40B4-BE49-F238E27FC236}">
                <a16:creationId xmlns:a16="http://schemas.microsoft.com/office/drawing/2014/main" id="{27A85459-ED75-E4AB-9F92-CBCD193698B6}"/>
              </a:ext>
            </a:extLst>
          </p:cNvPr>
          <p:cNvSpPr txBox="1"/>
          <p:nvPr/>
        </p:nvSpPr>
        <p:spPr>
          <a:xfrm>
            <a:off x="2694050" y="6468077"/>
            <a:ext cx="3961544" cy="338554"/>
          </a:xfrm>
          <a:prstGeom prst="rect">
            <a:avLst/>
          </a:prstGeom>
          <a:noFill/>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Construction of bounding box sequence</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
        <p:nvSpPr>
          <p:cNvPr id="6" name="TextBox 5">
            <a:extLst>
              <a:ext uri="{FF2B5EF4-FFF2-40B4-BE49-F238E27FC236}">
                <a16:creationId xmlns:a16="http://schemas.microsoft.com/office/drawing/2014/main" id="{194E8DC9-0151-D588-D6F0-3A2973FB85D7}"/>
              </a:ext>
            </a:extLst>
          </p:cNvPr>
          <p:cNvSpPr txBox="1"/>
          <p:nvPr/>
        </p:nvSpPr>
        <p:spPr>
          <a:xfrm>
            <a:off x="2559844" y="3178143"/>
            <a:ext cx="576064" cy="338554"/>
          </a:xfrm>
          <a:prstGeom prst="rect">
            <a:avLst/>
          </a:prstGeom>
          <a:noFill/>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(0, 0)</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
        <p:nvSpPr>
          <p:cNvPr id="7" name="TextBox 6">
            <a:extLst>
              <a:ext uri="{FF2B5EF4-FFF2-40B4-BE49-F238E27FC236}">
                <a16:creationId xmlns:a16="http://schemas.microsoft.com/office/drawing/2014/main" id="{FDCCF9D1-2207-CB08-E9DA-B91638FD9BA6}"/>
              </a:ext>
            </a:extLst>
          </p:cNvPr>
          <p:cNvSpPr txBox="1"/>
          <p:nvPr/>
        </p:nvSpPr>
        <p:spPr>
          <a:xfrm>
            <a:off x="5868144" y="6298114"/>
            <a:ext cx="1137815" cy="338554"/>
          </a:xfrm>
          <a:prstGeom prst="rect">
            <a:avLst/>
          </a:prstGeom>
          <a:noFill/>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(600, 600)</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pic>
        <p:nvPicPr>
          <p:cNvPr id="10" name="그림 9">
            <a:extLst>
              <a:ext uri="{FF2B5EF4-FFF2-40B4-BE49-F238E27FC236}">
                <a16:creationId xmlns:a16="http://schemas.microsoft.com/office/drawing/2014/main" id="{714B6100-2D36-CA3A-24C4-C4F2F26FF33A}"/>
              </a:ext>
            </a:extLst>
          </p:cNvPr>
          <p:cNvPicPr>
            <a:picLocks/>
          </p:cNvPicPr>
          <p:nvPr/>
        </p:nvPicPr>
        <p:blipFill>
          <a:blip r:embed="rId3"/>
          <a:stretch>
            <a:fillRect/>
          </a:stretch>
        </p:blipFill>
        <p:spPr>
          <a:xfrm>
            <a:off x="3109331" y="3444737"/>
            <a:ext cx="2925337" cy="2925337"/>
          </a:xfrm>
          <a:prstGeom prst="rect">
            <a:avLst/>
          </a:prstGeom>
        </p:spPr>
      </p:pic>
      <p:graphicFrame>
        <p:nvGraphicFramePr>
          <p:cNvPr id="5" name="표 6">
            <a:extLst>
              <a:ext uri="{FF2B5EF4-FFF2-40B4-BE49-F238E27FC236}">
                <a16:creationId xmlns:a16="http://schemas.microsoft.com/office/drawing/2014/main" id="{31D7185B-546F-48E2-5C6F-13D9B3C87B46}"/>
              </a:ext>
            </a:extLst>
          </p:cNvPr>
          <p:cNvGraphicFramePr>
            <a:graphicFrameLocks noGrp="1"/>
          </p:cNvGraphicFramePr>
          <p:nvPr>
            <p:extLst>
              <p:ext uri="{D42A27DB-BD31-4B8C-83A1-F6EECF244321}">
                <p14:modId xmlns:p14="http://schemas.microsoft.com/office/powerpoint/2010/main" val="2216422278"/>
              </p:ext>
            </p:extLst>
          </p:nvPr>
        </p:nvGraphicFramePr>
        <p:xfrm>
          <a:off x="3109331" y="3455851"/>
          <a:ext cx="2925335" cy="2914225"/>
        </p:xfrm>
        <a:graphic>
          <a:graphicData uri="http://schemas.openxmlformats.org/drawingml/2006/table">
            <a:tbl>
              <a:tblPr firstRow="1" bandRow="1">
                <a:tableStyleId>{5C22544A-7EE6-4342-B048-85BDC9FD1C3A}</a:tableStyleId>
              </a:tblPr>
              <a:tblGrid>
                <a:gridCol w="585067">
                  <a:extLst>
                    <a:ext uri="{9D8B030D-6E8A-4147-A177-3AD203B41FA5}">
                      <a16:colId xmlns:a16="http://schemas.microsoft.com/office/drawing/2014/main" val="3506451852"/>
                    </a:ext>
                  </a:extLst>
                </a:gridCol>
                <a:gridCol w="585067">
                  <a:extLst>
                    <a:ext uri="{9D8B030D-6E8A-4147-A177-3AD203B41FA5}">
                      <a16:colId xmlns:a16="http://schemas.microsoft.com/office/drawing/2014/main" val="81333352"/>
                    </a:ext>
                  </a:extLst>
                </a:gridCol>
                <a:gridCol w="585067">
                  <a:extLst>
                    <a:ext uri="{9D8B030D-6E8A-4147-A177-3AD203B41FA5}">
                      <a16:colId xmlns:a16="http://schemas.microsoft.com/office/drawing/2014/main" val="1043347710"/>
                    </a:ext>
                  </a:extLst>
                </a:gridCol>
                <a:gridCol w="585067">
                  <a:extLst>
                    <a:ext uri="{9D8B030D-6E8A-4147-A177-3AD203B41FA5}">
                      <a16:colId xmlns:a16="http://schemas.microsoft.com/office/drawing/2014/main" val="1218785732"/>
                    </a:ext>
                  </a:extLst>
                </a:gridCol>
                <a:gridCol w="585067">
                  <a:extLst>
                    <a:ext uri="{9D8B030D-6E8A-4147-A177-3AD203B41FA5}">
                      <a16:colId xmlns:a16="http://schemas.microsoft.com/office/drawing/2014/main" val="753144374"/>
                    </a:ext>
                  </a:extLst>
                </a:gridCol>
              </a:tblGrid>
              <a:tr h="582845">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dirty="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dirty="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dirty="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837586"/>
                  </a:ext>
                </a:extLst>
              </a:tr>
              <a:tr h="582845">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dirty="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1040653"/>
                  </a:ext>
                </a:extLst>
              </a:tr>
              <a:tr h="582845">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dirty="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3609595"/>
                  </a:ext>
                </a:extLst>
              </a:tr>
              <a:tr h="582845">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3526757"/>
                  </a:ext>
                </a:extLst>
              </a:tr>
              <a:tr h="582845">
                <a:tc>
                  <a:txBody>
                    <a:bodyPr/>
                    <a:lstStyle/>
                    <a:p>
                      <a:pPr latinLnBrk="1"/>
                      <a:endParaRPr lang="ko-KR" altLang="en-US" sz="160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dirty="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dirty="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dirty="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endParaRPr lang="ko-KR" altLang="en-US" sz="1600" dirty="0"/>
                    </a:p>
                  </a:txBody>
                  <a:tcPr marL="82920" marR="82920" marT="41460" marB="414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0935978"/>
                  </a:ext>
                </a:extLst>
              </a:tr>
            </a:tbl>
          </a:graphicData>
        </a:graphic>
      </p:graphicFrame>
      <p:sp>
        <p:nvSpPr>
          <p:cNvPr id="13" name="직사각형 12">
            <a:extLst>
              <a:ext uri="{FF2B5EF4-FFF2-40B4-BE49-F238E27FC236}">
                <a16:creationId xmlns:a16="http://schemas.microsoft.com/office/drawing/2014/main" id="{FB1DB8CD-5650-0AD2-D1C6-4C30A8D9B904}"/>
              </a:ext>
            </a:extLst>
          </p:cNvPr>
          <p:cNvSpPr/>
          <p:nvPr/>
        </p:nvSpPr>
        <p:spPr>
          <a:xfrm>
            <a:off x="3275856" y="3645024"/>
            <a:ext cx="1512168" cy="237626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5D8DB420-D1A5-1259-221A-3717C7DD36DA}"/>
              </a:ext>
            </a:extLst>
          </p:cNvPr>
          <p:cNvSpPr txBox="1"/>
          <p:nvPr/>
        </p:nvSpPr>
        <p:spPr>
          <a:xfrm>
            <a:off x="3275856" y="3310615"/>
            <a:ext cx="648072" cy="338554"/>
          </a:xfrm>
          <a:prstGeom prst="rect">
            <a:avLst/>
          </a:prstGeom>
          <a:solidFill>
            <a:srgbClr val="00B050"/>
          </a:solidFill>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dog</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
        <p:nvSpPr>
          <p:cNvPr id="19" name="곱하기 기호 18">
            <a:extLst>
              <a:ext uri="{FF2B5EF4-FFF2-40B4-BE49-F238E27FC236}">
                <a16:creationId xmlns:a16="http://schemas.microsoft.com/office/drawing/2014/main" id="{CB26086A-92CB-B1CD-CD98-700E0E8A647F}"/>
              </a:ext>
            </a:extLst>
          </p:cNvPr>
          <p:cNvSpPr/>
          <p:nvPr/>
        </p:nvSpPr>
        <p:spPr>
          <a:xfrm>
            <a:off x="3208117" y="3577210"/>
            <a:ext cx="283146" cy="338553"/>
          </a:xfrm>
          <a:prstGeom prst="mathMultiply">
            <a:avLst/>
          </a:prstGeom>
          <a:solidFill>
            <a:srgbClr val="00B05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곱하기 기호 19">
            <a:extLst>
              <a:ext uri="{FF2B5EF4-FFF2-40B4-BE49-F238E27FC236}">
                <a16:creationId xmlns:a16="http://schemas.microsoft.com/office/drawing/2014/main" id="{B6E57BF9-97AF-5958-43B4-2622EE22593C}"/>
              </a:ext>
            </a:extLst>
          </p:cNvPr>
          <p:cNvSpPr/>
          <p:nvPr/>
        </p:nvSpPr>
        <p:spPr>
          <a:xfrm>
            <a:off x="4466146" y="5933618"/>
            <a:ext cx="283146" cy="338553"/>
          </a:xfrm>
          <a:prstGeom prst="mathMultiply">
            <a:avLst/>
          </a:prstGeom>
          <a:solidFill>
            <a:srgbClr val="00B05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796FECDC-21B0-3143-0CC6-7FCA0C2B5DB6}"/>
              </a:ext>
            </a:extLst>
          </p:cNvPr>
          <p:cNvSpPr/>
          <p:nvPr/>
        </p:nvSpPr>
        <p:spPr>
          <a:xfrm>
            <a:off x="4716016" y="4065818"/>
            <a:ext cx="1311997" cy="1966488"/>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TextBox 21">
            <a:extLst>
              <a:ext uri="{FF2B5EF4-FFF2-40B4-BE49-F238E27FC236}">
                <a16:creationId xmlns:a16="http://schemas.microsoft.com/office/drawing/2014/main" id="{C6B1EC5E-ABBA-E36E-2829-BEFCEE28BE7E}"/>
              </a:ext>
            </a:extLst>
          </p:cNvPr>
          <p:cNvSpPr txBox="1"/>
          <p:nvPr/>
        </p:nvSpPr>
        <p:spPr>
          <a:xfrm>
            <a:off x="4724034" y="3717032"/>
            <a:ext cx="648072" cy="338554"/>
          </a:xfrm>
          <a:prstGeom prst="rect">
            <a:avLst/>
          </a:prstGeom>
          <a:solidFill>
            <a:srgbClr val="61D6FF"/>
          </a:solidFill>
          <a:ln>
            <a:solidFill>
              <a:srgbClr val="0000FF"/>
            </a:solidFill>
          </a:ln>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cat</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
        <p:nvSpPr>
          <p:cNvPr id="23" name="곱하기 기호 22">
            <a:extLst>
              <a:ext uri="{FF2B5EF4-FFF2-40B4-BE49-F238E27FC236}">
                <a16:creationId xmlns:a16="http://schemas.microsoft.com/office/drawing/2014/main" id="{8002C4D6-E2B7-3520-2918-F4B6EA4CB1D7}"/>
              </a:ext>
            </a:extLst>
          </p:cNvPr>
          <p:cNvSpPr/>
          <p:nvPr/>
        </p:nvSpPr>
        <p:spPr>
          <a:xfrm>
            <a:off x="4399001" y="4085482"/>
            <a:ext cx="283146" cy="338553"/>
          </a:xfrm>
          <a:prstGeom prst="mathMultiply">
            <a:avLst/>
          </a:prstGeom>
          <a:solidFill>
            <a:srgbClr val="0000FF"/>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곱하기 기호 23">
            <a:extLst>
              <a:ext uri="{FF2B5EF4-FFF2-40B4-BE49-F238E27FC236}">
                <a16:creationId xmlns:a16="http://schemas.microsoft.com/office/drawing/2014/main" id="{A40478B1-4A74-CE7A-AFD7-0D0195C81535}"/>
              </a:ext>
            </a:extLst>
          </p:cNvPr>
          <p:cNvSpPr/>
          <p:nvPr/>
        </p:nvSpPr>
        <p:spPr>
          <a:xfrm>
            <a:off x="5695168" y="5975958"/>
            <a:ext cx="283146" cy="338553"/>
          </a:xfrm>
          <a:prstGeom prst="mathMultiply">
            <a:avLst/>
          </a:prstGeom>
          <a:solidFill>
            <a:srgbClr val="0000FF"/>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1CF2B009-E8DC-5589-D364-8F21F3EACC2B}"/>
              </a:ext>
            </a:extLst>
          </p:cNvPr>
          <p:cNvSpPr txBox="1"/>
          <p:nvPr/>
        </p:nvSpPr>
        <p:spPr>
          <a:xfrm>
            <a:off x="6389150" y="3347420"/>
            <a:ext cx="2419425" cy="1077218"/>
          </a:xfrm>
          <a:prstGeom prst="rect">
            <a:avLst/>
          </a:prstGeom>
          <a:noFill/>
        </p:spPr>
        <p:txBody>
          <a:bodyPr wrap="square" rtlCol="0">
            <a:spAutoFit/>
          </a:bodyPr>
          <a:lstStyle/>
          <a:p>
            <a:pPr algn="l"/>
            <a:r>
              <a:rPr lang="en-US" altLang="ko-KR" sz="1600" dirty="0" err="1">
                <a:latin typeface="Calibri" panose="020F0502020204030204" pitchFamily="34" charset="0"/>
                <a:ea typeface="08서울남산체 B" panose="02020603020101020101" pitchFamily="18" charset="-127"/>
                <a:cs typeface="Times New Roman" pitchFamily="18" charset="0"/>
              </a:rPr>
              <a:t>nbins</a:t>
            </a:r>
            <a:r>
              <a:rPr lang="en-US" altLang="ko-KR" sz="1600" dirty="0">
                <a:latin typeface="Calibri" panose="020F0502020204030204" pitchFamily="34" charset="0"/>
                <a:ea typeface="08서울남산체 B" panose="02020603020101020101" pitchFamily="18" charset="-127"/>
                <a:cs typeface="Times New Roman" pitchFamily="18" charset="0"/>
              </a:rPr>
              <a:t>: 0-4</a:t>
            </a:r>
          </a:p>
          <a:p>
            <a:pPr algn="l"/>
            <a:r>
              <a:rPr lang="en-US" altLang="ko-KR" sz="1600" dirty="0">
                <a:latin typeface="Calibri" panose="020F0502020204030204" pitchFamily="34" charset="0"/>
                <a:ea typeface="08서울남산체 B" panose="02020603020101020101" pitchFamily="18" charset="-127"/>
                <a:cs typeface="Times New Roman" pitchFamily="18" charset="0"/>
              </a:rPr>
              <a:t>dog: 5</a:t>
            </a:r>
          </a:p>
          <a:p>
            <a:pPr algn="l"/>
            <a:r>
              <a:rPr lang="en-US" altLang="ko-KR" sz="1600" dirty="0">
                <a:latin typeface="Calibri" panose="020F0502020204030204" pitchFamily="34" charset="0"/>
                <a:ea typeface="08서울남산체 B" panose="02020603020101020101" pitchFamily="18" charset="-127"/>
                <a:cs typeface="Times New Roman" pitchFamily="18" charset="0"/>
              </a:rPr>
              <a:t>cat: 6</a:t>
            </a:r>
          </a:p>
          <a:p>
            <a:pPr algn="l"/>
            <a:r>
              <a:rPr lang="en-US" altLang="ko-KR" sz="1600" dirty="0">
                <a:latin typeface="Calibri" panose="020F0502020204030204" pitchFamily="34" charset="0"/>
                <a:ea typeface="08서울남산체 B" panose="02020603020101020101" pitchFamily="18" charset="-127"/>
                <a:cs typeface="Times New Roman" pitchFamily="18" charset="0"/>
              </a:rPr>
              <a:t>Vocabulary size is only </a:t>
            </a:r>
            <a:r>
              <a:rPr lang="en-US" altLang="ko-KR" sz="1600" i="1" u="sng" dirty="0">
                <a:latin typeface="Calibri" panose="020F0502020204030204" pitchFamily="34" charset="0"/>
                <a:ea typeface="08서울남산체 B" panose="02020603020101020101" pitchFamily="18" charset="-127"/>
                <a:cs typeface="Times New Roman" pitchFamily="18" charset="0"/>
              </a:rPr>
              <a:t>6</a:t>
            </a:r>
          </a:p>
        </p:txBody>
      </p:sp>
      <p:sp>
        <p:nvSpPr>
          <p:cNvPr id="27" name="TextBox 26">
            <a:extLst>
              <a:ext uri="{FF2B5EF4-FFF2-40B4-BE49-F238E27FC236}">
                <a16:creationId xmlns:a16="http://schemas.microsoft.com/office/drawing/2014/main" id="{3B82B929-9F18-9947-0306-36A78FF14461}"/>
              </a:ext>
            </a:extLst>
          </p:cNvPr>
          <p:cNvSpPr txBox="1"/>
          <p:nvPr/>
        </p:nvSpPr>
        <p:spPr>
          <a:xfrm>
            <a:off x="6437051" y="4835649"/>
            <a:ext cx="2553022" cy="369332"/>
          </a:xfrm>
          <a:prstGeom prst="rect">
            <a:avLst/>
          </a:prstGeom>
          <a:noFill/>
        </p:spPr>
        <p:txBody>
          <a:bodyPr wrap="square">
            <a:spAutoFit/>
          </a:bodyPr>
          <a:lstStyle/>
          <a:p>
            <a:pPr algn="l"/>
            <a:r>
              <a:rPr lang="en-US" altLang="ko-KR" sz="1800" dirty="0">
                <a:solidFill>
                  <a:srgbClr val="00B050"/>
                </a:solidFill>
                <a:latin typeface="Calibri" panose="020F0502020204030204" pitchFamily="34" charset="0"/>
                <a:ea typeface="08서울남산체 B" panose="02020603020101020101" pitchFamily="18" charset="-127"/>
                <a:cs typeface="Times New Roman" pitchFamily="18" charset="0"/>
              </a:rPr>
              <a:t>0, 0, 4, 2, 5</a:t>
            </a:r>
            <a:r>
              <a:rPr lang="en-US" altLang="ko-KR" sz="1800" dirty="0">
                <a:latin typeface="Calibri" panose="020F0502020204030204" pitchFamily="34" charset="0"/>
                <a:ea typeface="08서울남산체 B" panose="02020603020101020101" pitchFamily="18" charset="-127"/>
                <a:cs typeface="Times New Roman" pitchFamily="18" charset="0"/>
              </a:rPr>
              <a:t>, </a:t>
            </a:r>
            <a:r>
              <a:rPr lang="en-US" altLang="ko-KR" dirty="0">
                <a:solidFill>
                  <a:srgbClr val="0000FF"/>
                </a:solidFill>
                <a:latin typeface="Calibri" panose="020F0502020204030204" pitchFamily="34" charset="0"/>
                <a:ea typeface="08서울남산체 B" panose="02020603020101020101" pitchFamily="18" charset="-127"/>
                <a:cs typeface="Times New Roman" pitchFamily="18" charset="0"/>
              </a:rPr>
              <a:t>1</a:t>
            </a:r>
            <a:r>
              <a:rPr lang="en-US" altLang="ko-KR" sz="1800" dirty="0">
                <a:solidFill>
                  <a:srgbClr val="0000FF"/>
                </a:solidFill>
                <a:latin typeface="Calibri" panose="020F0502020204030204" pitchFamily="34" charset="0"/>
                <a:ea typeface="08서울남산체 B" panose="02020603020101020101" pitchFamily="18" charset="-127"/>
                <a:cs typeface="Times New Roman" pitchFamily="18" charset="0"/>
              </a:rPr>
              <a:t>, 2, 4, 4, 6</a:t>
            </a:r>
            <a:endParaRPr lang="ko-KR" altLang="en-US" sz="1800" dirty="0">
              <a:solidFill>
                <a:srgbClr val="0000FF"/>
              </a:solidFill>
              <a:latin typeface="Calibri" panose="020F0502020204030204" pitchFamily="34" charset="0"/>
              <a:ea typeface="08서울남산체 B" panose="02020603020101020101" pitchFamily="18" charset="-127"/>
              <a:cs typeface="Times New Roman" pitchFamily="18" charset="0"/>
            </a:endParaRPr>
          </a:p>
        </p:txBody>
      </p:sp>
      <p:sp>
        <p:nvSpPr>
          <p:cNvPr id="29" name="TextBox 28">
            <a:extLst>
              <a:ext uri="{FF2B5EF4-FFF2-40B4-BE49-F238E27FC236}">
                <a16:creationId xmlns:a16="http://schemas.microsoft.com/office/drawing/2014/main" id="{7238FD3E-540A-9384-77FC-942EA8767A35}"/>
              </a:ext>
            </a:extLst>
          </p:cNvPr>
          <p:cNvSpPr txBox="1"/>
          <p:nvPr/>
        </p:nvSpPr>
        <p:spPr>
          <a:xfrm>
            <a:off x="6284536" y="4517686"/>
            <a:ext cx="2419425" cy="338554"/>
          </a:xfrm>
          <a:prstGeom prst="rect">
            <a:avLst/>
          </a:prstGeom>
          <a:noFill/>
        </p:spPr>
        <p:txBody>
          <a:bodyPr wrap="square">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bounding box sequence</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
        <p:nvSpPr>
          <p:cNvPr id="30" name="TextBox 29">
            <a:extLst>
              <a:ext uri="{FF2B5EF4-FFF2-40B4-BE49-F238E27FC236}">
                <a16:creationId xmlns:a16="http://schemas.microsoft.com/office/drawing/2014/main" id="{6C757226-1F97-DDCF-A5E4-00CDD3972E5D}"/>
              </a:ext>
            </a:extLst>
          </p:cNvPr>
          <p:cNvSpPr txBox="1"/>
          <p:nvPr/>
        </p:nvSpPr>
        <p:spPr>
          <a:xfrm>
            <a:off x="3140009" y="3921201"/>
            <a:ext cx="576064" cy="338554"/>
          </a:xfrm>
          <a:prstGeom prst="rect">
            <a:avLst/>
          </a:prstGeom>
          <a:noFill/>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(0, 0)</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
        <p:nvSpPr>
          <p:cNvPr id="31" name="TextBox 30">
            <a:extLst>
              <a:ext uri="{FF2B5EF4-FFF2-40B4-BE49-F238E27FC236}">
                <a16:creationId xmlns:a16="http://schemas.microsoft.com/office/drawing/2014/main" id="{BD2D7346-820E-745C-E9F4-3ACBA0CB1E88}"/>
              </a:ext>
            </a:extLst>
          </p:cNvPr>
          <p:cNvSpPr txBox="1"/>
          <p:nvPr/>
        </p:nvSpPr>
        <p:spPr>
          <a:xfrm>
            <a:off x="4319687" y="6080472"/>
            <a:ext cx="576064" cy="338554"/>
          </a:xfrm>
          <a:prstGeom prst="rect">
            <a:avLst/>
          </a:prstGeom>
          <a:noFill/>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(4, 2)</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
        <p:nvSpPr>
          <p:cNvPr id="32" name="TextBox 31">
            <a:extLst>
              <a:ext uri="{FF2B5EF4-FFF2-40B4-BE49-F238E27FC236}">
                <a16:creationId xmlns:a16="http://schemas.microsoft.com/office/drawing/2014/main" id="{E7674FC6-7053-0232-A7D7-7A2917B53A34}"/>
              </a:ext>
            </a:extLst>
          </p:cNvPr>
          <p:cNvSpPr txBox="1"/>
          <p:nvPr/>
        </p:nvSpPr>
        <p:spPr>
          <a:xfrm>
            <a:off x="5972955" y="6013625"/>
            <a:ext cx="576064" cy="338554"/>
          </a:xfrm>
          <a:prstGeom prst="rect">
            <a:avLst/>
          </a:prstGeom>
          <a:noFill/>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(4, 4)</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
        <p:nvSpPr>
          <p:cNvPr id="33" name="TextBox 32">
            <a:extLst>
              <a:ext uri="{FF2B5EF4-FFF2-40B4-BE49-F238E27FC236}">
                <a16:creationId xmlns:a16="http://schemas.microsoft.com/office/drawing/2014/main" id="{00B30F70-088E-4A7D-F6DC-320C2DCD523E}"/>
              </a:ext>
            </a:extLst>
          </p:cNvPr>
          <p:cNvSpPr txBox="1"/>
          <p:nvPr/>
        </p:nvSpPr>
        <p:spPr>
          <a:xfrm>
            <a:off x="4278769" y="4322180"/>
            <a:ext cx="576064" cy="338554"/>
          </a:xfrm>
          <a:prstGeom prst="rect">
            <a:avLst/>
          </a:prstGeom>
          <a:noFill/>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(1, 2)</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Tree>
    <p:extLst>
      <p:ext uri="{BB962C8B-B14F-4D97-AF65-F5344CB8AC3E}">
        <p14:creationId xmlns:p14="http://schemas.microsoft.com/office/powerpoint/2010/main" val="414965624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EFFFEEB-AA6B-9E11-5614-6272DD204EE6}"/>
              </a:ext>
            </a:extLst>
          </p:cNvPr>
          <p:cNvSpPr>
            <a:spLocks noGrp="1"/>
          </p:cNvSpPr>
          <p:nvPr>
            <p:ph type="title"/>
          </p:nvPr>
        </p:nvSpPr>
        <p:spPr/>
        <p:txBody>
          <a:bodyPr>
            <a:normAutofit/>
          </a:bodyPr>
          <a:lstStyle/>
          <a:p>
            <a:r>
              <a:rPr lang="en-US" altLang="ko-KR" dirty="0"/>
              <a:t>Sequence Construction</a:t>
            </a:r>
            <a:endParaRPr lang="ko-KR" altLang="en-US" dirty="0"/>
          </a:p>
        </p:txBody>
      </p:sp>
      <p:sp>
        <p:nvSpPr>
          <p:cNvPr id="3" name="내용 개체 틀 2">
            <a:extLst>
              <a:ext uri="{FF2B5EF4-FFF2-40B4-BE49-F238E27FC236}">
                <a16:creationId xmlns:a16="http://schemas.microsoft.com/office/drawing/2014/main" id="{E2D1192B-05D1-23FC-E290-DA2B9ECC0F30}"/>
              </a:ext>
            </a:extLst>
          </p:cNvPr>
          <p:cNvSpPr>
            <a:spLocks noGrp="1"/>
          </p:cNvSpPr>
          <p:nvPr>
            <p:ph idx="1"/>
          </p:nvPr>
        </p:nvSpPr>
        <p:spPr/>
        <p:txBody>
          <a:bodyPr/>
          <a:lstStyle/>
          <a:p>
            <a:r>
              <a:rPr lang="en-US" altLang="ko-KR" dirty="0"/>
              <a:t>Sequence Construction from Object Descriptions</a:t>
            </a:r>
          </a:p>
          <a:p>
            <a:pPr lvl="1"/>
            <a:r>
              <a:rPr lang="en-US" altLang="ko-KR" dirty="0"/>
              <a:t>Object representation: a sequence of five discrete tokens</a:t>
            </a:r>
          </a:p>
          <a:p>
            <a:pPr lvl="2"/>
            <a:r>
              <a:rPr lang="en-US" altLang="ko-KR" dirty="0" err="1"/>
              <a:t>ymin</a:t>
            </a:r>
            <a:r>
              <a:rPr lang="en-US" altLang="ko-KR" dirty="0"/>
              <a:t>, </a:t>
            </a:r>
            <a:r>
              <a:rPr lang="en-US" altLang="ko-KR" dirty="0" err="1"/>
              <a:t>xmin</a:t>
            </a:r>
            <a:r>
              <a:rPr lang="en-US" altLang="ko-KR" dirty="0"/>
              <a:t>, </a:t>
            </a:r>
            <a:r>
              <a:rPr lang="en-US" altLang="ko-KR" dirty="0" err="1"/>
              <a:t>ymax</a:t>
            </a:r>
            <a:r>
              <a:rPr lang="en-US" altLang="ko-KR" dirty="0"/>
              <a:t>, </a:t>
            </a:r>
            <a:r>
              <a:rPr lang="en-US" altLang="ko-KR" dirty="0" err="1"/>
              <a:t>xmax</a:t>
            </a:r>
            <a:r>
              <a:rPr lang="en-US" altLang="ko-KR" dirty="0"/>
              <a:t>, c</a:t>
            </a:r>
          </a:p>
          <a:p>
            <a:pPr lvl="2"/>
            <a:r>
              <a:rPr lang="en-US" altLang="ko-KR" dirty="0"/>
              <a:t>Uniformly discretized into an integer between [1, </a:t>
            </a:r>
            <a:r>
              <a:rPr lang="en-US" altLang="ko-KR" dirty="0" err="1"/>
              <a:t>nbins</a:t>
            </a:r>
            <a:r>
              <a:rPr lang="en-US" altLang="ko-KR" dirty="0"/>
              <a:t>]</a:t>
            </a:r>
          </a:p>
          <a:p>
            <a:pPr lvl="2"/>
            <a:r>
              <a:rPr lang="en-US" altLang="ko-KR" dirty="0"/>
              <a:t>The vocabulary size is equal to number of bins + number of classes. </a:t>
            </a:r>
            <a:endParaRPr lang="ko-KR" altLang="en-US" dirty="0"/>
          </a:p>
        </p:txBody>
      </p:sp>
      <p:sp>
        <p:nvSpPr>
          <p:cNvPr id="4" name="슬라이드 번호 개체 틀 3">
            <a:extLst>
              <a:ext uri="{FF2B5EF4-FFF2-40B4-BE49-F238E27FC236}">
                <a16:creationId xmlns:a16="http://schemas.microsoft.com/office/drawing/2014/main" id="{F1A113F2-158E-D1A8-7203-890153C2A97F}"/>
              </a:ext>
            </a:extLst>
          </p:cNvPr>
          <p:cNvSpPr>
            <a:spLocks noGrp="1"/>
          </p:cNvSpPr>
          <p:nvPr>
            <p:ph type="sldNum" sz="quarter" idx="10"/>
          </p:nvPr>
        </p:nvSpPr>
        <p:spPr/>
        <p:txBody>
          <a:bodyPr/>
          <a:lstStyle/>
          <a:p>
            <a:pPr>
              <a:defRPr/>
            </a:pPr>
            <a:fld id="{7092A07C-4710-46A3-9C28-806B597ACB99}" type="slidenum">
              <a:rPr lang="ko-KR" altLang="en-US" smtClean="0"/>
              <a:pPr>
                <a:defRPr/>
              </a:pPr>
              <a:t>13</a:t>
            </a:fld>
            <a:endParaRPr lang="ko-KR" altLang="en-US" dirty="0"/>
          </a:p>
        </p:txBody>
      </p:sp>
      <p:pic>
        <p:nvPicPr>
          <p:cNvPr id="6" name="그림 5">
            <a:extLst>
              <a:ext uri="{FF2B5EF4-FFF2-40B4-BE49-F238E27FC236}">
                <a16:creationId xmlns:a16="http://schemas.microsoft.com/office/drawing/2014/main" id="{8FB1EE01-7742-A5D0-868F-CBBA4FCE7F74}"/>
              </a:ext>
            </a:extLst>
          </p:cNvPr>
          <p:cNvPicPr>
            <a:picLocks noChangeAspect="1"/>
          </p:cNvPicPr>
          <p:nvPr/>
        </p:nvPicPr>
        <p:blipFill>
          <a:blip r:embed="rId2"/>
          <a:stretch>
            <a:fillRect/>
          </a:stretch>
        </p:blipFill>
        <p:spPr>
          <a:xfrm>
            <a:off x="385175" y="3329464"/>
            <a:ext cx="8358188" cy="3380196"/>
          </a:xfrm>
          <a:prstGeom prst="rect">
            <a:avLst/>
          </a:prstGeom>
        </p:spPr>
      </p:pic>
    </p:spTree>
    <p:extLst>
      <p:ext uri="{BB962C8B-B14F-4D97-AF65-F5344CB8AC3E}">
        <p14:creationId xmlns:p14="http://schemas.microsoft.com/office/powerpoint/2010/main" val="11915554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737CC3-C336-C8D7-B6BF-4454582323D9}"/>
              </a:ext>
            </a:extLst>
          </p:cNvPr>
          <p:cNvSpPr>
            <a:spLocks noGrp="1"/>
          </p:cNvSpPr>
          <p:nvPr>
            <p:ph type="title"/>
          </p:nvPr>
        </p:nvSpPr>
        <p:spPr/>
        <p:txBody>
          <a:bodyPr/>
          <a:lstStyle/>
          <a:p>
            <a:r>
              <a:rPr lang="en-US" altLang="ko-KR" dirty="0"/>
              <a:t>Sequence Construction</a:t>
            </a:r>
            <a:endParaRPr lang="ko-KR" altLang="en-US" dirty="0"/>
          </a:p>
        </p:txBody>
      </p:sp>
      <p:sp>
        <p:nvSpPr>
          <p:cNvPr id="3" name="내용 개체 틀 2">
            <a:extLst>
              <a:ext uri="{FF2B5EF4-FFF2-40B4-BE49-F238E27FC236}">
                <a16:creationId xmlns:a16="http://schemas.microsoft.com/office/drawing/2014/main" id="{9B76ECC6-EC6E-C5DE-2FA3-509CFAEED90A}"/>
              </a:ext>
            </a:extLst>
          </p:cNvPr>
          <p:cNvSpPr>
            <a:spLocks noGrp="1"/>
          </p:cNvSpPr>
          <p:nvPr>
            <p:ph idx="1"/>
          </p:nvPr>
        </p:nvSpPr>
        <p:spPr/>
        <p:txBody>
          <a:bodyPr/>
          <a:lstStyle/>
          <a:p>
            <a:r>
              <a:rPr lang="en-US" altLang="ko-KR" dirty="0"/>
              <a:t>Sequence Ordering</a:t>
            </a:r>
          </a:p>
          <a:p>
            <a:pPr lvl="1"/>
            <a:r>
              <a:rPr lang="en-US" altLang="ko-KR" dirty="0"/>
              <a:t>Since the order of objects does not matter for the detection task </a:t>
            </a:r>
            <a:r>
              <a:rPr lang="en-US" altLang="ko-KR" i="1" dirty="0"/>
              <a:t>per se</a:t>
            </a:r>
            <a:r>
              <a:rPr lang="en-US" altLang="ko-KR" dirty="0"/>
              <a:t>, we use a random ordering strategy.</a:t>
            </a:r>
          </a:p>
          <a:p>
            <a:pPr lvl="1"/>
            <a:endParaRPr lang="ko-KR" altLang="en-US" dirty="0"/>
          </a:p>
        </p:txBody>
      </p:sp>
      <p:sp>
        <p:nvSpPr>
          <p:cNvPr id="4" name="슬라이드 번호 개체 틀 3">
            <a:extLst>
              <a:ext uri="{FF2B5EF4-FFF2-40B4-BE49-F238E27FC236}">
                <a16:creationId xmlns:a16="http://schemas.microsoft.com/office/drawing/2014/main" id="{BD43192D-8C72-9B2C-CDFD-AB3D42454229}"/>
              </a:ext>
            </a:extLst>
          </p:cNvPr>
          <p:cNvSpPr>
            <a:spLocks noGrp="1"/>
          </p:cNvSpPr>
          <p:nvPr>
            <p:ph type="sldNum" sz="quarter" idx="10"/>
          </p:nvPr>
        </p:nvSpPr>
        <p:spPr/>
        <p:txBody>
          <a:bodyPr/>
          <a:lstStyle/>
          <a:p>
            <a:pPr>
              <a:defRPr/>
            </a:pPr>
            <a:fld id="{7092A07C-4710-46A3-9C28-806B597ACB99}" type="slidenum">
              <a:rPr lang="ko-KR" altLang="en-US" smtClean="0"/>
              <a:pPr>
                <a:defRPr/>
              </a:pPr>
              <a:t>14</a:t>
            </a:fld>
            <a:endParaRPr lang="ko-KR" altLang="en-US" dirty="0"/>
          </a:p>
        </p:txBody>
      </p:sp>
      <p:pic>
        <p:nvPicPr>
          <p:cNvPr id="6" name="그림 5">
            <a:extLst>
              <a:ext uri="{FF2B5EF4-FFF2-40B4-BE49-F238E27FC236}">
                <a16:creationId xmlns:a16="http://schemas.microsoft.com/office/drawing/2014/main" id="{C570B8C7-574A-AF68-FEDF-B496F3B4B63B}"/>
              </a:ext>
            </a:extLst>
          </p:cNvPr>
          <p:cNvPicPr>
            <a:picLocks noChangeAspect="1"/>
          </p:cNvPicPr>
          <p:nvPr/>
        </p:nvPicPr>
        <p:blipFill>
          <a:blip r:embed="rId2"/>
          <a:stretch>
            <a:fillRect/>
          </a:stretch>
        </p:blipFill>
        <p:spPr>
          <a:xfrm>
            <a:off x="251774" y="2816932"/>
            <a:ext cx="8640452" cy="3169277"/>
          </a:xfrm>
          <a:prstGeom prst="rect">
            <a:avLst/>
          </a:prstGeom>
        </p:spPr>
      </p:pic>
    </p:spTree>
    <p:extLst>
      <p:ext uri="{BB962C8B-B14F-4D97-AF65-F5344CB8AC3E}">
        <p14:creationId xmlns:p14="http://schemas.microsoft.com/office/powerpoint/2010/main" val="221808440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3097A6F-EF4C-0076-DA60-5C21AA59EE4E}"/>
              </a:ext>
            </a:extLst>
          </p:cNvPr>
          <p:cNvSpPr>
            <a:spLocks noGrp="1"/>
          </p:cNvSpPr>
          <p:nvPr>
            <p:ph type="title"/>
          </p:nvPr>
        </p:nvSpPr>
        <p:spPr/>
        <p:txBody>
          <a:bodyPr/>
          <a:lstStyle/>
          <a:p>
            <a:r>
              <a:rPr lang="en-US" altLang="ko-KR" dirty="0"/>
              <a:t>Sequence Augmentation</a:t>
            </a:r>
            <a:endParaRPr lang="ko-KR" altLang="en-US" dirty="0"/>
          </a:p>
        </p:txBody>
      </p:sp>
      <p:sp>
        <p:nvSpPr>
          <p:cNvPr id="3" name="내용 개체 틀 2">
            <a:extLst>
              <a:ext uri="{FF2B5EF4-FFF2-40B4-BE49-F238E27FC236}">
                <a16:creationId xmlns:a16="http://schemas.microsoft.com/office/drawing/2014/main" id="{98D5CC8C-A80B-98B2-885B-8C5F568D63A3}"/>
              </a:ext>
            </a:extLst>
          </p:cNvPr>
          <p:cNvSpPr>
            <a:spLocks noGrp="1"/>
          </p:cNvSpPr>
          <p:nvPr>
            <p:ph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F9954AE-BFCC-B12C-7418-B1C88A4A5904}"/>
              </a:ext>
            </a:extLst>
          </p:cNvPr>
          <p:cNvSpPr>
            <a:spLocks noGrp="1"/>
          </p:cNvSpPr>
          <p:nvPr>
            <p:ph type="sldNum" sz="quarter" idx="10"/>
          </p:nvPr>
        </p:nvSpPr>
        <p:spPr/>
        <p:txBody>
          <a:bodyPr/>
          <a:lstStyle/>
          <a:p>
            <a:pPr>
              <a:defRPr/>
            </a:pPr>
            <a:fld id="{7092A07C-4710-46A3-9C28-806B597ACB99}" type="slidenum">
              <a:rPr lang="ko-KR" altLang="en-US" smtClean="0"/>
              <a:pPr>
                <a:defRPr/>
              </a:pPr>
              <a:t>15</a:t>
            </a:fld>
            <a:endParaRPr lang="ko-KR" altLang="en-US" dirty="0"/>
          </a:p>
        </p:txBody>
      </p:sp>
      <p:pic>
        <p:nvPicPr>
          <p:cNvPr id="6" name="그림 5">
            <a:extLst>
              <a:ext uri="{FF2B5EF4-FFF2-40B4-BE49-F238E27FC236}">
                <a16:creationId xmlns:a16="http://schemas.microsoft.com/office/drawing/2014/main" id="{F667F36F-4260-F0B6-5F0B-24B90EC047EC}"/>
              </a:ext>
            </a:extLst>
          </p:cNvPr>
          <p:cNvPicPr>
            <a:picLocks noChangeAspect="1"/>
          </p:cNvPicPr>
          <p:nvPr/>
        </p:nvPicPr>
        <p:blipFill>
          <a:blip r:embed="rId2"/>
          <a:stretch>
            <a:fillRect/>
          </a:stretch>
        </p:blipFill>
        <p:spPr>
          <a:xfrm>
            <a:off x="156890" y="1412776"/>
            <a:ext cx="8786874" cy="4775767"/>
          </a:xfrm>
          <a:prstGeom prst="rect">
            <a:avLst/>
          </a:prstGeom>
        </p:spPr>
      </p:pic>
    </p:spTree>
    <p:extLst>
      <p:ext uri="{BB962C8B-B14F-4D97-AF65-F5344CB8AC3E}">
        <p14:creationId xmlns:p14="http://schemas.microsoft.com/office/powerpoint/2010/main" val="350710014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D69451-E440-87F1-69DB-497ABF3C524C}"/>
              </a:ext>
            </a:extLst>
          </p:cNvPr>
          <p:cNvSpPr>
            <a:spLocks noGrp="1"/>
          </p:cNvSpPr>
          <p:nvPr>
            <p:ph type="title"/>
          </p:nvPr>
        </p:nvSpPr>
        <p:spPr/>
        <p:txBody>
          <a:bodyPr/>
          <a:lstStyle/>
          <a:p>
            <a:r>
              <a:rPr lang="en-US" altLang="ko-KR" dirty="0"/>
              <a:t>Sequence Augmentation</a:t>
            </a:r>
            <a:endParaRPr lang="ko-KR" altLang="en-US" dirty="0"/>
          </a:p>
        </p:txBody>
      </p:sp>
      <p:sp>
        <p:nvSpPr>
          <p:cNvPr id="3" name="내용 개체 틀 2">
            <a:extLst>
              <a:ext uri="{FF2B5EF4-FFF2-40B4-BE49-F238E27FC236}">
                <a16:creationId xmlns:a16="http://schemas.microsoft.com/office/drawing/2014/main" id="{28FB5191-7A04-E98A-2F44-034CBB036335}"/>
              </a:ext>
            </a:extLst>
          </p:cNvPr>
          <p:cNvSpPr>
            <a:spLocks noGrp="1"/>
          </p:cNvSpPr>
          <p:nvPr>
            <p:ph idx="1"/>
          </p:nvPr>
        </p:nvSpPr>
        <p:spPr/>
        <p:txBody>
          <a:bodyPr/>
          <a:lstStyle/>
          <a:p>
            <a:r>
              <a:rPr lang="en-US" altLang="ko-KR" dirty="0"/>
              <a:t>Augmentation method </a:t>
            </a:r>
          </a:p>
          <a:p>
            <a:pPr lvl="1"/>
            <a:r>
              <a:rPr lang="en-US" altLang="ko-KR" dirty="0"/>
              <a:t>Noise objects</a:t>
            </a:r>
          </a:p>
          <a:p>
            <a:pPr lvl="2"/>
            <a:r>
              <a:rPr lang="en-US" altLang="ko-KR" dirty="0"/>
              <a:t>Random Location</a:t>
            </a:r>
          </a:p>
          <a:p>
            <a:pPr lvl="2"/>
            <a:r>
              <a:rPr lang="en-US" altLang="ko-KR" dirty="0"/>
              <a:t>Adjacent to ground truth</a:t>
            </a:r>
            <a:endParaRPr lang="ko-KR" altLang="en-US" dirty="0"/>
          </a:p>
        </p:txBody>
      </p:sp>
      <p:sp>
        <p:nvSpPr>
          <p:cNvPr id="4" name="슬라이드 번호 개체 틀 3">
            <a:extLst>
              <a:ext uri="{FF2B5EF4-FFF2-40B4-BE49-F238E27FC236}">
                <a16:creationId xmlns:a16="http://schemas.microsoft.com/office/drawing/2014/main" id="{6F768407-7E66-DCB7-2867-EB0F9C8AAC91}"/>
              </a:ext>
            </a:extLst>
          </p:cNvPr>
          <p:cNvSpPr>
            <a:spLocks noGrp="1"/>
          </p:cNvSpPr>
          <p:nvPr>
            <p:ph type="sldNum" sz="quarter" idx="10"/>
          </p:nvPr>
        </p:nvSpPr>
        <p:spPr/>
        <p:txBody>
          <a:bodyPr/>
          <a:lstStyle/>
          <a:p>
            <a:pPr>
              <a:defRPr/>
            </a:pPr>
            <a:fld id="{7092A07C-4710-46A3-9C28-806B597ACB99}" type="slidenum">
              <a:rPr lang="ko-KR" altLang="en-US" smtClean="0"/>
              <a:pPr>
                <a:defRPr/>
              </a:pPr>
              <a:t>16</a:t>
            </a:fld>
            <a:endParaRPr lang="ko-KR" altLang="en-US" dirty="0"/>
          </a:p>
        </p:txBody>
      </p:sp>
      <p:pic>
        <p:nvPicPr>
          <p:cNvPr id="6" name="그림 5">
            <a:extLst>
              <a:ext uri="{FF2B5EF4-FFF2-40B4-BE49-F238E27FC236}">
                <a16:creationId xmlns:a16="http://schemas.microsoft.com/office/drawing/2014/main" id="{F8530C5C-46B7-A654-BC9A-2CC9494F3695}"/>
              </a:ext>
            </a:extLst>
          </p:cNvPr>
          <p:cNvPicPr>
            <a:picLocks noChangeAspect="1"/>
          </p:cNvPicPr>
          <p:nvPr/>
        </p:nvPicPr>
        <p:blipFill>
          <a:blip r:embed="rId2"/>
          <a:stretch>
            <a:fillRect/>
          </a:stretch>
        </p:blipFill>
        <p:spPr>
          <a:xfrm>
            <a:off x="269491" y="3104964"/>
            <a:ext cx="8676456" cy="2773089"/>
          </a:xfrm>
          <a:prstGeom prst="rect">
            <a:avLst/>
          </a:prstGeom>
        </p:spPr>
      </p:pic>
    </p:spTree>
    <p:extLst>
      <p:ext uri="{BB962C8B-B14F-4D97-AF65-F5344CB8AC3E}">
        <p14:creationId xmlns:p14="http://schemas.microsoft.com/office/powerpoint/2010/main" val="234567862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1A2FC8A-4CE1-C6F1-9B24-FCE62D835DD4}"/>
              </a:ext>
            </a:extLst>
          </p:cNvPr>
          <p:cNvSpPr>
            <a:spLocks noGrp="1"/>
          </p:cNvSpPr>
          <p:nvPr>
            <p:ph type="title"/>
          </p:nvPr>
        </p:nvSpPr>
        <p:spPr/>
        <p:txBody>
          <a:bodyPr>
            <a:normAutofit/>
          </a:bodyPr>
          <a:lstStyle/>
          <a:p>
            <a:r>
              <a:rPr lang="en-US" altLang="ko-KR" dirty="0"/>
              <a:t>Model Architecture</a:t>
            </a:r>
            <a:endParaRPr lang="ko-KR" altLang="en-US" dirty="0"/>
          </a:p>
        </p:txBody>
      </p:sp>
      <p:sp>
        <p:nvSpPr>
          <p:cNvPr id="3" name="내용 개체 틀 2">
            <a:extLst>
              <a:ext uri="{FF2B5EF4-FFF2-40B4-BE49-F238E27FC236}">
                <a16:creationId xmlns:a16="http://schemas.microsoft.com/office/drawing/2014/main" id="{75B4FA5F-5D73-C609-927B-49FE820821A7}"/>
              </a:ext>
            </a:extLst>
          </p:cNvPr>
          <p:cNvSpPr>
            <a:spLocks noGrp="1"/>
          </p:cNvSpPr>
          <p:nvPr>
            <p:ph idx="1"/>
          </p:nvPr>
        </p:nvSpPr>
        <p:spPr/>
        <p:txBody>
          <a:bodyPr/>
          <a:lstStyle/>
          <a:p>
            <a:r>
              <a:rPr lang="en-US" altLang="ko-KR" dirty="0"/>
              <a:t>Encoder-decoder architecture</a:t>
            </a:r>
          </a:p>
          <a:p>
            <a:pPr lvl="1"/>
            <a:r>
              <a:rPr lang="en-US" altLang="ko-KR" dirty="0"/>
              <a:t>Encoder </a:t>
            </a:r>
          </a:p>
          <a:p>
            <a:pPr lvl="2"/>
            <a:r>
              <a:rPr lang="en-US" altLang="ko-KR" b="1" dirty="0"/>
              <a:t>A general image encoder</a:t>
            </a:r>
            <a:r>
              <a:rPr lang="en-US" altLang="ko-KR" dirty="0"/>
              <a:t> that perceives pixels and encodes them into hidden representations, such as a </a:t>
            </a:r>
            <a:r>
              <a:rPr lang="en-US" altLang="ko-KR" dirty="0" err="1"/>
              <a:t>ConvNet</a:t>
            </a:r>
            <a:r>
              <a:rPr lang="en-US" altLang="ko-KR" dirty="0"/>
              <a:t>, Transformer, or their combination.</a:t>
            </a:r>
          </a:p>
          <a:p>
            <a:pPr lvl="1"/>
            <a:r>
              <a:rPr lang="en-US" altLang="ko-KR" dirty="0"/>
              <a:t>Decoder </a:t>
            </a:r>
          </a:p>
          <a:p>
            <a:pPr lvl="2"/>
            <a:r>
              <a:rPr lang="en-US" altLang="ko-KR" b="1" dirty="0"/>
              <a:t>Transformer decoder</a:t>
            </a:r>
            <a:r>
              <a:rPr lang="en-US" altLang="ko-KR" dirty="0"/>
              <a:t>, widely used in modern language modeling. It generates one token at a time, conditioned on the preceding tokens and the encoded image representation. This removes the complexity and customization in architectures of modern object detectors, e.g., bounding box proposal and regression, since tokens are generated from a single vocabulary with a </a:t>
            </a:r>
            <a:r>
              <a:rPr lang="en-US" altLang="ko-KR" dirty="0" err="1"/>
              <a:t>softmax</a:t>
            </a:r>
            <a:r>
              <a:rPr lang="en-US" altLang="ko-KR" dirty="0"/>
              <a:t>.</a:t>
            </a:r>
            <a:endParaRPr lang="ko-KR" altLang="en-US" dirty="0"/>
          </a:p>
        </p:txBody>
      </p:sp>
      <p:sp>
        <p:nvSpPr>
          <p:cNvPr id="4" name="슬라이드 번호 개체 틀 3">
            <a:extLst>
              <a:ext uri="{FF2B5EF4-FFF2-40B4-BE49-F238E27FC236}">
                <a16:creationId xmlns:a16="http://schemas.microsoft.com/office/drawing/2014/main" id="{4183F124-8505-CB2D-FA09-03ECF612A20C}"/>
              </a:ext>
            </a:extLst>
          </p:cNvPr>
          <p:cNvSpPr>
            <a:spLocks noGrp="1"/>
          </p:cNvSpPr>
          <p:nvPr>
            <p:ph type="sldNum" sz="quarter" idx="10"/>
          </p:nvPr>
        </p:nvSpPr>
        <p:spPr/>
        <p:txBody>
          <a:bodyPr/>
          <a:lstStyle/>
          <a:p>
            <a:pPr>
              <a:defRPr/>
            </a:pPr>
            <a:fld id="{7092A07C-4710-46A3-9C28-806B597ACB99}" type="slidenum">
              <a:rPr lang="ko-KR" altLang="en-US" smtClean="0"/>
              <a:pPr>
                <a:defRPr/>
              </a:pPr>
              <a:t>17</a:t>
            </a:fld>
            <a:endParaRPr lang="ko-KR" altLang="en-US" dirty="0"/>
          </a:p>
        </p:txBody>
      </p:sp>
    </p:spTree>
    <p:extLst>
      <p:ext uri="{BB962C8B-B14F-4D97-AF65-F5344CB8AC3E}">
        <p14:creationId xmlns:p14="http://schemas.microsoft.com/office/powerpoint/2010/main" val="268299134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72FCAA0-7DBE-46BD-F145-C707CD45B34B}"/>
              </a:ext>
            </a:extLst>
          </p:cNvPr>
          <p:cNvSpPr>
            <a:spLocks noGrp="1"/>
          </p:cNvSpPr>
          <p:nvPr>
            <p:ph type="title"/>
          </p:nvPr>
        </p:nvSpPr>
        <p:spPr/>
        <p:txBody>
          <a:bodyPr/>
          <a:lstStyle/>
          <a:p>
            <a:r>
              <a:rPr lang="en-US" altLang="ko-KR" dirty="0"/>
              <a:t>Objective Function</a:t>
            </a:r>
            <a:endParaRPr lang="ko-KR" altLang="en-US" dirty="0"/>
          </a:p>
        </p:txBody>
      </p:sp>
      <p:sp>
        <p:nvSpPr>
          <p:cNvPr id="3" name="내용 개체 틀 2">
            <a:extLst>
              <a:ext uri="{FF2B5EF4-FFF2-40B4-BE49-F238E27FC236}">
                <a16:creationId xmlns:a16="http://schemas.microsoft.com/office/drawing/2014/main" id="{BC600543-B8E6-B7D3-712B-256796FBF067}"/>
              </a:ext>
            </a:extLst>
          </p:cNvPr>
          <p:cNvSpPr>
            <a:spLocks noGrp="1"/>
          </p:cNvSpPr>
          <p:nvPr>
            <p:ph idx="1"/>
          </p:nvPr>
        </p:nvSpPr>
        <p:spPr/>
        <p:txBody>
          <a:bodyPr/>
          <a:lstStyle/>
          <a:p>
            <a:r>
              <a:rPr lang="en-US" altLang="ko-KR" dirty="0"/>
              <a:t>Maximum likelihood loss</a:t>
            </a:r>
          </a:p>
        </p:txBody>
      </p:sp>
      <p:sp>
        <p:nvSpPr>
          <p:cNvPr id="4" name="슬라이드 번호 개체 틀 3">
            <a:extLst>
              <a:ext uri="{FF2B5EF4-FFF2-40B4-BE49-F238E27FC236}">
                <a16:creationId xmlns:a16="http://schemas.microsoft.com/office/drawing/2014/main" id="{6D7B2755-C3B9-0DAA-F260-202192838699}"/>
              </a:ext>
            </a:extLst>
          </p:cNvPr>
          <p:cNvSpPr>
            <a:spLocks noGrp="1"/>
          </p:cNvSpPr>
          <p:nvPr>
            <p:ph type="sldNum" sz="quarter" idx="10"/>
          </p:nvPr>
        </p:nvSpPr>
        <p:spPr/>
        <p:txBody>
          <a:bodyPr/>
          <a:lstStyle/>
          <a:p>
            <a:pPr>
              <a:defRPr/>
            </a:pPr>
            <a:fld id="{7092A07C-4710-46A3-9C28-806B597ACB99}" type="slidenum">
              <a:rPr lang="ko-KR" altLang="en-US" smtClean="0"/>
              <a:pPr>
                <a:defRPr/>
              </a:pPr>
              <a:t>18</a:t>
            </a:fld>
            <a:endParaRPr lang="ko-KR" altLang="en-US" dirty="0"/>
          </a:p>
        </p:txBody>
      </p:sp>
      <p:pic>
        <p:nvPicPr>
          <p:cNvPr id="6" name="그림 5">
            <a:extLst>
              <a:ext uri="{FF2B5EF4-FFF2-40B4-BE49-F238E27FC236}">
                <a16:creationId xmlns:a16="http://schemas.microsoft.com/office/drawing/2014/main" id="{FF906764-1AF7-DB2B-37C2-019534999D92}"/>
              </a:ext>
            </a:extLst>
          </p:cNvPr>
          <p:cNvPicPr>
            <a:picLocks noChangeAspect="1"/>
          </p:cNvPicPr>
          <p:nvPr/>
        </p:nvPicPr>
        <p:blipFill>
          <a:blip r:embed="rId2"/>
          <a:stretch>
            <a:fillRect/>
          </a:stretch>
        </p:blipFill>
        <p:spPr>
          <a:xfrm>
            <a:off x="269776" y="2312876"/>
            <a:ext cx="8604448" cy="2618745"/>
          </a:xfrm>
          <a:prstGeom prst="rect">
            <a:avLst/>
          </a:prstGeom>
        </p:spPr>
      </p:pic>
    </p:spTree>
    <p:extLst>
      <p:ext uri="{BB962C8B-B14F-4D97-AF65-F5344CB8AC3E}">
        <p14:creationId xmlns:p14="http://schemas.microsoft.com/office/powerpoint/2010/main" val="236769574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a:extLst>
              <a:ext uri="{FF2B5EF4-FFF2-40B4-BE49-F238E27FC236}">
                <a16:creationId xmlns:a16="http://schemas.microsoft.com/office/drawing/2014/main" id="{B20CF7E1-E164-0ECD-DD8C-8D08FD04C0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3342" y="2457411"/>
            <a:ext cx="4392488" cy="3884214"/>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1">
            <a:extLst>
              <a:ext uri="{FF2B5EF4-FFF2-40B4-BE49-F238E27FC236}">
                <a16:creationId xmlns:a16="http://schemas.microsoft.com/office/drawing/2014/main" id="{408FB2AB-10EC-F778-47AC-23E27AA89C70}"/>
              </a:ext>
            </a:extLst>
          </p:cNvPr>
          <p:cNvSpPr>
            <a:spLocks noGrp="1"/>
          </p:cNvSpPr>
          <p:nvPr>
            <p:ph type="title"/>
          </p:nvPr>
        </p:nvSpPr>
        <p:spPr/>
        <p:txBody>
          <a:bodyPr/>
          <a:lstStyle/>
          <a:p>
            <a:r>
              <a:rPr lang="en-US" altLang="ko-KR" dirty="0"/>
              <a:t>Inference</a:t>
            </a:r>
            <a:endParaRPr lang="ko-KR" altLang="en-US" dirty="0"/>
          </a:p>
        </p:txBody>
      </p:sp>
      <p:sp>
        <p:nvSpPr>
          <p:cNvPr id="3" name="내용 개체 틀 2">
            <a:extLst>
              <a:ext uri="{FF2B5EF4-FFF2-40B4-BE49-F238E27FC236}">
                <a16:creationId xmlns:a16="http://schemas.microsoft.com/office/drawing/2014/main" id="{84D29490-731D-F004-3C3A-B063C0F96059}"/>
              </a:ext>
            </a:extLst>
          </p:cNvPr>
          <p:cNvSpPr>
            <a:spLocks noGrp="1"/>
          </p:cNvSpPr>
          <p:nvPr>
            <p:ph idx="1"/>
          </p:nvPr>
        </p:nvSpPr>
        <p:spPr/>
        <p:txBody>
          <a:bodyPr/>
          <a:lstStyle/>
          <a:p>
            <a:r>
              <a:rPr lang="en-US" altLang="ko-KR" dirty="0"/>
              <a:t>Top-P Sampling (aka. Nucleus sampling [9])</a:t>
            </a:r>
          </a:p>
          <a:p>
            <a:pPr lvl="1"/>
            <a:r>
              <a:rPr lang="en-US" altLang="ko-KR" dirty="0"/>
              <a:t>Nucleus sampling [9] has been applied to language modeling to reduce duplication and increase diversity in generated samples.</a:t>
            </a:r>
          </a:p>
        </p:txBody>
      </p:sp>
      <p:sp>
        <p:nvSpPr>
          <p:cNvPr id="4" name="슬라이드 번호 개체 틀 3">
            <a:extLst>
              <a:ext uri="{FF2B5EF4-FFF2-40B4-BE49-F238E27FC236}">
                <a16:creationId xmlns:a16="http://schemas.microsoft.com/office/drawing/2014/main" id="{E8EC2B82-96F7-0849-CEAD-DF1660325B9C}"/>
              </a:ext>
            </a:extLst>
          </p:cNvPr>
          <p:cNvSpPr>
            <a:spLocks noGrp="1"/>
          </p:cNvSpPr>
          <p:nvPr>
            <p:ph type="sldNum" sz="quarter" idx="10"/>
          </p:nvPr>
        </p:nvSpPr>
        <p:spPr/>
        <p:txBody>
          <a:bodyPr/>
          <a:lstStyle/>
          <a:p>
            <a:pPr>
              <a:defRPr/>
            </a:pPr>
            <a:fld id="{7092A07C-4710-46A3-9C28-806B597ACB99}" type="slidenum">
              <a:rPr lang="ko-KR" altLang="en-US" smtClean="0"/>
              <a:pPr>
                <a:defRPr/>
              </a:pPr>
              <a:t>19</a:t>
            </a:fld>
            <a:endParaRPr lang="ko-KR" altLang="en-US" dirty="0"/>
          </a:p>
        </p:txBody>
      </p:sp>
      <p:sp>
        <p:nvSpPr>
          <p:cNvPr id="7" name="TextBox 6">
            <a:extLst>
              <a:ext uri="{FF2B5EF4-FFF2-40B4-BE49-F238E27FC236}">
                <a16:creationId xmlns:a16="http://schemas.microsoft.com/office/drawing/2014/main" id="{541CC5B1-7D67-D288-286C-F7E76AD2F5F5}"/>
              </a:ext>
            </a:extLst>
          </p:cNvPr>
          <p:cNvSpPr txBox="1"/>
          <p:nvPr/>
        </p:nvSpPr>
        <p:spPr>
          <a:xfrm>
            <a:off x="2591228" y="6287128"/>
            <a:ext cx="3961544" cy="338554"/>
          </a:xfrm>
          <a:prstGeom prst="rect">
            <a:avLst/>
          </a:prstGeom>
          <a:noFill/>
        </p:spPr>
        <p:txBody>
          <a:bodyPr wrap="square" rtlCol="0">
            <a:spAutoFit/>
          </a:bodyPr>
          <a:lstStyle/>
          <a:p>
            <a:pPr algn="ctr"/>
            <a:r>
              <a:rPr lang="en-US" altLang="ko-KR" sz="1600" dirty="0">
                <a:latin typeface="Calibri" panose="020F0502020204030204" pitchFamily="34" charset="0"/>
                <a:ea typeface="08서울남산체 B" panose="02020603020101020101" pitchFamily="18" charset="-127"/>
                <a:cs typeface="Times New Roman" pitchFamily="18" charset="0"/>
              </a:rPr>
              <a:t>Description of  nucleus sampling [10]</a:t>
            </a:r>
            <a:endParaRPr lang="ko-KR" altLang="en-US" sz="1600" dirty="0">
              <a:latin typeface="Calibri" panose="020F0502020204030204" pitchFamily="34" charset="0"/>
              <a:ea typeface="08서울남산체 B" panose="02020603020101020101" pitchFamily="18" charset="-127"/>
              <a:cs typeface="Times New Roman" pitchFamily="18" charset="0"/>
            </a:endParaRPr>
          </a:p>
        </p:txBody>
      </p:sp>
    </p:spTree>
    <p:extLst>
      <p:ext uri="{BB962C8B-B14F-4D97-AF65-F5344CB8AC3E}">
        <p14:creationId xmlns:p14="http://schemas.microsoft.com/office/powerpoint/2010/main" val="348324164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BBFB0E8-9167-2F7E-2650-306BECD1B3F2}"/>
              </a:ext>
            </a:extLst>
          </p:cNvPr>
          <p:cNvSpPr>
            <a:spLocks noGrp="1"/>
          </p:cNvSpPr>
          <p:nvPr>
            <p:ph type="title"/>
          </p:nvPr>
        </p:nvSpPr>
        <p:spPr/>
        <p:txBody>
          <a:bodyPr/>
          <a:lstStyle/>
          <a:p>
            <a:r>
              <a:rPr lang="en-US" altLang="ko-KR" dirty="0"/>
              <a:t>Q &amp; A </a:t>
            </a:r>
            <a:endParaRPr lang="ko-KR" altLang="en-US" dirty="0"/>
          </a:p>
        </p:txBody>
      </p:sp>
      <p:sp>
        <p:nvSpPr>
          <p:cNvPr id="3" name="내용 개체 틀 2">
            <a:extLst>
              <a:ext uri="{FF2B5EF4-FFF2-40B4-BE49-F238E27FC236}">
                <a16:creationId xmlns:a16="http://schemas.microsoft.com/office/drawing/2014/main" id="{BEFD6EDF-8F93-49B9-ACFC-B71555BE8AA9}"/>
              </a:ext>
            </a:extLst>
          </p:cNvPr>
          <p:cNvSpPr>
            <a:spLocks noGrp="1"/>
          </p:cNvSpPr>
          <p:nvPr>
            <p:ph idx="1"/>
          </p:nvPr>
        </p:nvSpPr>
        <p:spPr/>
        <p:txBody>
          <a:bodyPr/>
          <a:lstStyle/>
          <a:p>
            <a:pPr marL="0" indent="0" algn="ctr">
              <a:buNone/>
            </a:pPr>
            <a:endParaRPr lang="en-US" altLang="ko-KR" sz="3200" dirty="0"/>
          </a:p>
          <a:p>
            <a:pPr marL="0" indent="0" algn="ctr">
              <a:buNone/>
            </a:pPr>
            <a:endParaRPr lang="en-US" altLang="ko-KR" sz="5400" dirty="0"/>
          </a:p>
          <a:p>
            <a:pPr marL="0" indent="0" algn="ctr">
              <a:buNone/>
            </a:pPr>
            <a:r>
              <a:rPr lang="en-US" altLang="ko-KR" sz="11500" dirty="0"/>
              <a:t>Q &amp; A</a:t>
            </a:r>
            <a:endParaRPr lang="ko-KR" altLang="en-US" sz="11500" dirty="0"/>
          </a:p>
        </p:txBody>
      </p:sp>
      <p:sp>
        <p:nvSpPr>
          <p:cNvPr id="4" name="슬라이드 번호 개체 틀 3">
            <a:extLst>
              <a:ext uri="{FF2B5EF4-FFF2-40B4-BE49-F238E27FC236}">
                <a16:creationId xmlns:a16="http://schemas.microsoft.com/office/drawing/2014/main" id="{582E1E55-853F-3733-A86C-E5DA5C9DAEC1}"/>
              </a:ext>
            </a:extLst>
          </p:cNvPr>
          <p:cNvSpPr>
            <a:spLocks noGrp="1"/>
          </p:cNvSpPr>
          <p:nvPr>
            <p:ph type="sldNum" sz="quarter" idx="10"/>
          </p:nvPr>
        </p:nvSpPr>
        <p:spPr/>
        <p:txBody>
          <a:bodyPr/>
          <a:lstStyle/>
          <a:p>
            <a:pPr>
              <a:defRPr/>
            </a:pPr>
            <a:fld id="{7092A07C-4710-46A3-9C28-806B597ACB99}" type="slidenum">
              <a:rPr lang="ko-KR" altLang="en-US" smtClean="0"/>
              <a:pPr>
                <a:defRPr/>
              </a:pPr>
              <a:t>20</a:t>
            </a:fld>
            <a:endParaRPr lang="ko-KR" altLang="en-US" dirty="0"/>
          </a:p>
        </p:txBody>
      </p:sp>
    </p:spTree>
    <p:extLst>
      <p:ext uri="{BB962C8B-B14F-4D97-AF65-F5344CB8AC3E}">
        <p14:creationId xmlns:p14="http://schemas.microsoft.com/office/powerpoint/2010/main" val="42405605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BE5EF57-EACA-3E18-8386-C37AF84B3567}"/>
              </a:ext>
            </a:extLst>
          </p:cNvPr>
          <p:cNvSpPr>
            <a:spLocks noGrp="1"/>
          </p:cNvSpPr>
          <p:nvPr>
            <p:ph type="title"/>
          </p:nvPr>
        </p:nvSpPr>
        <p:spPr/>
        <p:txBody>
          <a:bodyPr/>
          <a:lstStyle/>
          <a:p>
            <a:r>
              <a:rPr lang="en-US" altLang="ko-KR" dirty="0"/>
              <a:t>Experiments</a:t>
            </a:r>
            <a:endParaRPr lang="ko-KR" altLang="en-US" dirty="0"/>
          </a:p>
        </p:txBody>
      </p:sp>
      <p:sp>
        <p:nvSpPr>
          <p:cNvPr id="3" name="내용 개체 틀 2">
            <a:extLst>
              <a:ext uri="{FF2B5EF4-FFF2-40B4-BE49-F238E27FC236}">
                <a16:creationId xmlns:a16="http://schemas.microsoft.com/office/drawing/2014/main" id="{DFC0F2A7-5713-44DF-2E4A-03B54BAD0B07}"/>
              </a:ext>
            </a:extLst>
          </p:cNvPr>
          <p:cNvSpPr>
            <a:spLocks noGrp="1"/>
          </p:cNvSpPr>
          <p:nvPr>
            <p:ph idx="1"/>
          </p:nvPr>
        </p:nvSpPr>
        <p:spPr/>
        <p:txBody>
          <a:bodyPr/>
          <a:lstStyle/>
          <a:p>
            <a:r>
              <a:rPr lang="en-US" altLang="ko-KR" dirty="0"/>
              <a:t>Robust in Crowd scene and small objects </a:t>
            </a:r>
            <a:endParaRPr lang="ko-KR" altLang="en-US" dirty="0"/>
          </a:p>
        </p:txBody>
      </p:sp>
      <p:sp>
        <p:nvSpPr>
          <p:cNvPr id="4" name="슬라이드 번호 개체 틀 3">
            <a:extLst>
              <a:ext uri="{FF2B5EF4-FFF2-40B4-BE49-F238E27FC236}">
                <a16:creationId xmlns:a16="http://schemas.microsoft.com/office/drawing/2014/main" id="{57790FB6-9237-BA5B-E013-397FB2C12A99}"/>
              </a:ext>
            </a:extLst>
          </p:cNvPr>
          <p:cNvSpPr>
            <a:spLocks noGrp="1"/>
          </p:cNvSpPr>
          <p:nvPr>
            <p:ph type="sldNum" sz="quarter" idx="10"/>
          </p:nvPr>
        </p:nvSpPr>
        <p:spPr/>
        <p:txBody>
          <a:bodyPr/>
          <a:lstStyle/>
          <a:p>
            <a:pPr>
              <a:defRPr/>
            </a:pPr>
            <a:fld id="{7092A07C-4710-46A3-9C28-806B597ACB99}" type="slidenum">
              <a:rPr lang="ko-KR" altLang="en-US" smtClean="0"/>
              <a:pPr>
                <a:defRPr/>
              </a:pPr>
              <a:t>21</a:t>
            </a:fld>
            <a:endParaRPr lang="ko-KR" altLang="en-US" dirty="0"/>
          </a:p>
        </p:txBody>
      </p:sp>
      <p:pic>
        <p:nvPicPr>
          <p:cNvPr id="6" name="그림 5">
            <a:extLst>
              <a:ext uri="{FF2B5EF4-FFF2-40B4-BE49-F238E27FC236}">
                <a16:creationId xmlns:a16="http://schemas.microsoft.com/office/drawing/2014/main" id="{F2B05938-5D4D-6C78-46C4-577B5B83A640}"/>
              </a:ext>
            </a:extLst>
          </p:cNvPr>
          <p:cNvPicPr>
            <a:picLocks noChangeAspect="1"/>
          </p:cNvPicPr>
          <p:nvPr/>
        </p:nvPicPr>
        <p:blipFill>
          <a:blip r:embed="rId2"/>
          <a:stretch>
            <a:fillRect/>
          </a:stretch>
        </p:blipFill>
        <p:spPr>
          <a:xfrm>
            <a:off x="1142306" y="1684883"/>
            <a:ext cx="7115944" cy="4940292"/>
          </a:xfrm>
          <a:prstGeom prst="rect">
            <a:avLst/>
          </a:prstGeom>
        </p:spPr>
      </p:pic>
    </p:spTree>
    <p:extLst>
      <p:ext uri="{BB962C8B-B14F-4D97-AF65-F5344CB8AC3E}">
        <p14:creationId xmlns:p14="http://schemas.microsoft.com/office/powerpoint/2010/main" val="119902170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09E6B73-0976-43B5-E5E0-F70FF9B74A11}"/>
              </a:ext>
            </a:extLst>
          </p:cNvPr>
          <p:cNvSpPr>
            <a:spLocks noGrp="1"/>
          </p:cNvSpPr>
          <p:nvPr>
            <p:ph type="title"/>
          </p:nvPr>
        </p:nvSpPr>
        <p:spPr/>
        <p:txBody>
          <a:bodyPr/>
          <a:lstStyle/>
          <a:p>
            <a:r>
              <a:rPr lang="en-US" altLang="ko-KR" dirty="0"/>
              <a:t>Experiments</a:t>
            </a:r>
            <a:endParaRPr lang="ko-KR" altLang="en-US" dirty="0"/>
          </a:p>
        </p:txBody>
      </p:sp>
      <p:sp>
        <p:nvSpPr>
          <p:cNvPr id="3" name="내용 개체 틀 2">
            <a:extLst>
              <a:ext uri="{FF2B5EF4-FFF2-40B4-BE49-F238E27FC236}">
                <a16:creationId xmlns:a16="http://schemas.microsoft.com/office/drawing/2014/main" id="{17C64782-6814-CC11-9D6A-F0B582524ED8}"/>
              </a:ext>
            </a:extLst>
          </p:cNvPr>
          <p:cNvSpPr>
            <a:spLocks noGrp="1"/>
          </p:cNvSpPr>
          <p:nvPr>
            <p:ph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62EAE3CC-49E3-7E00-E8C9-A68E5C73552F}"/>
              </a:ext>
            </a:extLst>
          </p:cNvPr>
          <p:cNvSpPr>
            <a:spLocks noGrp="1"/>
          </p:cNvSpPr>
          <p:nvPr>
            <p:ph type="sldNum" sz="quarter" idx="10"/>
          </p:nvPr>
        </p:nvSpPr>
        <p:spPr/>
        <p:txBody>
          <a:bodyPr/>
          <a:lstStyle/>
          <a:p>
            <a:pPr>
              <a:defRPr/>
            </a:pPr>
            <a:fld id="{7092A07C-4710-46A3-9C28-806B597ACB99}" type="slidenum">
              <a:rPr lang="ko-KR" altLang="en-US" smtClean="0"/>
              <a:pPr>
                <a:defRPr/>
              </a:pPr>
              <a:t>22</a:t>
            </a:fld>
            <a:endParaRPr lang="ko-KR" altLang="en-US" dirty="0"/>
          </a:p>
        </p:txBody>
      </p:sp>
      <p:pic>
        <p:nvPicPr>
          <p:cNvPr id="6" name="그림 5">
            <a:extLst>
              <a:ext uri="{FF2B5EF4-FFF2-40B4-BE49-F238E27FC236}">
                <a16:creationId xmlns:a16="http://schemas.microsoft.com/office/drawing/2014/main" id="{77CF9C39-910D-52BD-2C90-B113E92DB198}"/>
              </a:ext>
            </a:extLst>
          </p:cNvPr>
          <p:cNvPicPr>
            <a:picLocks noChangeAspect="1"/>
          </p:cNvPicPr>
          <p:nvPr/>
        </p:nvPicPr>
        <p:blipFill>
          <a:blip r:embed="rId2"/>
          <a:stretch>
            <a:fillRect/>
          </a:stretch>
        </p:blipFill>
        <p:spPr>
          <a:xfrm>
            <a:off x="431540" y="1592796"/>
            <a:ext cx="8100392" cy="4639972"/>
          </a:xfrm>
          <a:prstGeom prst="rect">
            <a:avLst/>
          </a:prstGeom>
        </p:spPr>
      </p:pic>
    </p:spTree>
    <p:extLst>
      <p:ext uri="{BB962C8B-B14F-4D97-AF65-F5344CB8AC3E}">
        <p14:creationId xmlns:p14="http://schemas.microsoft.com/office/powerpoint/2010/main" val="277463544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D159FDC-6067-865D-0FAB-7897EB44B285}"/>
              </a:ext>
            </a:extLst>
          </p:cNvPr>
          <p:cNvSpPr>
            <a:spLocks noGrp="1"/>
          </p:cNvSpPr>
          <p:nvPr>
            <p:ph type="title"/>
          </p:nvPr>
        </p:nvSpPr>
        <p:spPr/>
        <p:txBody>
          <a:bodyPr/>
          <a:lstStyle/>
          <a:p>
            <a:r>
              <a:rPr lang="en-US" altLang="ko-KR" dirty="0"/>
              <a:t>Experiments</a:t>
            </a:r>
            <a:endParaRPr lang="ko-KR" altLang="en-US" dirty="0"/>
          </a:p>
        </p:txBody>
      </p:sp>
      <p:sp>
        <p:nvSpPr>
          <p:cNvPr id="3" name="내용 개체 틀 2">
            <a:extLst>
              <a:ext uri="{FF2B5EF4-FFF2-40B4-BE49-F238E27FC236}">
                <a16:creationId xmlns:a16="http://schemas.microsoft.com/office/drawing/2014/main" id="{CD818EB5-91D7-C64B-0204-BE2A673FBEF8}"/>
              </a:ext>
            </a:extLst>
          </p:cNvPr>
          <p:cNvSpPr>
            <a:spLocks noGrp="1"/>
          </p:cNvSpPr>
          <p:nvPr>
            <p:ph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28491A61-B44E-0A7C-6DE9-66C492BE59CF}"/>
              </a:ext>
            </a:extLst>
          </p:cNvPr>
          <p:cNvSpPr>
            <a:spLocks noGrp="1"/>
          </p:cNvSpPr>
          <p:nvPr>
            <p:ph type="sldNum" sz="quarter" idx="10"/>
          </p:nvPr>
        </p:nvSpPr>
        <p:spPr/>
        <p:txBody>
          <a:bodyPr/>
          <a:lstStyle/>
          <a:p>
            <a:pPr>
              <a:defRPr/>
            </a:pPr>
            <a:fld id="{7092A07C-4710-46A3-9C28-806B597ACB99}" type="slidenum">
              <a:rPr lang="ko-KR" altLang="en-US" smtClean="0"/>
              <a:pPr>
                <a:defRPr/>
              </a:pPr>
              <a:t>23</a:t>
            </a:fld>
            <a:endParaRPr lang="ko-KR" altLang="en-US" dirty="0"/>
          </a:p>
        </p:txBody>
      </p:sp>
      <p:pic>
        <p:nvPicPr>
          <p:cNvPr id="6" name="그림 5">
            <a:extLst>
              <a:ext uri="{FF2B5EF4-FFF2-40B4-BE49-F238E27FC236}">
                <a16:creationId xmlns:a16="http://schemas.microsoft.com/office/drawing/2014/main" id="{ECABE5DC-FD81-DE9C-2555-ADE4295BBD45}"/>
              </a:ext>
            </a:extLst>
          </p:cNvPr>
          <p:cNvPicPr>
            <a:picLocks noChangeAspect="1"/>
          </p:cNvPicPr>
          <p:nvPr/>
        </p:nvPicPr>
        <p:blipFill>
          <a:blip r:embed="rId2"/>
          <a:stretch>
            <a:fillRect/>
          </a:stretch>
        </p:blipFill>
        <p:spPr>
          <a:xfrm>
            <a:off x="142844" y="2132856"/>
            <a:ext cx="8786874" cy="2946302"/>
          </a:xfrm>
          <a:prstGeom prst="rect">
            <a:avLst/>
          </a:prstGeom>
        </p:spPr>
      </p:pic>
    </p:spTree>
    <p:extLst>
      <p:ext uri="{BB962C8B-B14F-4D97-AF65-F5344CB8AC3E}">
        <p14:creationId xmlns:p14="http://schemas.microsoft.com/office/powerpoint/2010/main" val="70954858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7CD901-3AD8-E91B-140F-95584828D6F9}"/>
              </a:ext>
            </a:extLst>
          </p:cNvPr>
          <p:cNvSpPr>
            <a:spLocks noGrp="1"/>
          </p:cNvSpPr>
          <p:nvPr>
            <p:ph type="title"/>
          </p:nvPr>
        </p:nvSpPr>
        <p:spPr/>
        <p:txBody>
          <a:bodyPr/>
          <a:lstStyle/>
          <a:p>
            <a:r>
              <a:rPr lang="en-US" altLang="ko-KR" dirty="0"/>
              <a:t>Ablation Studies</a:t>
            </a:r>
            <a:endParaRPr lang="ko-KR" altLang="en-US" dirty="0"/>
          </a:p>
        </p:txBody>
      </p:sp>
      <p:sp>
        <p:nvSpPr>
          <p:cNvPr id="3" name="내용 개체 틀 2">
            <a:extLst>
              <a:ext uri="{FF2B5EF4-FFF2-40B4-BE49-F238E27FC236}">
                <a16:creationId xmlns:a16="http://schemas.microsoft.com/office/drawing/2014/main" id="{DED6DA25-86E7-26D8-97E4-D3D0101AFCCE}"/>
              </a:ext>
            </a:extLst>
          </p:cNvPr>
          <p:cNvSpPr>
            <a:spLocks noGrp="1"/>
          </p:cNvSpPr>
          <p:nvPr>
            <p:ph idx="1"/>
          </p:nvPr>
        </p:nvSpPr>
        <p:spPr/>
        <p:txBody>
          <a:bodyPr/>
          <a:lstStyle/>
          <a:p>
            <a:r>
              <a:rPr lang="en-US" altLang="ko-KR" dirty="0"/>
              <a:t>Sequence construction</a:t>
            </a:r>
            <a:endParaRPr lang="ko-KR" altLang="en-US" dirty="0"/>
          </a:p>
        </p:txBody>
      </p:sp>
      <p:sp>
        <p:nvSpPr>
          <p:cNvPr id="4" name="슬라이드 번호 개체 틀 3">
            <a:extLst>
              <a:ext uri="{FF2B5EF4-FFF2-40B4-BE49-F238E27FC236}">
                <a16:creationId xmlns:a16="http://schemas.microsoft.com/office/drawing/2014/main" id="{FF2ED35C-8A22-4897-5A32-3B6AC3758BF5}"/>
              </a:ext>
            </a:extLst>
          </p:cNvPr>
          <p:cNvSpPr>
            <a:spLocks noGrp="1"/>
          </p:cNvSpPr>
          <p:nvPr>
            <p:ph type="sldNum" sz="quarter" idx="10"/>
          </p:nvPr>
        </p:nvSpPr>
        <p:spPr/>
        <p:txBody>
          <a:bodyPr/>
          <a:lstStyle/>
          <a:p>
            <a:pPr>
              <a:defRPr/>
            </a:pPr>
            <a:fld id="{7092A07C-4710-46A3-9C28-806B597ACB99}" type="slidenum">
              <a:rPr lang="ko-KR" altLang="en-US" smtClean="0"/>
              <a:pPr>
                <a:defRPr/>
              </a:pPr>
              <a:t>24</a:t>
            </a:fld>
            <a:endParaRPr lang="ko-KR" altLang="en-US" dirty="0"/>
          </a:p>
        </p:txBody>
      </p:sp>
      <p:pic>
        <p:nvPicPr>
          <p:cNvPr id="6" name="그림 5">
            <a:extLst>
              <a:ext uri="{FF2B5EF4-FFF2-40B4-BE49-F238E27FC236}">
                <a16:creationId xmlns:a16="http://schemas.microsoft.com/office/drawing/2014/main" id="{B5CCDAEE-4216-4D27-0671-F68B9389C23B}"/>
              </a:ext>
            </a:extLst>
          </p:cNvPr>
          <p:cNvPicPr>
            <a:picLocks noChangeAspect="1"/>
          </p:cNvPicPr>
          <p:nvPr/>
        </p:nvPicPr>
        <p:blipFill>
          <a:blip r:embed="rId2"/>
          <a:stretch>
            <a:fillRect/>
          </a:stretch>
        </p:blipFill>
        <p:spPr>
          <a:xfrm>
            <a:off x="151845" y="1952836"/>
            <a:ext cx="8786874" cy="3559407"/>
          </a:xfrm>
          <a:prstGeom prst="rect">
            <a:avLst/>
          </a:prstGeom>
        </p:spPr>
      </p:pic>
    </p:spTree>
    <p:extLst>
      <p:ext uri="{BB962C8B-B14F-4D97-AF65-F5344CB8AC3E}">
        <p14:creationId xmlns:p14="http://schemas.microsoft.com/office/powerpoint/2010/main" val="114581298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48BA74-D5B7-155E-24D2-01F44F9BECFC}"/>
              </a:ext>
            </a:extLst>
          </p:cNvPr>
          <p:cNvSpPr>
            <a:spLocks noGrp="1"/>
          </p:cNvSpPr>
          <p:nvPr>
            <p:ph type="title"/>
          </p:nvPr>
        </p:nvSpPr>
        <p:spPr/>
        <p:txBody>
          <a:bodyPr/>
          <a:lstStyle/>
          <a:p>
            <a:r>
              <a:rPr lang="en-US" altLang="ko-KR" dirty="0"/>
              <a:t>Ablation Studies</a:t>
            </a:r>
            <a:endParaRPr lang="ko-KR" altLang="en-US" dirty="0"/>
          </a:p>
        </p:txBody>
      </p:sp>
      <p:sp>
        <p:nvSpPr>
          <p:cNvPr id="3" name="내용 개체 틀 2">
            <a:extLst>
              <a:ext uri="{FF2B5EF4-FFF2-40B4-BE49-F238E27FC236}">
                <a16:creationId xmlns:a16="http://schemas.microsoft.com/office/drawing/2014/main" id="{4A92E139-29F6-3448-C3E6-6EE47DF8A5D0}"/>
              </a:ext>
            </a:extLst>
          </p:cNvPr>
          <p:cNvSpPr>
            <a:spLocks noGrp="1"/>
          </p:cNvSpPr>
          <p:nvPr>
            <p:ph idx="1"/>
          </p:nvPr>
        </p:nvSpPr>
        <p:spPr/>
        <p:txBody>
          <a:bodyPr/>
          <a:lstStyle/>
          <a:p>
            <a:r>
              <a:rPr lang="en-US" altLang="ko-KR" dirty="0"/>
              <a:t>Sequence augmentation </a:t>
            </a:r>
            <a:endParaRPr lang="ko-KR" altLang="en-US" dirty="0"/>
          </a:p>
        </p:txBody>
      </p:sp>
      <p:sp>
        <p:nvSpPr>
          <p:cNvPr id="4" name="슬라이드 번호 개체 틀 3">
            <a:extLst>
              <a:ext uri="{FF2B5EF4-FFF2-40B4-BE49-F238E27FC236}">
                <a16:creationId xmlns:a16="http://schemas.microsoft.com/office/drawing/2014/main" id="{09AE9906-4A8F-2F76-1DA8-B53B8DCF9B00}"/>
              </a:ext>
            </a:extLst>
          </p:cNvPr>
          <p:cNvSpPr>
            <a:spLocks noGrp="1"/>
          </p:cNvSpPr>
          <p:nvPr>
            <p:ph type="sldNum" sz="quarter" idx="10"/>
          </p:nvPr>
        </p:nvSpPr>
        <p:spPr/>
        <p:txBody>
          <a:bodyPr/>
          <a:lstStyle/>
          <a:p>
            <a:pPr>
              <a:defRPr/>
            </a:pPr>
            <a:fld id="{7092A07C-4710-46A3-9C28-806B597ACB99}" type="slidenum">
              <a:rPr lang="ko-KR" altLang="en-US" smtClean="0"/>
              <a:pPr>
                <a:defRPr/>
              </a:pPr>
              <a:t>25</a:t>
            </a:fld>
            <a:endParaRPr lang="ko-KR" altLang="en-US" dirty="0"/>
          </a:p>
        </p:txBody>
      </p:sp>
      <p:pic>
        <p:nvPicPr>
          <p:cNvPr id="6" name="그림 5">
            <a:extLst>
              <a:ext uri="{FF2B5EF4-FFF2-40B4-BE49-F238E27FC236}">
                <a16:creationId xmlns:a16="http://schemas.microsoft.com/office/drawing/2014/main" id="{115D59FA-38C5-2412-6410-08ADB4F439C1}"/>
              </a:ext>
            </a:extLst>
          </p:cNvPr>
          <p:cNvPicPr>
            <a:picLocks noChangeAspect="1"/>
          </p:cNvPicPr>
          <p:nvPr/>
        </p:nvPicPr>
        <p:blipFill>
          <a:blip r:embed="rId2"/>
          <a:stretch>
            <a:fillRect/>
          </a:stretch>
        </p:blipFill>
        <p:spPr>
          <a:xfrm>
            <a:off x="248336" y="1880828"/>
            <a:ext cx="8532440" cy="3749595"/>
          </a:xfrm>
          <a:prstGeom prst="rect">
            <a:avLst/>
          </a:prstGeom>
        </p:spPr>
      </p:pic>
    </p:spTree>
    <p:extLst>
      <p:ext uri="{BB962C8B-B14F-4D97-AF65-F5344CB8AC3E}">
        <p14:creationId xmlns:p14="http://schemas.microsoft.com/office/powerpoint/2010/main" val="144415499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68EC831-E898-F1CA-5254-269BCD3F6944}"/>
              </a:ext>
            </a:extLst>
          </p:cNvPr>
          <p:cNvSpPr>
            <a:spLocks noGrp="1"/>
          </p:cNvSpPr>
          <p:nvPr>
            <p:ph type="title"/>
          </p:nvPr>
        </p:nvSpPr>
        <p:spPr/>
        <p:txBody>
          <a:bodyPr/>
          <a:lstStyle/>
          <a:p>
            <a:r>
              <a:rPr lang="en-US" altLang="ko-KR" dirty="0"/>
              <a:t>Ablation Studies</a:t>
            </a:r>
            <a:endParaRPr lang="ko-KR" altLang="en-US" dirty="0"/>
          </a:p>
        </p:txBody>
      </p:sp>
      <p:sp>
        <p:nvSpPr>
          <p:cNvPr id="3" name="내용 개체 틀 2">
            <a:extLst>
              <a:ext uri="{FF2B5EF4-FFF2-40B4-BE49-F238E27FC236}">
                <a16:creationId xmlns:a16="http://schemas.microsoft.com/office/drawing/2014/main" id="{B83E4818-120E-6B45-81A0-F46AD5FDA90C}"/>
              </a:ext>
            </a:extLst>
          </p:cNvPr>
          <p:cNvSpPr>
            <a:spLocks noGrp="1"/>
          </p:cNvSpPr>
          <p:nvPr>
            <p:ph idx="1"/>
          </p:nvPr>
        </p:nvSpPr>
        <p:spPr/>
        <p:txBody>
          <a:bodyPr/>
          <a:lstStyle/>
          <a:p>
            <a:r>
              <a:rPr lang="en-US" altLang="ko-KR" dirty="0"/>
              <a:t>Inference: Argmax (p=0) vs Nucleus Sample [9]</a:t>
            </a:r>
            <a:endParaRPr lang="ko-KR" altLang="en-US" dirty="0"/>
          </a:p>
        </p:txBody>
      </p:sp>
      <p:sp>
        <p:nvSpPr>
          <p:cNvPr id="4" name="슬라이드 번호 개체 틀 3">
            <a:extLst>
              <a:ext uri="{FF2B5EF4-FFF2-40B4-BE49-F238E27FC236}">
                <a16:creationId xmlns:a16="http://schemas.microsoft.com/office/drawing/2014/main" id="{D25CE756-3375-BF28-DE26-EB6967B4F3CA}"/>
              </a:ext>
            </a:extLst>
          </p:cNvPr>
          <p:cNvSpPr>
            <a:spLocks noGrp="1"/>
          </p:cNvSpPr>
          <p:nvPr>
            <p:ph type="sldNum" sz="quarter" idx="10"/>
          </p:nvPr>
        </p:nvSpPr>
        <p:spPr/>
        <p:txBody>
          <a:bodyPr/>
          <a:lstStyle/>
          <a:p>
            <a:pPr>
              <a:defRPr/>
            </a:pPr>
            <a:fld id="{7092A07C-4710-46A3-9C28-806B597ACB99}" type="slidenum">
              <a:rPr lang="ko-KR" altLang="en-US" smtClean="0"/>
              <a:pPr>
                <a:defRPr/>
              </a:pPr>
              <a:t>26</a:t>
            </a:fld>
            <a:endParaRPr lang="ko-KR" altLang="en-US" dirty="0"/>
          </a:p>
        </p:txBody>
      </p:sp>
      <p:pic>
        <p:nvPicPr>
          <p:cNvPr id="6" name="그림 5">
            <a:extLst>
              <a:ext uri="{FF2B5EF4-FFF2-40B4-BE49-F238E27FC236}">
                <a16:creationId xmlns:a16="http://schemas.microsoft.com/office/drawing/2014/main" id="{27D0BE3D-6F2A-A45C-7EA7-9FB1A8BC4DBC}"/>
              </a:ext>
            </a:extLst>
          </p:cNvPr>
          <p:cNvPicPr>
            <a:picLocks noChangeAspect="1"/>
          </p:cNvPicPr>
          <p:nvPr/>
        </p:nvPicPr>
        <p:blipFill>
          <a:blip r:embed="rId2"/>
          <a:stretch>
            <a:fillRect/>
          </a:stretch>
        </p:blipFill>
        <p:spPr>
          <a:xfrm>
            <a:off x="296627" y="2204864"/>
            <a:ext cx="8532440" cy="3296624"/>
          </a:xfrm>
          <a:prstGeom prst="rect">
            <a:avLst/>
          </a:prstGeom>
        </p:spPr>
      </p:pic>
    </p:spTree>
    <p:extLst>
      <p:ext uri="{BB962C8B-B14F-4D97-AF65-F5344CB8AC3E}">
        <p14:creationId xmlns:p14="http://schemas.microsoft.com/office/powerpoint/2010/main" val="91405742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AE2BF2C-85B3-DC5B-9B37-F2BB90FDFCB8}"/>
              </a:ext>
            </a:extLst>
          </p:cNvPr>
          <p:cNvSpPr>
            <a:spLocks noGrp="1"/>
          </p:cNvSpPr>
          <p:nvPr>
            <p:ph type="title"/>
          </p:nvPr>
        </p:nvSpPr>
        <p:spPr/>
        <p:txBody>
          <a:bodyPr/>
          <a:lstStyle/>
          <a:p>
            <a:r>
              <a:rPr lang="en-US" altLang="ko-KR" dirty="0"/>
              <a:t>Attention map visualization</a:t>
            </a:r>
            <a:endParaRPr lang="ko-KR" altLang="en-US" dirty="0"/>
          </a:p>
        </p:txBody>
      </p:sp>
      <p:sp>
        <p:nvSpPr>
          <p:cNvPr id="3" name="내용 개체 틀 2">
            <a:extLst>
              <a:ext uri="{FF2B5EF4-FFF2-40B4-BE49-F238E27FC236}">
                <a16:creationId xmlns:a16="http://schemas.microsoft.com/office/drawing/2014/main" id="{ADF9F03A-2879-AF81-6F59-631A2DF766D1}"/>
              </a:ext>
            </a:extLst>
          </p:cNvPr>
          <p:cNvSpPr>
            <a:spLocks noGrp="1"/>
          </p:cNvSpPr>
          <p:nvPr>
            <p:ph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6EF9B7B8-4405-76AA-71BD-349B0C6A3484}"/>
              </a:ext>
            </a:extLst>
          </p:cNvPr>
          <p:cNvSpPr>
            <a:spLocks noGrp="1"/>
          </p:cNvSpPr>
          <p:nvPr>
            <p:ph type="sldNum" sz="quarter" idx="10"/>
          </p:nvPr>
        </p:nvSpPr>
        <p:spPr/>
        <p:txBody>
          <a:bodyPr/>
          <a:lstStyle/>
          <a:p>
            <a:pPr>
              <a:defRPr/>
            </a:pPr>
            <a:fld id="{7092A07C-4710-46A3-9C28-806B597ACB99}" type="slidenum">
              <a:rPr lang="ko-KR" altLang="en-US" smtClean="0"/>
              <a:pPr>
                <a:defRPr/>
              </a:pPr>
              <a:t>27</a:t>
            </a:fld>
            <a:endParaRPr lang="ko-KR" altLang="en-US" dirty="0"/>
          </a:p>
        </p:txBody>
      </p:sp>
      <p:pic>
        <p:nvPicPr>
          <p:cNvPr id="6" name="그림 5">
            <a:extLst>
              <a:ext uri="{FF2B5EF4-FFF2-40B4-BE49-F238E27FC236}">
                <a16:creationId xmlns:a16="http://schemas.microsoft.com/office/drawing/2014/main" id="{89A32F2C-81F0-A760-DA63-0E180348D50F}"/>
              </a:ext>
            </a:extLst>
          </p:cNvPr>
          <p:cNvPicPr>
            <a:picLocks noChangeAspect="1"/>
          </p:cNvPicPr>
          <p:nvPr/>
        </p:nvPicPr>
        <p:blipFill>
          <a:blip r:embed="rId2"/>
          <a:stretch>
            <a:fillRect/>
          </a:stretch>
        </p:blipFill>
        <p:spPr>
          <a:xfrm>
            <a:off x="473125" y="1880828"/>
            <a:ext cx="8280412" cy="4278468"/>
          </a:xfrm>
          <a:prstGeom prst="rect">
            <a:avLst/>
          </a:prstGeom>
        </p:spPr>
      </p:pic>
    </p:spTree>
    <p:extLst>
      <p:ext uri="{BB962C8B-B14F-4D97-AF65-F5344CB8AC3E}">
        <p14:creationId xmlns:p14="http://schemas.microsoft.com/office/powerpoint/2010/main" val="196451556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BBFB0E8-9167-2F7E-2650-306BECD1B3F2}"/>
              </a:ext>
            </a:extLst>
          </p:cNvPr>
          <p:cNvSpPr>
            <a:spLocks noGrp="1"/>
          </p:cNvSpPr>
          <p:nvPr>
            <p:ph type="title"/>
          </p:nvPr>
        </p:nvSpPr>
        <p:spPr/>
        <p:txBody>
          <a:bodyPr/>
          <a:lstStyle/>
          <a:p>
            <a:r>
              <a:rPr lang="en-US" altLang="ko-KR" dirty="0"/>
              <a:t>Q &amp; A </a:t>
            </a:r>
            <a:endParaRPr lang="ko-KR" altLang="en-US" dirty="0"/>
          </a:p>
        </p:txBody>
      </p:sp>
      <p:sp>
        <p:nvSpPr>
          <p:cNvPr id="3" name="내용 개체 틀 2">
            <a:extLst>
              <a:ext uri="{FF2B5EF4-FFF2-40B4-BE49-F238E27FC236}">
                <a16:creationId xmlns:a16="http://schemas.microsoft.com/office/drawing/2014/main" id="{BEFD6EDF-8F93-49B9-ACFC-B71555BE8AA9}"/>
              </a:ext>
            </a:extLst>
          </p:cNvPr>
          <p:cNvSpPr>
            <a:spLocks noGrp="1"/>
          </p:cNvSpPr>
          <p:nvPr>
            <p:ph idx="1"/>
          </p:nvPr>
        </p:nvSpPr>
        <p:spPr/>
        <p:txBody>
          <a:bodyPr/>
          <a:lstStyle/>
          <a:p>
            <a:pPr marL="0" indent="0" algn="ctr">
              <a:buNone/>
            </a:pPr>
            <a:endParaRPr lang="en-US" altLang="ko-KR" sz="3200" dirty="0"/>
          </a:p>
          <a:p>
            <a:pPr marL="0" indent="0" algn="ctr">
              <a:buNone/>
            </a:pPr>
            <a:endParaRPr lang="en-US" altLang="ko-KR" sz="5400" dirty="0"/>
          </a:p>
          <a:p>
            <a:pPr marL="0" indent="0" algn="ctr">
              <a:buNone/>
            </a:pPr>
            <a:r>
              <a:rPr lang="en-US" altLang="ko-KR" sz="11500" dirty="0"/>
              <a:t>Q &amp; A</a:t>
            </a:r>
            <a:endParaRPr lang="ko-KR" altLang="en-US" sz="11500" dirty="0"/>
          </a:p>
        </p:txBody>
      </p:sp>
      <p:sp>
        <p:nvSpPr>
          <p:cNvPr id="4" name="슬라이드 번호 개체 틀 3">
            <a:extLst>
              <a:ext uri="{FF2B5EF4-FFF2-40B4-BE49-F238E27FC236}">
                <a16:creationId xmlns:a16="http://schemas.microsoft.com/office/drawing/2014/main" id="{582E1E55-853F-3733-A86C-E5DA5C9DAEC1}"/>
              </a:ext>
            </a:extLst>
          </p:cNvPr>
          <p:cNvSpPr>
            <a:spLocks noGrp="1"/>
          </p:cNvSpPr>
          <p:nvPr>
            <p:ph type="sldNum" sz="quarter" idx="10"/>
          </p:nvPr>
        </p:nvSpPr>
        <p:spPr/>
        <p:txBody>
          <a:bodyPr/>
          <a:lstStyle/>
          <a:p>
            <a:pPr>
              <a:defRPr/>
            </a:pPr>
            <a:fld id="{7092A07C-4710-46A3-9C28-806B597ACB99}" type="slidenum">
              <a:rPr lang="ko-KR" altLang="en-US" smtClean="0"/>
              <a:pPr>
                <a:defRPr/>
              </a:pPr>
              <a:t>28</a:t>
            </a:fld>
            <a:endParaRPr lang="ko-KR" altLang="en-US" dirty="0"/>
          </a:p>
        </p:txBody>
      </p:sp>
    </p:spTree>
    <p:extLst>
      <p:ext uri="{BB962C8B-B14F-4D97-AF65-F5344CB8AC3E}">
        <p14:creationId xmlns:p14="http://schemas.microsoft.com/office/powerpoint/2010/main" val="106282640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937522-4078-B5BE-3796-FC99D563FAB8}"/>
              </a:ext>
            </a:extLst>
          </p:cNvPr>
          <p:cNvSpPr>
            <a:spLocks noGrp="1"/>
          </p:cNvSpPr>
          <p:nvPr>
            <p:ph type="title"/>
          </p:nvPr>
        </p:nvSpPr>
        <p:spPr/>
        <p:txBody>
          <a:bodyPr/>
          <a:lstStyle/>
          <a:p>
            <a:r>
              <a:rPr lang="en-US" altLang="ko-KR" dirty="0"/>
              <a:t>References </a:t>
            </a:r>
            <a:endParaRPr lang="ko-KR" altLang="en-US" dirty="0"/>
          </a:p>
        </p:txBody>
      </p:sp>
      <p:sp>
        <p:nvSpPr>
          <p:cNvPr id="3" name="내용 개체 틀 2">
            <a:extLst>
              <a:ext uri="{FF2B5EF4-FFF2-40B4-BE49-F238E27FC236}">
                <a16:creationId xmlns:a16="http://schemas.microsoft.com/office/drawing/2014/main" id="{9D0C955A-D604-683E-36E1-03D7540CCC1E}"/>
              </a:ext>
            </a:extLst>
          </p:cNvPr>
          <p:cNvSpPr>
            <a:spLocks noGrp="1"/>
          </p:cNvSpPr>
          <p:nvPr>
            <p:ph idx="1"/>
          </p:nvPr>
        </p:nvSpPr>
        <p:spPr/>
        <p:txBody>
          <a:bodyPr/>
          <a:lstStyle/>
          <a:p>
            <a:pPr marL="457200" indent="-457200">
              <a:buFont typeface="+mj-lt"/>
              <a:buAutoNum type="arabicPeriod"/>
            </a:pPr>
            <a:r>
              <a:rPr lang="en-US" altLang="ko-KR" sz="1200" b="0" dirty="0">
                <a:latin typeface="Arial" panose="020B0604020202020204" pitchFamily="34" charset="0"/>
                <a:cs typeface="Arial" panose="020B0604020202020204" pitchFamily="34" charset="0"/>
                <a:hlinkClick r:id="rId2"/>
              </a:rPr>
              <a:t>https://ai.googleblog.com/2022/04/pix2seq-new-language-interface-for.html</a:t>
            </a:r>
            <a:endParaRPr lang="en-US" altLang="ko-KR" sz="1200" b="0" dirty="0">
              <a:latin typeface="Arial" panose="020B0604020202020204" pitchFamily="34" charset="0"/>
              <a:cs typeface="Arial" panose="020B0604020202020204" pitchFamily="34" charset="0"/>
            </a:endParaRPr>
          </a:p>
          <a:p>
            <a:pPr marL="457200" indent="-457200">
              <a:buFont typeface="+mj-lt"/>
              <a:buAutoNum type="arabicPeriod"/>
            </a:pPr>
            <a:r>
              <a:rPr lang="en-US" altLang="ko-KR" sz="1200" b="0" i="0" dirty="0" err="1">
                <a:solidFill>
                  <a:srgbClr val="222222"/>
                </a:solidFill>
                <a:effectLst/>
                <a:latin typeface="Arial" panose="020B0604020202020204" pitchFamily="34" charset="0"/>
                <a:cs typeface="Arial" panose="020B0604020202020204" pitchFamily="34" charset="0"/>
              </a:rPr>
              <a:t>Girshick</a:t>
            </a:r>
            <a:r>
              <a:rPr lang="en-US" altLang="ko-KR" sz="1200" b="0" i="0" dirty="0">
                <a:solidFill>
                  <a:srgbClr val="222222"/>
                </a:solidFill>
                <a:effectLst/>
                <a:latin typeface="Arial" panose="020B0604020202020204" pitchFamily="34" charset="0"/>
                <a:cs typeface="Arial" panose="020B0604020202020204" pitchFamily="34" charset="0"/>
              </a:rPr>
              <a:t>, Ross. "Fast r-</a:t>
            </a:r>
            <a:r>
              <a:rPr lang="en-US" altLang="ko-KR" sz="1200" b="0" i="0" dirty="0" err="1">
                <a:solidFill>
                  <a:srgbClr val="222222"/>
                </a:solidFill>
                <a:effectLst/>
                <a:latin typeface="Arial" panose="020B0604020202020204" pitchFamily="34" charset="0"/>
                <a:cs typeface="Arial" panose="020B0604020202020204" pitchFamily="34" charset="0"/>
              </a:rPr>
              <a:t>cnn</a:t>
            </a:r>
            <a:r>
              <a:rPr lang="en-US" altLang="ko-KR" sz="1200" b="0" i="0" dirty="0">
                <a:solidFill>
                  <a:srgbClr val="222222"/>
                </a:solidFill>
                <a:effectLst/>
                <a:latin typeface="Arial" panose="020B0604020202020204" pitchFamily="34" charset="0"/>
                <a:cs typeface="Arial" panose="020B0604020202020204" pitchFamily="34" charset="0"/>
              </a:rPr>
              <a:t>." </a:t>
            </a:r>
            <a:r>
              <a:rPr lang="en-US" altLang="ko-KR" sz="1200" b="0" i="1" dirty="0">
                <a:solidFill>
                  <a:srgbClr val="222222"/>
                </a:solidFill>
                <a:effectLst/>
                <a:latin typeface="Arial" panose="020B0604020202020204" pitchFamily="34" charset="0"/>
                <a:cs typeface="Arial" panose="020B0604020202020204" pitchFamily="34" charset="0"/>
              </a:rPr>
              <a:t>Proceedings of the IEEE international conference on computer vision</a:t>
            </a:r>
            <a:r>
              <a:rPr lang="en-US" altLang="ko-KR" sz="1200" b="0" i="0" dirty="0">
                <a:solidFill>
                  <a:srgbClr val="222222"/>
                </a:solidFill>
                <a:effectLst/>
                <a:latin typeface="Arial" panose="020B0604020202020204" pitchFamily="34" charset="0"/>
                <a:cs typeface="Arial" panose="020B0604020202020204" pitchFamily="34" charset="0"/>
              </a:rPr>
              <a:t>. 2015.</a:t>
            </a:r>
          </a:p>
          <a:p>
            <a:pPr marL="457200" indent="-457200">
              <a:buFont typeface="+mj-lt"/>
              <a:buAutoNum type="arabicPeriod"/>
            </a:pPr>
            <a:r>
              <a:rPr lang="en-US" altLang="ko-KR" sz="1200" b="0" i="0" dirty="0">
                <a:solidFill>
                  <a:srgbClr val="222222"/>
                </a:solidFill>
                <a:effectLst/>
                <a:latin typeface="Arial" panose="020B0604020202020204" pitchFamily="34" charset="0"/>
                <a:cs typeface="Arial" panose="020B0604020202020204" pitchFamily="34" charset="0"/>
              </a:rPr>
              <a:t>Tian, </a:t>
            </a:r>
            <a:r>
              <a:rPr lang="en-US" altLang="ko-KR" sz="1200" b="0" i="0" dirty="0" err="1">
                <a:solidFill>
                  <a:srgbClr val="222222"/>
                </a:solidFill>
                <a:effectLst/>
                <a:latin typeface="Arial" panose="020B0604020202020204" pitchFamily="34" charset="0"/>
                <a:cs typeface="Arial" panose="020B0604020202020204" pitchFamily="34" charset="0"/>
              </a:rPr>
              <a:t>Zhi</a:t>
            </a:r>
            <a:r>
              <a:rPr lang="en-US" altLang="ko-KR" sz="1200" b="0" i="0" dirty="0">
                <a:solidFill>
                  <a:srgbClr val="222222"/>
                </a:solidFill>
                <a:effectLst/>
                <a:latin typeface="Arial" panose="020B0604020202020204" pitchFamily="34" charset="0"/>
                <a:cs typeface="Arial" panose="020B0604020202020204" pitchFamily="34" charset="0"/>
              </a:rPr>
              <a:t>, et al. "</a:t>
            </a:r>
            <a:r>
              <a:rPr lang="en-US" altLang="ko-KR" sz="1200" b="0" i="0" dirty="0" err="1">
                <a:solidFill>
                  <a:srgbClr val="222222"/>
                </a:solidFill>
                <a:effectLst/>
                <a:latin typeface="Arial" panose="020B0604020202020204" pitchFamily="34" charset="0"/>
                <a:cs typeface="Arial" panose="020B0604020202020204" pitchFamily="34" charset="0"/>
              </a:rPr>
              <a:t>Fcos</a:t>
            </a:r>
            <a:r>
              <a:rPr lang="en-US" altLang="ko-KR" sz="1200" b="0" i="0" dirty="0">
                <a:solidFill>
                  <a:srgbClr val="222222"/>
                </a:solidFill>
                <a:effectLst/>
                <a:latin typeface="Arial" panose="020B0604020202020204" pitchFamily="34" charset="0"/>
                <a:cs typeface="Arial" panose="020B0604020202020204" pitchFamily="34" charset="0"/>
              </a:rPr>
              <a:t>: Fully convolutional one-stage object detection." </a:t>
            </a:r>
            <a:r>
              <a:rPr lang="en-US" altLang="ko-KR" sz="1200" b="0" i="1" dirty="0">
                <a:solidFill>
                  <a:srgbClr val="222222"/>
                </a:solidFill>
                <a:effectLst/>
                <a:latin typeface="Arial" panose="020B0604020202020204" pitchFamily="34" charset="0"/>
                <a:cs typeface="Arial" panose="020B0604020202020204" pitchFamily="34" charset="0"/>
              </a:rPr>
              <a:t>Proceedings of the IEEE/CVF international conference on computer vision</a:t>
            </a:r>
            <a:r>
              <a:rPr lang="en-US" altLang="ko-KR" sz="1200" b="0" i="0" dirty="0">
                <a:solidFill>
                  <a:srgbClr val="222222"/>
                </a:solidFill>
                <a:effectLst/>
                <a:latin typeface="Arial" panose="020B0604020202020204" pitchFamily="34" charset="0"/>
                <a:cs typeface="Arial" panose="020B0604020202020204" pitchFamily="34" charset="0"/>
              </a:rPr>
              <a:t>. 2019.</a:t>
            </a:r>
            <a:endParaRPr lang="en-US" altLang="ko-KR" sz="1200" b="0" dirty="0">
              <a:solidFill>
                <a:srgbClr val="222222"/>
              </a:solidFill>
              <a:latin typeface="Arial" panose="020B0604020202020204" pitchFamily="34" charset="0"/>
              <a:cs typeface="Arial" panose="020B0604020202020204" pitchFamily="34" charset="0"/>
            </a:endParaRPr>
          </a:p>
          <a:p>
            <a:pPr marL="457200" indent="-457200">
              <a:buFont typeface="+mj-lt"/>
              <a:buAutoNum type="arabicPeriod"/>
            </a:pPr>
            <a:r>
              <a:rPr lang="en-US" altLang="ko-KR" sz="1200" b="0" i="0" dirty="0">
                <a:solidFill>
                  <a:srgbClr val="222222"/>
                </a:solidFill>
                <a:effectLst/>
                <a:latin typeface="Arial" panose="020B0604020202020204" pitchFamily="34" charset="0"/>
                <a:cs typeface="Arial" panose="020B0604020202020204" pitchFamily="34" charset="0"/>
              </a:rPr>
              <a:t>Lin, Tsung-Yi, et al. "Feature pyramid networks for object detection." </a:t>
            </a:r>
            <a:r>
              <a:rPr lang="en-US" altLang="ko-KR" sz="1200" b="0" i="1" dirty="0">
                <a:solidFill>
                  <a:srgbClr val="222222"/>
                </a:solidFill>
                <a:effectLst/>
                <a:latin typeface="Arial" panose="020B0604020202020204" pitchFamily="34" charset="0"/>
                <a:cs typeface="Arial" panose="020B0604020202020204" pitchFamily="34" charset="0"/>
              </a:rPr>
              <a:t>Proceedings of the IEEE conference on computer vision and pattern recognition</a:t>
            </a:r>
            <a:r>
              <a:rPr lang="en-US" altLang="ko-KR" sz="1200" b="0" i="0" dirty="0">
                <a:solidFill>
                  <a:srgbClr val="222222"/>
                </a:solidFill>
                <a:effectLst/>
                <a:latin typeface="Arial" panose="020B0604020202020204" pitchFamily="34" charset="0"/>
                <a:cs typeface="Arial" panose="020B0604020202020204" pitchFamily="34" charset="0"/>
              </a:rPr>
              <a:t>. 2017.</a:t>
            </a:r>
          </a:p>
          <a:p>
            <a:pPr marL="457200" indent="-457200">
              <a:buFont typeface="+mj-lt"/>
              <a:buAutoNum type="arabicPeriod"/>
            </a:pPr>
            <a:r>
              <a:rPr lang="en-US" altLang="ko-KR" sz="1200" b="0" i="0" dirty="0">
                <a:solidFill>
                  <a:srgbClr val="222222"/>
                </a:solidFill>
                <a:effectLst/>
                <a:latin typeface="Arial" panose="020B0604020202020204" pitchFamily="34" charset="0"/>
              </a:rPr>
              <a:t>Redmon, Joseph, et al. "You only look once: Unified, real-time object detection." </a:t>
            </a:r>
            <a:r>
              <a:rPr lang="en-US" altLang="ko-KR" sz="1200" b="0" i="1" dirty="0">
                <a:solidFill>
                  <a:srgbClr val="222222"/>
                </a:solidFill>
                <a:effectLst/>
                <a:latin typeface="Arial" panose="020B0604020202020204" pitchFamily="34" charset="0"/>
              </a:rPr>
              <a:t>Proceedings of the IEEE conference on computer vision and pattern recognition</a:t>
            </a:r>
            <a:r>
              <a:rPr lang="en-US" altLang="ko-KR" sz="1200" b="0" i="0" dirty="0">
                <a:solidFill>
                  <a:srgbClr val="222222"/>
                </a:solidFill>
                <a:effectLst/>
                <a:latin typeface="Arial" panose="020B0604020202020204" pitchFamily="34" charset="0"/>
              </a:rPr>
              <a:t>. 2016.</a:t>
            </a:r>
          </a:p>
          <a:p>
            <a:pPr marL="457200" indent="-457200">
              <a:buFont typeface="+mj-lt"/>
              <a:buAutoNum type="arabicPeriod"/>
            </a:pPr>
            <a:r>
              <a:rPr lang="en-US" altLang="ko-KR" sz="1200" b="0" dirty="0" err="1">
                <a:latin typeface="Arial" panose="020B0604020202020204" pitchFamily="34" charset="0"/>
                <a:cs typeface="Arial" panose="020B0604020202020204" pitchFamily="34" charset="0"/>
              </a:rPr>
              <a:t>Carion</a:t>
            </a:r>
            <a:r>
              <a:rPr lang="en-US" altLang="ko-KR" sz="1200" b="0" dirty="0">
                <a:latin typeface="Arial" panose="020B0604020202020204" pitchFamily="34" charset="0"/>
                <a:cs typeface="Arial" panose="020B0604020202020204" pitchFamily="34" charset="0"/>
              </a:rPr>
              <a:t>, Nicolas, et al. "End-to-end object detection with transformers." European conference on computer vision. Springer, Cham, 2020.</a:t>
            </a:r>
          </a:p>
          <a:p>
            <a:pPr marL="457200" indent="-457200">
              <a:buFont typeface="+mj-lt"/>
              <a:buAutoNum type="arabicPeriod"/>
            </a:pPr>
            <a:r>
              <a:rPr lang="en-US" altLang="ko-KR" sz="1200" b="0" dirty="0">
                <a:latin typeface="Arial" panose="020B0604020202020204" pitchFamily="34" charset="0"/>
                <a:cs typeface="Arial" panose="020B0604020202020204" pitchFamily="34" charset="0"/>
              </a:rPr>
              <a:t>Cai, </a:t>
            </a:r>
            <a:r>
              <a:rPr lang="en-US" altLang="ko-KR" sz="1200" b="0" dirty="0" err="1">
                <a:latin typeface="Arial" panose="020B0604020202020204" pitchFamily="34" charset="0"/>
                <a:cs typeface="Arial" panose="020B0604020202020204" pitchFamily="34" charset="0"/>
              </a:rPr>
              <a:t>Zhaowei</a:t>
            </a:r>
            <a:r>
              <a:rPr lang="en-US" altLang="ko-KR" sz="1200" b="0" dirty="0">
                <a:latin typeface="Arial" panose="020B0604020202020204" pitchFamily="34" charset="0"/>
                <a:cs typeface="Arial" panose="020B0604020202020204" pitchFamily="34" charset="0"/>
              </a:rPr>
              <a:t>, and Nuno Vasconcelos. "Cascade r-</a:t>
            </a:r>
            <a:r>
              <a:rPr lang="en-US" altLang="ko-KR" sz="1200" b="0" dirty="0" err="1">
                <a:latin typeface="Arial" panose="020B0604020202020204" pitchFamily="34" charset="0"/>
                <a:cs typeface="Arial" panose="020B0604020202020204" pitchFamily="34" charset="0"/>
              </a:rPr>
              <a:t>cnn</a:t>
            </a:r>
            <a:r>
              <a:rPr lang="en-US" altLang="ko-KR" sz="1200" b="0" dirty="0">
                <a:latin typeface="Arial" panose="020B0604020202020204" pitchFamily="34" charset="0"/>
                <a:cs typeface="Arial" panose="020B0604020202020204" pitchFamily="34" charset="0"/>
              </a:rPr>
              <a:t>: Delving into high quality object detection." Proceedings of the IEEE conference on computer vision and pattern recognition. 2018.</a:t>
            </a:r>
          </a:p>
          <a:p>
            <a:pPr marL="457200" indent="-457200">
              <a:buFont typeface="+mj-lt"/>
              <a:buAutoNum type="arabicPeriod"/>
            </a:pPr>
            <a:r>
              <a:rPr lang="en-US" altLang="ko-KR" sz="1200" b="0" dirty="0" err="1">
                <a:latin typeface="Arial" panose="020B0604020202020204" pitchFamily="34" charset="0"/>
                <a:cs typeface="Arial" panose="020B0604020202020204" pitchFamily="34" charset="0"/>
              </a:rPr>
              <a:t>Rezatofighi</a:t>
            </a:r>
            <a:r>
              <a:rPr lang="en-US" altLang="ko-KR" sz="1200" b="0" dirty="0">
                <a:latin typeface="Arial" panose="020B0604020202020204" pitchFamily="34" charset="0"/>
                <a:cs typeface="Arial" panose="020B0604020202020204" pitchFamily="34" charset="0"/>
              </a:rPr>
              <a:t>, Hamid, et al. "Generalized intersection over union: A metric and a loss for bounding box regression." Proceedings of the IEEE/CVF conference on computer vision and pattern recognition. 2019.</a:t>
            </a:r>
          </a:p>
          <a:p>
            <a:pPr marL="457200" indent="-457200">
              <a:buFont typeface="+mj-lt"/>
              <a:buAutoNum type="arabicPeriod"/>
            </a:pPr>
            <a:r>
              <a:rPr lang="en-US" altLang="ko-KR" sz="1200" b="0" dirty="0">
                <a:latin typeface="Arial" panose="020B0604020202020204" pitchFamily="34" charset="0"/>
                <a:cs typeface="Arial" panose="020B0604020202020204" pitchFamily="34" charset="0"/>
              </a:rPr>
              <a:t>Holtzman, Ari, et al. "The curious case of neural text degeneration." </a:t>
            </a:r>
            <a:r>
              <a:rPr lang="en-US" altLang="ko-KR" sz="1200" b="0" dirty="0" err="1">
                <a:latin typeface="Arial" panose="020B0604020202020204" pitchFamily="34" charset="0"/>
                <a:cs typeface="Arial" panose="020B0604020202020204" pitchFamily="34" charset="0"/>
              </a:rPr>
              <a:t>arXiv</a:t>
            </a:r>
            <a:r>
              <a:rPr lang="en-US" altLang="ko-KR" sz="1200" b="0" dirty="0">
                <a:latin typeface="Arial" panose="020B0604020202020204" pitchFamily="34" charset="0"/>
                <a:cs typeface="Arial" panose="020B0604020202020204" pitchFamily="34" charset="0"/>
              </a:rPr>
              <a:t> preprint arXiv:1904.09751 (2019).</a:t>
            </a:r>
          </a:p>
          <a:p>
            <a:pPr marL="457200" indent="-457200">
              <a:buFont typeface="+mj-lt"/>
              <a:buAutoNum type="arabicPeriod"/>
            </a:pPr>
            <a:r>
              <a:rPr lang="en-US" altLang="ko-KR" sz="1200" b="0" dirty="0">
                <a:latin typeface="Arial" panose="020B0604020202020204" pitchFamily="34" charset="0"/>
                <a:cs typeface="Arial" panose="020B0604020202020204" pitchFamily="34" charset="0"/>
              </a:rPr>
              <a:t>https://towardsdatascience.com/how-to-sample-from-language-models-682bceb97277</a:t>
            </a:r>
          </a:p>
          <a:p>
            <a:pPr marL="457200" indent="-457200">
              <a:buFont typeface="+mj-lt"/>
              <a:buAutoNum type="arabicPeriod"/>
            </a:pPr>
            <a:endParaRPr lang="ko-KR" altLang="en-US" sz="1200" b="0" dirty="0">
              <a:latin typeface="Arial" panose="020B0604020202020204" pitchFamily="34" charset="0"/>
              <a:cs typeface="Arial" panose="020B0604020202020204" pitchFamily="34" charset="0"/>
            </a:endParaRPr>
          </a:p>
        </p:txBody>
      </p:sp>
      <p:sp>
        <p:nvSpPr>
          <p:cNvPr id="4" name="슬라이드 번호 개체 틀 3">
            <a:extLst>
              <a:ext uri="{FF2B5EF4-FFF2-40B4-BE49-F238E27FC236}">
                <a16:creationId xmlns:a16="http://schemas.microsoft.com/office/drawing/2014/main" id="{BA60843F-8401-C7A4-FBCD-FD8E2A308A7D}"/>
              </a:ext>
            </a:extLst>
          </p:cNvPr>
          <p:cNvSpPr>
            <a:spLocks noGrp="1"/>
          </p:cNvSpPr>
          <p:nvPr>
            <p:ph type="sldNum" sz="quarter" idx="10"/>
          </p:nvPr>
        </p:nvSpPr>
        <p:spPr/>
        <p:txBody>
          <a:bodyPr/>
          <a:lstStyle/>
          <a:p>
            <a:pPr>
              <a:defRPr/>
            </a:pPr>
            <a:fld id="{7092A07C-4710-46A3-9C28-806B597ACB99}" type="slidenum">
              <a:rPr lang="ko-KR" altLang="en-US" smtClean="0"/>
              <a:pPr>
                <a:defRPr/>
              </a:pPr>
              <a:t>29</a:t>
            </a:fld>
            <a:endParaRPr lang="ko-KR" altLang="en-US" dirty="0"/>
          </a:p>
        </p:txBody>
      </p:sp>
    </p:spTree>
    <p:extLst>
      <p:ext uri="{BB962C8B-B14F-4D97-AF65-F5344CB8AC3E}">
        <p14:creationId xmlns:p14="http://schemas.microsoft.com/office/powerpoint/2010/main" val="18939748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BBFB0E8-9167-2F7E-2650-306BECD1B3F2}"/>
              </a:ext>
            </a:extLst>
          </p:cNvPr>
          <p:cNvSpPr>
            <a:spLocks noGrp="1"/>
          </p:cNvSpPr>
          <p:nvPr>
            <p:ph type="title"/>
          </p:nvPr>
        </p:nvSpPr>
        <p:spPr/>
        <p:txBody>
          <a:bodyPr/>
          <a:lstStyle/>
          <a:p>
            <a:r>
              <a:rPr lang="en-US" altLang="ko-KR" dirty="0"/>
              <a:t>Thank you for your attention</a:t>
            </a:r>
            <a:endParaRPr lang="ko-KR" altLang="en-US" dirty="0"/>
          </a:p>
        </p:txBody>
      </p:sp>
      <p:sp>
        <p:nvSpPr>
          <p:cNvPr id="3" name="내용 개체 틀 2">
            <a:extLst>
              <a:ext uri="{FF2B5EF4-FFF2-40B4-BE49-F238E27FC236}">
                <a16:creationId xmlns:a16="http://schemas.microsoft.com/office/drawing/2014/main" id="{BEFD6EDF-8F93-49B9-ACFC-B71555BE8AA9}"/>
              </a:ext>
            </a:extLst>
          </p:cNvPr>
          <p:cNvSpPr>
            <a:spLocks noGrp="1"/>
          </p:cNvSpPr>
          <p:nvPr>
            <p:ph idx="1"/>
          </p:nvPr>
        </p:nvSpPr>
        <p:spPr/>
        <p:txBody>
          <a:bodyPr/>
          <a:lstStyle/>
          <a:p>
            <a:pPr marL="0" indent="0" algn="ctr">
              <a:buNone/>
            </a:pPr>
            <a:endParaRPr lang="en-US" altLang="ko-KR" sz="4400" dirty="0"/>
          </a:p>
          <a:p>
            <a:pPr marL="0" indent="0" algn="ctr">
              <a:buNone/>
            </a:pPr>
            <a:endParaRPr lang="en-US" altLang="ko-KR" sz="4000" dirty="0"/>
          </a:p>
          <a:p>
            <a:pPr marL="0" indent="0" algn="ctr">
              <a:buNone/>
            </a:pPr>
            <a:r>
              <a:rPr lang="en-US" altLang="ko-KR" sz="6000" dirty="0"/>
              <a:t>Thank you for </a:t>
            </a:r>
          </a:p>
          <a:p>
            <a:pPr marL="0" indent="0" algn="ctr">
              <a:buNone/>
            </a:pPr>
            <a:r>
              <a:rPr lang="en-US" altLang="ko-KR" sz="6000" dirty="0"/>
              <a:t>your attention!</a:t>
            </a:r>
            <a:endParaRPr lang="ko-KR" altLang="en-US" sz="28700" dirty="0"/>
          </a:p>
        </p:txBody>
      </p:sp>
      <p:sp>
        <p:nvSpPr>
          <p:cNvPr id="4" name="슬라이드 번호 개체 틀 3">
            <a:extLst>
              <a:ext uri="{FF2B5EF4-FFF2-40B4-BE49-F238E27FC236}">
                <a16:creationId xmlns:a16="http://schemas.microsoft.com/office/drawing/2014/main" id="{582E1E55-853F-3733-A86C-E5DA5C9DAEC1}"/>
              </a:ext>
            </a:extLst>
          </p:cNvPr>
          <p:cNvSpPr>
            <a:spLocks noGrp="1"/>
          </p:cNvSpPr>
          <p:nvPr>
            <p:ph type="sldNum" sz="quarter" idx="10"/>
          </p:nvPr>
        </p:nvSpPr>
        <p:spPr/>
        <p:txBody>
          <a:bodyPr/>
          <a:lstStyle/>
          <a:p>
            <a:pPr>
              <a:defRPr/>
            </a:pPr>
            <a:fld id="{7092A07C-4710-46A3-9C28-806B597ACB99}" type="slidenum">
              <a:rPr lang="ko-KR" altLang="en-US" smtClean="0"/>
              <a:pPr>
                <a:defRPr/>
              </a:pPr>
              <a:t>30</a:t>
            </a:fld>
            <a:endParaRPr lang="ko-KR" altLang="en-US" dirty="0"/>
          </a:p>
        </p:txBody>
      </p:sp>
    </p:spTree>
    <p:extLst>
      <p:ext uri="{BB962C8B-B14F-4D97-AF65-F5344CB8AC3E}">
        <p14:creationId xmlns:p14="http://schemas.microsoft.com/office/powerpoint/2010/main" val="1883942329"/>
      </p:ext>
    </p:extLst>
  </p:cSld>
  <p:clrMapOvr>
    <a:masterClrMapping/>
  </p:clrMapOvr>
  <p:transition>
    <p:fade/>
  </p:transition>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sz="1600" dirty="0" smtClean="0">
            <a:latin typeface="Calibri" panose="020F0502020204030204" pitchFamily="34" charset="0"/>
            <a:ea typeface="08서울남산체 B" panose="02020603020101020101" pitchFamily="18" charset="-127"/>
            <a:cs typeface="Times New Roman" pitchFamily="18" charset="0"/>
          </a:defRPr>
        </a:defPPr>
      </a:lstStyle>
    </a:tx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60048</TotalTime>
  <Words>1090</Words>
  <Application>Microsoft Office PowerPoint</Application>
  <PresentationFormat>화면 슬라이드 쇼(4:3)</PresentationFormat>
  <Paragraphs>187</Paragraphs>
  <Slides>30</Slides>
  <Notes>2</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30</vt:i4>
      </vt:variant>
    </vt:vector>
  </HeadingPairs>
  <TitlesOfParts>
    <vt:vector size="36" baseType="lpstr">
      <vt:lpstr>굴림</vt:lpstr>
      <vt:lpstr>맑은 고딕</vt:lpstr>
      <vt:lpstr>Arial</vt:lpstr>
      <vt:lpstr>Calibri</vt:lpstr>
      <vt:lpstr>Wingdings</vt:lpstr>
      <vt:lpstr>Office 테마</vt:lpstr>
      <vt:lpstr>Pix2Seq: A New Language Interface for Object Detection</vt:lpstr>
      <vt:lpstr>Pix2Seq</vt:lpstr>
      <vt:lpstr>Introduction</vt:lpstr>
      <vt:lpstr>Characteristic 1: Large Set of Proposals  </vt:lpstr>
      <vt:lpstr>Characteristic 2: Specialized Architectures </vt:lpstr>
      <vt:lpstr>Characteristic 2: Specialized Architectures </vt:lpstr>
      <vt:lpstr>Characteristic 3: Highly tailored loss functions </vt:lpstr>
      <vt:lpstr>Introduction </vt:lpstr>
      <vt:lpstr>Q &amp; A </vt:lpstr>
      <vt:lpstr>The Pix2Seq Framework</vt:lpstr>
      <vt:lpstr>Sequence Construction</vt:lpstr>
      <vt:lpstr>Sequence Construction</vt:lpstr>
      <vt:lpstr>Sequence Construction</vt:lpstr>
      <vt:lpstr>Sequence Construction</vt:lpstr>
      <vt:lpstr>Sequence Augmentation</vt:lpstr>
      <vt:lpstr>Sequence Augmentation</vt:lpstr>
      <vt:lpstr>Model Architecture</vt:lpstr>
      <vt:lpstr>Objective Function</vt:lpstr>
      <vt:lpstr>Inference</vt:lpstr>
      <vt:lpstr>Q &amp; A </vt:lpstr>
      <vt:lpstr>Experiments</vt:lpstr>
      <vt:lpstr>Experiments</vt:lpstr>
      <vt:lpstr>Experiments</vt:lpstr>
      <vt:lpstr>Ablation Studies</vt:lpstr>
      <vt:lpstr>Ablation Studies</vt:lpstr>
      <vt:lpstr>Ablation Studies</vt:lpstr>
      <vt:lpstr>Attention map visualization</vt:lpstr>
      <vt:lpstr>Q &amp; A </vt:lpstr>
      <vt:lpstr>References </vt:lpstr>
      <vt:lpstr>Thank you for your attention</vt:lpstr>
    </vt:vector>
  </TitlesOfParts>
  <Company>U of 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zelos</dc:creator>
  <cp:lastModifiedBy>YOO YEEUN</cp:lastModifiedBy>
  <cp:revision>2965</cp:revision>
  <cp:lastPrinted>2016-03-04T01:44:28Z</cp:lastPrinted>
  <dcterms:created xsi:type="dcterms:W3CDTF">2008-03-01T21:32:25Z</dcterms:created>
  <dcterms:modified xsi:type="dcterms:W3CDTF">2022-12-11T10:28:55Z</dcterms:modified>
</cp:coreProperties>
</file>