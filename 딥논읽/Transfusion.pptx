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72" r:id="rId12"/>
    <p:sldId id="266" r:id="rId13"/>
    <p:sldId id="268" r:id="rId14"/>
    <p:sldId id="275" r:id="rId15"/>
    <p:sldId id="270" r:id="rId16"/>
    <p:sldId id="269" r:id="rId17"/>
    <p:sldId id="273" r:id="rId18"/>
    <p:sldId id="277" r:id="rId19"/>
    <p:sldId id="27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43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19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288C-9630-4244-93B7-0144DD879BD0}" type="datetimeFigureOut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0A90C-3EDE-4E51-B7E7-16B34C64B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49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BDB5A-D935-FB69-0264-D3B501730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069150-D6ED-A912-A540-3E679A887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695835-2868-79D2-EF23-DC09C4B6C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BDF7-8512-413E-BA81-ECDAD2D2AF1B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A2B09-42B9-4ABE-9162-B0C5BB29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0AFD4-C3CF-C2FE-DC19-1FF5A5F5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08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13F4F-E4F2-1DB5-7FA7-AAF2C872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4F35B1-8E0F-7E84-4996-3531B523F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3FD58-793A-D740-5AE8-EDB8F37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22B43-C313-437E-9747-0F7881588102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BBBD76-6B7E-BB73-D19F-1EEC73D8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EEAE89-EC20-828E-ACAD-A761DCA2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4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5689C-791B-FCCB-0F17-B16AB7F43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0AC2D-C89F-566A-2CE4-0F2565DE4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0AA18-9474-0C2C-CC58-ABE12096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63A0-2FC5-43D1-8529-BE9A731D778B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D02E18-0260-A89B-0189-0696B763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1A1EB-8E75-6656-8BCA-4C53E7B6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56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BEAF4-9BCA-E7AE-1503-BD5D7506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FF1ED5-9F0D-F533-5411-E2C00D565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C9D9E9-2D40-A2C9-E9F1-6D6B14048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151272-A3E3-4BAF-3865-BE2927F0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30F7-5111-48A3-84C5-4F5423A1DFBF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C8B3A4-79F1-5414-2B95-491B6EEF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D12FE9-B8BF-08D3-710A-873E5DF1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16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3D28C-CF3D-E4FB-14DD-9E810B25E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CC7C26-E7BE-4371-877E-FE0296311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19FE4-F743-4773-A703-4019FEBDB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F954DA-D77F-0EE8-806D-BFEF06C84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DB6D3A-653F-2226-FBE6-CA82ECB8E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1AFF50-637C-DD06-BEA6-CBE0311E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3BBF-8496-4EC9-9618-76A514A47E67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CF83CD-3991-382E-41E2-BA816E43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BF77A6-645E-6819-E17B-44BA9796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12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B2151-0DB1-45CA-8418-26B752A8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DA4DA4-E665-80B2-4825-5D100C37D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69B8D-ED99-4B17-A17C-0117D9AB5D89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3926A0-8865-BBF5-3361-5946C8A6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DE4104-F5E2-1C6E-16B7-379AF71F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685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8E4CE5-D487-9CC9-DBC1-334F49A9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44746-8F2E-40EB-A25E-633C455CB416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68C33C-245F-3E71-41AF-3D629A96F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29E371-D7FD-A8BD-7F38-DC95AEE6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47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6DAB2-0475-B344-715B-B8DADD37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10190F-9068-C5FB-45E4-365B97ECF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3BD19B-0DCE-290C-2E68-DF4892AAF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513141-6B1E-5419-D893-C9DED69A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E6B96-4386-4053-8106-20D096C0C6A6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DFCAE0-B66B-30D4-5DF7-4B10B1E4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01774F-4648-B5B7-365C-0E1CC4A7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94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16F11-35F0-D94E-18B0-89983AA2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424916-F2AD-85CC-B1ED-448761663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46DA9A-6660-B387-DA3F-5AE36005F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41212-A279-C3F4-913E-7E44490B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8ED60-AFF7-4B5C-9AF7-9CC048E040C5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70A30-2824-38D4-5275-B97A518EE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F2984F-2E6A-2019-C742-DAEF3F19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5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741C7-3273-41B4-592B-4E2FA747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F80FFD-F34C-33F7-203D-5B258B1D6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FABE8-7919-5922-98B6-0CC699807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AAAD-EC5A-47CE-BF36-4D0C3C11A8E5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5B8E46-9CCA-814E-AEE3-B0216952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746BA-C646-8601-2954-3BE1835D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007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01FCB5-D05D-A814-25AB-5F99BEB40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C3CE78-4290-FA94-E01A-12E4CD6C7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5F6F35-0FBD-681E-9774-CC2DADCB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345C-A21C-4F81-B00D-C5EBD04E1CF1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3546C4-D767-82D7-5A0B-0889E3BA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AE4E12-C23F-D98F-DBDE-2739D317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41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6DC95F-993D-4779-E38F-B7DB65224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985347-D365-2CC2-CFA0-E22E3D00D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B7DC0D-2A86-7433-6175-0D3BDC119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6AE1-900B-4F1A-B886-F969C53D710A}" type="datetime1">
              <a:rPr lang="ko-KR" altLang="en-US" smtClean="0"/>
              <a:t>2022-06-12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EC44A9-8849-3A8E-103B-E82FF17A5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B54F75-F250-0B49-DEF4-1C3930D90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DB045-C60E-4DE2-A232-4CC5CFDE7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27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ogle/svcc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997C6-FED9-5354-F4CC-CE90F040A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Transfusion:</a:t>
            </a:r>
            <a:r>
              <a:rPr lang="ko-KR" altLang="en-US" sz="4000" dirty="0"/>
              <a:t> </a:t>
            </a:r>
            <a:r>
              <a:rPr lang="en-US" altLang="ko-KR" sz="4000" dirty="0"/>
              <a:t>Understanding Transfer Learning for Medical Imaging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00CABF-53C4-9D56-5102-F234C5D7E7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이미지 </a:t>
            </a:r>
            <a:r>
              <a:rPr lang="ko-KR" altLang="en-US" dirty="0" err="1"/>
              <a:t>처리팀</a:t>
            </a:r>
            <a:endParaRPr lang="en-US" altLang="ko-KR" dirty="0"/>
          </a:p>
          <a:p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김준철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김병현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박재완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이예은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이희재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(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발표자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),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조경진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766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Transfer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Learning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6955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Transfer Learning </a:t>
            </a:r>
            <a:r>
              <a:rPr lang="ko-KR" altLang="en-US" sz="2000" dirty="0"/>
              <a:t>이란</a:t>
            </a:r>
            <a:r>
              <a:rPr lang="en-US" altLang="ko-KR" sz="2000" dirty="0"/>
              <a:t>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Google &amp; DeepMind Researchers Revamp ImageNet | Synced">
            <a:extLst>
              <a:ext uri="{FF2B5EF4-FFF2-40B4-BE49-F238E27FC236}">
                <a16:creationId xmlns:a16="http://schemas.microsoft.com/office/drawing/2014/main" id="{8476FF44-3845-9BF8-A0C2-755E0CA19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859" y="1498159"/>
            <a:ext cx="4854943" cy="208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7BA909-5A20-00BC-8A75-86E2CCCF2947}"/>
              </a:ext>
            </a:extLst>
          </p:cNvPr>
          <p:cNvSpPr/>
          <p:nvPr/>
        </p:nvSpPr>
        <p:spPr>
          <a:xfrm>
            <a:off x="7813040" y="1817009"/>
            <a:ext cx="2580640" cy="1442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Model</a:t>
            </a:r>
            <a:endParaRPr lang="ko-KR" altLang="en-US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E8EF9-4162-B641-CBB0-02495F66E57F}"/>
              </a:ext>
            </a:extLst>
          </p:cNvPr>
          <p:cNvSpPr txBox="1"/>
          <p:nvPr/>
        </p:nvSpPr>
        <p:spPr>
          <a:xfrm>
            <a:off x="6620182" y="17363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학습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1A81E1DF-7372-55FD-F55F-DC536E6C9139}"/>
              </a:ext>
            </a:extLst>
          </p:cNvPr>
          <p:cNvSpPr/>
          <p:nvPr/>
        </p:nvSpPr>
        <p:spPr>
          <a:xfrm>
            <a:off x="6663781" y="2198009"/>
            <a:ext cx="889879" cy="6807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1B64D5-EA50-2BC5-EABB-63522F554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544" y="4040243"/>
            <a:ext cx="4077269" cy="121937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7A04A2-DF6A-6811-D716-D77E6DEBC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701" y="5259613"/>
            <a:ext cx="3600953" cy="1247949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78D90CB-4AE2-1260-2FCF-629160D13BFF}"/>
              </a:ext>
            </a:extLst>
          </p:cNvPr>
          <p:cNvSpPr/>
          <p:nvPr/>
        </p:nvSpPr>
        <p:spPr>
          <a:xfrm>
            <a:off x="7420401" y="4538253"/>
            <a:ext cx="2580640" cy="1442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Model</a:t>
            </a:r>
            <a:endParaRPr lang="ko-KR" altLang="en-US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09EC2B-9DAD-8F81-0E9B-FFAE65390113}"/>
              </a:ext>
            </a:extLst>
          </p:cNvPr>
          <p:cNvSpPr txBox="1"/>
          <p:nvPr/>
        </p:nvSpPr>
        <p:spPr>
          <a:xfrm>
            <a:off x="6291707" y="472767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학습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5AD7F68-C40B-61F2-5C76-3AEAA1461446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flipH="1">
            <a:off x="8710721" y="3259729"/>
            <a:ext cx="392639" cy="12785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45C6D1A-12F4-B8F9-4840-BBEC2E0B1CDB}"/>
              </a:ext>
            </a:extLst>
          </p:cNvPr>
          <p:cNvSpPr/>
          <p:nvPr/>
        </p:nvSpPr>
        <p:spPr>
          <a:xfrm>
            <a:off x="6360802" y="5189340"/>
            <a:ext cx="889879" cy="6807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0AE0E95A-875F-8CF8-CE5B-EC251581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61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Introduction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ImageNet Dataset</a:t>
            </a:r>
            <a:r>
              <a:rPr lang="ko-KR" altLang="en-US" sz="2000" dirty="0"/>
              <a:t>으로 학습한 </a:t>
            </a:r>
            <a:r>
              <a:rPr lang="en-US" altLang="ko-KR" sz="2000" dirty="0"/>
              <a:t>pretrained weights</a:t>
            </a:r>
            <a:r>
              <a:rPr lang="ko-KR" altLang="en-US" sz="2000" dirty="0"/>
              <a:t>를 </a:t>
            </a:r>
            <a:r>
              <a:rPr lang="en-US" altLang="ko-KR" sz="2000" dirty="0"/>
              <a:t>downstream task</a:t>
            </a:r>
            <a:r>
              <a:rPr lang="ko-KR" altLang="en-US" sz="2000" dirty="0"/>
              <a:t>에 그대로 적용하는 것이 분야에 관계없이 거의 </a:t>
            </a:r>
            <a:r>
              <a:rPr lang="en-US" altLang="ko-KR" sz="2000" dirty="0"/>
              <a:t>standard</a:t>
            </a:r>
            <a:r>
              <a:rPr lang="ko-KR" altLang="en-US" sz="2000" dirty="0"/>
              <a:t>가 되어있다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그러나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ImageNet dataset</a:t>
            </a:r>
            <a:r>
              <a:rPr lang="ko-KR" altLang="en-US" sz="2000" dirty="0"/>
              <a:t> 과 </a:t>
            </a:r>
            <a:r>
              <a:rPr lang="en-US" altLang="ko-KR" sz="2000" dirty="0"/>
              <a:t>target task</a:t>
            </a:r>
            <a:r>
              <a:rPr lang="ko-KR" altLang="en-US" sz="2000" dirty="0"/>
              <a:t>의 데이터는 보통 데이터의 사이즈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데이터의 특징</a:t>
            </a:r>
            <a:r>
              <a:rPr lang="en-US" altLang="ko-KR" sz="2000" dirty="0"/>
              <a:t>, task </a:t>
            </a:r>
            <a:r>
              <a:rPr lang="ko-KR" altLang="en-US" sz="2000" dirty="0"/>
              <a:t>의 특징은 모두 다르며 </a:t>
            </a:r>
            <a:r>
              <a:rPr lang="en-US" altLang="ko-KR" sz="2000" dirty="0"/>
              <a:t>transfer learning </a:t>
            </a:r>
            <a:r>
              <a:rPr lang="ko-KR" altLang="en-US" sz="2000" dirty="0"/>
              <a:t>의 영향에 대한 이해가 부족하다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Representation</a:t>
            </a:r>
            <a:r>
              <a:rPr lang="ko-KR" altLang="en-US" sz="2000" dirty="0"/>
              <a:t> 과 </a:t>
            </a:r>
            <a:r>
              <a:rPr lang="en-US" altLang="ko-KR" sz="2000" dirty="0"/>
              <a:t>feature </a:t>
            </a:r>
            <a:r>
              <a:rPr lang="ko-KR" altLang="en-US" sz="2000" dirty="0"/>
              <a:t>를 분석하면서 </a:t>
            </a:r>
            <a:r>
              <a:rPr lang="en-US" altLang="ko-KR" sz="2000" dirty="0"/>
              <a:t>transfer learning </a:t>
            </a:r>
            <a:r>
              <a:rPr lang="ko-KR" altLang="en-US" sz="2000" dirty="0"/>
              <a:t>에서 오는 차이점들은 </a:t>
            </a:r>
            <a:r>
              <a:rPr lang="en-US" altLang="ko-KR" sz="2000" dirty="0"/>
              <a:t>over-parameterization </a:t>
            </a:r>
            <a:r>
              <a:rPr lang="ko-KR" altLang="en-US" sz="2000" dirty="0"/>
              <a:t>때문이라는 것을 발견했다</a:t>
            </a:r>
            <a:r>
              <a:rPr lang="en-US" altLang="ko-KR" sz="2000" dirty="0"/>
              <a:t>.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840D765-56C5-A5AE-E21A-A6D582704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74" y="4126135"/>
            <a:ext cx="3192561" cy="241437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4FE36BB-F2CC-5A8B-1F0A-BB0BE29F0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973" y="4356873"/>
            <a:ext cx="2629267" cy="195289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AC457BD-2058-25EC-3365-797168601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062" y="4356872"/>
            <a:ext cx="2634571" cy="1952899"/>
          </a:xfrm>
          <a:prstGeom prst="rect">
            <a:avLst/>
          </a:prstGeom>
        </p:spPr>
      </p:pic>
      <p:sp>
        <p:nvSpPr>
          <p:cNvPr id="20" name="부등호 19">
            <a:extLst>
              <a:ext uri="{FF2B5EF4-FFF2-40B4-BE49-F238E27FC236}">
                <a16:creationId xmlns:a16="http://schemas.microsoft.com/office/drawing/2014/main" id="{8329E1B4-A5F1-166B-52AA-5DCD1698BBA0}"/>
              </a:ext>
            </a:extLst>
          </p:cNvPr>
          <p:cNvSpPr/>
          <p:nvPr/>
        </p:nvSpPr>
        <p:spPr>
          <a:xfrm>
            <a:off x="7969857" y="4993956"/>
            <a:ext cx="957589" cy="678730"/>
          </a:xfrm>
          <a:prstGeom prst="mathNotEqual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0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Contributions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ImageNet</a:t>
            </a:r>
            <a:r>
              <a:rPr lang="ko-KR" altLang="en-US" sz="2000" dirty="0"/>
              <a:t> 같은 </a:t>
            </a:r>
            <a:r>
              <a:rPr lang="en-US" altLang="ko-KR" sz="2000" dirty="0"/>
              <a:t>Natural Image</a:t>
            </a:r>
            <a:r>
              <a:rPr lang="ko-KR" altLang="en-US" sz="2000" dirty="0"/>
              <a:t>를 위한 </a:t>
            </a:r>
            <a:r>
              <a:rPr lang="en-US" altLang="ko-KR" sz="2000" dirty="0"/>
              <a:t>standard architecture (Resnet50, Inception-v3)</a:t>
            </a:r>
            <a:r>
              <a:rPr lang="ko-KR" altLang="en-US" sz="2000" dirty="0"/>
              <a:t>와 일반적이지 않은 작고 간단한 모델을 비교한다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Transfer learning</a:t>
            </a:r>
            <a:r>
              <a:rPr lang="ko-KR" altLang="en-US" sz="2000" dirty="0"/>
              <a:t> 을 한 것과 안 한 것의 </a:t>
            </a:r>
            <a:r>
              <a:rPr lang="en-US" altLang="ko-KR" sz="2000" dirty="0"/>
              <a:t>representation</a:t>
            </a:r>
            <a:r>
              <a:rPr lang="ko-KR" altLang="en-US" sz="2000" dirty="0"/>
              <a:t> 을 비교한다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의미 있는 </a:t>
            </a:r>
            <a:r>
              <a:rPr lang="en-US" altLang="ko-KR" sz="2000" dirty="0"/>
              <a:t>feature reuse</a:t>
            </a:r>
            <a:r>
              <a:rPr lang="ko-KR" altLang="en-US" sz="2000" dirty="0"/>
              <a:t> 가 발생하는 영역을 부분적으로 </a:t>
            </a:r>
            <a:r>
              <a:rPr lang="en-US" altLang="ko-KR" sz="2000" dirty="0"/>
              <a:t>pretrained weight </a:t>
            </a:r>
            <a:r>
              <a:rPr lang="ko-KR" altLang="en-US" sz="2000" dirty="0"/>
              <a:t>를 재사용 하며 분석하고 </a:t>
            </a:r>
            <a:r>
              <a:rPr lang="en-US" altLang="ko-KR" sz="2000" dirty="0"/>
              <a:t>hybrid </a:t>
            </a:r>
            <a:r>
              <a:rPr lang="ko-KR" altLang="en-US" sz="2000" dirty="0"/>
              <a:t>한 </a:t>
            </a:r>
            <a:r>
              <a:rPr lang="en-US" altLang="ko-KR" sz="2000" dirty="0"/>
              <a:t>transfer learning </a:t>
            </a:r>
            <a:r>
              <a:rPr lang="ko-KR" altLang="en-US" sz="2000" dirty="0"/>
              <a:t>을 제안한다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Transfer</a:t>
            </a:r>
            <a:r>
              <a:rPr lang="ko-KR" altLang="en-US" sz="2000" dirty="0"/>
              <a:t> </a:t>
            </a:r>
            <a:r>
              <a:rPr lang="en-US" altLang="ko-KR" sz="2000" dirty="0"/>
              <a:t>Learning</a:t>
            </a:r>
            <a:r>
              <a:rPr lang="ko-KR" altLang="en-US" sz="2000" dirty="0"/>
              <a:t> 에 </a:t>
            </a:r>
            <a:r>
              <a:rPr lang="en-US" altLang="ko-KR" sz="2000" dirty="0"/>
              <a:t>Feature</a:t>
            </a:r>
            <a:r>
              <a:rPr lang="ko-KR" altLang="en-US" sz="2000" dirty="0"/>
              <a:t> </a:t>
            </a:r>
            <a:r>
              <a:rPr lang="en-US" altLang="ko-KR" sz="2000" dirty="0"/>
              <a:t>independent </a:t>
            </a:r>
            <a:r>
              <a:rPr lang="ko-KR" altLang="en-US" sz="2000" dirty="0"/>
              <a:t>한 </a:t>
            </a:r>
            <a:r>
              <a:rPr lang="en-US" altLang="ko-KR" sz="2000" dirty="0"/>
              <a:t>benefit </a:t>
            </a:r>
            <a:r>
              <a:rPr lang="ko-KR" altLang="en-US" sz="2000" dirty="0"/>
              <a:t>이 있다는 것을 보여준다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59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Datasets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Retina Dataset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587 * 587, 5 class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 err="1"/>
              <a:t>CheXpert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224 * 224, 5 class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C1406E-433F-DF14-3E14-B1945FB25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82" y="3606121"/>
            <a:ext cx="10288436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9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Models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기존 </a:t>
            </a:r>
            <a:r>
              <a:rPr lang="en-US" altLang="ko-KR" sz="2000" dirty="0"/>
              <a:t>Standard </a:t>
            </a:r>
            <a:r>
              <a:rPr lang="ko-KR" altLang="en-US" sz="2000" dirty="0"/>
              <a:t>한 </a:t>
            </a:r>
            <a:r>
              <a:rPr lang="en-US" altLang="ko-KR" sz="2000" dirty="0"/>
              <a:t>Architecture</a:t>
            </a:r>
            <a:r>
              <a:rPr lang="ko-KR" altLang="en-US" sz="2000" dirty="0"/>
              <a:t> 가 아닌 작은 </a:t>
            </a:r>
            <a:r>
              <a:rPr lang="en-US" altLang="ko-KR" sz="2000" dirty="0"/>
              <a:t>Architecture</a:t>
            </a:r>
            <a:r>
              <a:rPr lang="ko-KR" altLang="en-US" sz="2000" dirty="0"/>
              <a:t> 에서의 </a:t>
            </a:r>
            <a:r>
              <a:rPr lang="en-US" altLang="ko-KR" sz="2000" dirty="0"/>
              <a:t>transfer learning</a:t>
            </a:r>
            <a:r>
              <a:rPr lang="ko-KR" altLang="en-US" sz="2000" dirty="0"/>
              <a:t> 연구는 거의 없었고 이는 </a:t>
            </a:r>
            <a:r>
              <a:rPr lang="en-US" altLang="ko-KR" sz="2000" dirty="0"/>
              <a:t>mobile </a:t>
            </a:r>
            <a:r>
              <a:rPr lang="ko-KR" altLang="en-US" sz="2000" dirty="0"/>
              <a:t>이나 </a:t>
            </a:r>
            <a:r>
              <a:rPr lang="en-US" altLang="ko-KR" sz="2000" dirty="0"/>
              <a:t>on-device application </a:t>
            </a:r>
            <a:r>
              <a:rPr lang="ko-KR" altLang="en-US" sz="2000" dirty="0"/>
              <a:t>을 위해 중요하다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그리고 </a:t>
            </a:r>
            <a:r>
              <a:rPr lang="en-US" altLang="ko-KR" sz="2000" dirty="0"/>
              <a:t>Standard ImageNet Model </a:t>
            </a:r>
            <a:r>
              <a:rPr lang="ko-KR" altLang="en-US" sz="2000" dirty="0"/>
              <a:t>들은 대부분의 </a:t>
            </a:r>
            <a:r>
              <a:rPr lang="en-US" altLang="ko-KR" sz="2000" dirty="0"/>
              <a:t>parameter</a:t>
            </a:r>
            <a:r>
              <a:rPr lang="ko-KR" altLang="en-US" sz="2000" dirty="0"/>
              <a:t> 들이 </a:t>
            </a:r>
            <a:r>
              <a:rPr lang="en-US" altLang="ko-KR" sz="2000" dirty="0"/>
              <a:t>1000</a:t>
            </a:r>
            <a:r>
              <a:rPr lang="ko-KR" altLang="en-US" sz="2000" dirty="0"/>
              <a:t>개의 클래스를 분류하는데 집중하고 있지만 </a:t>
            </a:r>
            <a:r>
              <a:rPr lang="en-US" altLang="ko-KR" sz="2000" dirty="0"/>
              <a:t>medical </a:t>
            </a:r>
            <a:r>
              <a:rPr lang="ko-KR" altLang="en-US" sz="2000" dirty="0"/>
              <a:t>분야처럼 훨씬 적은 </a:t>
            </a:r>
            <a:r>
              <a:rPr lang="en-US" altLang="ko-KR" sz="2000" dirty="0"/>
              <a:t>class </a:t>
            </a:r>
            <a:r>
              <a:rPr lang="ko-KR" altLang="en-US" sz="2000" dirty="0"/>
              <a:t>를 분류해야 하는 경우에는 </a:t>
            </a:r>
            <a:r>
              <a:rPr lang="en-US" altLang="ko-KR" sz="2000" dirty="0"/>
              <a:t>overparameterized </a:t>
            </a:r>
            <a:r>
              <a:rPr lang="ko-KR" altLang="en-US" sz="2000" dirty="0"/>
              <a:t>될 수 있다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C9B2BBA-9504-DCD8-8B4A-2BF00E000AD1}"/>
              </a:ext>
            </a:extLst>
          </p:cNvPr>
          <p:cNvSpPr/>
          <p:nvPr/>
        </p:nvSpPr>
        <p:spPr>
          <a:xfrm>
            <a:off x="1851995" y="3751331"/>
            <a:ext cx="3007151" cy="25452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646D6DA-6BFA-0D4C-EC24-73B341849671}"/>
              </a:ext>
            </a:extLst>
          </p:cNvPr>
          <p:cNvSpPr/>
          <p:nvPr/>
        </p:nvSpPr>
        <p:spPr>
          <a:xfrm>
            <a:off x="2098665" y="3978730"/>
            <a:ext cx="2562519" cy="102636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ResNet50</a:t>
            </a:r>
            <a:endParaRPr lang="ko-KR" altLang="en-US" sz="28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61B522E-A0B2-DCE3-107D-AFAF523B5761}"/>
              </a:ext>
            </a:extLst>
          </p:cNvPr>
          <p:cNvSpPr/>
          <p:nvPr/>
        </p:nvSpPr>
        <p:spPr>
          <a:xfrm>
            <a:off x="2098665" y="5075924"/>
            <a:ext cx="2562519" cy="102636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Inception-v3</a:t>
            </a:r>
            <a:endParaRPr lang="ko-KR" altLang="en-US" sz="2800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1536E6E-300B-CC64-9699-E1445066349F}"/>
              </a:ext>
            </a:extLst>
          </p:cNvPr>
          <p:cNvSpPr/>
          <p:nvPr/>
        </p:nvSpPr>
        <p:spPr>
          <a:xfrm>
            <a:off x="6478338" y="3075144"/>
            <a:ext cx="3007151" cy="36463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C6FF467-EA2D-F51A-7B62-1A97C45F2D2A}"/>
              </a:ext>
            </a:extLst>
          </p:cNvPr>
          <p:cNvSpPr/>
          <p:nvPr/>
        </p:nvSpPr>
        <p:spPr>
          <a:xfrm>
            <a:off x="6725008" y="3302544"/>
            <a:ext cx="2562519" cy="10263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CBR-</a:t>
            </a:r>
            <a:r>
              <a:rPr lang="en-US" altLang="ko-KR" sz="2800" b="1" dirty="0" err="1"/>
              <a:t>LargeT</a:t>
            </a:r>
            <a:endParaRPr lang="ko-KR" altLang="en-US" sz="2800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FEE0D00-529D-6E86-DC3C-9108D9260C17}"/>
              </a:ext>
            </a:extLst>
          </p:cNvPr>
          <p:cNvSpPr/>
          <p:nvPr/>
        </p:nvSpPr>
        <p:spPr>
          <a:xfrm>
            <a:off x="6725008" y="4399738"/>
            <a:ext cx="2562519" cy="10263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CBR-</a:t>
            </a:r>
            <a:r>
              <a:rPr lang="en-US" altLang="ko-KR" sz="2800" b="1" dirty="0" err="1"/>
              <a:t>LargeW</a:t>
            </a:r>
            <a:endParaRPr lang="ko-KR" altLang="en-US" sz="2800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5DCFDA3-7248-BFB5-28BE-9A36689726E4}"/>
              </a:ext>
            </a:extLst>
          </p:cNvPr>
          <p:cNvSpPr/>
          <p:nvPr/>
        </p:nvSpPr>
        <p:spPr>
          <a:xfrm>
            <a:off x="6725008" y="5496932"/>
            <a:ext cx="2562519" cy="10263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CBR-Tiny</a:t>
            </a:r>
            <a:endParaRPr lang="ko-KR" altLang="en-US" sz="28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0327340-09CA-239F-4CA4-4371475D2C7E}"/>
              </a:ext>
            </a:extLst>
          </p:cNvPr>
          <p:cNvSpPr/>
          <p:nvPr/>
        </p:nvSpPr>
        <p:spPr>
          <a:xfrm>
            <a:off x="9648329" y="3575943"/>
            <a:ext cx="2202660" cy="267084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97B33A5-6C4B-8129-8393-07BD9316A1E2}"/>
              </a:ext>
            </a:extLst>
          </p:cNvPr>
          <p:cNvSpPr/>
          <p:nvPr/>
        </p:nvSpPr>
        <p:spPr>
          <a:xfrm>
            <a:off x="9811169" y="3745089"/>
            <a:ext cx="1876980" cy="75178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Conv2d</a:t>
            </a:r>
            <a:endParaRPr lang="ko-KR" altLang="en-US" sz="2800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CDEFDE5-6604-3A74-AED9-EF84D2CCC7F2}"/>
              </a:ext>
            </a:extLst>
          </p:cNvPr>
          <p:cNvSpPr/>
          <p:nvPr/>
        </p:nvSpPr>
        <p:spPr>
          <a:xfrm>
            <a:off x="9811169" y="4546904"/>
            <a:ext cx="1876980" cy="75178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BN</a:t>
            </a:r>
            <a:endParaRPr lang="ko-KR" altLang="en-US" sz="2800" b="1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83A4A38-8079-75AA-C188-B5771B91AC87}"/>
              </a:ext>
            </a:extLst>
          </p:cNvPr>
          <p:cNvSpPr/>
          <p:nvPr/>
        </p:nvSpPr>
        <p:spPr>
          <a:xfrm>
            <a:off x="9811169" y="5345979"/>
            <a:ext cx="1876980" cy="75178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/>
              <a:t>ReLU</a:t>
            </a:r>
            <a:endParaRPr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7EE63B-9ACE-01C7-ED81-E87BEADB5601}"/>
              </a:ext>
            </a:extLst>
          </p:cNvPr>
          <p:cNvSpPr txBox="1"/>
          <p:nvPr/>
        </p:nvSpPr>
        <p:spPr>
          <a:xfrm>
            <a:off x="5949026" y="3644526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1/3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0BC6CE-F125-D6A6-D754-A2B1E14E5FCE}"/>
              </a:ext>
            </a:extLst>
          </p:cNvPr>
          <p:cNvSpPr txBox="1"/>
          <p:nvPr/>
        </p:nvSpPr>
        <p:spPr>
          <a:xfrm>
            <a:off x="5949026" y="473813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1/3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041B41-0362-543F-95B9-8DEE665DA5C1}"/>
              </a:ext>
            </a:extLst>
          </p:cNvPr>
          <p:cNvSpPr txBox="1"/>
          <p:nvPr/>
        </p:nvSpPr>
        <p:spPr>
          <a:xfrm>
            <a:off x="5822389" y="583173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1/20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6E9E76-D0E5-6B06-4522-E1E784122CA4}"/>
              </a:ext>
            </a:extLst>
          </p:cNvPr>
          <p:cNvSpPr txBox="1"/>
          <p:nvPr/>
        </p:nvSpPr>
        <p:spPr>
          <a:xfrm>
            <a:off x="10128335" y="3203824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CBR Block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081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Models and Performance Evaluation of Transfer Learning</a:t>
            </a:r>
            <a:endParaRPr lang="ko-KR" altLang="en-US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4B683F5-265F-6511-C5D4-CBD902A45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56" y="2408306"/>
            <a:ext cx="9583487" cy="20957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F05940F-91B6-24A7-719C-3AF65ECB716E}"/>
              </a:ext>
            </a:extLst>
          </p:cNvPr>
          <p:cNvSpPr txBox="1"/>
          <p:nvPr/>
        </p:nvSpPr>
        <p:spPr>
          <a:xfrm>
            <a:off x="10694773" y="2856666"/>
            <a:ext cx="303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2</a:t>
            </a:r>
          </a:p>
          <a:p>
            <a:r>
              <a:rPr lang="en-US" altLang="ko-KR" sz="1600" b="1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ko-KR" sz="1600" b="1" dirty="0">
                <a:solidFill>
                  <a:srgbClr val="FF0000"/>
                </a:solidFill>
              </a:rPr>
              <a:t>3</a:t>
            </a:r>
          </a:p>
          <a:p>
            <a:r>
              <a:rPr lang="en-US" altLang="ko-KR" sz="1600" b="1" dirty="0">
                <a:solidFill>
                  <a:srgbClr val="FF0000"/>
                </a:solidFill>
              </a:rPr>
              <a:t>4</a:t>
            </a:r>
          </a:p>
          <a:p>
            <a:r>
              <a:rPr lang="en-US" altLang="ko-KR" sz="1600" b="1" dirty="0">
                <a:solidFill>
                  <a:srgbClr val="FF0000"/>
                </a:solidFill>
              </a:rPr>
              <a:t>6</a:t>
            </a:r>
          </a:p>
          <a:p>
            <a:r>
              <a:rPr lang="en-US" altLang="ko-KR" sz="1600" b="1" dirty="0">
                <a:solidFill>
                  <a:srgbClr val="FF0000"/>
                </a:solidFill>
              </a:rPr>
              <a:t>5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BD95C7-E2A2-07F8-CBA1-092EEB64D76B}"/>
              </a:ext>
            </a:extLst>
          </p:cNvPr>
          <p:cNvSpPr/>
          <p:nvPr/>
        </p:nvSpPr>
        <p:spPr>
          <a:xfrm>
            <a:off x="8983744" y="2884947"/>
            <a:ext cx="2014317" cy="1498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9873BF0-3FD5-543B-4A93-D39E2A73DAE5}"/>
              </a:ext>
            </a:extLst>
          </p:cNvPr>
          <p:cNvSpPr/>
          <p:nvPr/>
        </p:nvSpPr>
        <p:spPr>
          <a:xfrm>
            <a:off x="7603441" y="2884947"/>
            <a:ext cx="1007159" cy="149851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2B2B22-087A-3EAC-7D14-B6FD24CC0157}"/>
              </a:ext>
            </a:extLst>
          </p:cNvPr>
          <p:cNvSpPr/>
          <p:nvPr/>
        </p:nvSpPr>
        <p:spPr>
          <a:xfrm>
            <a:off x="4739264" y="2884947"/>
            <a:ext cx="2670204" cy="149851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2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Models and Performance Evaluation of Transfer Learning (with Very Small Data)</a:t>
            </a:r>
            <a:endParaRPr lang="ko-KR" altLang="en-US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520B89-8703-B895-3AC7-2EF5FD006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12" y="2124407"/>
            <a:ext cx="4477375" cy="1448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A80917-2534-3AF4-CC90-985C55D625CA}"/>
              </a:ext>
            </a:extLst>
          </p:cNvPr>
          <p:cNvSpPr txBox="1"/>
          <p:nvPr/>
        </p:nvSpPr>
        <p:spPr>
          <a:xfrm>
            <a:off x="509921" y="1076528"/>
            <a:ext cx="5343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실제 의료데이터는 몇 만장이 안되는 경우도 많다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실험을 위해 </a:t>
            </a:r>
            <a:r>
              <a:rPr lang="en-US" altLang="ko-KR" dirty="0"/>
              <a:t>200,000 </a:t>
            </a:r>
            <a:r>
              <a:rPr lang="ko-KR" altLang="en-US" dirty="0"/>
              <a:t>장</a:t>
            </a:r>
            <a:r>
              <a:rPr lang="en-US" altLang="ko-KR" dirty="0"/>
              <a:t> </a:t>
            </a:r>
            <a:r>
              <a:rPr lang="ko-KR" altLang="en-US" dirty="0"/>
              <a:t>중 </a:t>
            </a:r>
            <a:r>
              <a:rPr lang="en-US" altLang="ko-KR" dirty="0"/>
              <a:t>5,000 </a:t>
            </a:r>
            <a:r>
              <a:rPr lang="ko-KR" altLang="en-US" dirty="0"/>
              <a:t>장만 사용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9F73C2-8032-6ABA-A20A-D1F044138E50}"/>
              </a:ext>
            </a:extLst>
          </p:cNvPr>
          <p:cNvSpPr txBox="1"/>
          <p:nvPr/>
        </p:nvSpPr>
        <p:spPr>
          <a:xfrm>
            <a:off x="509920" y="3934813"/>
            <a:ext cx="10843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모델이 클수록 </a:t>
            </a:r>
            <a:r>
              <a:rPr lang="en-US" altLang="ko-KR" dirty="0"/>
              <a:t>Transfer</a:t>
            </a:r>
            <a:r>
              <a:rPr lang="ko-KR" altLang="en-US" dirty="0"/>
              <a:t> </a:t>
            </a:r>
            <a:r>
              <a:rPr lang="en-US" altLang="ko-KR" dirty="0"/>
              <a:t>Learning</a:t>
            </a:r>
            <a:r>
              <a:rPr lang="ko-KR" altLang="en-US" dirty="0"/>
              <a:t>과 데이터 수의 중요성이 높아진다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108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C934A8E-8447-F18D-323E-0D70AD09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7200" b="1" dirty="0" err="1"/>
              <a:t>QnA</a:t>
            </a:r>
            <a:endParaRPr lang="ko-KR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134733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Representational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Analysis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the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Effects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Transfer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작은 모델에서 </a:t>
            </a:r>
            <a:r>
              <a:rPr lang="en-US" altLang="ko-KR" sz="2000" dirty="0"/>
              <a:t>transfer learning </a:t>
            </a:r>
            <a:r>
              <a:rPr lang="ko-KR" altLang="en-US" sz="2000" dirty="0"/>
              <a:t>이 큰 유의미한 차이를 보이지 않는다는 것을 보여줬는데</a:t>
            </a:r>
            <a:r>
              <a:rPr lang="en-US" altLang="ko-KR" sz="2000" dirty="0"/>
              <a:t>, transfer learning </a:t>
            </a:r>
            <a:r>
              <a:rPr lang="ko-KR" altLang="en-US" sz="2000" dirty="0"/>
              <a:t>이 </a:t>
            </a:r>
            <a:r>
              <a:rPr lang="en-US" altLang="ko-KR" sz="2000" dirty="0"/>
              <a:t>rand </a:t>
            </a:r>
            <a:r>
              <a:rPr lang="en-US" altLang="ko-KR" sz="2000" dirty="0" err="1"/>
              <a:t>init</a:t>
            </a:r>
            <a:r>
              <a:rPr lang="en-US" altLang="ko-KR" sz="2000" dirty="0"/>
              <a:t> </a:t>
            </a:r>
            <a:r>
              <a:rPr lang="ko-KR" altLang="en-US" sz="2000" dirty="0"/>
              <a:t>과 </a:t>
            </a:r>
            <a:r>
              <a:rPr lang="en-US" altLang="ko-KR" sz="2000" dirty="0"/>
              <a:t>representational differences</a:t>
            </a:r>
            <a:r>
              <a:rPr lang="ko-KR" altLang="en-US" sz="2000" dirty="0"/>
              <a:t> 가 있는가</a:t>
            </a:r>
            <a:r>
              <a:rPr lang="en-US" altLang="ko-KR" sz="2000" dirty="0"/>
              <a:t>?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SVCCA </a:t>
            </a:r>
            <a:r>
              <a:rPr lang="ko-KR" altLang="en-US" sz="2000" dirty="0"/>
              <a:t>를 통해 </a:t>
            </a:r>
            <a:r>
              <a:rPr lang="en-US" altLang="ko-KR" sz="2000" dirty="0"/>
              <a:t>top two-layer </a:t>
            </a:r>
            <a:r>
              <a:rPr lang="ko-KR" altLang="en-US" sz="2000" dirty="0"/>
              <a:t>의 </a:t>
            </a:r>
            <a:r>
              <a:rPr lang="en-US" altLang="ko-KR" sz="2000" dirty="0"/>
              <a:t>representation </a:t>
            </a:r>
            <a:r>
              <a:rPr lang="ko-KR" altLang="en-US" sz="2000" dirty="0"/>
              <a:t>을 비교해 보았다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SVCCA</a:t>
            </a:r>
            <a:r>
              <a:rPr lang="ko-KR" altLang="en-US" sz="1600" dirty="0"/>
              <a:t> </a:t>
            </a:r>
            <a:r>
              <a:rPr lang="en-US" altLang="ko-KR" sz="1600" dirty="0"/>
              <a:t>(Singular</a:t>
            </a:r>
            <a:r>
              <a:rPr lang="ko-KR" altLang="en-US" sz="1600" dirty="0"/>
              <a:t> </a:t>
            </a:r>
            <a:r>
              <a:rPr lang="en-US" altLang="ko-KR" sz="1600" dirty="0"/>
              <a:t>Vector</a:t>
            </a:r>
            <a:r>
              <a:rPr lang="ko-KR" altLang="en-US" sz="1600" dirty="0"/>
              <a:t> </a:t>
            </a:r>
            <a:r>
              <a:rPr lang="en-US" altLang="ko-KR" sz="1600" dirty="0"/>
              <a:t>Canonical</a:t>
            </a:r>
            <a:r>
              <a:rPr lang="ko-KR" altLang="en-US" sz="1600" dirty="0"/>
              <a:t> </a:t>
            </a:r>
            <a:r>
              <a:rPr lang="en-US" altLang="ko-KR" sz="1600" dirty="0"/>
              <a:t>Correlation Analysis, 2017)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en-US" altLang="ko-KR" sz="1200" dirty="0"/>
              <a:t>Affine transform</a:t>
            </a:r>
            <a:r>
              <a:rPr lang="ko-KR" altLang="en-US" sz="1200" dirty="0"/>
              <a:t> 에 </a:t>
            </a:r>
            <a:r>
              <a:rPr lang="en-US" altLang="ko-KR" sz="1200" dirty="0"/>
              <a:t>invariant </a:t>
            </a:r>
            <a:r>
              <a:rPr lang="ko-KR" altLang="en-US" sz="1200" dirty="0"/>
              <a:t>한 방법으로 두 </a:t>
            </a:r>
            <a:r>
              <a:rPr lang="en-US" altLang="ko-KR" sz="1200" dirty="0"/>
              <a:t>representation</a:t>
            </a:r>
            <a:r>
              <a:rPr lang="ko-KR" altLang="en-US" sz="1200" dirty="0"/>
              <a:t> 을 비교하는 방법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ko-KR" altLang="en-US" sz="1200" dirty="0"/>
              <a:t>다른 </a:t>
            </a:r>
            <a:r>
              <a:rPr lang="en-US" altLang="ko-KR" sz="1200" dirty="0"/>
              <a:t>layer, </a:t>
            </a:r>
            <a:r>
              <a:rPr lang="ko-KR" altLang="en-US" sz="1200" dirty="0"/>
              <a:t>다른 </a:t>
            </a:r>
            <a:r>
              <a:rPr lang="en-US" altLang="ko-KR" sz="1200" dirty="0"/>
              <a:t>network </a:t>
            </a:r>
            <a:r>
              <a:rPr lang="ko-KR" altLang="en-US" sz="1200" dirty="0"/>
              <a:t>간의 비교가 가능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en-US" altLang="ko-KR" sz="1100" dirty="0">
                <a:hlinkClick r:id="rId2"/>
              </a:rPr>
              <a:t>google/</a:t>
            </a:r>
            <a:r>
              <a:rPr lang="en-US" altLang="ko-KR" sz="1100" dirty="0" err="1">
                <a:hlinkClick r:id="rId2"/>
              </a:rPr>
              <a:t>svcca</a:t>
            </a:r>
            <a:r>
              <a:rPr lang="en-US" altLang="ko-KR" sz="1100" dirty="0">
                <a:hlinkClick r:id="rId2"/>
              </a:rPr>
              <a:t> (github.com)</a:t>
            </a:r>
            <a:endParaRPr lang="en-US" altLang="ko-KR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62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Representational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Analysis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the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Effects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Transfer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/>
              <a:t>Top two-layer </a:t>
            </a:r>
            <a:r>
              <a:rPr lang="ko-KR" altLang="en-US" sz="2000" dirty="0"/>
              <a:t>간의 </a:t>
            </a:r>
            <a:r>
              <a:rPr lang="en-US" altLang="ko-KR" sz="2000" dirty="0"/>
              <a:t>CCA </a:t>
            </a:r>
            <a:r>
              <a:rPr lang="ko-KR" altLang="en-US" sz="2000" dirty="0"/>
              <a:t>유사도를 구한 것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/>
              <a:t>Large</a:t>
            </a:r>
            <a:r>
              <a:rPr lang="ko-KR" altLang="en-US" sz="2000" dirty="0"/>
              <a:t> </a:t>
            </a:r>
            <a:r>
              <a:rPr lang="en-US" altLang="ko-KR" sz="2000" dirty="0"/>
              <a:t>Model </a:t>
            </a:r>
            <a:r>
              <a:rPr lang="ko-KR" altLang="en-US" sz="2000" dirty="0"/>
              <a:t>에서 </a:t>
            </a:r>
            <a:r>
              <a:rPr lang="en-US" altLang="ko-KR" sz="2000" dirty="0"/>
              <a:t>transfer learning </a:t>
            </a:r>
            <a:r>
              <a:rPr lang="ko-KR" altLang="en-US" sz="2000" dirty="0"/>
              <a:t>에 의한 영향이 더 크다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8B5BFC8-E97C-7B24-CE3C-CC955BB63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477" y="2309091"/>
            <a:ext cx="9197296" cy="388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5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Representational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Analysis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the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Effects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Transfer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Feature Reuse, 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수렴후에도 초기 </a:t>
            </a:r>
            <a:r>
              <a:rPr lang="en-US" altLang="ko-KR" sz="2000" dirty="0"/>
              <a:t>filter</a:t>
            </a:r>
            <a:r>
              <a:rPr lang="ko-KR" altLang="en-US" sz="2000" dirty="0"/>
              <a:t>에서 크게 변하지 않고 유의미하게 사용되는 것이 </a:t>
            </a:r>
            <a:r>
              <a:rPr lang="en-US" altLang="ko-KR" sz="2000" dirty="0"/>
              <a:t>low layer</a:t>
            </a:r>
            <a:r>
              <a:rPr lang="ko-KR" altLang="en-US" sz="2000" dirty="0"/>
              <a:t> 일 수록 많이 일어난다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Large</a:t>
            </a:r>
            <a:r>
              <a:rPr lang="ko-KR" altLang="en-US" sz="2000" dirty="0"/>
              <a:t> </a:t>
            </a:r>
            <a:r>
              <a:rPr lang="en-US" altLang="ko-KR" sz="2000" dirty="0"/>
              <a:t>model </a:t>
            </a:r>
            <a:r>
              <a:rPr lang="ko-KR" altLang="en-US" sz="2000" dirty="0"/>
              <a:t>그리고 </a:t>
            </a:r>
            <a:r>
              <a:rPr lang="en-US" altLang="ko-KR" sz="2000" dirty="0"/>
              <a:t>transfer learning </a:t>
            </a:r>
            <a:r>
              <a:rPr lang="ko-KR" altLang="en-US" sz="2000" dirty="0"/>
              <a:t>에서 </a:t>
            </a:r>
            <a:r>
              <a:rPr lang="en-US" altLang="ko-KR" sz="2000" dirty="0"/>
              <a:t>feature reuse </a:t>
            </a:r>
            <a:r>
              <a:rPr lang="ko-KR" altLang="en-US" sz="2000" dirty="0"/>
              <a:t>가 더 많이 발생한다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32AA40-CD15-E6D2-AFCF-C899DA8C2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87" y="2989189"/>
            <a:ext cx="11615625" cy="290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7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Representational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Analysis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the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Effects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Transfer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83" y="698338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Retina</a:t>
            </a:r>
            <a:r>
              <a:rPr lang="ko-KR" altLang="en-US" sz="2000" dirty="0"/>
              <a:t> </a:t>
            </a:r>
            <a:r>
              <a:rPr lang="en-US" altLang="ko-KR" sz="2000" dirty="0"/>
              <a:t>Dataset </a:t>
            </a:r>
            <a:r>
              <a:rPr lang="ko-KR" altLang="en-US" sz="2000" dirty="0"/>
              <a:t>으로 학습하기 전 후 첫번째 </a:t>
            </a:r>
            <a:r>
              <a:rPr lang="en-US" altLang="ko-KR" sz="2000" dirty="0"/>
              <a:t>layer </a:t>
            </a:r>
            <a:r>
              <a:rPr lang="ko-KR" altLang="en-US" sz="2000" dirty="0"/>
              <a:t>필터 비교</a:t>
            </a:r>
            <a:endParaRPr lang="en-US" altLang="ko-KR" sz="20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Resnet</a:t>
            </a:r>
            <a:r>
              <a:rPr lang="ko-KR" altLang="en-US" sz="2000" dirty="0"/>
              <a:t>은 </a:t>
            </a:r>
            <a:r>
              <a:rPr lang="en-US" altLang="ko-KR" sz="2000" dirty="0"/>
              <a:t>low layer</a:t>
            </a:r>
            <a:r>
              <a:rPr lang="ko-KR" altLang="en-US" sz="2000" dirty="0"/>
              <a:t>에 변화가 크지 않다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하지만 </a:t>
            </a:r>
            <a:r>
              <a:rPr lang="en-US" altLang="ko-KR" sz="2000" dirty="0"/>
              <a:t>CBR </a:t>
            </a:r>
            <a:r>
              <a:rPr lang="ko-KR" altLang="en-US" sz="2000" dirty="0"/>
              <a:t>모델은 필터가 많이 변한다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13C031-9277-E118-4034-198217EA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856" y="2574757"/>
            <a:ext cx="8452283" cy="414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76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Representational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Analysis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the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Effects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of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Transfer</a:t>
            </a:r>
            <a:endParaRPr lang="ko-KR" altLang="en-US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13C031-9277-E118-4034-198217EA78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77"/>
          <a:stretch/>
        </p:blipFill>
        <p:spPr>
          <a:xfrm>
            <a:off x="4461201" y="556053"/>
            <a:ext cx="6189527" cy="620692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03B3921-9C5A-F8E5-1C5D-D23063B7F182}"/>
              </a:ext>
            </a:extLst>
          </p:cNvPr>
          <p:cNvSpPr/>
          <p:nvPr/>
        </p:nvSpPr>
        <p:spPr>
          <a:xfrm>
            <a:off x="5497575" y="5169115"/>
            <a:ext cx="546265" cy="5225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860114-292D-2CE0-0EFB-FEC89B0E41F2}"/>
              </a:ext>
            </a:extLst>
          </p:cNvPr>
          <p:cNvSpPr/>
          <p:nvPr/>
        </p:nvSpPr>
        <p:spPr>
          <a:xfrm>
            <a:off x="8597036" y="5169115"/>
            <a:ext cx="546265" cy="5225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D29B19-305E-7EC7-8D0E-01CCD82D31D2}"/>
              </a:ext>
            </a:extLst>
          </p:cNvPr>
          <p:cNvSpPr/>
          <p:nvPr/>
        </p:nvSpPr>
        <p:spPr>
          <a:xfrm>
            <a:off x="5010689" y="1606517"/>
            <a:ext cx="1009402" cy="5225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6BF8BF-60E7-CC87-AB66-15BFE5314E94}"/>
              </a:ext>
            </a:extLst>
          </p:cNvPr>
          <p:cNvSpPr/>
          <p:nvPr/>
        </p:nvSpPr>
        <p:spPr>
          <a:xfrm>
            <a:off x="8106189" y="1606517"/>
            <a:ext cx="1009402" cy="5225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629FE84-CCEE-8B52-647E-A17DFD525D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91" r="50000"/>
          <a:stretch/>
        </p:blipFill>
        <p:spPr>
          <a:xfrm>
            <a:off x="1052623" y="556054"/>
            <a:ext cx="3142852" cy="616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63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Convergence: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Feature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Independent Benefits and Weight Transfusion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Transfer </a:t>
            </a:r>
            <a:r>
              <a:rPr lang="ko-KR" altLang="en-US" sz="2000" dirty="0"/>
              <a:t>는 </a:t>
            </a:r>
            <a:r>
              <a:rPr lang="en-US" altLang="ko-KR" sz="2000" dirty="0"/>
              <a:t>feature </a:t>
            </a:r>
            <a:r>
              <a:rPr lang="ko-KR" altLang="en-US" sz="2000" dirty="0"/>
              <a:t>독립적인 </a:t>
            </a:r>
            <a:r>
              <a:rPr lang="en-US" altLang="ko-KR" sz="2000" dirty="0"/>
              <a:t>benefit </a:t>
            </a:r>
            <a:r>
              <a:rPr lang="ko-KR" altLang="en-US" sz="2000" dirty="0"/>
              <a:t>을 제공한다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Pre-trained</a:t>
            </a:r>
            <a:r>
              <a:rPr lang="ko-KR" altLang="en-US" sz="2000" dirty="0"/>
              <a:t> 가중치의 평균과 분산을 가져와서 </a:t>
            </a:r>
            <a:r>
              <a:rPr lang="en-US" altLang="ko-KR" sz="2000" dirty="0"/>
              <a:t>random initialize.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B20E96-5375-2B46-5637-FB2561117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27" y="2244725"/>
            <a:ext cx="9498346" cy="355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3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Convergence: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Feature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Independent Benefits and Weight Transfusion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Lowest two layers/stages </a:t>
            </a:r>
            <a:r>
              <a:rPr lang="ko-KR" altLang="en-US" sz="2000" dirty="0"/>
              <a:t>의 </a:t>
            </a:r>
            <a:r>
              <a:rPr lang="en-US" altLang="ko-KR" sz="2000" dirty="0"/>
              <a:t>weight</a:t>
            </a:r>
            <a:r>
              <a:rPr lang="ko-KR" altLang="en-US" sz="2000" dirty="0"/>
              <a:t> 를 사용하는 것이 가장 효과가 크다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378F305-D772-EFC4-1256-05AF7448D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2141326"/>
            <a:ext cx="10136015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2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Convergence: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Feature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Independent Benefits and Weight Transfusion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앞서 설명한 내용들을 바탕으로 </a:t>
            </a:r>
            <a:r>
              <a:rPr lang="en-US" altLang="ko-KR" sz="2000" dirty="0"/>
              <a:t>low layer</a:t>
            </a:r>
            <a:r>
              <a:rPr lang="ko-KR" altLang="en-US" sz="2000" dirty="0"/>
              <a:t>들은 </a:t>
            </a:r>
            <a:r>
              <a:rPr lang="en-US" altLang="ko-KR" sz="2000" dirty="0"/>
              <a:t>transfer learning </a:t>
            </a:r>
            <a:r>
              <a:rPr lang="ko-KR" altLang="en-US" sz="2000" dirty="0"/>
              <a:t>하고 </a:t>
            </a:r>
            <a:r>
              <a:rPr lang="en-US" altLang="ko-KR" sz="2000" dirty="0"/>
              <a:t>higher layer</a:t>
            </a:r>
            <a:r>
              <a:rPr lang="ko-KR" altLang="en-US" sz="2000" dirty="0"/>
              <a:t>는 </a:t>
            </a:r>
            <a:r>
              <a:rPr lang="en-US" altLang="ko-KR" sz="2000" dirty="0"/>
              <a:t>flexible </a:t>
            </a:r>
            <a:r>
              <a:rPr lang="ko-KR" altLang="en-US" sz="2000" dirty="0"/>
              <a:t>하게 가볍게 </a:t>
            </a:r>
            <a:r>
              <a:rPr lang="en-US" altLang="ko-KR" sz="2000" dirty="0"/>
              <a:t>redesign </a:t>
            </a:r>
            <a:r>
              <a:rPr lang="ko-KR" altLang="en-US" sz="2000" dirty="0"/>
              <a:t>할 수 있다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첫 번째 </a:t>
            </a:r>
            <a:r>
              <a:rPr lang="en-US" altLang="ko-KR" sz="2000" dirty="0"/>
              <a:t>layer</a:t>
            </a:r>
            <a:r>
              <a:rPr lang="ko-KR" altLang="en-US" sz="2000" dirty="0"/>
              <a:t>에 </a:t>
            </a:r>
            <a:r>
              <a:rPr lang="en-US" altLang="ko-KR" sz="2000" dirty="0"/>
              <a:t>Synthetic Gabor </a:t>
            </a:r>
            <a:r>
              <a:rPr lang="ko-KR" altLang="en-US" sz="2000" dirty="0"/>
              <a:t>필터를 사용하는 것만으로 첫 번째 레이어만 </a:t>
            </a:r>
            <a:r>
              <a:rPr lang="en-US" altLang="ko-KR" sz="2000" dirty="0"/>
              <a:t>transfer </a:t>
            </a:r>
            <a:r>
              <a:rPr lang="ko-KR" altLang="en-US" sz="2000" dirty="0"/>
              <a:t>한 것과 동일한 성능을 낼 수 있다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BB1CC4-2C27-1E88-CC02-6A2E68976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73" y="2957012"/>
            <a:ext cx="9421540" cy="3581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94E18B-1106-B128-C6F4-C58F92AA3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318" y="3345873"/>
            <a:ext cx="2647682" cy="257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98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2EDB1-8838-9B19-CCDF-C09837AA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3" y="86497"/>
            <a:ext cx="10515600" cy="469557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Conclusion</a:t>
            </a:r>
            <a:endParaRPr lang="ko-KR" altLang="en-US" sz="2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9FEC-F168-0D55-9412-F50B0B21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48" y="849441"/>
            <a:ext cx="11290231" cy="458039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Transfer Learning </a:t>
            </a:r>
            <a:r>
              <a:rPr lang="ko-KR" altLang="en-US" sz="2000" dirty="0"/>
              <a:t>에 대한 의문들을 연구해보았다</a:t>
            </a:r>
            <a:r>
              <a:rPr lang="en-US" altLang="ko-KR" sz="2000" dirty="0"/>
              <a:t>.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/>
              <a:t>Task </a:t>
            </a:r>
            <a:r>
              <a:rPr lang="ko-KR" altLang="en-US" sz="2000" dirty="0"/>
              <a:t>에 따라 </a:t>
            </a:r>
            <a:r>
              <a:rPr lang="en-US" altLang="ko-KR" sz="2000" dirty="0"/>
              <a:t>Standard </a:t>
            </a:r>
            <a:r>
              <a:rPr lang="ko-KR" altLang="en-US" sz="2000" dirty="0"/>
              <a:t>모델들이 </a:t>
            </a:r>
            <a:r>
              <a:rPr lang="en-US" altLang="ko-KR" sz="2000" dirty="0"/>
              <a:t>overparameterization</a:t>
            </a:r>
            <a:r>
              <a:rPr lang="ko-KR" altLang="en-US" sz="2000" dirty="0"/>
              <a:t> 이 발생할 수 있다는 것을 보였다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/>
              <a:t>실험을 통해 얻은 직관으로 </a:t>
            </a:r>
            <a:r>
              <a:rPr lang="en-US" altLang="ko-KR" sz="2000" dirty="0"/>
              <a:t>hybrid transfer approach </a:t>
            </a:r>
            <a:r>
              <a:rPr lang="ko-KR" altLang="en-US" sz="2000" dirty="0"/>
              <a:t>를 실험해보았다</a:t>
            </a:r>
            <a:r>
              <a:rPr lang="en-US" altLang="ko-KR" sz="2000" dirty="0"/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ko-KR" sz="2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B9253-7FEE-BB47-C6C5-65DF781CE34A}"/>
              </a:ext>
            </a:extLst>
          </p:cNvPr>
          <p:cNvSpPr/>
          <p:nvPr/>
        </p:nvSpPr>
        <p:spPr>
          <a:xfrm>
            <a:off x="80319" y="86497"/>
            <a:ext cx="98854" cy="4695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319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332E93-A660-0002-D650-AA278DB3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B045-C60E-4DE2-A232-4CC5CFDE765D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C934A8E-8447-F18D-323E-0D70AD09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7200" b="1" dirty="0" err="1"/>
              <a:t>QnA</a:t>
            </a:r>
            <a:endParaRPr lang="ko-KR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97010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632</Words>
  <Application>Microsoft Office PowerPoint</Application>
  <PresentationFormat>와이드스크린</PresentationFormat>
  <Paragraphs>99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Transfusion: Understanding Transfer Learning for Medical Imaging</vt:lpstr>
      <vt:lpstr>Transfer Learning</vt:lpstr>
      <vt:lpstr>Introduction</vt:lpstr>
      <vt:lpstr>Contributions</vt:lpstr>
      <vt:lpstr>Datasets</vt:lpstr>
      <vt:lpstr>Models</vt:lpstr>
      <vt:lpstr>Models and Performance Evaluation of Transfer Learning</vt:lpstr>
      <vt:lpstr>Models and Performance Evaluation of Transfer Learning (with Very Small Data)</vt:lpstr>
      <vt:lpstr>QnA</vt:lpstr>
      <vt:lpstr>Representational Analysis of the Effects of Transfer</vt:lpstr>
      <vt:lpstr>Representational Analysis of the Effects of Transfer</vt:lpstr>
      <vt:lpstr>Representational Analysis of the Effects of Transfer</vt:lpstr>
      <vt:lpstr>Representational Analysis of the Effects of Transfer</vt:lpstr>
      <vt:lpstr>Representational Analysis of the Effects of Transfer</vt:lpstr>
      <vt:lpstr>Convergence: Feature Independent Benefits and Weight Transfusion</vt:lpstr>
      <vt:lpstr>Convergence: Feature Independent Benefits and Weight Transfusion</vt:lpstr>
      <vt:lpstr>Convergence: Feature Independent Benefits and Weight Transfusion</vt:lpstr>
      <vt:lpstr>Conclusion</vt:lpstr>
      <vt:lpstr>QnA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Transfusion: Understanding Transfer Learning for Medical Imaging</dc:title>
  <dc:creator>이희재</dc:creator>
  <cp:lastModifiedBy>이희재</cp:lastModifiedBy>
  <cp:revision>8</cp:revision>
  <dcterms:created xsi:type="dcterms:W3CDTF">2022-06-05T09:36:15Z</dcterms:created>
  <dcterms:modified xsi:type="dcterms:W3CDTF">2022-06-12T11:13:29Z</dcterms:modified>
</cp:coreProperties>
</file>