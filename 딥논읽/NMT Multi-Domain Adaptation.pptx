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62" r:id="rId3"/>
    <p:sldId id="257" r:id="rId4"/>
    <p:sldId id="263" r:id="rId5"/>
    <p:sldId id="261" r:id="rId6"/>
    <p:sldId id="258" r:id="rId7"/>
    <p:sldId id="259" r:id="rId8"/>
    <p:sldId id="260" r:id="rId9"/>
    <p:sldId id="264" r:id="rId10"/>
    <p:sldId id="268" r:id="rId11"/>
    <p:sldId id="265" r:id="rId12"/>
    <p:sldId id="266" r:id="rId13"/>
    <p:sldId id="267" r:id="rId14"/>
  </p:sldIdLst>
  <p:sldSz cx="12192000" cy="6858000"/>
  <p:notesSz cx="6858000" cy="9144000"/>
  <p:defaultTextStyle>
    <a:defPPr>
      <a:defRPr lang="ko-Kore-K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1"/>
    <p:restoredTop sz="94694"/>
  </p:normalViewPr>
  <p:slideViewPr>
    <p:cSldViewPr snapToGrid="0">
      <p:cViewPr varScale="1">
        <p:scale>
          <a:sx n="47" d="100"/>
          <a:sy n="47" d="100"/>
        </p:scale>
        <p:origin x="58" y="7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ko-Kore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A252869-5ED7-4A49-9542-46C68BCFA8C7}" type="datetimeFigureOut">
              <a:rPr kumimoji="1" lang="ko-Kore-KR" altLang="en-US" smtClean="0"/>
              <a:t>08/28/2022</a:t>
            </a:fld>
            <a:endParaRPr kumimoji="1" lang="ko-Kore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ore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  <a:endParaRPr kumimoji="1" lang="ko-Kore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ko-Kore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A0A12C9-C117-0243-8AB1-FDD1C1423588}" type="slidenum">
              <a:rPr kumimoji="1" lang="ko-Kore-KR" altLang="en-US" smtClean="0"/>
              <a:t>‹#›</a:t>
            </a:fld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226339719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ko-Kore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0A12C9-C117-0243-8AB1-FDD1C1423588}" type="slidenum">
              <a:rPr kumimoji="1" lang="ko-Kore-KR" altLang="en-US" smtClean="0"/>
              <a:t>5</a:t>
            </a:fld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243842036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0544E88-1EDD-07B1-EBCE-36DE742E070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ko-KR" altLang="en-US"/>
              <a:t>마스터 제목 스타일 편집</a:t>
            </a:r>
            <a:endParaRPr kumimoji="1" lang="ko-Kore-KR" altLang="en-US"/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B266B0D6-DB8A-AF37-0BD4-67AA613420C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ko-KR" altLang="en-US"/>
              <a:t>클릭하여 마스터 부제목 스타일 편집</a:t>
            </a:r>
            <a:endParaRPr kumimoji="1" lang="ko-Kore-KR" altLang="en-US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1140674-45DD-B10A-BF83-77DBA57BBD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3E6978-9631-5348-AA0F-F117B91C8F52}" type="datetimeFigureOut">
              <a:rPr kumimoji="1" lang="ko-Kore-KR" altLang="en-US" smtClean="0"/>
              <a:t>08/28/2022</a:t>
            </a:fld>
            <a:endParaRPr kumimoji="1" lang="ko-Kore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BC64721F-2661-F5F1-6118-E67EF67B60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ore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CE373873-4D37-C9C4-3FD2-F502DBF42F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E480F1-B642-0146-955D-68602457C652}" type="slidenum">
              <a:rPr kumimoji="1" lang="ko-Kore-KR" altLang="en-US" smtClean="0"/>
              <a:t>‹#›</a:t>
            </a:fld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428194424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D05CD2D-E1E5-C6DC-FB94-E55E8795EE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ko-KR" altLang="en-US"/>
              <a:t>마스터 제목 스타일 편집</a:t>
            </a:r>
            <a:endParaRPr kumimoji="1" lang="ko-Kore-KR" alt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6069F88-881B-2BDA-418E-F21D56119DF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  <a:endParaRPr kumimoji="1" lang="ko-Kore-KR" altLang="en-US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9D06D0B-6613-6C06-7003-594373231C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3E6978-9631-5348-AA0F-F117B91C8F52}" type="datetimeFigureOut">
              <a:rPr kumimoji="1" lang="ko-Kore-KR" altLang="en-US" smtClean="0"/>
              <a:t>08/28/2022</a:t>
            </a:fld>
            <a:endParaRPr kumimoji="1" lang="ko-Kore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EF26A708-D3E4-78FD-4322-D9B9617C30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ore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7D57F837-BDE0-323E-2E69-6A76D3374F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E480F1-B642-0146-955D-68602457C652}" type="slidenum">
              <a:rPr kumimoji="1" lang="ko-Kore-KR" altLang="en-US" smtClean="0"/>
              <a:t>‹#›</a:t>
            </a:fld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175188642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3E344C1-0A24-65B4-A732-39DD8853C3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ko-KR" altLang="en-US"/>
              <a:t>마스터 제목 스타일 편집</a:t>
            </a:r>
            <a:endParaRPr kumimoji="1" lang="ko-Kore-KR" altLang="en-US"/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7FB27B48-6ED0-9007-300E-E56464145B4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F14D3B30-B46F-1BA3-05A9-BD79352FC3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3E6978-9631-5348-AA0F-F117B91C8F52}" type="datetimeFigureOut">
              <a:rPr kumimoji="1" lang="ko-Kore-KR" altLang="en-US" smtClean="0"/>
              <a:t>08/28/2022</a:t>
            </a:fld>
            <a:endParaRPr kumimoji="1" lang="ko-Kore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AEEAF650-EE40-F1AB-37DC-83DE6CCEC4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ore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AFC4D094-FA9C-83F4-C69F-88BB7C2A38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E480F1-B642-0146-955D-68602457C652}" type="slidenum">
              <a:rPr kumimoji="1" lang="ko-Kore-KR" altLang="en-US" smtClean="0"/>
              <a:t>‹#›</a:t>
            </a:fld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237423686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9D0D01C-7997-3BDE-5D8C-FD7F501703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ko-KR" altLang="en-US"/>
              <a:t>마스터 제목 스타일 편집</a:t>
            </a:r>
            <a:endParaRPr kumimoji="1" lang="ko-Kore-KR" alt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907CFB90-D14E-84A4-34EB-E71B4E378E1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  <a:endParaRPr kumimoji="1" lang="ko-Kore-KR" altLang="en-US"/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503D80BC-C4F3-50AD-9C12-1FF94E89BD4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  <a:endParaRPr kumimoji="1" lang="ko-Kore-KR" altLang="en-US"/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EB72021E-6044-86B2-67C6-655F162B52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3E6978-9631-5348-AA0F-F117B91C8F52}" type="datetimeFigureOut">
              <a:rPr kumimoji="1" lang="ko-Kore-KR" altLang="en-US" smtClean="0"/>
              <a:t>08/28/2022</a:t>
            </a:fld>
            <a:endParaRPr kumimoji="1" lang="ko-Kore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00359C7C-F892-EF54-F908-51A1EEED36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ore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6774DADC-80C6-F76F-5C59-02F16B0672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E480F1-B642-0146-955D-68602457C652}" type="slidenum">
              <a:rPr kumimoji="1" lang="ko-Kore-KR" altLang="en-US" smtClean="0"/>
              <a:t>‹#›</a:t>
            </a:fld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259847569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0963336-4476-17CE-2575-0892719043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ko-KR" altLang="en-US"/>
              <a:t>마스터 제목 스타일 편집</a:t>
            </a:r>
            <a:endParaRPr kumimoji="1" lang="ko-Kore-KR" altLang="en-US"/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C4217412-6031-E847-EC44-FF5595F3128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EBD55CC8-4058-6076-D963-DA43EC4346B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  <a:endParaRPr kumimoji="1" lang="ko-Kore-KR" altLang="en-US"/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CA07BAE8-3EED-B636-098C-EF86E688A57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A3B51C50-A45E-A936-4C11-38F0458810E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  <a:endParaRPr kumimoji="1" lang="ko-Kore-KR" altLang="en-US"/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6967F90A-F666-F4C8-85C6-A17C34860A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3E6978-9631-5348-AA0F-F117B91C8F52}" type="datetimeFigureOut">
              <a:rPr kumimoji="1" lang="ko-Kore-KR" altLang="en-US" smtClean="0"/>
              <a:t>08/28/2022</a:t>
            </a:fld>
            <a:endParaRPr kumimoji="1" lang="ko-Kore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828193B9-D77E-2B3E-025A-045C70C169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ore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937DEFAC-6EF3-6992-CFFD-25D03CB3B4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E480F1-B642-0146-955D-68602457C652}" type="slidenum">
              <a:rPr kumimoji="1" lang="ko-Kore-KR" altLang="en-US" smtClean="0"/>
              <a:t>‹#›</a:t>
            </a:fld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311865514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6F02531-9AA3-5E3D-3B8C-5E0BDD1408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ko-KR" altLang="en-US"/>
              <a:t>마스터 제목 스타일 편집</a:t>
            </a:r>
            <a:endParaRPr kumimoji="1" lang="ko-Kore-KR" altLang="en-US"/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F2125F99-DC56-A6CC-D4A3-4DB709EFCB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3E6978-9631-5348-AA0F-F117B91C8F52}" type="datetimeFigureOut">
              <a:rPr kumimoji="1" lang="ko-Kore-KR" altLang="en-US" smtClean="0"/>
              <a:t>08/28/2022</a:t>
            </a:fld>
            <a:endParaRPr kumimoji="1" lang="ko-Kore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07619804-1097-5F1A-4913-6787DAD49C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ore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F3E09B17-7374-B546-E30F-D49A05A641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E480F1-B642-0146-955D-68602457C652}" type="slidenum">
              <a:rPr kumimoji="1" lang="ko-Kore-KR" altLang="en-US" smtClean="0"/>
              <a:t>‹#›</a:t>
            </a:fld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142093613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AFAFAFE2-306A-60D9-DCF1-5501FDDE4E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3E6978-9631-5348-AA0F-F117B91C8F52}" type="datetimeFigureOut">
              <a:rPr kumimoji="1" lang="ko-Kore-KR" altLang="en-US" smtClean="0"/>
              <a:t>08/28/2022</a:t>
            </a:fld>
            <a:endParaRPr kumimoji="1" lang="ko-Kore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D5EBAE3E-501B-8A64-DC65-6AE12177B0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ore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F58F02C9-FC82-C0F7-94FB-32B943B98D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E480F1-B642-0146-955D-68602457C652}" type="slidenum">
              <a:rPr kumimoji="1" lang="ko-Kore-KR" altLang="en-US" smtClean="0"/>
              <a:t>‹#›</a:t>
            </a:fld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54944669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A41C627-CF10-35EA-4CCB-41044A3A21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ko-KR" altLang="en-US"/>
              <a:t>마스터 제목 스타일 편집</a:t>
            </a:r>
            <a:endParaRPr kumimoji="1" lang="ko-Kore-KR" alt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AA12209-FFEF-D393-A26B-08A4AE5603E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  <a:endParaRPr kumimoji="1" lang="ko-Kore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889CD20F-38DE-3408-64B0-8A72634AFD2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DDE62A55-CC7A-6B16-DFBC-E4F3C503BF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3E6978-9631-5348-AA0F-F117B91C8F52}" type="datetimeFigureOut">
              <a:rPr kumimoji="1" lang="ko-Kore-KR" altLang="en-US" smtClean="0"/>
              <a:t>08/28/2022</a:t>
            </a:fld>
            <a:endParaRPr kumimoji="1" lang="ko-Kore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3C5DB70B-0D18-D279-FB55-1A0625FE3B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ore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7EA4A650-7DCD-2756-0F55-69E2D47A65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E480F1-B642-0146-955D-68602457C652}" type="slidenum">
              <a:rPr kumimoji="1" lang="ko-Kore-KR" altLang="en-US" smtClean="0"/>
              <a:t>‹#›</a:t>
            </a:fld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68920464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9C5F254-ABF5-B0F9-90AC-68DC1BD868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ko-KR" altLang="en-US"/>
              <a:t>마스터 제목 스타일 편집</a:t>
            </a:r>
            <a:endParaRPr kumimoji="1" lang="ko-Kore-KR" altLang="en-US"/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9CF63E59-9E5F-BBD4-DF39-39AFE726F73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ko-Kore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C17352DD-0CC4-5D96-7418-3C55A79A607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C426110F-99F7-C512-AF18-5638F4094C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3E6978-9631-5348-AA0F-F117B91C8F52}" type="datetimeFigureOut">
              <a:rPr kumimoji="1" lang="ko-Kore-KR" altLang="en-US" smtClean="0"/>
              <a:t>08/28/2022</a:t>
            </a:fld>
            <a:endParaRPr kumimoji="1" lang="ko-Kore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1D8A5856-70E7-004F-3420-7020FE752D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ore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7009F71A-2AC2-DBEC-D8B1-D7EBE40E31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E480F1-B642-0146-955D-68602457C652}" type="slidenum">
              <a:rPr kumimoji="1" lang="ko-Kore-KR" altLang="en-US" smtClean="0"/>
              <a:t>‹#›</a:t>
            </a:fld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210029577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D44CC44-736E-19C6-49C7-6D755E2B89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ko-KR" altLang="en-US"/>
              <a:t>마스터 제목 스타일 편집</a:t>
            </a:r>
            <a:endParaRPr kumimoji="1" lang="ko-Kore-KR" altLang="en-US"/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14C12344-4392-1DDF-3D20-D6A9F9EA28C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  <a:endParaRPr kumimoji="1" lang="ko-Kore-KR" altLang="en-US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7287E91-6AAC-6314-7204-3A7DF84BA1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3E6978-9631-5348-AA0F-F117B91C8F52}" type="datetimeFigureOut">
              <a:rPr kumimoji="1" lang="ko-Kore-KR" altLang="en-US" smtClean="0"/>
              <a:t>08/28/2022</a:t>
            </a:fld>
            <a:endParaRPr kumimoji="1" lang="ko-Kore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E2230A27-C1BB-B015-C062-A29CEB5F41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ore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59796AD-7EC1-8943-F571-B7DD80556E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E480F1-B642-0146-955D-68602457C652}" type="slidenum">
              <a:rPr kumimoji="1" lang="ko-Kore-KR" altLang="en-US" smtClean="0"/>
              <a:t>‹#›</a:t>
            </a:fld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116640078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A8C8FB11-B5A3-9F30-6987-8E9855B0819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ko-KR" altLang="en-US"/>
              <a:t>마스터 제목 스타일 편집</a:t>
            </a:r>
            <a:endParaRPr kumimoji="1" lang="ko-Kore-KR" altLang="en-US"/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10AF8EB6-5944-42D1-FE6F-9331F31A4AA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  <a:endParaRPr kumimoji="1" lang="ko-Kore-KR" altLang="en-US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945708A-C50C-9465-7B0D-3DE722128D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3E6978-9631-5348-AA0F-F117B91C8F52}" type="datetimeFigureOut">
              <a:rPr kumimoji="1" lang="ko-Kore-KR" altLang="en-US" smtClean="0"/>
              <a:t>08/28/2022</a:t>
            </a:fld>
            <a:endParaRPr kumimoji="1" lang="ko-Kore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376C9C01-A2CB-FC73-25BB-8AF3BDB32A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ore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ECAD313D-9DC4-3458-BD88-083CE8D118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E480F1-B642-0146-955D-68602457C652}" type="slidenum">
              <a:rPr kumimoji="1" lang="ko-Kore-KR" altLang="en-US" smtClean="0"/>
              <a:t>‹#›</a:t>
            </a:fld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320180701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BA484531-4068-2FE6-800D-85170063B3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ko-KR" altLang="en-US"/>
              <a:t>마스터 제목 스타일 편집</a:t>
            </a:r>
            <a:endParaRPr kumimoji="1" lang="ko-Kore-KR" altLang="en-US"/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97F6A9AA-74C4-1D25-B2D5-C5E8F35C0A7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  <a:endParaRPr kumimoji="1" lang="ko-Kore-KR" altLang="en-US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3AF9EA4-E060-EBE2-F4F7-A521FB20078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D3E6978-9631-5348-AA0F-F117B91C8F52}" type="datetimeFigureOut">
              <a:rPr kumimoji="1" lang="ko-Kore-KR" altLang="en-US" smtClean="0"/>
              <a:t>08/28/2022</a:t>
            </a:fld>
            <a:endParaRPr kumimoji="1" lang="ko-Kore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BA7CC12E-88B5-7982-AD04-C84A42E673A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ko-Kore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E9ED417C-80F8-1976-4A5B-50DEFC151C1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4E480F1-B642-0146-955D-68602457C652}" type="slidenum">
              <a:rPr kumimoji="1" lang="ko-Kore-KR" altLang="en-US" smtClean="0"/>
              <a:t>‹#›</a:t>
            </a:fld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118399031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ore-K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3">
            <a:extLst>
              <a:ext uri="{FF2B5EF4-FFF2-40B4-BE49-F238E27FC236}">
                <a16:creationId xmlns:a16="http://schemas.microsoft.com/office/drawing/2014/main" id="{2A442A87-F02C-CCCB-565F-B842852A762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Autofit/>
          </a:bodyPr>
          <a:lstStyle/>
          <a:p>
            <a:r>
              <a:rPr lang="en" altLang="ko-Kore-KR" sz="3600" dirty="0">
                <a:latin typeface="Meiryo UI" panose="020B0604030504040204" pitchFamily="34" charset="-128"/>
                <a:ea typeface="Meiryo UI" panose="020B0604030504040204" pitchFamily="34" charset="-128"/>
              </a:rPr>
              <a:t>Improving the Quality Trade-Off for </a:t>
            </a:r>
            <a:br>
              <a:rPr lang="en" altLang="ko-Kore-KR" sz="3600" dirty="0">
                <a:latin typeface="Meiryo UI" panose="020B0604030504040204" pitchFamily="34" charset="-128"/>
                <a:ea typeface="Meiryo UI" panose="020B0604030504040204" pitchFamily="34" charset="-128"/>
              </a:rPr>
            </a:br>
            <a:r>
              <a:rPr lang="en" altLang="ko-Kore-KR" sz="3600" dirty="0">
                <a:latin typeface="Meiryo UI" panose="020B0604030504040204" pitchFamily="34" charset="-128"/>
                <a:ea typeface="Meiryo UI" panose="020B0604030504040204" pitchFamily="34" charset="-128"/>
              </a:rPr>
              <a:t>Neural Machine Translation Multi-Domain Adaptation</a:t>
            </a:r>
            <a:endParaRPr lang="ko-Kore-KR" altLang="en-US" sz="3600" dirty="0">
              <a:latin typeface="Meiryo UI" panose="020B0604030504040204" pitchFamily="34" charset="-128"/>
              <a:ea typeface="Apple SD Gothic Neo" panose="02000300000000000000" pitchFamily="2" charset="-127"/>
            </a:endParaRPr>
          </a:p>
        </p:txBody>
      </p:sp>
      <p:sp>
        <p:nvSpPr>
          <p:cNvPr id="5" name="부제목 4">
            <a:extLst>
              <a:ext uri="{FF2B5EF4-FFF2-40B4-BE49-F238E27FC236}">
                <a16:creationId xmlns:a16="http://schemas.microsoft.com/office/drawing/2014/main" id="{E378CA2C-94F6-FD11-B3F0-2E9EB0CB526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379803"/>
            <a:ext cx="9144000" cy="1655762"/>
          </a:xfrm>
        </p:spPr>
        <p:txBody>
          <a:bodyPr/>
          <a:lstStyle/>
          <a:p>
            <a:r>
              <a:rPr lang="ko-Kore-KR" altLang="en-US" dirty="0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자연어처리팀</a:t>
            </a:r>
            <a:r>
              <a:rPr lang="en-US" altLang="ko-Kore-KR" dirty="0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:</a:t>
            </a:r>
            <a:r>
              <a:rPr lang="ko-KR" altLang="en-US" dirty="0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 김수빈 </a:t>
            </a:r>
            <a:r>
              <a:rPr lang="ko-KR" altLang="en-US" b="1" dirty="0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박희수</a:t>
            </a:r>
            <a:r>
              <a:rPr lang="en-US" altLang="ko-KR" b="1" dirty="0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(</a:t>
            </a:r>
            <a:r>
              <a:rPr lang="ko-KR" altLang="en-US" b="1" dirty="0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발표자</a:t>
            </a:r>
            <a:r>
              <a:rPr lang="en-US" altLang="ko-KR" b="1" dirty="0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)</a:t>
            </a:r>
            <a:r>
              <a:rPr lang="ko-KR" altLang="en-US" dirty="0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 </a:t>
            </a:r>
            <a:r>
              <a:rPr lang="ko-KR" altLang="en-US" dirty="0" err="1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조진욱</a:t>
            </a:r>
            <a:r>
              <a:rPr lang="ko-KR" altLang="en-US" dirty="0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 </a:t>
            </a:r>
            <a:r>
              <a:rPr lang="ko-KR" altLang="en-US" dirty="0" err="1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진명훈</a:t>
            </a:r>
            <a:endParaRPr lang="ko-Kore-KR" altLang="en-US" dirty="0">
              <a:latin typeface="Apple SD Gothic Neo" panose="02000300000000000000" pitchFamily="2" charset="-127"/>
              <a:ea typeface="Apple SD Gothic Neo" panose="02000300000000000000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85555087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EC5A741-5709-6FB9-B382-DAD2B870FE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59482"/>
          </a:xfrm>
        </p:spPr>
        <p:txBody>
          <a:bodyPr>
            <a:normAutofit/>
          </a:bodyPr>
          <a:lstStyle/>
          <a:p>
            <a:r>
              <a:rPr kumimoji="1" lang="en-US" altLang="ko-Kore-KR" sz="3600" dirty="0">
                <a:latin typeface="Meiryo UI" panose="020B0604030504040204" pitchFamily="34" charset="-128"/>
                <a:ea typeface="Meiryo UI" panose="020B0604030504040204" pitchFamily="34" charset="-128"/>
              </a:rPr>
              <a:t>Motivation</a:t>
            </a:r>
            <a:endParaRPr kumimoji="1" lang="ko-Kore-KR" altLang="en-US" sz="3600" dirty="0">
              <a:latin typeface="Meiryo UI" panose="020B0604030504040204" pitchFamily="34" charset="-128"/>
            </a:endParaRP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080DF1C-F2E3-10B7-9D3A-FCA1097863B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45324"/>
            <a:ext cx="10515600" cy="4831639"/>
          </a:xfrm>
        </p:spPr>
        <p:txBody>
          <a:bodyPr anchor="ctr"/>
          <a:lstStyle/>
          <a:p>
            <a:pPr marL="0" indent="0" algn="ctr">
              <a:buNone/>
            </a:pPr>
            <a:r>
              <a:rPr kumimoji="1" lang="en-US" altLang="ko-Kore-KR" dirty="0">
                <a:latin typeface="Meiryo UI" panose="020B0604030504040204" pitchFamily="34" charset="-128"/>
                <a:ea typeface="Meiryo UI" panose="020B0604030504040204" pitchFamily="34" charset="-128"/>
              </a:rPr>
              <a:t>General-purpose </a:t>
            </a:r>
            <a:r>
              <a:rPr kumimoji="1" lang="ko-KR" altLang="en-US" dirty="0">
                <a:latin typeface="Meiryo UI" panose="020B0604030504040204" pitchFamily="34" charset="-128"/>
              </a:rPr>
              <a:t>모델이 주어졌을 때</a:t>
            </a:r>
            <a:r>
              <a:rPr kumimoji="1" lang="en-US" altLang="ko-KR" dirty="0">
                <a:latin typeface="Meiryo UI" panose="020B0604030504040204" pitchFamily="34" charset="-128"/>
                <a:ea typeface="Meiryo UI" panose="020B0604030504040204" pitchFamily="34" charset="-128"/>
              </a:rPr>
              <a:t>,</a:t>
            </a:r>
            <a:r>
              <a:rPr kumimoji="1" lang="ko-KR" altLang="en-US" dirty="0">
                <a:latin typeface="Meiryo UI" panose="020B0604030504040204" pitchFamily="34" charset="-128"/>
              </a:rPr>
              <a:t> </a:t>
            </a:r>
            <a:endParaRPr kumimoji="1" lang="en-US" altLang="ko-KR" dirty="0">
              <a:latin typeface="Meiryo UI" panose="020B0604030504040204" pitchFamily="34" charset="-128"/>
            </a:endParaRPr>
          </a:p>
          <a:p>
            <a:pPr marL="0" indent="0" algn="ctr">
              <a:buNone/>
            </a:pPr>
            <a:r>
              <a:rPr kumimoji="1" lang="ko-KR" altLang="en-US" dirty="0">
                <a:latin typeface="Meiryo UI" panose="020B0604030504040204" pitchFamily="34" charset="-128"/>
              </a:rPr>
              <a:t>새롭고 다양한 </a:t>
            </a:r>
            <a:r>
              <a:rPr kumimoji="1" lang="en-US" altLang="ko-KR" dirty="0">
                <a:latin typeface="Meiryo UI" panose="020B0604030504040204" pitchFamily="34" charset="-128"/>
                <a:ea typeface="Meiryo UI" panose="020B0604030504040204" pitchFamily="34" charset="-128"/>
              </a:rPr>
              <a:t>target domain </a:t>
            </a:r>
            <a:r>
              <a:rPr kumimoji="1" lang="ko-KR" altLang="en-US" dirty="0">
                <a:latin typeface="Meiryo UI" panose="020B0604030504040204" pitchFamily="34" charset="-128"/>
              </a:rPr>
              <a:t>에 최적화하면서도</a:t>
            </a:r>
            <a:r>
              <a:rPr kumimoji="1" lang="en-US" altLang="ko-KR" dirty="0">
                <a:latin typeface="Meiryo UI" panose="020B0604030504040204" pitchFamily="34" charset="-128"/>
                <a:ea typeface="Meiryo UI" panose="020B0604030504040204" pitchFamily="34" charset="-128"/>
              </a:rPr>
              <a:t>,</a:t>
            </a:r>
            <a:r>
              <a:rPr kumimoji="1" lang="ko-KR" altLang="en-US" dirty="0">
                <a:latin typeface="Meiryo UI" panose="020B0604030504040204" pitchFamily="34" charset="-128"/>
              </a:rPr>
              <a:t> </a:t>
            </a:r>
            <a:endParaRPr kumimoji="1" lang="en-US" altLang="ko-KR" dirty="0">
              <a:latin typeface="Meiryo UI" panose="020B0604030504040204" pitchFamily="34" charset="-128"/>
            </a:endParaRPr>
          </a:p>
          <a:p>
            <a:pPr marL="0" indent="0" algn="ctr">
              <a:buNone/>
            </a:pPr>
            <a:r>
              <a:rPr kumimoji="1" lang="en-US" altLang="ko-KR" dirty="0">
                <a:latin typeface="Meiryo UI" panose="020B0604030504040204" pitchFamily="34" charset="-128"/>
                <a:ea typeface="Meiryo UI" panose="020B0604030504040204" pitchFamily="34" charset="-128"/>
              </a:rPr>
              <a:t>generic domain </a:t>
            </a:r>
            <a:r>
              <a:rPr kumimoji="1" lang="ko-KR" altLang="en-US" dirty="0">
                <a:latin typeface="Meiryo UI" panose="020B0604030504040204" pitchFamily="34" charset="-128"/>
              </a:rPr>
              <a:t>에서의 성능을 유지할 수 있을까</a:t>
            </a:r>
            <a:r>
              <a:rPr kumimoji="1" lang="en-US" altLang="ko-KR" dirty="0">
                <a:latin typeface="Meiryo UI" panose="020B0604030504040204" pitchFamily="34" charset="-128"/>
                <a:ea typeface="Meiryo UI" panose="020B0604030504040204" pitchFamily="34" charset="-128"/>
              </a:rPr>
              <a:t>?</a:t>
            </a:r>
            <a:endParaRPr kumimoji="1" lang="ko-Kore-KR" altLang="en-US" dirty="0">
              <a:latin typeface="Meiryo UI" panose="020B060403050404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88149306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EC5A741-5709-6FB9-B382-DAD2B870FE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59482"/>
          </a:xfrm>
        </p:spPr>
        <p:txBody>
          <a:bodyPr>
            <a:normAutofit/>
          </a:bodyPr>
          <a:lstStyle/>
          <a:p>
            <a:r>
              <a:rPr kumimoji="1" lang="en-US" altLang="ko-Kore-KR" sz="3600" dirty="0">
                <a:latin typeface="Meiryo UI" panose="020B0604030504040204" pitchFamily="34" charset="-128"/>
                <a:ea typeface="Meiryo UI" panose="020B0604030504040204" pitchFamily="34" charset="-128"/>
              </a:rPr>
              <a:t>Motivation</a:t>
            </a:r>
            <a:endParaRPr kumimoji="1" lang="ko-Kore-KR" altLang="en-US" sz="3600" dirty="0">
              <a:latin typeface="Meiryo UI" panose="020B0604030504040204" pitchFamily="34" charset="-128"/>
            </a:endParaRP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080DF1C-F2E3-10B7-9D3A-FCA1097863B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45324"/>
            <a:ext cx="10515600" cy="759483"/>
          </a:xfrm>
        </p:spPr>
        <p:txBody>
          <a:bodyPr anchor="ctr"/>
          <a:lstStyle/>
          <a:p>
            <a:pPr marL="0" indent="0" algn="ctr">
              <a:buNone/>
            </a:pPr>
            <a:r>
              <a:rPr kumimoji="1" lang="en" altLang="ko-KR" dirty="0">
                <a:solidFill>
                  <a:srgbClr val="FF0000"/>
                </a:solidFill>
                <a:latin typeface="Meiryo UI" panose="020B0604030504040204" pitchFamily="34" charset="-128"/>
              </a:rPr>
              <a:t>catastrophic forgetting</a:t>
            </a:r>
            <a:endParaRPr kumimoji="1" lang="ko-Kore-KR" altLang="en-US" dirty="0">
              <a:solidFill>
                <a:srgbClr val="FF0000"/>
              </a:solidFill>
              <a:latin typeface="Meiryo UI" panose="020B0604030504040204" pitchFamily="34" charset="-128"/>
            </a:endParaRPr>
          </a:p>
        </p:txBody>
      </p:sp>
      <p:sp>
        <p:nvSpPr>
          <p:cNvPr id="4" name="내용 개체 틀 2">
            <a:extLst>
              <a:ext uri="{FF2B5EF4-FFF2-40B4-BE49-F238E27FC236}">
                <a16:creationId xmlns:a16="http://schemas.microsoft.com/office/drawing/2014/main" id="{4099CFFF-D3AF-D58C-BE60-BD47932469AB}"/>
              </a:ext>
            </a:extLst>
          </p:cNvPr>
          <p:cNvSpPr txBox="1">
            <a:spLocks/>
          </p:cNvSpPr>
          <p:nvPr/>
        </p:nvSpPr>
        <p:spPr>
          <a:xfrm>
            <a:off x="838200" y="2325523"/>
            <a:ext cx="10515600" cy="416735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kumimoji="1" lang="ko-KR" altLang="en-US" i="1" dirty="0">
                <a:latin typeface="Meiryo UI" panose="020B0604030504040204" pitchFamily="34" charset="-128"/>
              </a:rPr>
              <a:t>새로운 </a:t>
            </a:r>
            <a:r>
              <a:rPr kumimoji="1" lang="en-US" altLang="ko-KR" i="1" dirty="0">
                <a:latin typeface="Meiryo UI" panose="020B0604030504040204" pitchFamily="34" charset="-128"/>
                <a:ea typeface="Meiryo UI" panose="020B0604030504040204" pitchFamily="34" charset="-128"/>
              </a:rPr>
              <a:t>task </a:t>
            </a:r>
            <a:r>
              <a:rPr kumimoji="1" lang="ko-KR" altLang="en-US" i="1" dirty="0">
                <a:latin typeface="Meiryo UI" panose="020B0604030504040204" pitchFamily="34" charset="-128"/>
              </a:rPr>
              <a:t>에 대한 성능이 올라가면서 </a:t>
            </a:r>
            <a:endParaRPr kumimoji="1" lang="en-US" altLang="ko-KR" i="1" dirty="0">
              <a:latin typeface="Meiryo UI" panose="020B0604030504040204" pitchFamily="34" charset="-128"/>
              <a:ea typeface="Meiryo UI" panose="020B0604030504040204" pitchFamily="34" charset="-128"/>
            </a:endParaRPr>
          </a:p>
          <a:p>
            <a:pPr marL="0" indent="0" algn="ctr">
              <a:buFont typeface="Arial" panose="020B0604020202020204" pitchFamily="34" charset="0"/>
              <a:buNone/>
            </a:pPr>
            <a:r>
              <a:rPr kumimoji="1" lang="ko-KR" altLang="en-US" i="1" dirty="0">
                <a:latin typeface="Meiryo UI" panose="020B0604030504040204" pitchFamily="34" charset="-128"/>
              </a:rPr>
              <a:t>이전에 학습시킨 </a:t>
            </a:r>
            <a:r>
              <a:rPr kumimoji="1" lang="en-US" altLang="ko-KR" i="1" dirty="0">
                <a:latin typeface="Meiryo UI" panose="020B0604030504040204" pitchFamily="34" charset="-128"/>
                <a:ea typeface="Meiryo UI" panose="020B0604030504040204" pitchFamily="34" charset="-128"/>
              </a:rPr>
              <a:t>task </a:t>
            </a:r>
            <a:r>
              <a:rPr kumimoji="1" lang="ko-KR" altLang="en-US" i="1" dirty="0">
                <a:latin typeface="Meiryo UI" panose="020B0604030504040204" pitchFamily="34" charset="-128"/>
              </a:rPr>
              <a:t>에 대한 성능이 급격히 떨어지는 현상</a:t>
            </a:r>
            <a:endParaRPr kumimoji="1" lang="ko-Kore-KR" altLang="en-US" i="1" dirty="0">
              <a:latin typeface="Meiryo UI" panose="020B060403050404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21765195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EC5A741-5709-6FB9-B382-DAD2B870FE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59482"/>
          </a:xfrm>
        </p:spPr>
        <p:txBody>
          <a:bodyPr>
            <a:normAutofit/>
          </a:bodyPr>
          <a:lstStyle/>
          <a:p>
            <a:r>
              <a:rPr kumimoji="1" lang="en-US" altLang="ko-Kore-KR" sz="3600" dirty="0">
                <a:latin typeface="Meiryo UI" panose="020B0604030504040204" pitchFamily="34" charset="-128"/>
                <a:ea typeface="Meiryo UI" panose="020B0604030504040204" pitchFamily="34" charset="-128"/>
              </a:rPr>
              <a:t>Goal</a:t>
            </a:r>
            <a:endParaRPr kumimoji="1" lang="ko-Kore-KR" altLang="en-US" sz="3600" dirty="0">
              <a:latin typeface="Meiryo UI" panose="020B0604030504040204" pitchFamily="34" charset="-128"/>
            </a:endParaRP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080DF1C-F2E3-10B7-9D3A-FCA1097863B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45324"/>
            <a:ext cx="10515600" cy="5055476"/>
          </a:xfrm>
        </p:spPr>
        <p:txBody>
          <a:bodyPr anchor="ctr">
            <a:normAutofit/>
          </a:bodyPr>
          <a:lstStyle/>
          <a:p>
            <a:pPr marL="0" indent="0" algn="ctr">
              <a:buNone/>
            </a:pPr>
            <a:r>
              <a:rPr kumimoji="1" lang="en" altLang="ko-Kore-KR" dirty="0">
                <a:solidFill>
                  <a:srgbClr val="FF0000"/>
                </a:solidFill>
                <a:latin typeface="Meiryo UI" panose="020B0604030504040204" pitchFamily="34" charset="-128"/>
              </a:rPr>
              <a:t>Elastic Weight Consolidation (EWC)</a:t>
            </a:r>
            <a:r>
              <a:rPr kumimoji="1" lang="en" altLang="ko-Kore-KR" dirty="0">
                <a:latin typeface="Meiryo UI" panose="020B0604030504040204" pitchFamily="34" charset="-128"/>
              </a:rPr>
              <a:t> </a:t>
            </a:r>
            <a:r>
              <a:rPr kumimoji="1" lang="ko-Kore-KR" altLang="en-US" dirty="0">
                <a:latin typeface="Meiryo UI" panose="020B0604030504040204" pitchFamily="34" charset="-128"/>
              </a:rPr>
              <a:t>와</a:t>
            </a:r>
            <a:r>
              <a:rPr kumimoji="1" lang="ko-KR" altLang="en-US" dirty="0">
                <a:latin typeface="Meiryo UI" panose="020B0604030504040204" pitchFamily="34" charset="-128"/>
              </a:rPr>
              <a:t> </a:t>
            </a:r>
            <a:r>
              <a:rPr kumimoji="1" lang="en-US" altLang="ko-KR" dirty="0">
                <a:solidFill>
                  <a:srgbClr val="FF0000"/>
                </a:solidFill>
                <a:latin typeface="Meiryo UI" panose="020B0604030504040204" pitchFamily="34" charset="-128"/>
              </a:rPr>
              <a:t>Data Mixing</a:t>
            </a:r>
            <a:r>
              <a:rPr kumimoji="1" lang="en-US" altLang="ko-KR" dirty="0">
                <a:latin typeface="Meiryo UI" panose="020B0604030504040204" pitchFamily="34" charset="-128"/>
              </a:rPr>
              <a:t> </a:t>
            </a:r>
            <a:r>
              <a:rPr kumimoji="1" lang="ko-KR" altLang="en-US" dirty="0">
                <a:latin typeface="Meiryo UI" panose="020B0604030504040204" pitchFamily="34" charset="-128"/>
              </a:rPr>
              <a:t>기법을 </a:t>
            </a:r>
            <a:endParaRPr kumimoji="1" lang="en-US" altLang="ko-KR" dirty="0">
              <a:latin typeface="Meiryo UI" panose="020B0604030504040204" pitchFamily="34" charset="-128"/>
            </a:endParaRPr>
          </a:p>
          <a:p>
            <a:pPr marL="0" indent="0" algn="ctr">
              <a:buNone/>
            </a:pPr>
            <a:r>
              <a:rPr kumimoji="1" lang="ko-KR" altLang="en-US" dirty="0">
                <a:latin typeface="Meiryo UI" panose="020B0604030504040204" pitchFamily="34" charset="-128"/>
              </a:rPr>
              <a:t>도입하여 </a:t>
            </a:r>
            <a:r>
              <a:rPr kumimoji="1" lang="en-US" altLang="ko-KR" i="1" dirty="0">
                <a:latin typeface="Meiryo UI" panose="020B0604030504040204" pitchFamily="34" charset="-128"/>
              </a:rPr>
              <a:t>generic performance</a:t>
            </a:r>
            <a:r>
              <a:rPr kumimoji="1" lang="ko-KR" altLang="en-US" i="1" dirty="0" err="1">
                <a:latin typeface="Meiryo UI" panose="020B0604030504040204" pitchFamily="34" charset="-128"/>
              </a:rPr>
              <a:t>를</a:t>
            </a:r>
            <a:r>
              <a:rPr kumimoji="1" lang="ko-KR" altLang="en-US" i="1" dirty="0">
                <a:latin typeface="Meiryo UI" panose="020B0604030504040204" pitchFamily="34" charset="-128"/>
              </a:rPr>
              <a:t> 유지</a:t>
            </a:r>
            <a:r>
              <a:rPr kumimoji="1" lang="ko-KR" altLang="en-US" dirty="0">
                <a:latin typeface="Meiryo UI" panose="020B0604030504040204" pitchFamily="34" charset="-128"/>
              </a:rPr>
              <a:t>하면서</a:t>
            </a:r>
            <a:r>
              <a:rPr kumimoji="1" lang="en-US" altLang="ko-KR" dirty="0">
                <a:latin typeface="Meiryo UI" panose="020B0604030504040204" pitchFamily="34" charset="-128"/>
              </a:rPr>
              <a:t>,</a:t>
            </a:r>
            <a:r>
              <a:rPr kumimoji="1" lang="ko-KR" altLang="en-US" dirty="0">
                <a:latin typeface="Meiryo UI" panose="020B0604030504040204" pitchFamily="34" charset="-128"/>
              </a:rPr>
              <a:t> </a:t>
            </a:r>
            <a:endParaRPr kumimoji="1" lang="en-US" altLang="ko-KR" dirty="0">
              <a:latin typeface="Meiryo UI" panose="020B0604030504040204" pitchFamily="34" charset="-128"/>
            </a:endParaRPr>
          </a:p>
          <a:p>
            <a:pPr marL="0" indent="0" algn="ctr">
              <a:buNone/>
            </a:pPr>
            <a:r>
              <a:rPr kumimoji="1" lang="en-US" altLang="ko-KR" i="1" dirty="0">
                <a:latin typeface="Meiryo UI" panose="020B0604030504040204" pitchFamily="34" charset="-128"/>
              </a:rPr>
              <a:t>new domain </a:t>
            </a:r>
            <a:r>
              <a:rPr kumimoji="1" lang="ko-KR" altLang="en-US" i="1" dirty="0">
                <a:latin typeface="Meiryo UI" panose="020B0604030504040204" pitchFamily="34" charset="-128"/>
              </a:rPr>
              <a:t>에 대한 성능</a:t>
            </a:r>
            <a:r>
              <a:rPr kumimoji="1" lang="ko-KR" altLang="en-US" dirty="0">
                <a:latin typeface="Meiryo UI" panose="020B0604030504040204" pitchFamily="34" charset="-128"/>
              </a:rPr>
              <a:t>을 올린다</a:t>
            </a:r>
            <a:r>
              <a:rPr kumimoji="1" lang="en-US" altLang="ko-KR" dirty="0">
                <a:latin typeface="Meiryo UI" panose="020B0604030504040204" pitchFamily="34" charset="-128"/>
              </a:rPr>
              <a:t>!</a:t>
            </a:r>
            <a:endParaRPr kumimoji="1" lang="ko-Kore-KR" altLang="en-US" dirty="0">
              <a:solidFill>
                <a:srgbClr val="FF0000"/>
              </a:solidFill>
              <a:latin typeface="Meiryo UI" panose="020B060403050404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75354675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080DF1C-F2E3-10B7-9D3A-FCA1097863B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3090041"/>
            <a:ext cx="10515600" cy="3086922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kumimoji="1" lang="ko-KR" altLang="en-US" sz="2400" dirty="0">
                <a:latin typeface="Meiryo UI" panose="020B0604030504040204" pitchFamily="34" charset="-128"/>
              </a:rPr>
              <a:t>이때 가정은 오직 적은 양의 </a:t>
            </a:r>
            <a:r>
              <a:rPr kumimoji="1" lang="en-US" altLang="ko-KR" sz="2400" dirty="0">
                <a:latin typeface="Meiryo UI" panose="020B0604030504040204" pitchFamily="34" charset="-128"/>
                <a:ea typeface="Meiryo UI" panose="020B0604030504040204" pitchFamily="34" charset="-128"/>
              </a:rPr>
              <a:t>domain data </a:t>
            </a:r>
            <a:r>
              <a:rPr kumimoji="1" lang="ko-KR" altLang="en-US" sz="2400" dirty="0">
                <a:latin typeface="Meiryo UI" panose="020B0604030504040204" pitchFamily="34" charset="-128"/>
              </a:rPr>
              <a:t>가 있다고 가정한다</a:t>
            </a:r>
            <a:r>
              <a:rPr kumimoji="1" lang="en-US" altLang="ko-KR" sz="2400" dirty="0">
                <a:latin typeface="Meiryo UI" panose="020B0604030504040204" pitchFamily="34" charset="-128"/>
                <a:ea typeface="Meiryo UI" panose="020B0604030504040204" pitchFamily="34" charset="-128"/>
              </a:rPr>
              <a:t>.</a:t>
            </a:r>
            <a:r>
              <a:rPr kumimoji="1" lang="ko-KR" altLang="en-US" sz="2400" dirty="0">
                <a:latin typeface="Meiryo UI" panose="020B0604030504040204" pitchFamily="34" charset="-128"/>
              </a:rPr>
              <a:t> </a:t>
            </a:r>
            <a:endParaRPr kumimoji="1" lang="en-US" altLang="ko-KR" sz="2400" dirty="0">
              <a:latin typeface="Meiryo UI" panose="020B0604030504040204" pitchFamily="34" charset="-128"/>
            </a:endParaRPr>
          </a:p>
          <a:p>
            <a:pPr marL="0" indent="0" algn="ctr">
              <a:buNone/>
            </a:pPr>
            <a:r>
              <a:rPr kumimoji="1" lang="ko-KR" altLang="en-US" sz="2400" dirty="0">
                <a:latin typeface="Meiryo UI" panose="020B0604030504040204" pitchFamily="34" charset="-128"/>
              </a:rPr>
              <a:t>만약</a:t>
            </a:r>
            <a:r>
              <a:rPr kumimoji="1" lang="en-US" altLang="ko-KR" sz="2400" dirty="0">
                <a:latin typeface="Meiryo UI" panose="020B0604030504040204" pitchFamily="34" charset="-128"/>
                <a:ea typeface="Meiryo UI" panose="020B0604030504040204" pitchFamily="34" charset="-128"/>
              </a:rPr>
              <a:t>,</a:t>
            </a:r>
            <a:r>
              <a:rPr kumimoji="1" lang="ko-KR" altLang="en-US" sz="2400" dirty="0">
                <a:latin typeface="Meiryo UI" panose="020B0604030504040204" pitchFamily="34" charset="-128"/>
              </a:rPr>
              <a:t> 많은 양의 </a:t>
            </a:r>
            <a:r>
              <a:rPr kumimoji="1" lang="en-US" altLang="ko-KR" sz="2400" dirty="0">
                <a:latin typeface="Meiryo UI" panose="020B0604030504040204" pitchFamily="34" charset="-128"/>
                <a:ea typeface="Meiryo UI" panose="020B0604030504040204" pitchFamily="34" charset="-128"/>
              </a:rPr>
              <a:t>data </a:t>
            </a:r>
            <a:r>
              <a:rPr kumimoji="1" lang="ko-KR" altLang="en-US" sz="2400" dirty="0">
                <a:latin typeface="Meiryo UI" panose="020B0604030504040204" pitchFamily="34" charset="-128"/>
              </a:rPr>
              <a:t>가 있다고 가정하면 </a:t>
            </a:r>
            <a:r>
              <a:rPr kumimoji="1" lang="en-US" altLang="ko-KR" sz="2400" dirty="0">
                <a:latin typeface="Meiryo UI" panose="020B0604030504040204" pitchFamily="34" charset="-128"/>
                <a:ea typeface="Meiryo UI" panose="020B0604030504040204" pitchFamily="34" charset="-128"/>
              </a:rPr>
              <a:t>from scratch </a:t>
            </a:r>
            <a:r>
              <a:rPr kumimoji="1" lang="ko-KR" altLang="en-US" sz="2400" dirty="0">
                <a:latin typeface="Meiryo UI" panose="020B0604030504040204" pitchFamily="34" charset="-128"/>
              </a:rPr>
              <a:t>로 학습 시키는 것이 더 나을 수 있다</a:t>
            </a:r>
            <a:r>
              <a:rPr kumimoji="1" lang="en-US" altLang="ko-KR" sz="2400" dirty="0">
                <a:latin typeface="Meiryo UI" panose="020B0604030504040204" pitchFamily="34" charset="-128"/>
                <a:ea typeface="Meiryo UI" panose="020B0604030504040204" pitchFamily="34" charset="-128"/>
              </a:rPr>
              <a:t>.</a:t>
            </a:r>
            <a:endParaRPr kumimoji="1" lang="ko-Kore-KR" altLang="en-US" sz="2400" dirty="0">
              <a:latin typeface="Meiryo UI" panose="020B0604030504040204" pitchFamily="34" charset="-128"/>
            </a:endParaRPr>
          </a:p>
        </p:txBody>
      </p:sp>
      <p:sp>
        <p:nvSpPr>
          <p:cNvPr id="6" name="제목 1">
            <a:extLst>
              <a:ext uri="{FF2B5EF4-FFF2-40B4-BE49-F238E27FC236}">
                <a16:creationId xmlns:a16="http://schemas.microsoft.com/office/drawing/2014/main" id="{1B331C32-8B8B-966D-596C-413ACA6775BD}"/>
              </a:ext>
            </a:extLst>
          </p:cNvPr>
          <p:cNvSpPr txBox="1">
            <a:spLocks/>
          </p:cNvSpPr>
          <p:nvPr/>
        </p:nvSpPr>
        <p:spPr>
          <a:xfrm>
            <a:off x="838200" y="365126"/>
            <a:ext cx="10515600" cy="75948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kumimoji="1" lang="en-US" altLang="ko-Kore-KR" sz="3600" dirty="0">
                <a:latin typeface="Meiryo UI" panose="020B0604030504040204" pitchFamily="34" charset="-128"/>
                <a:ea typeface="Meiryo UI" panose="020B0604030504040204" pitchFamily="34" charset="-128"/>
              </a:rPr>
              <a:t>Multi-domain adaptation</a:t>
            </a:r>
            <a:endParaRPr kumimoji="1" lang="ko-Kore-KR" altLang="en-US" sz="3600" dirty="0">
              <a:latin typeface="Meiryo UI" panose="020B0604030504040204" pitchFamily="34" charset="-128"/>
            </a:endParaRPr>
          </a:p>
        </p:txBody>
      </p:sp>
      <p:sp>
        <p:nvSpPr>
          <p:cNvPr id="7" name="내용 개체 틀 2">
            <a:extLst>
              <a:ext uri="{FF2B5EF4-FFF2-40B4-BE49-F238E27FC236}">
                <a16:creationId xmlns:a16="http://schemas.microsoft.com/office/drawing/2014/main" id="{0A9C6C0B-F1B2-245F-9B34-C98A47486122}"/>
              </a:ext>
            </a:extLst>
          </p:cNvPr>
          <p:cNvSpPr txBox="1">
            <a:spLocks/>
          </p:cNvSpPr>
          <p:nvPr/>
        </p:nvSpPr>
        <p:spPr>
          <a:xfrm>
            <a:off x="838200" y="1727583"/>
            <a:ext cx="10515600" cy="75948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kumimoji="1" lang="en-US" altLang="ko-Kore-KR" dirty="0">
                <a:latin typeface="Meiryo UI" panose="020B0604030504040204" pitchFamily="34" charset="-128"/>
              </a:rPr>
              <a:t>Assumption</a:t>
            </a:r>
            <a:endParaRPr kumimoji="1" lang="ko-Kore-KR" altLang="en-US" dirty="0">
              <a:latin typeface="Meiryo UI" panose="020B060403050404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90749097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내용 개체 틀 2">
                <a:extLst>
                  <a:ext uri="{FF2B5EF4-FFF2-40B4-BE49-F238E27FC236}">
                    <a16:creationId xmlns:a16="http://schemas.microsoft.com/office/drawing/2014/main" id="{2080DF1C-F2E3-10B7-9D3A-FCA1097863B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199" y="1608082"/>
                <a:ext cx="10515600" cy="2926987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kumimoji="1" lang="ko-KR" altLang="en-US" sz="2000" dirty="0">
                    <a:latin typeface="Meiryo UI" panose="020B0604030504040204" pitchFamily="34" charset="-128"/>
                  </a:rPr>
                  <a:t>새로운 </a:t>
                </a:r>
                <a:r>
                  <a:rPr kumimoji="1" lang="en-US" altLang="ko-KR" sz="2000" dirty="0">
                    <a:latin typeface="Meiryo UI" panose="020B0604030504040204" pitchFamily="34" charset="-128"/>
                    <a:ea typeface="Meiryo UI" panose="020B0604030504040204" pitchFamily="34" charset="-128"/>
                  </a:rPr>
                  <a:t>task B </a:t>
                </a:r>
                <a:r>
                  <a:rPr kumimoji="1" lang="ko-KR" altLang="en-US" sz="2000" dirty="0" err="1">
                    <a:latin typeface="Meiryo UI" panose="020B0604030504040204" pitchFamily="34" charset="-128"/>
                  </a:rPr>
                  <a:t>를</a:t>
                </a:r>
                <a:r>
                  <a:rPr kumimoji="1" lang="ko-KR" altLang="en-US" sz="2000" dirty="0">
                    <a:latin typeface="Meiryo UI" panose="020B0604030504040204" pitchFamily="34" charset="-128"/>
                  </a:rPr>
                  <a:t> 학습시킬</a:t>
                </a:r>
                <a:r>
                  <a:rPr kumimoji="1" lang="en-US" altLang="ko-KR" sz="2000" dirty="0">
                    <a:latin typeface="Meiryo UI" panose="020B0604030504040204" pitchFamily="34" charset="-128"/>
                    <a:ea typeface="Meiryo UI" panose="020B0604030504040204" pitchFamily="34" charset="-128"/>
                  </a:rPr>
                  <a:t> </a:t>
                </a:r>
                <a:r>
                  <a:rPr kumimoji="1" lang="ko-KR" altLang="en-US" sz="2000" dirty="0">
                    <a:latin typeface="Meiryo UI" panose="020B0604030504040204" pitchFamily="34" charset="-128"/>
                  </a:rPr>
                  <a:t>때</a:t>
                </a:r>
                <a:r>
                  <a:rPr kumimoji="1" lang="en-US" altLang="ko-KR" sz="2000" dirty="0">
                    <a:latin typeface="Meiryo UI" panose="020B0604030504040204" pitchFamily="34" charset="-128"/>
                    <a:ea typeface="Meiryo UI" panose="020B0604030504040204" pitchFamily="34" charset="-128"/>
                  </a:rPr>
                  <a:t>,</a:t>
                </a:r>
                <a:r>
                  <a:rPr kumimoji="1" lang="ko-KR" altLang="en-US" sz="2000" dirty="0">
                    <a:latin typeface="Meiryo UI" panose="020B0604030504040204" pitchFamily="34" charset="-128"/>
                  </a:rPr>
                  <a:t> </a:t>
                </a:r>
                <a:r>
                  <a:rPr kumimoji="1" lang="en-US" altLang="ko-KR" sz="2000" dirty="0">
                    <a:latin typeface="Meiryo UI" panose="020B0604030504040204" pitchFamily="34" charset="-128"/>
                    <a:ea typeface="Meiryo UI" panose="020B0604030504040204" pitchFamily="34" charset="-128"/>
                  </a:rPr>
                  <a:t>original task A </a:t>
                </a:r>
                <a:r>
                  <a:rPr kumimoji="1" lang="ko-KR" altLang="en-US" sz="2000" dirty="0">
                    <a:latin typeface="Meiryo UI" panose="020B0604030504040204" pitchFamily="34" charset="-128"/>
                  </a:rPr>
                  <a:t>에서 중요한 </a:t>
                </a:r>
                <a:r>
                  <a:rPr kumimoji="1" lang="en-US" altLang="ko-KR" sz="2000" dirty="0">
                    <a:latin typeface="Meiryo UI" panose="020B0604030504040204" pitchFamily="34" charset="-128"/>
                    <a:ea typeface="Meiryo UI" panose="020B0604030504040204" pitchFamily="34" charset="-128"/>
                  </a:rPr>
                  <a:t>weight </a:t>
                </a:r>
                <a:r>
                  <a:rPr kumimoji="1" lang="ko-KR" altLang="en-US" sz="2000" dirty="0">
                    <a:latin typeface="Meiryo UI" panose="020B0604030504040204" pitchFamily="34" charset="-128"/>
                  </a:rPr>
                  <a:t>에서는 </a:t>
                </a:r>
                <a:r>
                  <a:rPr kumimoji="1" lang="en-US" altLang="ko-KR" sz="2000" dirty="0">
                    <a:latin typeface="Meiryo UI" panose="020B0604030504040204" pitchFamily="34" charset="-128"/>
                    <a:ea typeface="Meiryo UI" panose="020B0604030504040204" pitchFamily="34" charset="-128"/>
                  </a:rPr>
                  <a:t>learning </a:t>
                </a:r>
                <a:r>
                  <a:rPr kumimoji="1" lang="ko-KR" altLang="en-US" sz="2000" dirty="0">
                    <a:latin typeface="Meiryo UI" panose="020B0604030504040204" pitchFamily="34" charset="-128"/>
                  </a:rPr>
                  <a:t>속도를 낮춘다</a:t>
                </a:r>
                <a:r>
                  <a:rPr kumimoji="1" lang="en-US" altLang="ko-KR" sz="2000" dirty="0">
                    <a:latin typeface="Meiryo UI" panose="020B0604030504040204" pitchFamily="34" charset="-128"/>
                    <a:ea typeface="Meiryo UI" panose="020B0604030504040204" pitchFamily="34" charset="-128"/>
                  </a:rPr>
                  <a:t>.</a:t>
                </a:r>
              </a:p>
              <a:p>
                <a:pPr marL="0" indent="0">
                  <a:buNone/>
                </a:pPr>
                <a:endParaRPr kumimoji="1" lang="en-US" altLang="ko-Kore-KR" sz="2000" dirty="0">
                  <a:latin typeface="Meiryo UI" panose="020B0604030504040204" pitchFamily="34" charset="-128"/>
                  <a:ea typeface="Meiryo UI" panose="020B0604030504040204" pitchFamily="34" charset="-128"/>
                </a:endParaRPr>
              </a:p>
              <a:p>
                <a:pPr marL="0" indent="0">
                  <a:buNone/>
                </a:pPr>
                <a:endParaRPr kumimoji="1" lang="en-US" altLang="ko-Kore-KR" sz="2000" dirty="0">
                  <a:latin typeface="Meiryo UI" panose="020B0604030504040204" pitchFamily="34" charset="-128"/>
                  <a:ea typeface="Meiryo UI" panose="020B0604030504040204" pitchFamily="34" charset="-128"/>
                </a:endParaRPr>
              </a:p>
              <a:p>
                <a:r>
                  <a:rPr kumimoji="1" lang="ko-KR" altLang="en-US" sz="2000" dirty="0">
                    <a:latin typeface="Meiryo UI" panose="020B0604030504040204" pitchFamily="34" charset="-128"/>
                  </a:rPr>
                  <a:t>전체 </a:t>
                </a:r>
                <a:r>
                  <a:rPr kumimoji="1" lang="en-US" altLang="ko-KR" sz="2000" dirty="0">
                    <a:latin typeface="Meiryo UI" panose="020B0604030504040204" pitchFamily="34" charset="-128"/>
                    <a:ea typeface="Meiryo UI" panose="020B0604030504040204" pitchFamily="34" charset="-128"/>
                  </a:rPr>
                  <a:t>Loss </a:t>
                </a:r>
                <a:r>
                  <a:rPr kumimoji="1" lang="ko-KR" altLang="en-US" sz="2000" dirty="0">
                    <a:latin typeface="Meiryo UI" panose="020B0604030504040204" pitchFamily="34" charset="-128"/>
                  </a:rPr>
                  <a:t>에서 </a:t>
                </a:r>
                <a:r>
                  <a:rPr kumimoji="1" lang="en-US" altLang="ko-KR" sz="2000" dirty="0">
                    <a:latin typeface="Meiryo UI" panose="020B0604030504040204" pitchFamily="34" charset="-128"/>
                    <a:ea typeface="Meiryo UI" panose="020B0604030504040204" pitchFamily="34" charset="-128"/>
                  </a:rPr>
                  <a:t>task B</a:t>
                </a:r>
                <a:r>
                  <a:rPr kumimoji="1" lang="ko-KR" altLang="en-US" sz="2000" dirty="0">
                    <a:latin typeface="Meiryo UI" panose="020B0604030504040204" pitchFamily="34" charset="-128"/>
                  </a:rPr>
                  <a:t> 파라미터에 대한 </a:t>
                </a:r>
                <a:r>
                  <a:rPr kumimoji="1" lang="en-US" altLang="ko-KR" sz="2000" dirty="0">
                    <a:latin typeface="Meiryo UI" panose="020B0604030504040204" pitchFamily="34" charset="-128"/>
                    <a:ea typeface="Meiryo UI" panose="020B0604030504040204" pitchFamily="34" charset="-128"/>
                  </a:rPr>
                  <a:t>loss </a:t>
                </a:r>
                <a:r>
                  <a:rPr kumimoji="1" lang="ko-KR" altLang="en-US" sz="2000" dirty="0">
                    <a:latin typeface="Meiryo UI" panose="020B0604030504040204" pitchFamily="34" charset="-128"/>
                  </a:rPr>
                  <a:t>는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1" lang="en-US" altLang="ko-KR" sz="2000" i="1" dirty="0" smtClean="0">
                            <a:latin typeface="Cambria Math" panose="02040503050406030204" pitchFamily="18" charset="0"/>
                            <a:ea typeface="Meiryo UI" panose="020B0604030504040204" pitchFamily="34" charset="-128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kumimoji="1" lang="en-US" altLang="ko-KR" sz="2000" b="0" i="0" dirty="0" smtClean="0">
                            <a:latin typeface="Cambria Math" panose="02040503050406030204" pitchFamily="18" charset="0"/>
                            <a:ea typeface="Meiryo UI" panose="020B0604030504040204" pitchFamily="34" charset="-128"/>
                          </a:rPr>
                          <m:t>L</m:t>
                        </m:r>
                      </m:e>
                      <m:sub>
                        <m:r>
                          <m:rPr>
                            <m:sty m:val="p"/>
                          </m:rPr>
                          <a:rPr kumimoji="1" lang="en-US" altLang="ko-KR" sz="2000" b="0" i="0" dirty="0" smtClean="0">
                            <a:latin typeface="Cambria Math" panose="02040503050406030204" pitchFamily="18" charset="0"/>
                            <a:ea typeface="Meiryo UI" panose="020B0604030504040204" pitchFamily="34" charset="-128"/>
                          </a:rPr>
                          <m:t>B</m:t>
                        </m:r>
                      </m:sub>
                    </m:sSub>
                  </m:oMath>
                </a14:m>
                <a:endParaRPr kumimoji="1" lang="en-US" altLang="ko-Kore-KR" sz="2000" dirty="0">
                  <a:latin typeface="Meiryo UI" panose="020B0604030504040204" pitchFamily="34" charset="-128"/>
                  <a:ea typeface="Meiryo UI" panose="020B0604030504040204" pitchFamily="34" charset="-128"/>
                </a:endParaRPr>
              </a:p>
              <a:p>
                <a:r>
                  <a:rPr kumimoji="1" lang="en-US" altLang="ko-Kore-KR" sz="2000" dirty="0">
                    <a:latin typeface="Meiryo UI" panose="020B0604030504040204" pitchFamily="34" charset="-128"/>
                    <a:ea typeface="Meiryo UI" panose="020B0604030504040204" pitchFamily="34" charset="-128"/>
                  </a:rPr>
                  <a:t>A </a:t>
                </a:r>
                <a:r>
                  <a:rPr kumimoji="1" lang="ko-KR" altLang="en-US" sz="2000" dirty="0">
                    <a:latin typeface="Meiryo UI" panose="020B0604030504040204" pitchFamily="34" charset="-128"/>
                  </a:rPr>
                  <a:t>에 관련된 파라미터의 변화를 최소화 하도록 학습</a:t>
                </a:r>
                <a:endParaRPr kumimoji="1" lang="en-US" altLang="ko-KR" sz="2000" dirty="0">
                  <a:latin typeface="Meiryo UI" panose="020B0604030504040204" pitchFamily="34" charset="-128"/>
                  <a:ea typeface="Meiryo UI" panose="020B0604030504040204" pitchFamily="34" charset="-128"/>
                </a:endParaRPr>
              </a:p>
              <a:p>
                <a:r>
                  <a:rPr kumimoji="1" lang="en-US" altLang="ko-Kore-KR" sz="2000" dirty="0">
                    <a:latin typeface="Meiryo UI" panose="020B0604030504040204" pitchFamily="34" charset="-128"/>
                    <a:ea typeface="Meiryo UI" panose="020B0604030504040204" pitchFamily="34" charset="-128"/>
                  </a:rPr>
                  <a:t>F: </a:t>
                </a:r>
                <a:r>
                  <a:rPr kumimoji="1" lang="ko-Kore-KR" altLang="en-US" sz="2000" dirty="0">
                    <a:latin typeface="Meiryo UI" panose="020B0604030504040204" pitchFamily="34" charset="-128"/>
                  </a:rPr>
                  <a:t>피셔</a:t>
                </a:r>
                <a:r>
                  <a:rPr kumimoji="1" lang="ko-KR" altLang="en-US" sz="2000" dirty="0">
                    <a:latin typeface="Meiryo UI" panose="020B0604030504040204" pitchFamily="34" charset="-128"/>
                  </a:rPr>
                  <a:t> 정보 </a:t>
                </a:r>
                <a:r>
                  <a:rPr kumimoji="1" lang="en-US" altLang="ko-KR" sz="2000" dirty="0">
                    <a:latin typeface="Meiryo UI" panose="020B0604030504040204" pitchFamily="34" charset="-128"/>
                    <a:ea typeface="Meiryo UI" panose="020B0604030504040204" pitchFamily="34" charset="-128"/>
                  </a:rPr>
                  <a:t>-</a:t>
                </a:r>
                <a:r>
                  <a:rPr kumimoji="1" lang="ko-KR" altLang="en-US" sz="2000" dirty="0">
                    <a:latin typeface="Meiryo UI" panose="020B0604030504040204" pitchFamily="34" charset="-128"/>
                  </a:rPr>
                  <a:t> 매개 변수에 대해 유추할 수 있는 정보의 양</a:t>
                </a:r>
                <a:endParaRPr kumimoji="1" lang="ko-Kore-KR" altLang="en-US" sz="2000" dirty="0">
                  <a:latin typeface="Meiryo UI" panose="020B0604030504040204" pitchFamily="34" charset="-128"/>
                </a:endParaRPr>
              </a:p>
            </p:txBody>
          </p:sp>
        </mc:Choice>
        <mc:Fallback xmlns="">
          <p:sp>
            <p:nvSpPr>
              <p:cNvPr id="3" name="내용 개체 틀 2">
                <a:extLst>
                  <a:ext uri="{FF2B5EF4-FFF2-40B4-BE49-F238E27FC236}">
                    <a16:creationId xmlns:a16="http://schemas.microsoft.com/office/drawing/2014/main" id="{2080DF1C-F2E3-10B7-9D3A-FCA1097863B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199" y="1608082"/>
                <a:ext cx="10515600" cy="2926987"/>
              </a:xfrm>
              <a:blipFill>
                <a:blip r:embed="rId2"/>
                <a:stretch>
                  <a:fillRect l="-603" t="-2586"/>
                </a:stretch>
              </a:blipFill>
            </p:spPr>
            <p:txBody>
              <a:bodyPr/>
              <a:lstStyle/>
              <a:p>
                <a:r>
                  <a:rPr lang="ko-Kore-KR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그림 4">
            <a:extLst>
              <a:ext uri="{FF2B5EF4-FFF2-40B4-BE49-F238E27FC236}">
                <a16:creationId xmlns:a16="http://schemas.microsoft.com/office/drawing/2014/main" id="{65B2CB8B-E095-C8AF-2ED9-5E47A4932DC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22400" y="1974434"/>
            <a:ext cx="4347198" cy="942534"/>
          </a:xfrm>
          <a:prstGeom prst="rect">
            <a:avLst/>
          </a:prstGeom>
        </p:spPr>
      </p:pic>
      <p:sp>
        <p:nvSpPr>
          <p:cNvPr id="8" name="제목 1">
            <a:extLst>
              <a:ext uri="{FF2B5EF4-FFF2-40B4-BE49-F238E27FC236}">
                <a16:creationId xmlns:a16="http://schemas.microsoft.com/office/drawing/2014/main" id="{5F1FE526-8107-05C2-2A57-3533E15AD375}"/>
              </a:ext>
            </a:extLst>
          </p:cNvPr>
          <p:cNvSpPr txBox="1">
            <a:spLocks/>
          </p:cNvSpPr>
          <p:nvPr/>
        </p:nvSpPr>
        <p:spPr>
          <a:xfrm>
            <a:off x="838200" y="365126"/>
            <a:ext cx="10515600" cy="75948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kumimoji="1" lang="en-US" altLang="ko-Kore-KR" sz="3600" dirty="0">
                <a:latin typeface="Meiryo UI" panose="020B0604030504040204" pitchFamily="34" charset="-128"/>
                <a:ea typeface="Meiryo UI" panose="020B0604030504040204" pitchFamily="34" charset="-128"/>
              </a:rPr>
              <a:t>Multi-domain adaptation</a:t>
            </a:r>
            <a:endParaRPr kumimoji="1" lang="ko-Kore-KR" altLang="en-US" sz="3600" dirty="0">
              <a:latin typeface="Meiryo UI" panose="020B0604030504040204" pitchFamily="34" charset="-128"/>
            </a:endParaRPr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83DC26C4-111E-93DA-D84E-5C9D5BB7B21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30870" y="4182788"/>
            <a:ext cx="6930259" cy="23100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8178473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080DF1C-F2E3-10B7-9D3A-FCA1097863B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53331"/>
            <a:ext cx="10515600" cy="4351338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en" altLang="ko-Kore-KR" dirty="0">
                <a:latin typeface="Meiryo UI" panose="020B0604030504040204" pitchFamily="34" charset="-128"/>
                <a:ea typeface="Meiryo UI" panose="020B0604030504040204" pitchFamily="34" charset="-128"/>
              </a:rPr>
              <a:t>Data mixing</a:t>
            </a:r>
          </a:p>
          <a:p>
            <a:pPr lvl="1">
              <a:lnSpc>
                <a:spcPct val="150000"/>
              </a:lnSpc>
            </a:pPr>
            <a:r>
              <a:rPr kumimoji="1" lang="en-US" altLang="ko-Kore-KR" dirty="0">
                <a:latin typeface="Meiryo UI" panose="020B0604030504040204" pitchFamily="34" charset="-128"/>
                <a:ea typeface="Meiryo UI" panose="020B0604030504040204" pitchFamily="34" charset="-128"/>
              </a:rPr>
              <a:t>New domain gradient </a:t>
            </a:r>
            <a:r>
              <a:rPr kumimoji="1" lang="ko-KR" altLang="en-US" dirty="0">
                <a:latin typeface="Meiryo UI" panose="020B0604030504040204" pitchFamily="34" charset="-128"/>
              </a:rPr>
              <a:t>와 </a:t>
            </a:r>
            <a:r>
              <a:rPr kumimoji="1" lang="en-US" altLang="ko-KR" dirty="0">
                <a:latin typeface="Meiryo UI" panose="020B0604030504040204" pitchFamily="34" charset="-128"/>
                <a:ea typeface="Meiryo UI" panose="020B0604030504040204" pitchFamily="34" charset="-128"/>
              </a:rPr>
              <a:t>original domain gradient </a:t>
            </a:r>
            <a:r>
              <a:rPr kumimoji="1" lang="ko-KR" altLang="en-US" dirty="0" err="1">
                <a:latin typeface="Meiryo UI" panose="020B0604030504040204" pitchFamily="34" charset="-128"/>
              </a:rPr>
              <a:t>를</a:t>
            </a:r>
            <a:r>
              <a:rPr kumimoji="1" lang="ko-KR" altLang="en-US" dirty="0">
                <a:latin typeface="Meiryo UI" panose="020B0604030504040204" pitchFamily="34" charset="-128"/>
              </a:rPr>
              <a:t> 번갈아 배치함으로써 </a:t>
            </a:r>
            <a:r>
              <a:rPr kumimoji="1" lang="en-US" altLang="ko-KR" dirty="0">
                <a:latin typeface="Meiryo UI" panose="020B0604030504040204" pitchFamily="34" charset="-128"/>
                <a:ea typeface="Meiryo UI" panose="020B0604030504040204" pitchFamily="34" charset="-128"/>
              </a:rPr>
              <a:t>catastrophic forgetting </a:t>
            </a:r>
            <a:r>
              <a:rPr kumimoji="1" lang="ko-KR" altLang="en-US" dirty="0">
                <a:latin typeface="Meiryo UI" panose="020B0604030504040204" pitchFamily="34" charset="-128"/>
              </a:rPr>
              <a:t>에 대응한다</a:t>
            </a:r>
            <a:r>
              <a:rPr kumimoji="1" lang="en-US" altLang="ko-KR" dirty="0">
                <a:latin typeface="Meiryo UI" panose="020B0604030504040204" pitchFamily="34" charset="-128"/>
                <a:ea typeface="Meiryo UI" panose="020B0604030504040204" pitchFamily="34" charset="-128"/>
              </a:rPr>
              <a:t>.</a:t>
            </a:r>
          </a:p>
          <a:p>
            <a:pPr lvl="1">
              <a:lnSpc>
                <a:spcPct val="150000"/>
              </a:lnSpc>
            </a:pPr>
            <a:r>
              <a:rPr kumimoji="1" lang="en-US" altLang="ko-Kore-KR" dirty="0">
                <a:latin typeface="Meiryo UI" panose="020B0604030504040204" pitchFamily="34" charset="-128"/>
                <a:ea typeface="Meiryo UI" panose="020B0604030504040204" pitchFamily="34" charset="-128"/>
              </a:rPr>
              <a:t>Training dataset </a:t>
            </a:r>
            <a:r>
              <a:rPr kumimoji="1" lang="ko-KR" altLang="en-US" dirty="0">
                <a:latin typeface="Meiryo UI" panose="020B0604030504040204" pitchFamily="34" charset="-128"/>
              </a:rPr>
              <a:t>내에서 </a:t>
            </a:r>
            <a:r>
              <a:rPr kumimoji="1" lang="en-US" altLang="ko-KR" dirty="0">
                <a:latin typeface="Meiryo UI" panose="020B0604030504040204" pitchFamily="34" charset="-128"/>
                <a:ea typeface="Meiryo UI" panose="020B0604030504040204" pitchFamily="34" charset="-128"/>
              </a:rPr>
              <a:t>new domain data </a:t>
            </a:r>
            <a:r>
              <a:rPr kumimoji="1" lang="ko-KR" altLang="en-US" dirty="0">
                <a:latin typeface="Meiryo UI" panose="020B0604030504040204" pitchFamily="34" charset="-128"/>
              </a:rPr>
              <a:t>와 </a:t>
            </a:r>
            <a:r>
              <a:rPr kumimoji="1" lang="en-US" altLang="ko-KR" dirty="0">
                <a:latin typeface="Meiryo UI" panose="020B0604030504040204" pitchFamily="34" charset="-128"/>
                <a:ea typeface="Meiryo UI" panose="020B0604030504040204" pitchFamily="34" charset="-128"/>
              </a:rPr>
              <a:t>original domain data </a:t>
            </a:r>
            <a:r>
              <a:rPr kumimoji="1" lang="ko-KR" altLang="en-US" dirty="0">
                <a:latin typeface="Meiryo UI" panose="020B0604030504040204" pitchFamily="34" charset="-128"/>
              </a:rPr>
              <a:t>의 비율을 조정해가면서 </a:t>
            </a:r>
            <a:r>
              <a:rPr kumimoji="1" lang="en-US" altLang="ko-KR" dirty="0">
                <a:latin typeface="Meiryo UI" panose="020B0604030504040204" pitchFamily="34" charset="-128"/>
                <a:ea typeface="Meiryo UI" panose="020B0604030504040204" pitchFamily="34" charset="-128"/>
              </a:rPr>
              <a:t>generic </a:t>
            </a:r>
            <a:r>
              <a:rPr kumimoji="1" lang="ko-KR" altLang="en-US" dirty="0">
                <a:latin typeface="Meiryo UI" panose="020B0604030504040204" pitchFamily="34" charset="-128"/>
              </a:rPr>
              <a:t>과 </a:t>
            </a:r>
            <a:r>
              <a:rPr kumimoji="1" lang="en-US" altLang="ko-KR" dirty="0">
                <a:latin typeface="Meiryo UI" panose="020B0604030504040204" pitchFamily="34" charset="-128"/>
                <a:ea typeface="Meiryo UI" panose="020B0604030504040204" pitchFamily="34" charset="-128"/>
              </a:rPr>
              <a:t>domain </a:t>
            </a:r>
            <a:r>
              <a:rPr kumimoji="1" lang="ko-KR" altLang="en-US" dirty="0">
                <a:latin typeface="Meiryo UI" panose="020B0604030504040204" pitchFamily="34" charset="-128"/>
              </a:rPr>
              <a:t>성능의 </a:t>
            </a:r>
            <a:r>
              <a:rPr kumimoji="1" lang="en-US" altLang="ko-KR" dirty="0">
                <a:latin typeface="Meiryo UI" panose="020B0604030504040204" pitchFamily="34" charset="-128"/>
                <a:ea typeface="Meiryo UI" panose="020B0604030504040204" pitchFamily="34" charset="-128"/>
              </a:rPr>
              <a:t>trade-off </a:t>
            </a:r>
            <a:r>
              <a:rPr kumimoji="1" lang="ko-KR" altLang="en-US" dirty="0" err="1">
                <a:latin typeface="Meiryo UI" panose="020B0604030504040204" pitchFamily="34" charset="-128"/>
              </a:rPr>
              <a:t>를</a:t>
            </a:r>
            <a:r>
              <a:rPr kumimoji="1" lang="ko-KR" altLang="en-US" dirty="0">
                <a:latin typeface="Meiryo UI" panose="020B0604030504040204" pitchFamily="34" charset="-128"/>
              </a:rPr>
              <a:t> 조정할 수 있다</a:t>
            </a:r>
            <a:r>
              <a:rPr kumimoji="1" lang="en-US" altLang="ko-KR" dirty="0">
                <a:latin typeface="Meiryo UI" panose="020B0604030504040204" pitchFamily="34" charset="-128"/>
                <a:ea typeface="Meiryo UI" panose="020B0604030504040204" pitchFamily="34" charset="-128"/>
              </a:rPr>
              <a:t>.</a:t>
            </a:r>
            <a:endParaRPr kumimoji="1" lang="ko-Kore-KR" altLang="en-US" dirty="0">
              <a:latin typeface="Meiryo UI" panose="020B0604030504040204" pitchFamily="34" charset="-128"/>
            </a:endParaRPr>
          </a:p>
        </p:txBody>
      </p:sp>
      <p:sp>
        <p:nvSpPr>
          <p:cNvPr id="6" name="제목 1">
            <a:extLst>
              <a:ext uri="{FF2B5EF4-FFF2-40B4-BE49-F238E27FC236}">
                <a16:creationId xmlns:a16="http://schemas.microsoft.com/office/drawing/2014/main" id="{60774164-662A-8126-8597-807B21CABAD4}"/>
              </a:ext>
            </a:extLst>
          </p:cNvPr>
          <p:cNvSpPr txBox="1">
            <a:spLocks/>
          </p:cNvSpPr>
          <p:nvPr/>
        </p:nvSpPr>
        <p:spPr>
          <a:xfrm>
            <a:off x="838200" y="365126"/>
            <a:ext cx="10515600" cy="75948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kumimoji="1" lang="en-US" altLang="ko-Kore-KR" sz="3600" dirty="0">
                <a:latin typeface="Meiryo UI" panose="020B0604030504040204" pitchFamily="34" charset="-128"/>
                <a:ea typeface="Meiryo UI" panose="020B0604030504040204" pitchFamily="34" charset="-128"/>
              </a:rPr>
              <a:t>Multi-domain adaptation</a:t>
            </a:r>
            <a:endParaRPr kumimoji="1" lang="ko-Kore-KR" altLang="en-US" sz="3600" dirty="0">
              <a:latin typeface="Meiryo UI" panose="020B060403050404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62782159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>
            <a:extLst>
              <a:ext uri="{FF2B5EF4-FFF2-40B4-BE49-F238E27FC236}">
                <a16:creationId xmlns:a16="http://schemas.microsoft.com/office/drawing/2014/main" id="{BDE443C6-8706-FE07-29B5-7A4BBDA9382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67100" y="5144722"/>
            <a:ext cx="5257800" cy="927100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6" name="내용 개체 틀 2">
                <a:extLst>
                  <a:ext uri="{FF2B5EF4-FFF2-40B4-BE49-F238E27FC236}">
                    <a16:creationId xmlns:a16="http://schemas.microsoft.com/office/drawing/2014/main" id="{C0CD8D5D-55A0-1B93-364D-77C818A101F3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838200" y="1469102"/>
                <a:ext cx="10515600" cy="3919795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rmAutofit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>
                  <a:lnSpc>
                    <a:spcPct val="150000"/>
                  </a:lnSpc>
                </a:pPr>
                <a:r>
                  <a:rPr lang="en" altLang="ko-Kore-KR" sz="2400" dirty="0">
                    <a:latin typeface="Meiryo UI" panose="020B0604030504040204" pitchFamily="34" charset="-128"/>
                    <a:ea typeface="Meiryo UI" panose="020B0604030504040204" pitchFamily="34" charset="-128"/>
                  </a:rPr>
                  <a:t>EWC + data mixing</a:t>
                </a:r>
              </a:p>
              <a:p>
                <a:pPr lvl="1">
                  <a:lnSpc>
                    <a:spcPct val="150000"/>
                  </a:lnSpc>
                </a:pPr>
                <a:r>
                  <a:rPr kumimoji="1" lang="en-US" altLang="ko-KR" sz="2000" dirty="0">
                    <a:latin typeface="Meiryo UI" panose="020B0604030504040204" pitchFamily="34" charset="-128"/>
                    <a:ea typeface="Meiryo UI" panose="020B0604030504040204" pitchFamily="34" charset="-128"/>
                  </a:rPr>
                  <a:t>EWC </a:t>
                </a:r>
                <a:r>
                  <a:rPr kumimoji="1" lang="ko-KR" altLang="en-US" sz="2000" dirty="0">
                    <a:latin typeface="Meiryo UI" panose="020B0604030504040204" pitchFamily="34" charset="-128"/>
                    <a:ea typeface="Meiryo UI" panose="020B0604030504040204" pitchFamily="34" charset="-128"/>
                  </a:rPr>
                  <a:t>는 </a:t>
                </a:r>
                <a:r>
                  <a:rPr kumimoji="1" lang="en-US" altLang="ko-KR" sz="2000" dirty="0">
                    <a:latin typeface="Meiryo UI" panose="020B0604030504040204" pitchFamily="34" charset="-128"/>
                    <a:ea typeface="Meiryo UI" panose="020B0604030504040204" pitchFamily="34" charset="-128"/>
                  </a:rPr>
                  <a:t>task B </a:t>
                </a:r>
                <a:r>
                  <a:rPr kumimoji="1" lang="ko-KR" altLang="en-US" sz="2000" dirty="0">
                    <a:latin typeface="Meiryo UI" panose="020B0604030504040204" pitchFamily="34" charset="-128"/>
                    <a:ea typeface="Meiryo UI" panose="020B0604030504040204" pitchFamily="34" charset="-128"/>
                  </a:rPr>
                  <a:t>와 </a:t>
                </a:r>
                <a:r>
                  <a:rPr kumimoji="1" lang="en-US" altLang="ko-KR" sz="2000" dirty="0">
                    <a:latin typeface="Meiryo UI" panose="020B0604030504040204" pitchFamily="34" charset="-128"/>
                    <a:ea typeface="Meiryo UI" panose="020B0604030504040204" pitchFamily="34" charset="-128"/>
                  </a:rPr>
                  <a:t>A </a:t>
                </a:r>
                <a:r>
                  <a:rPr kumimoji="1" lang="ko-KR" altLang="en-US" sz="2000" dirty="0">
                    <a:latin typeface="Meiryo UI" panose="020B0604030504040204" pitchFamily="34" charset="-128"/>
                    <a:ea typeface="Meiryo UI" panose="020B0604030504040204" pitchFamily="34" charset="-128"/>
                  </a:rPr>
                  <a:t>의 성능이 독립적이라고 가정함 </a:t>
                </a:r>
                <a:r>
                  <a:rPr kumimoji="1" lang="en-US" altLang="ko-KR" sz="2000" dirty="0">
                    <a:latin typeface="Meiryo UI" panose="020B0604030504040204" pitchFamily="34" charset="-128"/>
                    <a:ea typeface="Meiryo UI" panose="020B0604030504040204" pitchFamily="34" charset="-128"/>
                  </a:rPr>
                  <a:t>(</a:t>
                </a:r>
                <a:r>
                  <a:rPr kumimoji="1" lang="ko-KR" altLang="en-US" sz="2000" dirty="0">
                    <a:latin typeface="Meiryo UI" panose="020B0604030504040204" pitchFamily="34" charset="-128"/>
                    <a:ea typeface="Meiryo UI" panose="020B0604030504040204" pitchFamily="34" charset="-128"/>
                  </a:rPr>
                  <a:t>                                 </a:t>
                </a:r>
                <a:r>
                  <a:rPr kumimoji="1" lang="en-US" altLang="ko-KR" sz="2000" dirty="0">
                    <a:latin typeface="Meiryo UI" panose="020B0604030504040204" pitchFamily="34" charset="-128"/>
                    <a:ea typeface="Meiryo UI" panose="020B0604030504040204" pitchFamily="34" charset="-128"/>
                  </a:rPr>
                  <a:t>)</a:t>
                </a:r>
              </a:p>
              <a:p>
                <a:pPr lvl="1">
                  <a:lnSpc>
                    <a:spcPct val="150000"/>
                  </a:lnSpc>
                </a:pPr>
                <a:r>
                  <a:rPr kumimoji="1" lang="en-US" altLang="ko-KR" sz="2000" dirty="0">
                    <a:latin typeface="Meiryo UI" panose="020B0604030504040204" pitchFamily="34" charset="-128"/>
                    <a:ea typeface="Meiryo UI" panose="020B0604030504040204" pitchFamily="34" charset="-128"/>
                  </a:rPr>
                  <a:t>Original task A</a:t>
                </a:r>
                <a:r>
                  <a:rPr kumimoji="1" lang="ko-KR" altLang="en-US" sz="2000" dirty="0">
                    <a:latin typeface="Meiryo UI" panose="020B0604030504040204" pitchFamily="34" charset="-128"/>
                    <a:ea typeface="Meiryo UI" panose="020B0604030504040204" pitchFamily="34" charset="-128"/>
                  </a:rPr>
                  <a:t>의 데이터를 두개로 나눈다 하고</a:t>
                </a:r>
                <a:r>
                  <a:rPr kumimoji="1" lang="en-US" altLang="ko-KR" sz="2000" dirty="0">
                    <a:latin typeface="Meiryo UI" panose="020B0604030504040204" pitchFamily="34" charset="-128"/>
                    <a:ea typeface="Meiryo UI" panose="020B0604030504040204" pitchFamily="34" charset="-128"/>
                  </a:rPr>
                  <a:t>,</a:t>
                </a:r>
                <a:r>
                  <a:rPr kumimoji="1" lang="ko-KR" altLang="en-US" sz="2000" dirty="0">
                    <a:latin typeface="Meiryo UI" panose="020B0604030504040204" pitchFamily="34" charset="-128"/>
                    <a:ea typeface="Meiryo UI" panose="020B0604030504040204" pitchFamily="34" charset="-128"/>
                  </a:rPr>
                  <a:t> 그</a:t>
                </a:r>
                <a:r>
                  <a:rPr kumimoji="1" lang="en-US" altLang="ko-KR" sz="2000" dirty="0">
                    <a:latin typeface="Meiryo UI" panose="020B0604030504040204" pitchFamily="34" charset="-128"/>
                    <a:ea typeface="Meiryo UI" panose="020B0604030504040204" pitchFamily="34" charset="-128"/>
                  </a:rPr>
                  <a:t> </a:t>
                </a:r>
                <a:r>
                  <a:rPr kumimoji="1" lang="ko-KR" altLang="en-US" sz="2000" dirty="0">
                    <a:latin typeface="Meiryo UI" panose="020B0604030504040204" pitchFamily="34" charset="-128"/>
                    <a:ea typeface="Meiryo UI" panose="020B0604030504040204" pitchFamily="34" charset="-128"/>
                  </a:rPr>
                  <a:t>중에서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1" lang="en-US" altLang="ko-KR" sz="2000" b="0" i="1" dirty="0" smtClean="0">
                            <a:latin typeface="Cambria Math" panose="02040503050406030204" pitchFamily="18" charset="0"/>
                            <a:ea typeface="Meiryo UI" panose="020B0604030504040204" pitchFamily="34" charset="-128"/>
                          </a:rPr>
                        </m:ctrlPr>
                      </m:sSubPr>
                      <m:e>
                        <m:r>
                          <a:rPr kumimoji="1" lang="en-US" altLang="ko-KR" sz="2000" i="1" dirty="0" smtClean="0">
                            <a:latin typeface="Cambria Math" panose="02040503050406030204" pitchFamily="18" charset="0"/>
                            <a:ea typeface="Meiryo UI" panose="020B0604030504040204" pitchFamily="34" charset="-128"/>
                          </a:rPr>
                          <m:t>𝐴</m:t>
                        </m:r>
                      </m:e>
                      <m:sub>
                        <m:r>
                          <a:rPr kumimoji="1" lang="en-US" altLang="ko-KR" sz="2000" i="1" dirty="0" smtClean="0">
                            <a:latin typeface="Cambria Math" panose="02040503050406030204" pitchFamily="18" charset="0"/>
                            <a:ea typeface="Meiryo UI" panose="020B0604030504040204" pitchFamily="34" charset="-128"/>
                          </a:rPr>
                          <m:t>1</m:t>
                        </m:r>
                      </m:sub>
                    </m:sSub>
                    <m:r>
                      <a:rPr kumimoji="1" lang="en-US" altLang="ko-KR" sz="2000" i="1" dirty="0" smtClean="0">
                        <a:latin typeface="Cambria Math" panose="02040503050406030204" pitchFamily="18" charset="0"/>
                        <a:ea typeface="Meiryo UI" panose="020B0604030504040204" pitchFamily="34" charset="-128"/>
                      </a:rPr>
                      <m:t>≫</m:t>
                    </m:r>
                    <m:sSub>
                      <m:sSubPr>
                        <m:ctrlPr>
                          <a:rPr kumimoji="1" lang="en-US" altLang="ko-KR" sz="2000" b="0" i="1" dirty="0" smtClean="0">
                            <a:latin typeface="Cambria Math" panose="02040503050406030204" pitchFamily="18" charset="0"/>
                            <a:ea typeface="Meiryo UI" panose="020B0604030504040204" pitchFamily="34" charset="-128"/>
                          </a:rPr>
                        </m:ctrlPr>
                      </m:sSubPr>
                      <m:e>
                        <m:r>
                          <a:rPr kumimoji="1" lang="en-US" altLang="ko-KR" sz="2000" i="1" dirty="0" smtClean="0">
                            <a:latin typeface="Cambria Math" panose="02040503050406030204" pitchFamily="18" charset="0"/>
                            <a:ea typeface="Meiryo UI" panose="020B0604030504040204" pitchFamily="34" charset="-128"/>
                          </a:rPr>
                          <m:t>𝐴</m:t>
                        </m:r>
                      </m:e>
                      <m:sub>
                        <m:r>
                          <a:rPr kumimoji="1" lang="en-US" altLang="ko-KR" sz="2000" i="1" dirty="0" smtClean="0">
                            <a:latin typeface="Cambria Math" panose="02040503050406030204" pitchFamily="18" charset="0"/>
                            <a:ea typeface="Meiryo UI" panose="020B0604030504040204" pitchFamily="34" charset="-128"/>
                          </a:rPr>
                          <m:t>2</m:t>
                        </m:r>
                      </m:sub>
                    </m:sSub>
                    <m:r>
                      <a:rPr kumimoji="1" lang="en-US" altLang="ko-KR" sz="2000" i="1" dirty="0" smtClean="0">
                        <a:latin typeface="Cambria Math" panose="02040503050406030204" pitchFamily="18" charset="0"/>
                        <a:ea typeface="Meiryo UI" panose="020B0604030504040204" pitchFamily="34" charset="-128"/>
                      </a:rPr>
                      <m:t> </m:t>
                    </m:r>
                  </m:oMath>
                </a14:m>
                <a:r>
                  <a:rPr kumimoji="1" lang="ko-KR" altLang="en-US" sz="2000" dirty="0" err="1">
                    <a:latin typeface="Meiryo UI" panose="020B0604030504040204" pitchFamily="34" charset="-128"/>
                    <a:ea typeface="Meiryo UI" panose="020B0604030504040204" pitchFamily="34" charset="-128"/>
                  </a:rPr>
                  <a:t>라고</a:t>
                </a:r>
                <a:r>
                  <a:rPr kumimoji="1" lang="ko-KR" altLang="en-US" sz="2000" dirty="0">
                    <a:latin typeface="Meiryo UI" panose="020B0604030504040204" pitchFamily="34" charset="-128"/>
                    <a:ea typeface="Meiryo UI" panose="020B0604030504040204" pitchFamily="34" charset="-128"/>
                  </a:rPr>
                  <a:t> 하자</a:t>
                </a:r>
                <a:endParaRPr kumimoji="1" lang="en-US" altLang="ko-KR" sz="2000" dirty="0">
                  <a:latin typeface="Meiryo UI" panose="020B0604030504040204" pitchFamily="34" charset="-128"/>
                  <a:ea typeface="Meiryo UI" panose="020B0604030504040204" pitchFamily="34" charset="-128"/>
                </a:endParaRPr>
              </a:p>
              <a:p>
                <a:pPr lvl="1">
                  <a:lnSpc>
                    <a:spcPct val="150000"/>
                  </a:lnSpc>
                </a:pPr>
                <a:r>
                  <a:rPr kumimoji="1" lang="ko-KR" altLang="en-US" sz="2000" dirty="0">
                    <a:latin typeface="Meiryo UI" panose="020B0604030504040204" pitchFamily="34" charset="-128"/>
                    <a:ea typeface="Meiryo UI" panose="020B0604030504040204" pitchFamily="34" charset="-128"/>
                  </a:rPr>
                  <a:t>첫번째 가정에 따라                                           이므로</a:t>
                </a:r>
                <a:r>
                  <a:rPr kumimoji="1" lang="en-US" altLang="ko-KR" sz="2000" dirty="0">
                    <a:latin typeface="Meiryo UI" panose="020B0604030504040204" pitchFamily="34" charset="-128"/>
                    <a:ea typeface="Meiryo UI" panose="020B0604030504040204" pitchFamily="34" charset="-128"/>
                  </a:rPr>
                  <a:t>,</a:t>
                </a:r>
                <a:r>
                  <a:rPr kumimoji="1" lang="ko-KR" altLang="en-US" sz="2000" dirty="0">
                    <a:latin typeface="Meiryo UI" panose="020B0604030504040204" pitchFamily="34" charset="-128"/>
                    <a:ea typeface="Meiryo UI" panose="020B0604030504040204" pitchFamily="34" charset="-128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1" lang="en-US" altLang="ko-KR" sz="2000" i="1" dirty="0" smtClean="0">
                            <a:latin typeface="Cambria Math" panose="02040503050406030204" pitchFamily="18" charset="0"/>
                            <a:ea typeface="Meiryo UI" panose="020B0604030504040204" pitchFamily="34" charset="-128"/>
                          </a:rPr>
                        </m:ctrlPr>
                      </m:sSubPr>
                      <m:e>
                        <m:r>
                          <a:rPr kumimoji="1" lang="en-US" altLang="ko-KR" sz="2000" i="1" dirty="0" smtClean="0">
                            <a:latin typeface="Cambria Math" panose="02040503050406030204" pitchFamily="18" charset="0"/>
                            <a:ea typeface="Meiryo UI" panose="020B0604030504040204" pitchFamily="34" charset="-128"/>
                          </a:rPr>
                          <m:t>𝐴</m:t>
                        </m:r>
                      </m:e>
                      <m:sub>
                        <m:r>
                          <a:rPr kumimoji="1" lang="en-US" altLang="ko-KR" sz="2000" i="1" dirty="0" smtClean="0">
                            <a:latin typeface="Cambria Math" panose="02040503050406030204" pitchFamily="18" charset="0"/>
                            <a:ea typeface="Meiryo UI" panose="020B0604030504040204" pitchFamily="34" charset="-128"/>
                          </a:rPr>
                          <m:t>1</m:t>
                        </m:r>
                      </m:sub>
                    </m:sSub>
                  </m:oMath>
                </a14:m>
                <a:r>
                  <a:rPr kumimoji="1" lang="ko-KR" altLang="en-US" sz="2000" dirty="0">
                    <a:latin typeface="Meiryo UI" panose="020B0604030504040204" pitchFamily="34" charset="-128"/>
                    <a:ea typeface="Meiryo UI" panose="020B0604030504040204" pitchFamily="34" charset="-128"/>
                  </a:rPr>
                  <a:t>는 전체 데이터셋 </a:t>
                </a:r>
                <a14:m>
                  <m:oMath xmlns:m="http://schemas.openxmlformats.org/officeDocument/2006/math">
                    <m:r>
                      <a:rPr kumimoji="1" lang="en-US" altLang="ko-KR" sz="2000" i="1" dirty="0" smtClean="0">
                        <a:latin typeface="Cambria Math" panose="02040503050406030204" pitchFamily="18" charset="0"/>
                        <a:ea typeface="Meiryo UI" panose="020B0604030504040204" pitchFamily="34" charset="-128"/>
                      </a:rPr>
                      <m:t>𝐴</m:t>
                    </m:r>
                  </m:oMath>
                </a14:m>
                <a:r>
                  <a:rPr kumimoji="1" lang="en-US" altLang="ko-KR" sz="2000" dirty="0">
                    <a:latin typeface="Meiryo UI" panose="020B0604030504040204" pitchFamily="34" charset="-128"/>
                    <a:ea typeface="Meiryo UI" panose="020B0604030504040204" pitchFamily="34" charset="-128"/>
                  </a:rPr>
                  <a:t> </a:t>
                </a:r>
                <a:r>
                  <a:rPr kumimoji="1" lang="ko-KR" altLang="en-US" sz="2000" dirty="0" err="1">
                    <a:latin typeface="Meiryo UI" panose="020B0604030504040204" pitchFamily="34" charset="-128"/>
                    <a:ea typeface="Meiryo UI" panose="020B0604030504040204" pitchFamily="34" charset="-128"/>
                  </a:rPr>
                  <a:t>를</a:t>
                </a:r>
                <a:r>
                  <a:rPr kumimoji="1" lang="ko-KR" altLang="en-US" sz="2000" dirty="0">
                    <a:latin typeface="Meiryo UI" panose="020B0604030504040204" pitchFamily="34" charset="-128"/>
                    <a:ea typeface="Meiryo UI" panose="020B0604030504040204" pitchFamily="34" charset="-128"/>
                  </a:rPr>
                  <a:t> 대변할 수 있다</a:t>
                </a:r>
                <a:r>
                  <a:rPr kumimoji="1" lang="en-US" altLang="ko-KR" sz="2000" dirty="0">
                    <a:latin typeface="Meiryo UI" panose="020B0604030504040204" pitchFamily="34" charset="-128"/>
                    <a:ea typeface="Meiryo UI" panose="020B0604030504040204" pitchFamily="34" charset="-128"/>
                  </a:rPr>
                  <a:t>.</a:t>
                </a:r>
              </a:p>
              <a:p>
                <a:pPr lvl="1">
                  <a:lnSpc>
                    <a:spcPct val="150000"/>
                  </a:lnSpc>
                </a:pPr>
                <a:r>
                  <a:rPr kumimoji="1" lang="ko-KR" altLang="en-US" sz="2000" dirty="0">
                    <a:latin typeface="Meiryo UI" panose="020B0604030504040204" pitchFamily="34" charset="-128"/>
                    <a:ea typeface="Meiryo UI" panose="020B0604030504040204" pitchFamily="34" charset="-128"/>
                  </a:rPr>
                  <a:t>따라서 아래와 같이 </a:t>
                </a:r>
                <a:r>
                  <a:rPr kumimoji="1" lang="en-US" altLang="ko-KR" sz="2000" dirty="0">
                    <a:latin typeface="Meiryo UI" panose="020B0604030504040204" pitchFamily="34" charset="-128"/>
                    <a:ea typeface="Meiryo UI" panose="020B0604030504040204" pitchFamily="34" charset="-128"/>
                  </a:rPr>
                  <a:t>original task </a:t>
                </a:r>
                <a:r>
                  <a:rPr kumimoji="1" lang="ko-KR" altLang="en-US" sz="2000" dirty="0">
                    <a:latin typeface="Meiryo UI" panose="020B0604030504040204" pitchFamily="34" charset="-128"/>
                    <a:ea typeface="Meiryo UI" panose="020B0604030504040204" pitchFamily="34" charset="-128"/>
                  </a:rPr>
                  <a:t>의 </a:t>
                </a:r>
                <a:r>
                  <a:rPr kumimoji="1" lang="en-US" altLang="ko-KR" sz="2000" dirty="0">
                    <a:latin typeface="Meiryo UI" panose="020B0604030504040204" pitchFamily="34" charset="-128"/>
                    <a:ea typeface="Meiryo UI" panose="020B0604030504040204" pitchFamily="34" charset="-128"/>
                  </a:rPr>
                  <a:t>data mixing </a:t>
                </a:r>
                <a:r>
                  <a:rPr kumimoji="1" lang="ko-KR" altLang="en-US" sz="2000" dirty="0">
                    <a:latin typeface="Meiryo UI" panose="020B0604030504040204" pitchFamily="34" charset="-128"/>
                    <a:ea typeface="Meiryo UI" panose="020B0604030504040204" pitchFamily="34" charset="-128"/>
                  </a:rPr>
                  <a:t>을 통해 섞인 </a:t>
                </a:r>
                <a:r>
                  <a:rPr kumimoji="1" lang="en-US" altLang="ko-KR" sz="2000" dirty="0">
                    <a:latin typeface="Meiryo UI" panose="020B0604030504040204" pitchFamily="34" charset="-128"/>
                    <a:ea typeface="Meiryo UI" panose="020B0604030504040204" pitchFamily="34" charset="-128"/>
                  </a:rPr>
                  <a:t>original dataset </a:t>
                </a:r>
                <a:r>
                  <a:rPr kumimoji="1" lang="ko-KR" altLang="en-US" sz="2000" dirty="0">
                    <a:latin typeface="Meiryo UI" panose="020B0604030504040204" pitchFamily="34" charset="-128"/>
                    <a:ea typeface="Meiryo UI" panose="020B0604030504040204" pitchFamily="34" charset="-128"/>
                  </a:rPr>
                  <a:t>의 일부를 </a:t>
                </a:r>
                <a:r>
                  <a:rPr kumimoji="1" lang="en-US" altLang="ko-KR" sz="2000" dirty="0">
                    <a:latin typeface="Meiryo UI" panose="020B0604030504040204" pitchFamily="34" charset="-128"/>
                    <a:ea typeface="Meiryo UI" panose="020B0604030504040204" pitchFamily="34" charset="-128"/>
                  </a:rPr>
                  <a:t>EWC </a:t>
                </a:r>
                <a:r>
                  <a:rPr kumimoji="1" lang="ko-KR" altLang="en-US" sz="2000" dirty="0">
                    <a:latin typeface="Meiryo UI" panose="020B0604030504040204" pitchFamily="34" charset="-128"/>
                    <a:ea typeface="Meiryo UI" panose="020B0604030504040204" pitchFamily="34" charset="-128"/>
                  </a:rPr>
                  <a:t>에</a:t>
                </a:r>
                <a:r>
                  <a:rPr kumimoji="1" lang="en-US" altLang="ko-KR" sz="2000" dirty="0">
                    <a:latin typeface="Meiryo UI" panose="020B0604030504040204" pitchFamily="34" charset="-128"/>
                    <a:ea typeface="Meiryo UI" panose="020B0604030504040204" pitchFamily="34" charset="-128"/>
                  </a:rPr>
                  <a:t> </a:t>
                </a:r>
                <a:r>
                  <a:rPr kumimoji="1" lang="ko-KR" altLang="en-US" sz="2000" dirty="0">
                    <a:latin typeface="Meiryo UI" panose="020B0604030504040204" pitchFamily="34" charset="-128"/>
                    <a:ea typeface="Meiryo UI" panose="020B0604030504040204" pitchFamily="34" charset="-128"/>
                  </a:rPr>
                  <a:t>추가한다</a:t>
                </a:r>
                <a:r>
                  <a:rPr kumimoji="1" lang="en-US" altLang="ko-KR" sz="2000" dirty="0">
                    <a:latin typeface="Meiryo UI" panose="020B0604030504040204" pitchFamily="34" charset="-128"/>
                    <a:ea typeface="Meiryo UI" panose="020B0604030504040204" pitchFamily="34" charset="-128"/>
                  </a:rPr>
                  <a:t>.</a:t>
                </a:r>
                <a:r>
                  <a:rPr kumimoji="1" lang="ko-KR" altLang="en-US" sz="2000" dirty="0">
                    <a:latin typeface="Meiryo UI" panose="020B0604030504040204" pitchFamily="34" charset="-128"/>
                    <a:ea typeface="Meiryo UI" panose="020B0604030504040204" pitchFamily="34" charset="-128"/>
                  </a:rPr>
                  <a:t> </a:t>
                </a:r>
                <a:endParaRPr kumimoji="1" lang="en-US" altLang="ko-KR" sz="2000" dirty="0">
                  <a:latin typeface="Meiryo UI" panose="020B0604030504040204" pitchFamily="34" charset="-128"/>
                  <a:ea typeface="Meiryo UI" panose="020B0604030504040204" pitchFamily="34" charset="-128"/>
                </a:endParaRPr>
              </a:p>
            </p:txBody>
          </p:sp>
        </mc:Choice>
        <mc:Fallback xmlns="">
          <p:sp>
            <p:nvSpPr>
              <p:cNvPr id="6" name="내용 개체 틀 2">
                <a:extLst>
                  <a:ext uri="{FF2B5EF4-FFF2-40B4-BE49-F238E27FC236}">
                    <a16:creationId xmlns:a16="http://schemas.microsoft.com/office/drawing/2014/main" id="{C0CD8D5D-55A0-1B93-364D-77C818A101F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0" y="1469102"/>
                <a:ext cx="10515600" cy="3919795"/>
              </a:xfrm>
              <a:prstGeom prst="rect">
                <a:avLst/>
              </a:prstGeom>
              <a:blipFill>
                <a:blip r:embed="rId3"/>
                <a:stretch>
                  <a:fillRect l="-844" r="-483"/>
                </a:stretch>
              </a:blipFill>
            </p:spPr>
            <p:txBody>
              <a:bodyPr/>
              <a:lstStyle/>
              <a:p>
                <a:r>
                  <a:rPr lang="ko-Kore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제목 1">
            <a:extLst>
              <a:ext uri="{FF2B5EF4-FFF2-40B4-BE49-F238E27FC236}">
                <a16:creationId xmlns:a16="http://schemas.microsoft.com/office/drawing/2014/main" id="{F8E6892E-B991-01C1-33B7-88398649A265}"/>
              </a:ext>
            </a:extLst>
          </p:cNvPr>
          <p:cNvSpPr txBox="1">
            <a:spLocks/>
          </p:cNvSpPr>
          <p:nvPr/>
        </p:nvSpPr>
        <p:spPr>
          <a:xfrm>
            <a:off x="838200" y="365126"/>
            <a:ext cx="10515600" cy="75948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kumimoji="1" lang="en-US" altLang="ko-Kore-KR" sz="3600" dirty="0">
                <a:latin typeface="Meiryo UI" panose="020B0604030504040204" pitchFamily="34" charset="-128"/>
                <a:ea typeface="Meiryo UI" panose="020B0604030504040204" pitchFamily="34" charset="-128"/>
              </a:rPr>
              <a:t>Multi-domain adaptation</a:t>
            </a:r>
            <a:endParaRPr kumimoji="1" lang="ko-Kore-KR" altLang="en-US" sz="3600" dirty="0">
              <a:latin typeface="Meiryo UI" panose="020B0604030504040204" pitchFamily="34" charset="-128"/>
            </a:endParaRPr>
          </a:p>
        </p:txBody>
      </p:sp>
      <p:pic>
        <p:nvPicPr>
          <p:cNvPr id="13" name="그림 12" descr="텍스트이(가) 표시된 사진&#10;&#10;자동 생성된 설명">
            <a:extLst>
              <a:ext uri="{FF2B5EF4-FFF2-40B4-BE49-F238E27FC236}">
                <a16:creationId xmlns:a16="http://schemas.microsoft.com/office/drawing/2014/main" id="{AD7D9471-7696-CD7F-49C8-2E0D0BD98D1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71253" y="2186541"/>
            <a:ext cx="2725523" cy="415414"/>
          </a:xfrm>
          <a:prstGeom prst="rect">
            <a:avLst/>
          </a:prstGeom>
        </p:spPr>
      </p:pic>
      <p:pic>
        <p:nvPicPr>
          <p:cNvPr id="15" name="그림 14">
            <a:extLst>
              <a:ext uri="{FF2B5EF4-FFF2-40B4-BE49-F238E27FC236}">
                <a16:creationId xmlns:a16="http://schemas.microsoft.com/office/drawing/2014/main" id="{635AE7E0-98F5-021B-5724-46C40D6749B2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l="1900" t="18225" b="-1"/>
          <a:stretch/>
        </p:blipFill>
        <p:spPr>
          <a:xfrm>
            <a:off x="3949760" y="3271951"/>
            <a:ext cx="3523096" cy="3140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921359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EC5A741-5709-6FB9-B382-DAD2B870FE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59482"/>
          </a:xfrm>
        </p:spPr>
        <p:txBody>
          <a:bodyPr>
            <a:normAutofit/>
          </a:bodyPr>
          <a:lstStyle/>
          <a:p>
            <a:r>
              <a:rPr kumimoji="1" lang="en-US" altLang="ko-Kore-KR" sz="3600" dirty="0">
                <a:latin typeface="Meiryo UI" panose="020B0604030504040204" pitchFamily="34" charset="-128"/>
                <a:ea typeface="Meiryo UI" panose="020B0604030504040204" pitchFamily="34" charset="-128"/>
              </a:rPr>
              <a:t>Experiments</a:t>
            </a:r>
            <a:endParaRPr kumimoji="1" lang="ko-Kore-KR" altLang="en-US" sz="3600" dirty="0">
              <a:latin typeface="Meiryo UI" panose="020B0604030504040204" pitchFamily="34" charset="-128"/>
            </a:endParaRPr>
          </a:p>
        </p:txBody>
      </p:sp>
      <p:pic>
        <p:nvPicPr>
          <p:cNvPr id="10" name="내용 개체 틀 9" descr="테이블이(가) 표시된 사진&#10;&#10;자동 생성된 설명">
            <a:extLst>
              <a:ext uri="{FF2B5EF4-FFF2-40B4-BE49-F238E27FC236}">
                <a16:creationId xmlns:a16="http://schemas.microsoft.com/office/drawing/2014/main" id="{DB359B71-A7D6-7FE7-B84E-E4723B0BDD3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281039" y="2645228"/>
            <a:ext cx="5629922" cy="3491859"/>
          </a:xfrm>
        </p:spPr>
      </p:pic>
      <p:sp>
        <p:nvSpPr>
          <p:cNvPr id="11" name="내용 개체 틀 2">
            <a:extLst>
              <a:ext uri="{FF2B5EF4-FFF2-40B4-BE49-F238E27FC236}">
                <a16:creationId xmlns:a16="http://schemas.microsoft.com/office/drawing/2014/main" id="{5EFD6F20-DE7C-4600-285A-C918F071BE15}"/>
              </a:ext>
            </a:extLst>
          </p:cNvPr>
          <p:cNvSpPr txBox="1">
            <a:spLocks/>
          </p:cNvSpPr>
          <p:nvPr/>
        </p:nvSpPr>
        <p:spPr>
          <a:xfrm>
            <a:off x="838200" y="1469102"/>
            <a:ext cx="10515600" cy="391979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</a:pPr>
            <a:r>
              <a:rPr kumimoji="1" lang="en-US" altLang="ko-KR" sz="2000" dirty="0">
                <a:latin typeface="Meiryo UI" panose="020B0604030504040204" pitchFamily="34" charset="-128"/>
                <a:ea typeface="Meiryo UI" panose="020B0604030504040204" pitchFamily="34" charset="-128"/>
              </a:rPr>
              <a:t>Transformer </a:t>
            </a:r>
            <a:r>
              <a:rPr kumimoji="1" lang="ko-KR" altLang="en-US" sz="2000" dirty="0">
                <a:latin typeface="Meiryo UI" panose="020B0604030504040204" pitchFamily="34" charset="-128"/>
                <a:ea typeface="Meiryo UI" panose="020B0604030504040204" pitchFamily="34" charset="-128"/>
              </a:rPr>
              <a:t>모델을 </a:t>
            </a:r>
            <a:r>
              <a:rPr kumimoji="1" lang="en-US" altLang="ko-KR" sz="2000" dirty="0">
                <a:latin typeface="Meiryo UI" panose="020B0604030504040204" pitchFamily="34" charset="-128"/>
                <a:ea typeface="Meiryo UI" panose="020B0604030504040204" pitchFamily="34" charset="-128"/>
              </a:rPr>
              <a:t>WMT20 </a:t>
            </a:r>
            <a:r>
              <a:rPr kumimoji="1" lang="ko-KR" altLang="en-US" sz="2000" dirty="0">
                <a:latin typeface="Meiryo UI" panose="020B0604030504040204" pitchFamily="34" charset="-128"/>
                <a:ea typeface="Meiryo UI" panose="020B0604030504040204" pitchFamily="34" charset="-128"/>
              </a:rPr>
              <a:t>과 </a:t>
            </a:r>
            <a:r>
              <a:rPr kumimoji="1" lang="en-US" altLang="ko-KR" sz="2000" dirty="0">
                <a:latin typeface="Meiryo UI" panose="020B0604030504040204" pitchFamily="34" charset="-128"/>
                <a:ea typeface="Meiryo UI" panose="020B0604030504040204" pitchFamily="34" charset="-128"/>
              </a:rPr>
              <a:t>WMT15 </a:t>
            </a:r>
            <a:r>
              <a:rPr kumimoji="1" lang="ko-KR" altLang="en-US" sz="2000" dirty="0">
                <a:latin typeface="Meiryo UI" panose="020B0604030504040204" pitchFamily="34" charset="-128"/>
                <a:ea typeface="Meiryo UI" panose="020B0604030504040204" pitchFamily="34" charset="-128"/>
              </a:rPr>
              <a:t>데이터셋에 학습 후 아래 데이터로 </a:t>
            </a:r>
            <a:r>
              <a:rPr kumimoji="1" lang="en-US" altLang="ko-KR" sz="2000" dirty="0">
                <a:latin typeface="Meiryo UI" panose="020B0604030504040204" pitchFamily="34" charset="-128"/>
                <a:ea typeface="Meiryo UI" panose="020B0604030504040204" pitchFamily="34" charset="-128"/>
              </a:rPr>
              <a:t>domain adaptation </a:t>
            </a:r>
            <a:r>
              <a:rPr kumimoji="1" lang="ko-KR" altLang="en-US" sz="2000" dirty="0">
                <a:latin typeface="Meiryo UI" panose="020B0604030504040204" pitchFamily="34" charset="-128"/>
                <a:ea typeface="Meiryo UI" panose="020B0604030504040204" pitchFamily="34" charset="-128"/>
              </a:rPr>
              <a:t>진행</a:t>
            </a:r>
            <a:endParaRPr kumimoji="1" lang="en-US" altLang="ko-KR" sz="2000" dirty="0">
              <a:latin typeface="Meiryo UI" panose="020B0604030504040204" pitchFamily="34" charset="-128"/>
              <a:ea typeface="Meiryo UI" panose="020B0604030504040204" pitchFamily="34" charset="-128"/>
            </a:endParaRPr>
          </a:p>
          <a:p>
            <a:pPr>
              <a:lnSpc>
                <a:spcPct val="150000"/>
              </a:lnSpc>
            </a:pPr>
            <a:endParaRPr kumimoji="1" lang="en-US" altLang="ko-KR" sz="2000" dirty="0">
              <a:latin typeface="Meiryo UI" panose="020B0604030504040204" pitchFamily="34" charset="-128"/>
              <a:ea typeface="Meiryo UI" panose="020B060403050404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65557383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EC5A741-5709-6FB9-B382-DAD2B870FE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59482"/>
          </a:xfrm>
        </p:spPr>
        <p:txBody>
          <a:bodyPr>
            <a:normAutofit/>
          </a:bodyPr>
          <a:lstStyle/>
          <a:p>
            <a:r>
              <a:rPr kumimoji="1" lang="en-US" altLang="ko-Kore-KR" sz="3600" dirty="0">
                <a:latin typeface="Meiryo UI" panose="020B0604030504040204" pitchFamily="34" charset="-128"/>
                <a:ea typeface="Meiryo UI" panose="020B0604030504040204" pitchFamily="34" charset="-128"/>
              </a:rPr>
              <a:t>Experiments</a:t>
            </a:r>
            <a:endParaRPr kumimoji="1" lang="ko-Kore-KR" altLang="en-US" sz="3600" dirty="0">
              <a:latin typeface="Meiryo UI" panose="020B0604030504040204" pitchFamily="34" charset="-128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내용 개체 틀 5">
                <a:extLst>
                  <a:ext uri="{FF2B5EF4-FFF2-40B4-BE49-F238E27FC236}">
                    <a16:creationId xmlns:a16="http://schemas.microsoft.com/office/drawing/2014/main" id="{CA07404A-C050-E917-6308-90D3751C4B2B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5"/>
                <a:ext cx="4790766" cy="4351338"/>
              </a:xfrm>
            </p:spPr>
            <p:txBody>
              <a:bodyPr/>
              <a:lstStyle/>
              <a:p>
                <a:pPr>
                  <a:buFont typeface="Arial" panose="020B0604020202020204" pitchFamily="34" charset="0"/>
                  <a:buChar char="•"/>
                </a:pPr>
                <a:r>
                  <a:rPr lang="en-US" altLang="ko-KR" b="1" i="1" dirty="0"/>
                  <a:t>Adapt</a:t>
                </a:r>
                <a:r>
                  <a:rPr lang="en-US" altLang="ko-KR" dirty="0"/>
                  <a:t>: vanilla fine-tuning</a:t>
                </a:r>
              </a:p>
              <a:p>
                <a:r>
                  <a:rPr lang="en-US" altLang="ko-KR" dirty="0"/>
                  <a:t>For</a:t>
                </a:r>
                <a14:m>
                  <m:oMath xmlns:m="http://schemas.openxmlformats.org/officeDocument/2006/math">
                    <m:r>
                      <a:rPr lang="ko-KR" alt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𝝀</m:t>
                    </m:r>
                    <m:r>
                      <a:rPr lang="en-US" altLang="ko-KR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→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lang="en-US" altLang="ko-KR" b="1" i="1" dirty="0"/>
                  <a:t>, EWC</a:t>
                </a:r>
                <a:r>
                  <a:rPr lang="en-US" altLang="ko-KR" dirty="0"/>
                  <a:t> approaches vanilla fine-tuning</a:t>
                </a:r>
              </a:p>
              <a:p>
                <a:pPr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p>
                      <m:sSupPr>
                        <m:ctrlPr>
                          <a:rPr lang="en-US" altLang="ko-KR" i="1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ko-KR" i="1" dirty="0" smtClean="0">
                            <a:latin typeface="Cambria Math" panose="02040503050406030204" pitchFamily="18" charset="0"/>
                          </a:rPr>
                          <m:t>10</m:t>
                        </m:r>
                      </m:e>
                      <m:sup>
                        <m:r>
                          <a:rPr lang="en-US" altLang="ko-KR" i="1" dirty="0" smtClean="0">
                            <a:latin typeface="Cambria Math" panose="02040503050406030204" pitchFamily="18" charset="0"/>
                          </a:rPr>
                          <m:t>−1</m:t>
                        </m:r>
                      </m:sup>
                    </m:sSup>
                  </m:oMath>
                </a14:m>
                <a:r>
                  <a:rPr lang="ko-KR" altLang="en-US" dirty="0"/>
                  <a:t>에서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ko-KR" i="1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ko-KR" i="1" dirty="0" smtClean="0">
                            <a:latin typeface="Cambria Math" panose="02040503050406030204" pitchFamily="18" charset="0"/>
                          </a:rPr>
                          <m:t>10</m:t>
                        </m:r>
                      </m:e>
                      <m:sup>
                        <m:r>
                          <a:rPr lang="en-US" altLang="ko-KR" i="1" dirty="0" smtClean="0">
                            <a:latin typeface="Cambria Math" panose="02040503050406030204" pitchFamily="18" charset="0"/>
                          </a:rPr>
                          <m:t>−5</m:t>
                        </m:r>
                      </m:sup>
                    </m:sSup>
                  </m:oMath>
                </a14:m>
                <a:endParaRPr lang="en-US" altLang="ko-KR" dirty="0"/>
              </a:p>
              <a:p>
                <a:pPr>
                  <a:buFont typeface="Arial" panose="020B0604020202020204" pitchFamily="34" charset="0"/>
                  <a:buChar char="•"/>
                </a:pPr>
                <a:r>
                  <a:rPr lang="en-US" altLang="ko-KR" dirty="0"/>
                  <a:t>EWC + data mixing</a:t>
                </a:r>
                <a:r>
                  <a:rPr lang="ko-KR" altLang="en-US" dirty="0"/>
                  <a:t>의 경우 </a:t>
                </a:r>
                <a:r>
                  <a:rPr lang="en-US" altLang="ko-KR" dirty="0"/>
                  <a:t>train sample/domain data</a:t>
                </a:r>
                <a:r>
                  <a:rPr lang="ko-KR" altLang="en-US" dirty="0"/>
                  <a:t>의 비율은 </a:t>
                </a:r>
                <a:r>
                  <a:rPr lang="en-US" altLang="ko-KR" dirty="0"/>
                  <a:t>1:1</a:t>
                </a:r>
              </a:p>
            </p:txBody>
          </p:sp>
        </mc:Choice>
        <mc:Fallback>
          <p:sp>
            <p:nvSpPr>
              <p:cNvPr id="6" name="내용 개체 틀 5">
                <a:extLst>
                  <a:ext uri="{FF2B5EF4-FFF2-40B4-BE49-F238E27FC236}">
                    <a16:creationId xmlns:a16="http://schemas.microsoft.com/office/drawing/2014/main" id="{CA07404A-C050-E917-6308-90D3751C4B2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5"/>
                <a:ext cx="4790766" cy="4351338"/>
              </a:xfrm>
              <a:blipFill>
                <a:blip r:embed="rId2"/>
                <a:stretch>
                  <a:fillRect l="-2293" t="-2241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026" name="Picture 2">
            <a:extLst>
              <a:ext uri="{FF2B5EF4-FFF2-40B4-BE49-F238E27FC236}">
                <a16:creationId xmlns:a16="http://schemas.microsoft.com/office/drawing/2014/main" id="{0D6A98C6-90AA-8FAC-7DED-669C02F65E0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28966" y="1764742"/>
            <a:ext cx="6126554" cy="44731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6158679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EC5A741-5709-6FB9-B382-DAD2B870FE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59482"/>
          </a:xfrm>
        </p:spPr>
        <p:txBody>
          <a:bodyPr>
            <a:normAutofit/>
          </a:bodyPr>
          <a:lstStyle/>
          <a:p>
            <a:r>
              <a:rPr kumimoji="1" lang="en-US" altLang="ko-Kore-KR" sz="3600" dirty="0">
                <a:latin typeface="Meiryo UI" panose="020B0604030504040204" pitchFamily="34" charset="-128"/>
                <a:ea typeface="Meiryo UI" panose="020B0604030504040204" pitchFamily="34" charset="-128"/>
              </a:rPr>
              <a:t>Experiments</a:t>
            </a:r>
            <a:endParaRPr kumimoji="1" lang="ko-Kore-KR" altLang="en-US" sz="3600" dirty="0">
              <a:latin typeface="Meiryo UI" panose="020B0604030504040204" pitchFamily="34" charset="-128"/>
            </a:endParaRPr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4271FA41-EFA8-A87F-116A-866A4B5687BD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03014" y="2139046"/>
            <a:ext cx="5185681" cy="380932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C5B98719-30E6-F5D0-5D80-38B9B7CB72A4}"/>
                  </a:ext>
                </a:extLst>
              </p:cNvPr>
              <p:cNvSpPr txBox="1"/>
              <p:nvPr/>
            </p:nvSpPr>
            <p:spPr>
              <a:xfrm>
                <a:off x="603305" y="1643049"/>
                <a:ext cx="6098720" cy="410497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buFont typeface="Arial" panose="020B0604020202020204" pitchFamily="34" charset="0"/>
                  <a:buChar char="•"/>
                </a:pPr>
                <a:r>
                  <a:rPr lang="en-US" altLang="ko-KR" sz="2000" b="1" i="1" dirty="0">
                    <a:latin typeface="+mj-ea"/>
                    <a:ea typeface="+mj-ea"/>
                  </a:rPr>
                  <a:t>EWC:</a:t>
                </a:r>
                <a:r>
                  <a:rPr lang="ko-KR" altLang="en-US" sz="2000" dirty="0">
                    <a:latin typeface="+mj-ea"/>
                    <a:ea typeface="+mj-ea"/>
                  </a:rPr>
                  <a:t> </a:t>
                </a:r>
                <a:r>
                  <a:rPr lang="en-US" altLang="ko-KR" sz="2000" dirty="0">
                    <a:latin typeface="+mj-ea"/>
                    <a:ea typeface="+mj-ea"/>
                  </a:rPr>
                  <a:t>catastrophic forgetting </a:t>
                </a:r>
                <a:r>
                  <a:rPr lang="ko-KR" altLang="en-US" sz="2000" dirty="0">
                    <a:latin typeface="+mj-ea"/>
                    <a:ea typeface="+mj-ea"/>
                  </a:rPr>
                  <a:t>문제는 완화시켰지만 이는 </a:t>
                </a:r>
                <a:r>
                  <a:rPr lang="en-US" altLang="ko-KR" sz="2000" dirty="0">
                    <a:latin typeface="+mj-ea"/>
                    <a:ea typeface="+mj-ea"/>
                  </a:rPr>
                  <a:t>domain quality </a:t>
                </a:r>
                <a:r>
                  <a:rPr lang="ko-KR" altLang="en-US" sz="2000" dirty="0">
                    <a:latin typeface="+mj-ea"/>
                    <a:ea typeface="+mj-ea"/>
                  </a:rPr>
                  <a:t>측면에서 상당한 비용이 든다</a:t>
                </a:r>
                <a:r>
                  <a:rPr lang="en-US" altLang="ko-KR" sz="2000" dirty="0">
                    <a:latin typeface="+mj-ea"/>
                    <a:ea typeface="+mj-ea"/>
                  </a:rPr>
                  <a:t>. </a:t>
                </a:r>
              </a:p>
              <a:p>
                <a:pPr>
                  <a:buFont typeface="Arial" panose="020B0604020202020204" pitchFamily="34" charset="0"/>
                  <a:buChar char="•"/>
                </a:pPr>
                <a:r>
                  <a:rPr lang="en-US" altLang="ko-KR" sz="2000" b="1" i="1" dirty="0">
                    <a:latin typeface="+mj-ea"/>
                    <a:ea typeface="+mj-ea"/>
                  </a:rPr>
                  <a:t>data mixing</a:t>
                </a:r>
                <a:r>
                  <a:rPr lang="ko-KR" altLang="en-US" sz="2000" dirty="0">
                    <a:latin typeface="+mj-ea"/>
                    <a:ea typeface="+mj-ea"/>
                  </a:rPr>
                  <a:t>을 가미하면 </a:t>
                </a:r>
                <a:r>
                  <a:rPr lang="en-US" altLang="ko-KR" sz="2000" dirty="0">
                    <a:latin typeface="+mj-ea"/>
                    <a:ea typeface="+mj-ea"/>
                  </a:rPr>
                  <a:t>EWC(rightmost point) </a:t>
                </a:r>
                <a:r>
                  <a:rPr lang="ko-KR" altLang="en-US" sz="2000" dirty="0">
                    <a:latin typeface="+mj-ea"/>
                    <a:ea typeface="+mj-ea"/>
                  </a:rPr>
                  <a:t>대비 </a:t>
                </a:r>
                <a:r>
                  <a:rPr lang="en-US" altLang="ko-KR" sz="2000" dirty="0">
                    <a:latin typeface="+mj-ea"/>
                    <a:ea typeface="+mj-ea"/>
                  </a:rPr>
                  <a:t>generic performance</a:t>
                </a:r>
                <a:r>
                  <a:rPr lang="ko-KR" altLang="en-US" sz="2000" dirty="0">
                    <a:latin typeface="+mj-ea"/>
                    <a:ea typeface="+mj-ea"/>
                  </a:rPr>
                  <a:t>를 더 높게 유지하며 </a:t>
                </a:r>
                <a:r>
                  <a:rPr lang="en-US" altLang="ko-KR" sz="2000" dirty="0">
                    <a:latin typeface="+mj-ea"/>
                    <a:ea typeface="+mj-ea"/>
                  </a:rPr>
                  <a:t>adapted domain performance</a:t>
                </a:r>
                <a:r>
                  <a:rPr lang="ko-KR" altLang="en-US" sz="2000" dirty="0">
                    <a:latin typeface="+mj-ea"/>
                    <a:ea typeface="+mj-ea"/>
                  </a:rPr>
                  <a:t>에서도 </a:t>
                </a:r>
                <a:r>
                  <a:rPr lang="en-US" altLang="ko-KR" sz="2000" dirty="0">
                    <a:latin typeface="+mj-ea"/>
                    <a:ea typeface="+mj-ea"/>
                  </a:rPr>
                  <a:t>high quality</a:t>
                </a:r>
                <a:r>
                  <a:rPr lang="ko-KR" altLang="en-US" sz="2000" dirty="0">
                    <a:latin typeface="+mj-ea"/>
                    <a:ea typeface="+mj-ea"/>
                  </a:rPr>
                  <a:t>를 보임</a:t>
                </a:r>
              </a:p>
              <a:p>
                <a:pPr>
                  <a:buFont typeface="Arial" panose="020B0604020202020204" pitchFamily="34" charset="0"/>
                  <a:buChar char="•"/>
                </a:pPr>
                <a:r>
                  <a:rPr lang="ko-KR" altLang="en-US" sz="2000" dirty="0">
                    <a:latin typeface="+mj-ea"/>
                    <a:ea typeface="+mj-ea"/>
                  </a:rPr>
                  <a:t>그러나 </a:t>
                </a:r>
                <a:r>
                  <a:rPr lang="en-US" altLang="ko-KR" sz="2000" dirty="0">
                    <a:latin typeface="+mj-ea"/>
                    <a:ea typeface="+mj-ea"/>
                  </a:rPr>
                  <a:t>10:1, 100:1</a:t>
                </a:r>
                <a:r>
                  <a:rPr lang="ko-KR" altLang="en-US" sz="2000" dirty="0">
                    <a:latin typeface="+mj-ea"/>
                    <a:ea typeface="+mj-ea"/>
                  </a:rPr>
                  <a:t>의 경우 </a:t>
                </a:r>
                <a:r>
                  <a:rPr lang="en-US" altLang="ko-KR" sz="2000" dirty="0">
                    <a:latin typeface="+mj-ea"/>
                    <a:ea typeface="+mj-ea"/>
                  </a:rPr>
                  <a:t>fully restored</a:t>
                </a:r>
                <a:r>
                  <a:rPr lang="ko-KR" altLang="en-US" sz="2000" dirty="0">
                    <a:latin typeface="+mj-ea"/>
                    <a:ea typeface="+mj-ea"/>
                  </a:rPr>
                  <a:t>되지 않음 </a:t>
                </a:r>
              </a:p>
              <a:p>
                <a:pPr marL="742950" lvl="1" indent="-285750">
                  <a:buFont typeface="Arial" panose="020B0604020202020204" pitchFamily="34" charset="0"/>
                  <a:buChar char="•"/>
                </a:pPr>
                <a:r>
                  <a:rPr lang="ko-KR" altLang="en-US" sz="2000" dirty="0">
                    <a:latin typeface="+mj-ea"/>
                    <a:ea typeface="+mj-ea"/>
                  </a:rPr>
                  <a:t>비율을 조절해도 </a:t>
                </a:r>
                <a:r>
                  <a:rPr lang="en-US" altLang="ko-KR" sz="2000" dirty="0">
                    <a:latin typeface="+mj-ea"/>
                    <a:ea typeface="+mj-ea"/>
                  </a:rPr>
                  <a:t>general domain</a:t>
                </a:r>
                <a:r>
                  <a:rPr lang="ko-KR" altLang="en-US" sz="2000" dirty="0">
                    <a:latin typeface="+mj-ea"/>
                    <a:ea typeface="+mj-ea"/>
                  </a:rPr>
                  <a:t>과 </a:t>
                </a:r>
                <a:r>
                  <a:rPr lang="en-US" altLang="ko-KR" sz="2000" dirty="0">
                    <a:latin typeface="+mj-ea"/>
                    <a:ea typeface="+mj-ea"/>
                  </a:rPr>
                  <a:t>adapt domain </a:t>
                </a:r>
                <a:r>
                  <a:rPr lang="ko-KR" altLang="en-US" sz="2000" dirty="0">
                    <a:latin typeface="+mj-ea"/>
                    <a:ea typeface="+mj-ea"/>
                  </a:rPr>
                  <a:t>간 안정적 </a:t>
                </a:r>
                <a:r>
                  <a:rPr lang="ko-KR" altLang="en-US" sz="2000" dirty="0" err="1">
                    <a:latin typeface="+mj-ea"/>
                    <a:ea typeface="+mj-ea"/>
                  </a:rPr>
                  <a:t>보간은</a:t>
                </a:r>
                <a:r>
                  <a:rPr lang="ko-KR" altLang="en-US" sz="2000" dirty="0">
                    <a:latin typeface="+mj-ea"/>
                    <a:ea typeface="+mj-ea"/>
                  </a:rPr>
                  <a:t> 힘듦</a:t>
                </a:r>
              </a:p>
              <a:p>
                <a:pPr marL="742950" lvl="1" indent="-285750">
                  <a:buFont typeface="Arial" panose="020B0604020202020204" pitchFamily="34" charset="0"/>
                  <a:buChar char="•"/>
                </a:pPr>
                <a:r>
                  <a:rPr lang="en-US" altLang="ko-KR" sz="2000" dirty="0">
                    <a:latin typeface="+mj-ea"/>
                    <a:ea typeface="+mj-ea"/>
                  </a:rPr>
                  <a:t>One explanation: large datasets</a:t>
                </a:r>
                <a:r>
                  <a:rPr lang="ko-KR" altLang="en-US" sz="2000" dirty="0">
                    <a:latin typeface="+mj-ea"/>
                    <a:ea typeface="+mj-ea"/>
                  </a:rPr>
                  <a:t>의 경우 대표적인 </a:t>
                </a:r>
                <a:r>
                  <a:rPr lang="en-US" altLang="ko-KR" sz="2000" dirty="0">
                    <a:latin typeface="+mj-ea"/>
                    <a:ea typeface="+mj-ea"/>
                  </a:rPr>
                  <a:t>data sample</a:t>
                </a:r>
                <a:r>
                  <a:rPr lang="ko-KR" altLang="en-US" sz="2000" dirty="0">
                    <a:latin typeface="+mj-ea"/>
                    <a:ea typeface="+mj-ea"/>
                  </a:rPr>
                  <a:t>을 찾는 것은 어려운 일</a:t>
                </a:r>
              </a:p>
              <a:p>
                <a:r>
                  <a:rPr lang="en-US" altLang="ko-KR" sz="2000" dirty="0">
                    <a:latin typeface="+mj-ea"/>
                    <a:ea typeface="+mj-ea"/>
                  </a:rPr>
                  <a:t>*</a:t>
                </a:r>
                <a14:m>
                  <m:oMath xmlns:m="http://schemas.openxmlformats.org/officeDocument/2006/math">
                    <m:r>
                      <a:rPr lang="ko-KR" altLang="en-US" sz="2000" i="1">
                        <a:latin typeface="+mj-ea"/>
                        <a:ea typeface="+mj-ea"/>
                      </a:rPr>
                      <m:t>𝝀</m:t>
                    </m:r>
                    <m:r>
                      <a:rPr lang="ko-KR" altLang="en-US" sz="2000" i="1">
                        <a:latin typeface="+mj-ea"/>
                        <a:ea typeface="+mj-ea"/>
                      </a:rPr>
                      <m:t> </m:t>
                    </m:r>
                    <m:r>
                      <a:rPr lang="en-US" altLang="ko-KR" sz="2000" i="1" dirty="0" smtClean="0">
                        <a:latin typeface="+mj-ea"/>
                        <a:ea typeface="+mj-ea"/>
                      </a:rPr>
                      <m:t>=</m:t>
                    </m:r>
                    <m:sSup>
                      <m:sSupPr>
                        <m:ctrlPr>
                          <a:rPr lang="en-US" altLang="ko-KR" sz="2000" i="1" dirty="0" smtClean="0">
                            <a:latin typeface="+mj-ea"/>
                            <a:ea typeface="+mj-ea"/>
                          </a:rPr>
                        </m:ctrlPr>
                      </m:sSupPr>
                      <m:e>
                        <m:r>
                          <a:rPr lang="en-US" altLang="ko-KR" sz="2000" i="1" dirty="0" smtClean="0">
                            <a:latin typeface="+mj-ea"/>
                            <a:ea typeface="+mj-ea"/>
                          </a:rPr>
                          <m:t>10</m:t>
                        </m:r>
                      </m:e>
                      <m:sup>
                        <m:r>
                          <a:rPr lang="en-US" altLang="ko-KR" sz="2000" b="0" i="1" dirty="0" smtClean="0">
                            <a:latin typeface="+mj-ea"/>
                            <a:ea typeface="+mj-ea"/>
                          </a:rPr>
                          <m:t>−5</m:t>
                        </m:r>
                      </m:sup>
                    </m:sSup>
                  </m:oMath>
                </a14:m>
                <a:r>
                  <a:rPr lang="ko-KR" altLang="en-US" sz="2000" dirty="0">
                    <a:latin typeface="+mj-ea"/>
                    <a:ea typeface="+mj-ea"/>
                  </a:rPr>
                  <a:t>의 </a:t>
                </a:r>
                <a:r>
                  <a:rPr lang="en-US" altLang="ko-KR" sz="2000" dirty="0">
                    <a:latin typeface="+mj-ea"/>
                    <a:ea typeface="+mj-ea"/>
                  </a:rPr>
                  <a:t>EWC</a:t>
                </a:r>
                <a:r>
                  <a:rPr lang="ko-KR" altLang="en-US" sz="2000" dirty="0">
                    <a:latin typeface="+mj-ea"/>
                    <a:ea typeface="+mj-ea"/>
                  </a:rPr>
                  <a:t>보다 </a:t>
                </a:r>
                <a:r>
                  <a:rPr lang="en-US" altLang="ko-KR" sz="2000" dirty="0">
                    <a:latin typeface="+mj-ea"/>
                    <a:ea typeface="+mj-ea"/>
                  </a:rPr>
                  <a:t>EWC + data mixing 1:1</a:t>
                </a:r>
                <a:r>
                  <a:rPr lang="ko-KR" altLang="en-US" sz="2000" dirty="0">
                    <a:latin typeface="+mj-ea"/>
                    <a:ea typeface="+mj-ea"/>
                  </a:rPr>
                  <a:t>이 </a:t>
                </a:r>
                <a:r>
                  <a:rPr lang="en-US" altLang="ko-KR" sz="2000" dirty="0">
                    <a:latin typeface="+mj-ea"/>
                    <a:ea typeface="+mj-ea"/>
                  </a:rPr>
                  <a:t>2 BLEU score</a:t>
                </a:r>
                <a:r>
                  <a:rPr lang="ko-KR" altLang="en-US" sz="2000" dirty="0">
                    <a:latin typeface="+mj-ea"/>
                    <a:ea typeface="+mj-ea"/>
                  </a:rPr>
                  <a:t>더 높았음</a:t>
                </a:r>
                <a:endParaRPr lang="en-US" altLang="ko-KR" sz="2000" dirty="0">
                  <a:latin typeface="+mj-ea"/>
                  <a:ea typeface="+mj-ea"/>
                </a:endParaRPr>
              </a:p>
            </p:txBody>
          </p:sp>
        </mc:Choice>
        <mc:Fallback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C5B98719-30E6-F5D0-5D80-38B9B7CB72A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3305" y="1643049"/>
                <a:ext cx="6098720" cy="4104970"/>
              </a:xfrm>
              <a:prstGeom prst="rect">
                <a:avLst/>
              </a:prstGeom>
              <a:blipFill>
                <a:blip r:embed="rId3"/>
                <a:stretch>
                  <a:fillRect l="-1100" t="-892" r="-900" b="-1783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07053201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EC5A741-5709-6FB9-B382-DAD2B870FE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59482"/>
          </a:xfrm>
        </p:spPr>
        <p:txBody>
          <a:bodyPr>
            <a:normAutofit/>
          </a:bodyPr>
          <a:lstStyle/>
          <a:p>
            <a:r>
              <a:rPr kumimoji="1" lang="en-US" altLang="ko-Kore-KR" sz="3600" dirty="0">
                <a:latin typeface="Meiryo UI" panose="020B0604030504040204" pitchFamily="34" charset="-128"/>
                <a:ea typeface="Meiryo UI" panose="020B0604030504040204" pitchFamily="34" charset="-128"/>
              </a:rPr>
              <a:t>Experiments</a:t>
            </a:r>
            <a:endParaRPr kumimoji="1" lang="ko-Kore-KR" altLang="en-US" sz="3600" dirty="0">
              <a:latin typeface="Meiryo UI" panose="020B0604030504040204" pitchFamily="34" charset="-128"/>
            </a:endParaRPr>
          </a:p>
        </p:txBody>
      </p:sp>
      <p:pic>
        <p:nvPicPr>
          <p:cNvPr id="3074" name="Picture 2">
            <a:extLst>
              <a:ext uri="{FF2B5EF4-FFF2-40B4-BE49-F238E27FC236}">
                <a16:creationId xmlns:a16="http://schemas.microsoft.com/office/drawing/2014/main" id="{91A5DC95-5CA9-00D9-1E2A-7EA72B94A43C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23857" y="1124608"/>
            <a:ext cx="7744285" cy="56198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65940805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EC5A741-5709-6FB9-B382-DAD2B870FE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59482"/>
          </a:xfrm>
        </p:spPr>
        <p:txBody>
          <a:bodyPr>
            <a:normAutofit/>
          </a:bodyPr>
          <a:lstStyle/>
          <a:p>
            <a:r>
              <a:rPr kumimoji="1" lang="en-US" altLang="ko-Kore-KR" sz="3600" dirty="0">
                <a:latin typeface="Meiryo UI" panose="020B0604030504040204" pitchFamily="34" charset="-128"/>
                <a:ea typeface="Meiryo UI" panose="020B0604030504040204" pitchFamily="34" charset="-128"/>
              </a:rPr>
              <a:t>Experiments</a:t>
            </a:r>
            <a:endParaRPr kumimoji="1" lang="ko-Kore-KR" altLang="en-US" sz="3600" dirty="0">
              <a:latin typeface="Meiryo UI" panose="020B0604030504040204" pitchFamily="34" charset="-128"/>
            </a:endParaRPr>
          </a:p>
        </p:txBody>
      </p:sp>
      <p:pic>
        <p:nvPicPr>
          <p:cNvPr id="4098" name="Picture 2">
            <a:extLst>
              <a:ext uri="{FF2B5EF4-FFF2-40B4-BE49-F238E27FC236}">
                <a16:creationId xmlns:a16="http://schemas.microsoft.com/office/drawing/2014/main" id="{2E095DDC-962D-BB34-51C5-5EB867A272EF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74157" y="1597025"/>
            <a:ext cx="4779643" cy="43513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75E3E916-92F7-3266-1627-3C49FB0089B6}"/>
              </a:ext>
            </a:extLst>
          </p:cNvPr>
          <p:cNvSpPr txBox="1"/>
          <p:nvPr/>
        </p:nvSpPr>
        <p:spPr>
          <a:xfrm>
            <a:off x="603305" y="1643049"/>
            <a:ext cx="6098720" cy="44012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2000" b="1" dirty="0"/>
              <a:t>Data mixing</a:t>
            </a:r>
            <a:endParaRPr lang="en-US" altLang="ko-KR" sz="2000" dirty="0"/>
          </a:p>
          <a:p>
            <a:pPr>
              <a:buFont typeface="Arial" panose="020B0604020202020204" pitchFamily="34" charset="0"/>
              <a:buChar char="•"/>
            </a:pPr>
            <a:r>
              <a:rPr lang="ko-KR" altLang="en-US" sz="2000" dirty="0"/>
              <a:t>서로 다른 </a:t>
            </a:r>
            <a:r>
              <a:rPr lang="en-US" altLang="ko-KR" sz="2000" dirty="0"/>
              <a:t>random seed</a:t>
            </a:r>
            <a:r>
              <a:rPr lang="ko-KR" altLang="en-US" sz="2000" dirty="0"/>
              <a:t>를 사용하여 </a:t>
            </a:r>
            <a:r>
              <a:rPr lang="en-US" altLang="ko-KR" sz="2000" dirty="0"/>
              <a:t>robustness </a:t>
            </a:r>
            <a:r>
              <a:rPr lang="ko-KR" altLang="en-US" sz="2000" dirty="0"/>
              <a:t>확인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ko-KR" altLang="en-US" sz="2000" dirty="0"/>
              <a:t>모든 </a:t>
            </a:r>
            <a:r>
              <a:rPr lang="en-US" altLang="ko-KR" sz="2000" dirty="0"/>
              <a:t>generic </a:t>
            </a:r>
            <a:r>
              <a:rPr lang="ko-KR" altLang="en-US" sz="2000" dirty="0"/>
              <a:t>및 </a:t>
            </a:r>
            <a:r>
              <a:rPr lang="en-US" altLang="ko-KR" sz="2000" dirty="0"/>
              <a:t>domain-specific test set</a:t>
            </a:r>
            <a:r>
              <a:rPr lang="ko-KR" altLang="en-US" sz="2000" dirty="0"/>
              <a:t>의 </a:t>
            </a:r>
            <a:r>
              <a:rPr lang="en-US" altLang="ko-KR" sz="2000" dirty="0"/>
              <a:t>BLEU </a:t>
            </a:r>
            <a:r>
              <a:rPr lang="ko-KR" altLang="en-US" sz="2000" dirty="0"/>
              <a:t>표준편차 평균 </a:t>
            </a:r>
            <a:r>
              <a:rPr lang="en-US" altLang="ko-KR" sz="2000" dirty="0"/>
              <a:t>0.2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altLang="ko-KR" sz="2000" dirty="0"/>
              <a:t>⇒ </a:t>
            </a:r>
            <a:r>
              <a:rPr lang="ko-KR" altLang="en-US" sz="2000" dirty="0"/>
              <a:t>다양한 </a:t>
            </a:r>
            <a:r>
              <a:rPr lang="en-US" altLang="ko-KR" sz="2000" dirty="0"/>
              <a:t>random sample</a:t>
            </a:r>
            <a:r>
              <a:rPr lang="ko-KR" altLang="en-US" sz="2000" dirty="0"/>
              <a:t>에 대해 충분히 견고함</a:t>
            </a:r>
          </a:p>
          <a:p>
            <a:r>
              <a:rPr lang="en-US" altLang="ko-KR" sz="2000" dirty="0" err="1"/>
              <a:t>upsampling</a:t>
            </a:r>
            <a:r>
              <a:rPr lang="en-US" altLang="ko-KR" sz="2000" dirty="0"/>
              <a:t> </a:t>
            </a:r>
            <a:r>
              <a:rPr lang="ko-KR" altLang="en-US" sz="2000" dirty="0"/>
              <a:t>없이도 좋은 결과를 달성하지만</a:t>
            </a:r>
            <a:r>
              <a:rPr lang="en-US" altLang="ko-KR" sz="2000" dirty="0"/>
              <a:t>, </a:t>
            </a:r>
            <a:r>
              <a:rPr lang="en-US" altLang="ko-KR" sz="2000" dirty="0" err="1"/>
              <a:t>upsampling</a:t>
            </a:r>
            <a:r>
              <a:rPr lang="en-US" altLang="ko-KR" sz="2000" dirty="0"/>
              <a:t> </a:t>
            </a:r>
            <a:r>
              <a:rPr lang="ko-KR" altLang="en-US" sz="2000" dirty="0"/>
              <a:t>했을 때 </a:t>
            </a:r>
            <a:r>
              <a:rPr lang="en-US" altLang="ko-KR" sz="2000" dirty="0"/>
              <a:t>generic set</a:t>
            </a:r>
            <a:r>
              <a:rPr lang="ko-KR" altLang="en-US" sz="2000" dirty="0"/>
              <a:t>에서 조금 더 높은 점수 달성</a:t>
            </a:r>
            <a:endParaRPr lang="en-US" altLang="ko-KR" sz="2000" b="1" dirty="0"/>
          </a:p>
          <a:p>
            <a:endParaRPr lang="en-US" altLang="ko-KR" sz="2000" b="1" dirty="0"/>
          </a:p>
          <a:p>
            <a:r>
              <a:rPr lang="en-US" altLang="ko-KR" sz="2000" b="1" dirty="0"/>
              <a:t>Learning rate</a:t>
            </a:r>
            <a:endParaRPr lang="en-US" altLang="ko-KR" sz="2000" dirty="0"/>
          </a:p>
          <a:p>
            <a:pPr>
              <a:buFont typeface="Arial" panose="020B0604020202020204" pitchFamily="34" charset="0"/>
              <a:buChar char="•"/>
            </a:pPr>
            <a:r>
              <a:rPr lang="en-US" altLang="ko-KR" sz="2000" dirty="0"/>
              <a:t>increasing → generic set</a:t>
            </a:r>
            <a:r>
              <a:rPr lang="ko-KR" altLang="en-US" sz="2000" dirty="0"/>
              <a:t>에서 더 많은 </a:t>
            </a:r>
            <a:r>
              <a:rPr lang="en-US" altLang="ko-KR" sz="2000" dirty="0"/>
              <a:t>forgetting</a:t>
            </a:r>
            <a:r>
              <a:rPr lang="ko-KR" altLang="en-US" sz="2000" dirty="0"/>
              <a:t>을 불러 일으킴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altLang="ko-KR" sz="2000" dirty="0"/>
              <a:t>decreasing → adapted domain</a:t>
            </a:r>
            <a:r>
              <a:rPr lang="ko-KR" altLang="en-US" sz="2000" dirty="0"/>
              <a:t>에서 더 작은 </a:t>
            </a:r>
            <a:r>
              <a:rPr lang="en-US" altLang="ko-KR" sz="2000" dirty="0"/>
              <a:t>improvement</a:t>
            </a:r>
          </a:p>
        </p:txBody>
      </p:sp>
    </p:spTree>
    <p:extLst>
      <p:ext uri="{BB962C8B-B14F-4D97-AF65-F5344CB8AC3E}">
        <p14:creationId xmlns:p14="http://schemas.microsoft.com/office/powerpoint/2010/main" val="204319279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10187</TotalTime>
  <Words>485</Words>
  <Application>Microsoft Office PowerPoint</Application>
  <PresentationFormat>와이드스크린</PresentationFormat>
  <Paragraphs>61</Paragraphs>
  <Slides>13</Slides>
  <Notes>1</Notes>
  <HiddenSlides>0</HiddenSlides>
  <MMClips>0</MMClips>
  <ScaleCrop>false</ScaleCrop>
  <HeadingPairs>
    <vt:vector size="6" baseType="variant">
      <vt:variant>
        <vt:lpstr>사용한 글꼴</vt:lpstr>
      </vt:variant>
      <vt:variant>
        <vt:i4>7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13</vt:i4>
      </vt:variant>
    </vt:vector>
  </HeadingPairs>
  <TitlesOfParts>
    <vt:vector size="21" baseType="lpstr">
      <vt:lpstr>Apple SD Gothic Neo</vt:lpstr>
      <vt:lpstr>Meiryo UI</vt:lpstr>
      <vt:lpstr>맑은 고딕</vt:lpstr>
      <vt:lpstr>Arial</vt:lpstr>
      <vt:lpstr>Calibri</vt:lpstr>
      <vt:lpstr>Calibri Light</vt:lpstr>
      <vt:lpstr>Cambria Math</vt:lpstr>
      <vt:lpstr>Office 테마</vt:lpstr>
      <vt:lpstr>Improving the Quality Trade-Off for  Neural Machine Translation Multi-Domain Adaptation</vt:lpstr>
      <vt:lpstr>Motivation</vt:lpstr>
      <vt:lpstr>Motivation</vt:lpstr>
      <vt:lpstr>Goal</vt:lpstr>
      <vt:lpstr>PowerPoint 프레젠테이션</vt:lpstr>
      <vt:lpstr>PowerPoint 프레젠테이션</vt:lpstr>
      <vt:lpstr>PowerPoint 프레젠테이션</vt:lpstr>
      <vt:lpstr>PowerPoint 프레젠테이션</vt:lpstr>
      <vt:lpstr>Experiments</vt:lpstr>
      <vt:lpstr>Experiments</vt:lpstr>
      <vt:lpstr>Experiments</vt:lpstr>
      <vt:lpstr>Experiments</vt:lpstr>
      <vt:lpstr>Experiments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Improving the Quality Trade-Off for  Neural Machine Translation Multi-Domain Adaptation</dc:title>
  <dc:creator>Park Harper</dc:creator>
  <cp:lastModifiedBy>Park Harper</cp:lastModifiedBy>
  <cp:revision>2</cp:revision>
  <dcterms:created xsi:type="dcterms:W3CDTF">2022-08-21T08:49:52Z</dcterms:created>
  <dcterms:modified xsi:type="dcterms:W3CDTF">2022-08-28T11:26:29Z</dcterms:modified>
</cp:coreProperties>
</file>