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4" r:id="rId3"/>
    <p:sldId id="257" r:id="rId4"/>
    <p:sldId id="309" r:id="rId5"/>
    <p:sldId id="308" r:id="rId6"/>
    <p:sldId id="306" r:id="rId7"/>
    <p:sldId id="295" r:id="rId8"/>
    <p:sldId id="293" r:id="rId9"/>
    <p:sldId id="270" r:id="rId10"/>
    <p:sldId id="311" r:id="rId11"/>
    <p:sldId id="294" r:id="rId12"/>
    <p:sldId id="292" r:id="rId13"/>
    <p:sldId id="272" r:id="rId14"/>
    <p:sldId id="267" r:id="rId15"/>
    <p:sldId id="260" r:id="rId16"/>
    <p:sldId id="285" r:id="rId17"/>
    <p:sldId id="262" r:id="rId18"/>
    <p:sldId id="296" r:id="rId19"/>
    <p:sldId id="286" r:id="rId20"/>
    <p:sldId id="276" r:id="rId21"/>
    <p:sldId id="263" r:id="rId22"/>
    <p:sldId id="297" r:id="rId23"/>
    <p:sldId id="298" r:id="rId24"/>
    <p:sldId id="264" r:id="rId25"/>
    <p:sldId id="279" r:id="rId26"/>
    <p:sldId id="300" r:id="rId27"/>
    <p:sldId id="301" r:id="rId28"/>
    <p:sldId id="302" r:id="rId29"/>
    <p:sldId id="304" r:id="rId30"/>
    <p:sldId id="303" r:id="rId31"/>
    <p:sldId id="290" r:id="rId32"/>
    <p:sldId id="305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030"/>
    <a:srgbClr val="A276AD"/>
    <a:srgbClr val="004D80"/>
    <a:srgbClr val="FFFFFF"/>
    <a:srgbClr val="F27301"/>
    <a:srgbClr val="5873CF"/>
    <a:srgbClr val="5D78D2"/>
    <a:srgbClr val="F2B23A"/>
    <a:srgbClr val="CAEFE7"/>
    <a:srgbClr val="F9E7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38" autoAdjust="0"/>
    <p:restoredTop sz="95090" autoAdjust="0"/>
  </p:normalViewPr>
  <p:slideViewPr>
    <p:cSldViewPr snapToGrid="0">
      <p:cViewPr varScale="1">
        <p:scale>
          <a:sx n="82" d="100"/>
          <a:sy n="82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2B1BB-B8FD-421A-BBB8-02D67C25CAB0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198B3-8B5A-4DDB-8DB5-AB3C27A073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569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863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381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802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176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8460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666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937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6916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377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8987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455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68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777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780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8670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8059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7730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99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630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710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346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314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906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669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0238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030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8055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9142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41620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6875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1198B3-8B5A-4DDB-8DB5-AB3C27A073F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26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2C1872-5B0C-E217-FD71-FE0AE455B7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835E38-1B58-45E3-9EC6-3990B628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FBD6EB-3691-F0CF-6ACE-79581385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5B2AAD-C437-37B0-909B-D78C8154D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D5F042-023B-C6B5-7424-D0F9AEF6E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95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C18B1-25D2-A67D-5EC2-E19CEDA1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C016B-6D25-1E05-CE02-452F7DAE7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4B0A8F-8FE2-537B-E31E-B69002FA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96D1C0-CF10-F4BA-8B93-8FF7D7956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63683E-3E25-BB34-FD15-C9F3882AB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54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B9D756-7EF3-85A3-5032-C2586B5DA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498538-4E61-EF33-7978-FD9E56D82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4A5C32-05D5-A0A7-607B-444164109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643BC0-33E2-417C-B05E-AF00C9FFE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5D5A61-FA1D-502A-B2E9-CF4124D7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3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A418A-6FB2-644B-D0A2-BB432110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DF0A22-E3BD-B27D-164F-B22F77B960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C8E2B9-6DB7-12A0-2CC3-FB73215934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479A82-B22C-4DC6-B879-D2D4C751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109B34-5E59-32B4-5517-6B1B9A50D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A3A74-0BB1-8EFE-264B-E935A36D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155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28CDC-C9D0-118E-384C-FD6DE291E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1CECC4-B5B1-578C-97DB-DCD2AB291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537F412-01FF-0208-EF42-85208D6DF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755643-4AF6-C36B-F78E-5F8C55815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7615BF-57D9-B514-9C24-1723485B97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B0EE45D-F128-72A0-0162-6A1C12CB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594C81-D2A3-2530-A06E-A1D2E2C6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CDD8399-DA1F-0B52-7314-EE76A3BF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23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1C059-518C-BED5-9215-66E1DF18D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7AF8B9-CBCA-4E6A-E293-C41E5F27D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7A1CCB-5F77-1C94-C84C-6E84DDBA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4DE399-5548-5427-ADB7-46355CD5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252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131FA7-D203-67E5-005D-90FD101A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AD25C5-942D-6835-05C1-D153AFC2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14C46F-C5A7-0B60-0A04-32D2331B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048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B14408-9D21-39D0-D8C0-D416F152F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D79A27-9FF8-9EC1-C265-E42191291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B342AC-402B-150E-3761-3F3823480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688FA5-ABB2-8562-4B3F-C7D245E5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37C5E3-37B1-A6C3-9021-0F95DACA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1FCE5-29C9-F0E4-6E4D-7FD79AFE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000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793E6-D6B0-A391-BD57-D5BA1B43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B69F71-62F6-C585-E2F9-D5B1827B47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FB3DD1-00D8-EEF9-4462-97ADEC9D4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A6E4A4-FC2C-E805-4FB3-F2274F218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AC139-D9C1-82A5-AF4E-06FA29F12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FD4E9A-2A87-4E69-CAAF-1F9D3688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6710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60790-B475-DF6F-857A-7285615F1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E9AB6D-97C0-6CBF-FE4E-EC6EDF65A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AC5DDA-45A0-A735-3D9E-4631E859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246153-A839-D15A-DBFF-7AA80297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F3C413-FE7E-178C-DB3C-C35CF945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400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98FA2E-AF84-C053-C9F6-A4BBF61F8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2C35E43-814E-1BF6-79D1-114087231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22990A-5910-0F4D-4415-84A08554D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2CBB6-8D65-95DE-A902-F8241CDDE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15FD3-7A6E-90CA-397B-0C445ED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4341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C7DDB1-50CE-F5C3-F8D9-1FF28D21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978E29-55F4-9D1A-2CB1-CD2EA8C08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02634C-DDE2-FC09-3621-3A3AE5AD3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B9FB1-6D35-40AF-9936-0DBAD10C16DB}" type="datetimeFigureOut">
              <a:rPr lang="ko-KR" altLang="en-US" smtClean="0"/>
              <a:t>2024-06-02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DA75F4-5B64-5CC7-C68F-831B81F6AC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79A0B8-7D16-3A9A-B0D0-845A52EAC2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2B233-CD02-4757-960C-4454FE638A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482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tes.google.com/site/jpopgen/dbNSFP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D32B7-B4E2-0AB6-512E-E86C77638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Genome-wide prediction </a:t>
            </a:r>
            <a:br>
              <a:rPr lang="en-US" altLang="ko-KR" sz="4000" b="1" dirty="0">
                <a:solidFill>
                  <a:srgbClr val="222222"/>
                </a:solidFill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0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of disease variant effects </a:t>
            </a:r>
            <a:br>
              <a:rPr lang="en-US" altLang="ko-KR" sz="40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40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 a deep protein language model</a:t>
            </a:r>
            <a:endParaRPr lang="ko-KR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FEFD06-F601-4580-E998-19F7706ED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90700" y="3701692"/>
            <a:ext cx="8610600" cy="1747837"/>
          </a:xfrm>
        </p:spPr>
        <p:txBody>
          <a:bodyPr>
            <a:normAutofit/>
          </a:bodyPr>
          <a:lstStyle/>
          <a:p>
            <a:r>
              <a:rPr lang="de-DE" altLang="ko-KR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Brandes, N., Goldman, G., Wang, C.H. </a:t>
            </a:r>
            <a:r>
              <a:rPr lang="de-DE" altLang="ko-KR" sz="20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et al.</a:t>
            </a:r>
          </a:p>
          <a:p>
            <a:r>
              <a:rPr lang="de-DE" altLang="ko-KR" sz="2000" b="0" i="1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fr-FR" altLang="ko-KR" sz="2000" b="0" i="1" dirty="0">
                <a:solidFill>
                  <a:srgbClr val="006699"/>
                </a:solidFill>
                <a:effectLst/>
                <a:highlight>
                  <a:srgbClr val="FFFFFF"/>
                </a:highlight>
                <a:latin typeface="-apple-system"/>
                <a:hlinkClick r:id="rId3"/>
              </a:rPr>
              <a:t>Nature Genetics</a:t>
            </a:r>
            <a:r>
              <a:rPr lang="fr-FR" altLang="ko-KR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 </a:t>
            </a:r>
            <a:r>
              <a:rPr lang="fr-FR" altLang="ko-KR" sz="20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volume 55</a:t>
            </a:r>
            <a:r>
              <a:rPr lang="fr-FR" altLang="ko-KR" sz="20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-apple-system"/>
              </a:rPr>
              <a:t>, pages1512–1522 (2023)</a:t>
            </a:r>
          </a:p>
          <a:p>
            <a:endParaRPr lang="fr-FR" altLang="ko-KR" sz="2000" dirty="0">
              <a:solidFill>
                <a:srgbClr val="222222"/>
              </a:solidFill>
              <a:highlight>
                <a:srgbClr val="FFFFFF"/>
              </a:highlight>
              <a:latin typeface="-apple-system"/>
            </a:endParaRPr>
          </a:p>
          <a:p>
            <a:r>
              <a:rPr lang="ko-KR" altLang="en-US" b="1" dirty="0" err="1">
                <a:solidFill>
                  <a:srgbClr val="222222"/>
                </a:solidFill>
                <a:highlight>
                  <a:srgbClr val="FFFFFF"/>
                </a:highlight>
                <a:latin typeface="-apple-system"/>
              </a:rPr>
              <a:t>김윤하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233131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ko-KR" altLang="en-US" sz="2800" b="1" dirty="0"/>
              <a:t>목차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E3341-0FB2-E161-B4D3-A5022109E5A3}"/>
              </a:ext>
            </a:extLst>
          </p:cNvPr>
          <p:cNvSpPr txBox="1"/>
          <p:nvPr/>
        </p:nvSpPr>
        <p:spPr>
          <a:xfrm>
            <a:off x="1389858" y="1887567"/>
            <a:ext cx="42641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1. Introduction</a:t>
            </a:r>
          </a:p>
          <a:p>
            <a:pPr marL="342900" indent="-342900">
              <a:buAutoNum type="arabicPeriod"/>
            </a:pPr>
            <a:endParaRPr lang="en-US" altLang="ko-KR" b="1" dirty="0"/>
          </a:p>
          <a:p>
            <a:r>
              <a:rPr lang="en-US" altLang="ko-KR" b="1" dirty="0"/>
              <a:t>2. Background</a:t>
            </a:r>
          </a:p>
          <a:p>
            <a:endParaRPr lang="en-US" altLang="ko-KR" b="1" dirty="0"/>
          </a:p>
          <a:p>
            <a:r>
              <a:rPr lang="en-US" altLang="ko-KR" b="1" dirty="0"/>
              <a:t>3. In this paper</a:t>
            </a:r>
          </a:p>
          <a:p>
            <a:endParaRPr lang="en-US" altLang="ko-KR" b="1" dirty="0"/>
          </a:p>
          <a:p>
            <a:r>
              <a:rPr lang="en-US" altLang="ko-KR" b="1" dirty="0"/>
              <a:t>4. Result </a:t>
            </a:r>
          </a:p>
          <a:p>
            <a:endParaRPr lang="en-US" altLang="ko-KR" b="1" dirty="0"/>
          </a:p>
          <a:p>
            <a:r>
              <a:rPr lang="en-US" altLang="ko-KR" b="1" dirty="0"/>
              <a:t>5. Summary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04D8BA-6EFF-D044-6C99-E3973767F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040" y="639762"/>
            <a:ext cx="5699760" cy="569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15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/>
              <a:t>Introduction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10515600" cy="459105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아미노산 서열과 언어모델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 algn="ctr">
              <a:buNone/>
            </a:pPr>
            <a:r>
              <a:rPr lang="ko-KR" altLang="en-US" sz="1600" b="1" dirty="0"/>
              <a:t>아미노산 </a:t>
            </a:r>
            <a:r>
              <a:rPr lang="ko-KR" altLang="en-US" sz="1600" b="1" dirty="0" err="1"/>
              <a:t>서열를</a:t>
            </a:r>
            <a:r>
              <a:rPr lang="ko-KR" altLang="en-US" sz="1600" b="1" dirty="0"/>
              <a:t> 언어 모델로 학습</a:t>
            </a:r>
            <a:r>
              <a:rPr lang="en-US" altLang="ko-KR" sz="1600" b="1" dirty="0"/>
              <a:t>, </a:t>
            </a:r>
          </a:p>
          <a:p>
            <a:pPr marL="0" indent="0" algn="ctr">
              <a:buNone/>
            </a:pPr>
            <a:r>
              <a:rPr lang="ko-KR" altLang="en-US" sz="1600" b="1" dirty="0"/>
              <a:t>서열의 각 자리에서 변이 가능성을 예측하여 병을 일으키는지 예측</a:t>
            </a:r>
            <a:endParaRPr lang="en-US" altLang="ko-KR" sz="1600" b="1" dirty="0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684AFC3-8580-BEAD-9186-2A40B2CC2B59}"/>
              </a:ext>
            </a:extLst>
          </p:cNvPr>
          <p:cNvGrpSpPr/>
          <p:nvPr/>
        </p:nvGrpSpPr>
        <p:grpSpPr>
          <a:xfrm>
            <a:off x="2955635" y="2814119"/>
            <a:ext cx="6280728" cy="915726"/>
            <a:chOff x="1879065" y="3100842"/>
            <a:chExt cx="4638084" cy="676231"/>
          </a:xfrm>
        </p:grpSpPr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9EFCF2C-98DC-E31E-9332-85EB10B042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79065" y="3100842"/>
              <a:ext cx="4638084" cy="257132"/>
            </a:xfrm>
            <a:prstGeom prst="rect">
              <a:avLst/>
            </a:prstGeom>
          </p:spPr>
        </p:pic>
        <p:sp>
          <p:nvSpPr>
            <p:cNvPr id="23" name="화살표: 아래쪽 22">
              <a:extLst>
                <a:ext uri="{FF2B5EF4-FFF2-40B4-BE49-F238E27FC236}">
                  <a16:creationId xmlns:a16="http://schemas.microsoft.com/office/drawing/2014/main" id="{75E1E24C-439A-DFD8-5833-F4F301505CF1}"/>
                </a:ext>
              </a:extLst>
            </p:cNvPr>
            <p:cNvSpPr/>
            <p:nvPr/>
          </p:nvSpPr>
          <p:spPr>
            <a:xfrm rot="10800000">
              <a:off x="2974535" y="3451822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화살표: 아래쪽 23">
              <a:extLst>
                <a:ext uri="{FF2B5EF4-FFF2-40B4-BE49-F238E27FC236}">
                  <a16:creationId xmlns:a16="http://schemas.microsoft.com/office/drawing/2014/main" id="{C322A13F-1F3B-DB2E-0EDE-0601373648EF}"/>
                </a:ext>
              </a:extLst>
            </p:cNvPr>
            <p:cNvSpPr/>
            <p:nvPr/>
          </p:nvSpPr>
          <p:spPr>
            <a:xfrm rot="10800000">
              <a:off x="3753133" y="3451821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화살표: 아래쪽 24">
              <a:extLst>
                <a:ext uri="{FF2B5EF4-FFF2-40B4-BE49-F238E27FC236}">
                  <a16:creationId xmlns:a16="http://schemas.microsoft.com/office/drawing/2014/main" id="{54DCC4AF-E88D-793D-8323-ED42D649974F}"/>
                </a:ext>
              </a:extLst>
            </p:cNvPr>
            <p:cNvSpPr/>
            <p:nvPr/>
          </p:nvSpPr>
          <p:spPr>
            <a:xfrm rot="10800000">
              <a:off x="5088897" y="3451821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845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/>
              <a:t>Introduction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4"/>
            <a:ext cx="6220656" cy="4591051"/>
          </a:xfrm>
        </p:spPr>
        <p:txBody>
          <a:bodyPr>
            <a:normAutofit/>
          </a:bodyPr>
          <a:lstStyle/>
          <a:p>
            <a:r>
              <a:rPr lang="ko-KR" altLang="en-US" sz="1800" b="1" dirty="0" err="1"/>
              <a:t>아마노산</a:t>
            </a:r>
            <a:r>
              <a:rPr lang="ko-KR" altLang="en-US" sz="1800" b="1" dirty="0"/>
              <a:t> 서열과 단백질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: </a:t>
            </a:r>
            <a:r>
              <a:rPr lang="ko-KR" altLang="en-US" sz="1400" dirty="0"/>
              <a:t>아미노산 서열 </a:t>
            </a:r>
            <a:r>
              <a:rPr lang="en-US" altLang="ko-KR" sz="1400" dirty="0"/>
              <a:t>-&gt; </a:t>
            </a:r>
            <a:r>
              <a:rPr lang="ko-KR" altLang="en-US" sz="1400" dirty="0"/>
              <a:t>단백질 기능 결정 </a:t>
            </a:r>
            <a:r>
              <a:rPr lang="en-US" altLang="ko-KR" sz="1400" dirty="0"/>
              <a:t>-&gt; </a:t>
            </a:r>
            <a:r>
              <a:rPr lang="ko-KR" altLang="en-US" sz="1400" dirty="0"/>
              <a:t>생명활동에서 역할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단백질 </a:t>
            </a:r>
            <a:r>
              <a:rPr lang="en-US" altLang="ko-KR" sz="1400" dirty="0"/>
              <a:t>: </a:t>
            </a:r>
            <a:r>
              <a:rPr lang="ko-KR" altLang="en-US" sz="1400" b="1" dirty="0"/>
              <a:t>아미노산 </a:t>
            </a:r>
            <a:r>
              <a:rPr lang="en-US" altLang="ko-KR" sz="1400" b="1" dirty="0"/>
              <a:t>20</a:t>
            </a:r>
            <a:r>
              <a:rPr lang="ko-KR" altLang="en-US" sz="1400" b="1" dirty="0"/>
              <a:t>종류의 서열</a:t>
            </a:r>
            <a:r>
              <a:rPr lang="ko-KR" altLang="en-US" sz="1400" dirty="0"/>
              <a:t>로 이루어짐</a:t>
            </a:r>
            <a:r>
              <a:rPr lang="en-US" altLang="ko-KR" sz="1400" dirty="0"/>
              <a:t>. (2</a:t>
            </a:r>
            <a:r>
              <a:rPr lang="ko-KR" altLang="en-US" sz="1400" dirty="0"/>
              <a:t>차원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-&gt; </a:t>
            </a:r>
            <a:r>
              <a:rPr lang="ko-KR" altLang="en-US" sz="1400" dirty="0"/>
              <a:t>힘의 작용에 따라</a:t>
            </a:r>
            <a:r>
              <a:rPr lang="en-US" altLang="ko-KR" sz="1400" dirty="0"/>
              <a:t>, </a:t>
            </a:r>
            <a:r>
              <a:rPr lang="ko-KR" altLang="en-US" sz="1400" dirty="0"/>
              <a:t>다양한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차원 모양</a:t>
            </a:r>
            <a:r>
              <a:rPr lang="ko-KR" altLang="en-US" sz="1400" dirty="0"/>
              <a:t>으로 접힘 </a:t>
            </a:r>
            <a:r>
              <a:rPr lang="en-US" altLang="ko-KR" sz="1400" dirty="0"/>
              <a:t>(protein folding)</a:t>
            </a:r>
          </a:p>
          <a:p>
            <a:pPr marL="0" indent="0">
              <a:buNone/>
            </a:pPr>
            <a:r>
              <a:rPr lang="en-US" altLang="ko-KR" sz="1400" dirty="0"/>
              <a:t>-&gt; </a:t>
            </a:r>
            <a:r>
              <a:rPr lang="ko-KR" altLang="en-US" sz="1400" dirty="0"/>
              <a:t>단백질 </a:t>
            </a:r>
            <a:r>
              <a:rPr lang="en-US" altLang="ko-KR" sz="1400" dirty="0"/>
              <a:t>3</a:t>
            </a:r>
            <a:r>
              <a:rPr lang="ko-KR" altLang="en-US" sz="1400" dirty="0"/>
              <a:t>차원 구조에 따라 기능을 가짐</a:t>
            </a:r>
            <a:endParaRPr lang="en-US" altLang="ko-KR" sz="1400" dirty="0"/>
          </a:p>
        </p:txBody>
      </p:sp>
      <p:pic>
        <p:nvPicPr>
          <p:cNvPr id="4098" name="Picture 2" descr="Protein structure folding stages - LadyofHats, commons.wikimedia.org">
            <a:extLst>
              <a:ext uri="{FF2B5EF4-FFF2-40B4-BE49-F238E27FC236}">
                <a16:creationId xmlns:a16="http://schemas.microsoft.com/office/drawing/2014/main" id="{F6BE7D3A-3C19-1BE4-98E6-2CB75C683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584" y="86734"/>
            <a:ext cx="3596924" cy="625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94EE6C66-1F7F-860B-40CB-22C33EED84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" t="35703" r="46578" b="15148"/>
          <a:stretch/>
        </p:blipFill>
        <p:spPr bwMode="auto">
          <a:xfrm>
            <a:off x="2735265" y="3429000"/>
            <a:ext cx="2936792" cy="225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616E9F-D7B4-2DA8-1E9E-1CA42E2EC108}"/>
              </a:ext>
            </a:extLst>
          </p:cNvPr>
          <p:cNvGrpSpPr/>
          <p:nvPr/>
        </p:nvGrpSpPr>
        <p:grpSpPr>
          <a:xfrm>
            <a:off x="4325598" y="647744"/>
            <a:ext cx="4638084" cy="676231"/>
            <a:chOff x="1879065" y="3100842"/>
            <a:chExt cx="4638084" cy="676231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16C9C87-D788-33E7-B536-03FD9B7F0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79065" y="3100842"/>
              <a:ext cx="4638084" cy="257132"/>
            </a:xfrm>
            <a:prstGeom prst="rect">
              <a:avLst/>
            </a:prstGeom>
          </p:spPr>
        </p:pic>
        <p:sp>
          <p:nvSpPr>
            <p:cNvPr id="14" name="화살표: 아래쪽 13">
              <a:extLst>
                <a:ext uri="{FF2B5EF4-FFF2-40B4-BE49-F238E27FC236}">
                  <a16:creationId xmlns:a16="http://schemas.microsoft.com/office/drawing/2014/main" id="{7D404B4E-6130-AAC4-F77F-D8114213B003}"/>
                </a:ext>
              </a:extLst>
            </p:cNvPr>
            <p:cNvSpPr/>
            <p:nvPr/>
          </p:nvSpPr>
          <p:spPr>
            <a:xfrm rot="10800000">
              <a:off x="2974535" y="3451822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화살표: 아래쪽 14">
              <a:extLst>
                <a:ext uri="{FF2B5EF4-FFF2-40B4-BE49-F238E27FC236}">
                  <a16:creationId xmlns:a16="http://schemas.microsoft.com/office/drawing/2014/main" id="{E6FA84E1-9063-AD4E-DCA1-0573608DA8DC}"/>
                </a:ext>
              </a:extLst>
            </p:cNvPr>
            <p:cNvSpPr/>
            <p:nvPr/>
          </p:nvSpPr>
          <p:spPr>
            <a:xfrm rot="10800000">
              <a:off x="3753133" y="3451821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화살표: 아래쪽 15">
              <a:extLst>
                <a:ext uri="{FF2B5EF4-FFF2-40B4-BE49-F238E27FC236}">
                  <a16:creationId xmlns:a16="http://schemas.microsoft.com/office/drawing/2014/main" id="{074E78ED-5C45-E1A1-EA17-496DFD52FC21}"/>
                </a:ext>
              </a:extLst>
            </p:cNvPr>
            <p:cNvSpPr/>
            <p:nvPr/>
          </p:nvSpPr>
          <p:spPr>
            <a:xfrm rot="10800000">
              <a:off x="5088897" y="3451821"/>
              <a:ext cx="172015" cy="32525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B1DC89C-6333-89C2-A6A7-7D6CC4679642}"/>
              </a:ext>
            </a:extLst>
          </p:cNvPr>
          <p:cNvGrpSpPr/>
          <p:nvPr/>
        </p:nvGrpSpPr>
        <p:grpSpPr>
          <a:xfrm>
            <a:off x="710743" y="6066775"/>
            <a:ext cx="7112457" cy="624001"/>
            <a:chOff x="710744" y="6023763"/>
            <a:chExt cx="6245590" cy="624001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C702816-D559-C094-0FD9-9A4F7FE0F693}"/>
                </a:ext>
              </a:extLst>
            </p:cNvPr>
            <p:cNvSpPr/>
            <p:nvPr/>
          </p:nvSpPr>
          <p:spPr>
            <a:xfrm>
              <a:off x="710744" y="6023763"/>
              <a:ext cx="6220656" cy="347004"/>
            </a:xfrm>
            <a:prstGeom prst="rect">
              <a:avLst/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63F6D34-BE7B-7897-F1AD-063C98E80133}"/>
                </a:ext>
              </a:extLst>
            </p:cNvPr>
            <p:cNvSpPr txBox="1"/>
            <p:nvPr/>
          </p:nvSpPr>
          <p:spPr>
            <a:xfrm>
              <a:off x="735678" y="6062989"/>
              <a:ext cx="6220656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/>
                <a:t>아미노산 서열에 따라</a:t>
              </a:r>
              <a:r>
                <a:rPr lang="en-US" altLang="ko-KR" sz="1600" b="1" dirty="0"/>
                <a:t> </a:t>
              </a:r>
              <a:r>
                <a:rPr lang="ko-KR" altLang="en-US" sz="1600" b="1" dirty="0"/>
                <a:t>단백질 구조 차이</a:t>
              </a:r>
              <a:r>
                <a:rPr lang="en-US" altLang="ko-KR" sz="1600" b="1" dirty="0"/>
                <a:t>, </a:t>
              </a:r>
              <a:r>
                <a:rPr lang="ko-KR" altLang="en-US" sz="1600" b="1" dirty="0"/>
                <a:t>생명 활동에서 수행하는 기능 차이</a:t>
              </a:r>
              <a:endParaRPr lang="en-US" altLang="ko-KR" sz="1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1844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Introduction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5935134" cy="459105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유전적 변이의 병리학적 영향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유전 정보의</a:t>
            </a:r>
            <a:r>
              <a:rPr lang="en-US" altLang="ko-KR" sz="1400" dirty="0"/>
              <a:t> </a:t>
            </a:r>
            <a:r>
              <a:rPr lang="ko-KR" altLang="en-US" sz="1400" dirty="0"/>
              <a:t>염기 서열 변이</a:t>
            </a:r>
            <a:r>
              <a:rPr lang="en-US" altLang="ko-KR" sz="1400" dirty="0"/>
              <a:t> -&gt; </a:t>
            </a:r>
            <a:r>
              <a:rPr lang="ko-KR" altLang="en-US" sz="1400" dirty="0"/>
              <a:t>단백질의 아미노산 서열 변화</a:t>
            </a:r>
            <a:r>
              <a:rPr lang="en-US" altLang="ko-KR" sz="1400" dirty="0"/>
              <a:t>.</a:t>
            </a:r>
          </a:p>
          <a:p>
            <a:pPr>
              <a:buFontTx/>
              <a:buChar char="-"/>
            </a:pPr>
            <a:r>
              <a:rPr lang="ko-KR" altLang="en-US" sz="1400" dirty="0"/>
              <a:t>단백질의 </a:t>
            </a:r>
            <a:r>
              <a:rPr lang="en-US" altLang="ko-KR" sz="1400" dirty="0"/>
              <a:t>3</a:t>
            </a:r>
            <a:r>
              <a:rPr lang="ko-KR" altLang="en-US" sz="1400" dirty="0"/>
              <a:t>차원 모양 및 기능에 영향 </a:t>
            </a:r>
            <a:r>
              <a:rPr lang="en-US" altLang="ko-KR" sz="1400" dirty="0"/>
              <a:t>-&gt; </a:t>
            </a:r>
            <a:r>
              <a:rPr lang="ko-KR" altLang="en-US" sz="1400" b="1" dirty="0"/>
              <a:t>병리학적 영향</a:t>
            </a:r>
            <a:r>
              <a:rPr lang="en-US" altLang="ko-KR" sz="1400" dirty="0"/>
              <a:t>(</a:t>
            </a:r>
            <a:r>
              <a:rPr lang="en-US" altLang="ko-KR" sz="1400" b="1" dirty="0"/>
              <a:t>pathogenic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AE4D435-077D-4D88-13A5-6CF1C2E101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78" b="8959"/>
          <a:stretch/>
        </p:blipFill>
        <p:spPr bwMode="auto">
          <a:xfrm>
            <a:off x="1193252" y="2925067"/>
            <a:ext cx="4572000" cy="3486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8E9617CF-0889-CB20-5823-7593BBE024C0}"/>
              </a:ext>
            </a:extLst>
          </p:cNvPr>
          <p:cNvSpPr/>
          <p:nvPr/>
        </p:nvSpPr>
        <p:spPr>
          <a:xfrm>
            <a:off x="4368510" y="3888237"/>
            <a:ext cx="241300" cy="23605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4A6D19E-515D-8BB6-D26F-2E75E62AF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575" y="1911765"/>
            <a:ext cx="4965496" cy="4084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2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Introduction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59105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유전자 변이의 병리학적 영향 예측 한계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: </a:t>
            </a:r>
            <a:r>
              <a:rPr lang="ko-KR" altLang="en-US" sz="1400" dirty="0"/>
              <a:t>유전자 변이는 유전자 발현과 단백질로 만들어지는 과정에 영향을 주는 요소가 다양하고 복잡해 예측에 어려움이 있음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 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컴퓨터 학습을 통해 이를 해결하려는 시도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: </a:t>
            </a:r>
            <a:r>
              <a:rPr lang="ko-KR" altLang="en-US" sz="1400" dirty="0"/>
              <a:t>단백질의 아미노산 서열을 학습한 언어모델 </a:t>
            </a:r>
            <a:r>
              <a:rPr lang="en-US" altLang="ko-KR" sz="1400" dirty="0"/>
              <a:t>-&gt; </a:t>
            </a:r>
            <a:r>
              <a:rPr lang="ko-KR" altLang="en-US" sz="1400" dirty="0"/>
              <a:t>염기서열 변이가 표현형에</a:t>
            </a:r>
            <a:r>
              <a:rPr lang="en-US" altLang="ko-KR" sz="1400" dirty="0"/>
              <a:t> </a:t>
            </a:r>
            <a:r>
              <a:rPr lang="ko-KR" altLang="en-US" sz="1400" dirty="0"/>
              <a:t>주는 병리학적 영향을 예측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39531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Background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5168900"/>
          </a:xfrm>
        </p:spPr>
        <p:txBody>
          <a:bodyPr>
            <a:normAutofit/>
          </a:bodyPr>
          <a:lstStyle/>
          <a:p>
            <a:r>
              <a:rPr lang="ko-KR" altLang="en-US" sz="1800" b="1" dirty="0"/>
              <a:t>유전자 변이의 영향 예측 </a:t>
            </a:r>
            <a:r>
              <a:rPr lang="en-US" altLang="ko-KR" sz="1800" b="1" dirty="0"/>
              <a:t>(Variant effect prediction, VEP)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400" dirty="0"/>
              <a:t>단백질의 아미노산 서열을 학습한 대규모 언어모델 </a:t>
            </a:r>
            <a:r>
              <a:rPr lang="en-US" altLang="ko-KR" sz="1400" b="1" dirty="0"/>
              <a:t>ESM1b</a:t>
            </a:r>
            <a:r>
              <a:rPr lang="en-US" altLang="ko-KR" sz="1400" dirty="0"/>
              <a:t> </a:t>
            </a:r>
            <a:r>
              <a:rPr lang="ko-KR" altLang="en-US" sz="1400" dirty="0"/>
              <a:t>이용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 -&gt; </a:t>
            </a:r>
            <a:r>
              <a:rPr lang="ko-KR" altLang="ko-KR" sz="1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아미노산 서열의 각 자리</a:t>
            </a:r>
            <a:r>
              <a:rPr lang="en-US" altLang="ko-KR" sz="1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effectLst/>
                <a:ea typeface="맑은 고딕" panose="020B0503020000020004" pitchFamily="50" charset="-127"/>
                <a:cs typeface="Times New Roman" panose="02020603050405020304" pitchFamily="18" charset="0"/>
              </a:rPr>
              <a:t>변화</a:t>
            </a:r>
            <a:r>
              <a:rPr lang="ko-KR" altLang="en-US" sz="1400" dirty="0"/>
              <a:t>가 표현형에</a:t>
            </a:r>
            <a:r>
              <a:rPr lang="en-US" altLang="ko-KR" sz="1400" dirty="0"/>
              <a:t> </a:t>
            </a:r>
            <a:r>
              <a:rPr lang="ko-KR" altLang="en-US" sz="1400" dirty="0"/>
              <a:t>주는 영향 예측 및 </a:t>
            </a:r>
            <a:r>
              <a:rPr lang="en-US" altLang="ko-KR" sz="1400" dirty="0"/>
              <a:t>3</a:t>
            </a:r>
            <a:r>
              <a:rPr lang="ko-KR" altLang="en-US" sz="1400" dirty="0"/>
              <a:t>차원 구조 차이를 인식한 예측이 가능함</a:t>
            </a:r>
            <a:r>
              <a:rPr lang="en-US" altLang="ko-KR" sz="140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057502B-91C0-C899-9A0D-C1EA77ACC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305" y="2085465"/>
            <a:ext cx="6707390" cy="3229486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5CC4FEE0-E48C-61D8-AB8F-18F550E77A14}"/>
              </a:ext>
            </a:extLst>
          </p:cNvPr>
          <p:cNvSpPr/>
          <p:nvPr/>
        </p:nvSpPr>
        <p:spPr>
          <a:xfrm>
            <a:off x="3744957" y="3552361"/>
            <a:ext cx="214730" cy="21473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D6AC44A-B837-8406-F8F1-2EFB26580CA9}"/>
              </a:ext>
            </a:extLst>
          </p:cNvPr>
          <p:cNvSpPr/>
          <p:nvPr/>
        </p:nvSpPr>
        <p:spPr>
          <a:xfrm>
            <a:off x="5859507" y="3552360"/>
            <a:ext cx="214730" cy="21473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0.1</a:t>
            </a: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65A5BE2-867D-471E-4526-837B587617FC}"/>
              </a:ext>
            </a:extLst>
          </p:cNvPr>
          <p:cNvSpPr/>
          <p:nvPr/>
        </p:nvSpPr>
        <p:spPr>
          <a:xfrm>
            <a:off x="7654601" y="3552360"/>
            <a:ext cx="214730" cy="21473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9534A8D-208D-98B8-9C6C-7A190DAED02F}"/>
              </a:ext>
            </a:extLst>
          </p:cNvPr>
          <p:cNvGrpSpPr/>
          <p:nvPr/>
        </p:nvGrpSpPr>
        <p:grpSpPr>
          <a:xfrm>
            <a:off x="3801300" y="4338168"/>
            <a:ext cx="4320536" cy="127236"/>
            <a:chOff x="4065009" y="3830452"/>
            <a:chExt cx="3793117" cy="111703"/>
          </a:xfrm>
        </p:grpSpPr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E7E6ACA-D2F8-024C-BD32-55F35AD5B5C0}"/>
                </a:ext>
              </a:extLst>
            </p:cNvPr>
            <p:cNvSpPr/>
            <p:nvPr/>
          </p:nvSpPr>
          <p:spPr>
            <a:xfrm>
              <a:off x="4065009" y="3830453"/>
              <a:ext cx="111704" cy="11170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185BF35-FC01-9C3A-6E98-99322D21E6AA}"/>
                </a:ext>
              </a:extLst>
            </p:cNvPr>
            <p:cNvSpPr/>
            <p:nvPr/>
          </p:nvSpPr>
          <p:spPr>
            <a:xfrm>
              <a:off x="6160509" y="3830452"/>
              <a:ext cx="111704" cy="11170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F987A4A-1C97-7183-798F-F38A57A3F450}"/>
                </a:ext>
              </a:extLst>
            </p:cNvPr>
            <p:cNvSpPr/>
            <p:nvPr/>
          </p:nvSpPr>
          <p:spPr>
            <a:xfrm>
              <a:off x="7746422" y="3830452"/>
              <a:ext cx="111704" cy="111702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274D64A-AE51-2CEC-961E-704A2CAE03C9}"/>
              </a:ext>
            </a:extLst>
          </p:cNvPr>
          <p:cNvSpPr/>
          <p:nvPr/>
        </p:nvSpPr>
        <p:spPr>
          <a:xfrm>
            <a:off x="6048322" y="4034789"/>
            <a:ext cx="781156" cy="10739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영향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DDE5C7-F964-AD21-1E1E-FA6F5BB753D3}"/>
              </a:ext>
            </a:extLst>
          </p:cNvPr>
          <p:cNvSpPr/>
          <p:nvPr/>
        </p:nvSpPr>
        <p:spPr>
          <a:xfrm>
            <a:off x="2774557" y="3985260"/>
            <a:ext cx="6707390" cy="1329690"/>
          </a:xfrm>
          <a:prstGeom prst="rect">
            <a:avLst/>
          </a:prstGeom>
          <a:noFill/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5528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4200940" cy="5159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1] Deep Mutational Scans (DMS)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1. </a:t>
            </a:r>
            <a:r>
              <a:rPr lang="ko-KR" altLang="en-US" sz="1400" b="1" dirty="0"/>
              <a:t>실험적인 측정법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    : Deep Mutational Scans (DMS), Perturb-seq </a:t>
            </a:r>
            <a:r>
              <a:rPr lang="ko-KR" altLang="en-US" sz="1400" dirty="0"/>
              <a:t>등 단백질의 변이체들의 기능적 특성을 실험적으로 측정한 값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ko-KR" altLang="en-US" sz="1400" b="1" dirty="0"/>
              <a:t>한계 </a:t>
            </a:r>
            <a:r>
              <a:rPr lang="en-US" altLang="ko-KR" sz="1400" b="1" dirty="0"/>
              <a:t>:</a:t>
            </a:r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ko-KR" altLang="en-US" sz="1400" dirty="0"/>
              <a:t>표현형 측정 시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/>
              <a:t>proxy </a:t>
            </a:r>
            <a:r>
              <a:rPr lang="ko-KR" altLang="en-US" sz="1400" dirty="0"/>
              <a:t>에 따라 측정값이 일정하지 않음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en-US" altLang="ko-KR" sz="1400" dirty="0"/>
              <a:t>- genome </a:t>
            </a:r>
            <a:r>
              <a:rPr lang="ko-KR" altLang="en-US" sz="1400" dirty="0"/>
              <a:t>수준에서의 측정값이 아님</a:t>
            </a:r>
            <a:r>
              <a:rPr lang="en-US" altLang="ko-KR" sz="1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2208052-9101-B3AE-3DBD-BDC301896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330" y="1451389"/>
            <a:ext cx="6644312" cy="5041486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E2670C6C-A533-3B40-0EF3-9E2F4BF3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Background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24788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499"/>
            <a:ext cx="10515600" cy="5267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2] EVE </a:t>
            </a:r>
            <a:r>
              <a:rPr lang="ko-KR" altLang="en-US" sz="1800" b="1" dirty="0"/>
              <a:t>모델 </a:t>
            </a:r>
            <a:r>
              <a:rPr lang="en-US" altLang="ko-KR" sz="1800" b="1" dirty="0"/>
              <a:t>: multiple sequence alignment (MSA) </a:t>
            </a:r>
            <a:r>
              <a:rPr lang="ko-KR" altLang="en-US" sz="1800" b="1" dirty="0"/>
              <a:t>학습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MSA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서열의 단백질 생성</a:t>
            </a:r>
            <a:r>
              <a:rPr lang="en-US" altLang="ko-KR" sz="1400" dirty="0"/>
              <a:t>(residue) </a:t>
            </a:r>
            <a:r>
              <a:rPr lang="ko-KR" altLang="en-US" sz="1400" dirty="0"/>
              <a:t>위치에서</a:t>
            </a:r>
            <a:r>
              <a:rPr lang="en-US" altLang="ko-KR" sz="1400" dirty="0"/>
              <a:t> </a:t>
            </a:r>
            <a:r>
              <a:rPr lang="ko-KR" altLang="en-US" sz="1400" dirty="0"/>
              <a:t>진화적인 서열 유사성을 비교하거나 서열 보전 여부를 파악</a:t>
            </a:r>
            <a:r>
              <a:rPr lang="en-US" altLang="ko-KR" sz="1400" dirty="0"/>
              <a:t> </a:t>
            </a:r>
            <a:r>
              <a:rPr lang="ko-KR" altLang="en-US" sz="1400" dirty="0"/>
              <a:t>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EVE</a:t>
            </a:r>
            <a:r>
              <a:rPr lang="ko-KR" altLang="en-US" sz="1400" dirty="0"/>
              <a:t> 모델</a:t>
            </a:r>
            <a:r>
              <a:rPr lang="en-US" altLang="ko-KR" sz="1400" dirty="0"/>
              <a:t> : </a:t>
            </a:r>
            <a:r>
              <a:rPr lang="ko-KR" altLang="en-US" sz="1400" dirty="0"/>
              <a:t>서열 변이의 단백질의 구조기능적</a:t>
            </a:r>
            <a:r>
              <a:rPr lang="en-US" altLang="ko-KR" sz="1400" dirty="0"/>
              <a:t> </a:t>
            </a:r>
            <a:r>
              <a:rPr lang="ko-KR" altLang="en-US" sz="1400" dirty="0"/>
              <a:t>특성과 진화적 요소를 학습하여 영향을 예측함</a:t>
            </a:r>
            <a:r>
              <a:rPr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2639FF-1A8A-A359-3439-B2DA797679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0235"/>
          <a:stretch/>
        </p:blipFill>
        <p:spPr>
          <a:xfrm>
            <a:off x="750270" y="2950409"/>
            <a:ext cx="10691460" cy="3184384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103D6656-406C-C2B6-EFC0-63D75B9FC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Background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39010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3499"/>
            <a:ext cx="10836087" cy="2202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2-1] Evolutionary model of variant effect (EVE) - benchmark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MSA </a:t>
            </a:r>
            <a:r>
              <a:rPr lang="ko-KR" altLang="en-US" sz="1400" dirty="0"/>
              <a:t>데이터 </a:t>
            </a:r>
            <a:r>
              <a:rPr lang="en-US" altLang="ko-KR" sz="1400" dirty="0">
                <a:sym typeface="Wingdings" panose="05000000000000000000" pitchFamily="2" charset="2"/>
              </a:rPr>
              <a:t></a:t>
            </a:r>
            <a:r>
              <a:rPr lang="en-US" altLang="ko-KR" sz="1400" dirty="0"/>
              <a:t> </a:t>
            </a:r>
            <a:r>
              <a:rPr lang="ko-KR" altLang="en-US" sz="1400" dirty="0"/>
              <a:t>각 단백질의 아미노산 서열을 변이가 일어난 아미노산을 </a:t>
            </a:r>
            <a:r>
              <a:rPr lang="en-US" altLang="ko-KR" sz="1400" dirty="0"/>
              <a:t>1, </a:t>
            </a:r>
            <a:r>
              <a:rPr lang="ko-KR" altLang="en-US" sz="1400" dirty="0"/>
              <a:t>일어나지 않은 경우 </a:t>
            </a:r>
            <a:r>
              <a:rPr lang="en-US" altLang="ko-KR" sz="1400" dirty="0"/>
              <a:t>0</a:t>
            </a:r>
            <a:r>
              <a:rPr lang="ko-KR" altLang="en-US" sz="1400" dirty="0"/>
              <a:t>로 변환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variational</a:t>
            </a:r>
            <a:r>
              <a:rPr lang="ko-KR" altLang="en-US" sz="1400" dirty="0"/>
              <a:t> </a:t>
            </a:r>
            <a:r>
              <a:rPr lang="en-US" altLang="ko-KR" sz="1400" dirty="0"/>
              <a:t>autoencoder </a:t>
            </a:r>
            <a:r>
              <a:rPr lang="ko-KR" altLang="en-US" sz="1400" dirty="0"/>
              <a:t>모델 이용</a:t>
            </a:r>
            <a:r>
              <a:rPr lang="en-US" altLang="ko-KR" sz="1400" dirty="0"/>
              <a:t>:</a:t>
            </a:r>
            <a:r>
              <a:rPr lang="ko-KR" altLang="en-US" sz="1400" dirty="0"/>
              <a:t> 단백질 변이에 따른 아미노산 변이의 분포를 학습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 </a:t>
            </a:r>
            <a:r>
              <a:rPr lang="en-US" altLang="ko-KR" sz="1400" b="1" dirty="0"/>
              <a:t>Evolutionary Index </a:t>
            </a:r>
            <a:r>
              <a:rPr lang="en-US" altLang="ko-KR" sz="1400" dirty="0"/>
              <a:t>: wild-type (</a:t>
            </a:r>
            <a:r>
              <a:rPr lang="ko-KR" altLang="en-US" sz="1400" dirty="0"/>
              <a:t>정상</a:t>
            </a:r>
            <a:r>
              <a:rPr lang="en-US" altLang="ko-KR" sz="1400" dirty="0"/>
              <a:t>)</a:t>
            </a:r>
            <a:r>
              <a:rPr lang="ko-KR" altLang="en-US" sz="1400" dirty="0"/>
              <a:t> 아미노산에 대해 각 아미노산의 상대적인 변이 가능성을 </a:t>
            </a:r>
            <a:r>
              <a:rPr lang="en-US" altLang="ko-KR" sz="1400" b="1" dirty="0"/>
              <a:t>score</a:t>
            </a:r>
            <a:r>
              <a:rPr lang="en-US" altLang="ko-KR" sz="1400" dirty="0"/>
              <a:t> </a:t>
            </a:r>
            <a:r>
              <a:rPr lang="ko-KR" altLang="en-US" sz="1400" dirty="0"/>
              <a:t>로 구함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-&gt; </a:t>
            </a:r>
            <a:r>
              <a:rPr lang="ko-KR" altLang="en-US" sz="1400" dirty="0"/>
              <a:t>서열 내 각 아미노산으로 변이가 일어날 가능성</a:t>
            </a:r>
            <a:endParaRPr lang="en-US" altLang="ko-KR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C55945D-7329-E05A-757D-F9F0ECE5CD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796" r="22564" b="13667"/>
          <a:stretch/>
        </p:blipFill>
        <p:spPr>
          <a:xfrm>
            <a:off x="2673629" y="3314504"/>
            <a:ext cx="4222471" cy="283844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6053AA-66F6-CC62-83E9-1E1924DCE4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02" t="59844" r="61248" b="2916"/>
          <a:stretch/>
        </p:blipFill>
        <p:spPr>
          <a:xfrm>
            <a:off x="9611590" y="3718935"/>
            <a:ext cx="1865747" cy="180556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B76C835-9077-E8D6-B0C2-E62930DDA05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7258" r="-1" b="26414"/>
          <a:stretch/>
        </p:blipFill>
        <p:spPr>
          <a:xfrm>
            <a:off x="6922256" y="3371651"/>
            <a:ext cx="1695452" cy="241935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8A4BB6EA-FD71-3A84-39B5-4F09DB1587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134" t="87455" r="239" b="-3486"/>
          <a:stretch/>
        </p:blipFill>
        <p:spPr>
          <a:xfrm>
            <a:off x="2673629" y="6184326"/>
            <a:ext cx="5861515" cy="52704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E31AB7A-33CA-1E49-837A-BBFAF7CECA9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536" r="17199"/>
          <a:stretch/>
        </p:blipFill>
        <p:spPr>
          <a:xfrm rot="5400000">
            <a:off x="1062689" y="4259986"/>
            <a:ext cx="1996871" cy="111796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928AD933-274D-769A-8175-740D6CBE42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9205"/>
          <a:stretch/>
        </p:blipFill>
        <p:spPr>
          <a:xfrm>
            <a:off x="1123357" y="3314502"/>
            <a:ext cx="1550273" cy="3287805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B9ACF77D-553F-776B-E2BA-154D2ECB4700}"/>
              </a:ext>
            </a:extLst>
          </p:cNvPr>
          <p:cNvSpPr/>
          <p:nvPr/>
        </p:nvSpPr>
        <p:spPr>
          <a:xfrm>
            <a:off x="2785919" y="3389582"/>
            <a:ext cx="4110182" cy="24193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F6C280E-1B30-3541-3A9C-E8A5297051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Background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1216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33499"/>
            <a:ext cx="10836087" cy="2887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2-1] Evolutionary model of variant effect (EVE) - benchmark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Evolutionary index score </a:t>
            </a:r>
            <a:r>
              <a:rPr lang="ko-KR" altLang="en-US" sz="1400" dirty="0"/>
              <a:t>와 </a:t>
            </a:r>
            <a:r>
              <a:rPr lang="en-US" altLang="ko-KR" sz="1400" dirty="0"/>
              <a:t>deep mutational scans (DMS)</a:t>
            </a:r>
            <a:r>
              <a:rPr lang="ko-KR" altLang="en-US" sz="1400" dirty="0"/>
              <a:t>에서 통해 실험적으로 얻은</a:t>
            </a:r>
            <a:r>
              <a:rPr lang="en-US" altLang="ko-KR" sz="1400" dirty="0"/>
              <a:t> </a:t>
            </a:r>
            <a:r>
              <a:rPr lang="ko-KR" altLang="en-US" sz="1400" dirty="0"/>
              <a:t>측정값과 연관성이 높음을 확인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VAE </a:t>
            </a:r>
            <a:r>
              <a:rPr lang="ko-KR" altLang="en-US" sz="1400" dirty="0"/>
              <a:t>를 통해 학습된 분포 이용</a:t>
            </a:r>
            <a:r>
              <a:rPr lang="en-US" altLang="ko-KR" sz="1400" dirty="0"/>
              <a:t>, benign/pathogenic (</a:t>
            </a:r>
            <a:r>
              <a:rPr lang="ko-KR" altLang="en-US" sz="1400" b="1" dirty="0"/>
              <a:t>정상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병원성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class </a:t>
            </a:r>
            <a:r>
              <a:rPr lang="ko-KR" altLang="en-US" sz="1400" dirty="0"/>
              <a:t>학습 후 </a:t>
            </a:r>
            <a:r>
              <a:rPr lang="en-US" altLang="ko-KR" sz="1400" dirty="0"/>
              <a:t>Evolutionary index score </a:t>
            </a:r>
            <a:r>
              <a:rPr lang="ko-KR" altLang="en-US" sz="1400" dirty="0"/>
              <a:t>의 각 </a:t>
            </a:r>
            <a:r>
              <a:rPr lang="en-US" altLang="ko-KR" sz="1400" dirty="0"/>
              <a:t>class </a:t>
            </a:r>
            <a:r>
              <a:rPr lang="ko-KR" altLang="en-US" sz="1400" dirty="0"/>
              <a:t>분포를 </a:t>
            </a:r>
            <a:r>
              <a:rPr lang="en-US" altLang="ko-KR" sz="1400" dirty="0"/>
              <a:t>Gaussian </a:t>
            </a:r>
            <a:r>
              <a:rPr lang="ko-KR" altLang="en-US" sz="1400" dirty="0"/>
              <a:t>분해하여 </a:t>
            </a:r>
            <a:r>
              <a:rPr lang="en-US" altLang="ko-KR" sz="1400" dirty="0"/>
              <a:t>threshold </a:t>
            </a:r>
            <a:r>
              <a:rPr lang="ko-KR" altLang="en-US" sz="1400" dirty="0"/>
              <a:t>를 조절 </a:t>
            </a:r>
            <a:r>
              <a:rPr lang="en-US" altLang="ko-KR" sz="1400" dirty="0"/>
              <a:t>-&gt; </a:t>
            </a:r>
            <a:r>
              <a:rPr lang="ko-KR" altLang="en-US" sz="1400" dirty="0"/>
              <a:t>높은 분류 정확도를 가짐</a:t>
            </a:r>
            <a:r>
              <a:rPr lang="en-US" altLang="ko-KR" sz="1400" dirty="0"/>
              <a:t>.</a:t>
            </a:r>
          </a:p>
          <a:p>
            <a:pPr>
              <a:buFontTx/>
              <a:buChar char="-"/>
            </a:pPr>
            <a:r>
              <a:rPr lang="en-US" altLang="ko-KR" sz="1400" b="1" dirty="0"/>
              <a:t>MSA </a:t>
            </a:r>
            <a:r>
              <a:rPr lang="ko-KR" altLang="en-US" sz="1400" b="1" dirty="0"/>
              <a:t>데이터 이용</a:t>
            </a:r>
            <a:r>
              <a:rPr lang="en-US" altLang="ko-KR" sz="1400" b="1" dirty="0"/>
              <a:t>:</a:t>
            </a:r>
            <a:r>
              <a:rPr lang="ko-KR" altLang="en-US" sz="1400" b="1" dirty="0"/>
              <a:t> 한계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1) MSA </a:t>
            </a:r>
            <a:r>
              <a:rPr lang="ko-KR" altLang="en-US" sz="1400" dirty="0"/>
              <a:t>데이터에 정리된 단백질에 대해서만 예측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2) </a:t>
            </a:r>
            <a:r>
              <a:rPr lang="ko-KR" altLang="en-US" sz="1400" dirty="0"/>
              <a:t>단백질 생성 부위에 대한 서열만 존재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3)</a:t>
            </a:r>
            <a:r>
              <a:rPr lang="ko-KR" altLang="en-US" sz="1400" dirty="0"/>
              <a:t> 모델이 단백질 </a:t>
            </a:r>
            <a:r>
              <a:rPr lang="en-US" altLang="ko-KR" sz="1400" dirty="0"/>
              <a:t>3</a:t>
            </a:r>
            <a:r>
              <a:rPr lang="ko-KR" altLang="en-US" sz="1400" dirty="0"/>
              <a:t>차원 구조 차이를 인식하는지 알려지지 않음</a:t>
            </a:r>
            <a:endParaRPr lang="en-US" altLang="ko-KR" sz="14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892269E-1591-70AC-5F23-D6C0F0FCB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350" y="4353343"/>
            <a:ext cx="6306963" cy="2139531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0BD3A8D5-6465-5DFA-3777-93FEBF97194D}"/>
              </a:ext>
            </a:extLst>
          </p:cNvPr>
          <p:cNvGrpSpPr/>
          <p:nvPr/>
        </p:nvGrpSpPr>
        <p:grpSpPr>
          <a:xfrm>
            <a:off x="1079164" y="4450035"/>
            <a:ext cx="4246423" cy="1946146"/>
            <a:chOff x="8394612" y="3617536"/>
            <a:chExt cx="3762043" cy="1624747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FD6053AA-66F6-CC62-83E9-1E1924DCE4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82" t="56318" r="57531" b="-486"/>
            <a:stretch/>
          </p:blipFill>
          <p:spPr>
            <a:xfrm>
              <a:off x="8394612" y="3627062"/>
              <a:ext cx="1695451" cy="161522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807AEF3-8C25-C9D5-8401-5EFB4DC404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9674" t="56192" r="-853" b="-360"/>
            <a:stretch/>
          </p:blipFill>
          <p:spPr>
            <a:xfrm>
              <a:off x="10090063" y="3617536"/>
              <a:ext cx="2066592" cy="1615221"/>
            </a:xfrm>
            <a:prstGeom prst="rect">
              <a:avLst/>
            </a:prstGeom>
          </p:spPr>
        </p:pic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6F6C280E-1B30-3541-3A9C-E8A5297051F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/>
              <a:t>Background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17863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499"/>
            <a:ext cx="10515600" cy="4697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3] ESM1b : Protein language model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: </a:t>
            </a:r>
            <a:r>
              <a:rPr lang="ko-KR" altLang="en-US" sz="1400" dirty="0"/>
              <a:t>단백질의 모든 아미노산 서열 이용한 대규모 언어모델 </a:t>
            </a:r>
            <a:r>
              <a:rPr lang="en-US" altLang="ko-KR" sz="1400" dirty="0"/>
              <a:t>LLM (</a:t>
            </a:r>
            <a:r>
              <a:rPr lang="fr-FR" altLang="ko-KR" sz="1400" dirty="0"/>
              <a:t>6</a:t>
            </a:r>
            <a:r>
              <a:rPr lang="en-US" altLang="ko-KR" sz="1400" dirty="0"/>
              <a:t>.5</a:t>
            </a:r>
            <a:r>
              <a:rPr lang="ko-KR" altLang="en-US" sz="1400" dirty="0"/>
              <a:t>억 </a:t>
            </a:r>
            <a:r>
              <a:rPr lang="fr-FR" altLang="ko-KR" sz="1400" dirty="0"/>
              <a:t>parameter</a:t>
            </a:r>
            <a:r>
              <a:rPr lang="en-US" altLang="ko-KR" sz="1400" dirty="0"/>
              <a:t>) </a:t>
            </a:r>
          </a:p>
          <a:p>
            <a:pPr marL="0" indent="0">
              <a:buNone/>
            </a:pPr>
            <a:r>
              <a:rPr lang="en-US" altLang="ko-KR" sz="1400" dirty="0"/>
              <a:t>  transformer-based LLM,</a:t>
            </a:r>
            <a:r>
              <a:rPr lang="ko-KR" altLang="en-US" sz="1400" dirty="0"/>
              <a:t> </a:t>
            </a:r>
            <a:r>
              <a:rPr lang="en-US" altLang="ko-KR" sz="1400" dirty="0"/>
              <a:t>2.5</a:t>
            </a:r>
            <a:r>
              <a:rPr lang="ko-KR" altLang="en-US" sz="1400" dirty="0"/>
              <a:t>억 개의 단백질 서열 학습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 </a:t>
            </a:r>
            <a:r>
              <a:rPr lang="ko-KR" altLang="en-US" sz="1400" dirty="0"/>
              <a:t>별도 학습 없이</a:t>
            </a:r>
            <a:r>
              <a:rPr lang="en-US" altLang="ko-KR" sz="1400" dirty="0"/>
              <a:t>,</a:t>
            </a:r>
            <a:r>
              <a:rPr lang="ko-KR" altLang="en-US" sz="1400" dirty="0"/>
              <a:t> 특정 단백질 변이체의 기능적 특성을 </a:t>
            </a:r>
            <a:r>
              <a:rPr lang="en-US" altLang="ko-KR" sz="1400" dirty="0"/>
              <a:t>DMS </a:t>
            </a:r>
            <a:r>
              <a:rPr lang="ko-KR" altLang="en-US" sz="1400" dirty="0"/>
              <a:t>실험적 측정값과 연관성 높게 예측함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MSA </a:t>
            </a:r>
            <a:r>
              <a:rPr lang="ko-KR" altLang="en-US" sz="1400" dirty="0"/>
              <a:t>같은 단백질의 정확한 진화적</a:t>
            </a:r>
            <a:r>
              <a:rPr lang="en-US" altLang="ko-KR" sz="1400" dirty="0"/>
              <a:t> </a:t>
            </a:r>
            <a:r>
              <a:rPr lang="ko-KR" altLang="en-US" sz="1400" dirty="0"/>
              <a:t>변이 서열 데이터가 필요 없음</a:t>
            </a: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/>
              <a:t>아미노산 서열 자체의 단백질의 구조</a:t>
            </a:r>
            <a:r>
              <a:rPr lang="en-US" altLang="ko-KR" sz="1400" dirty="0"/>
              <a:t>,</a:t>
            </a:r>
            <a:r>
              <a:rPr lang="ko-KR" altLang="en-US" sz="1400" dirty="0"/>
              <a:t>기능적 중요한 정보 학습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(</a:t>
            </a:r>
            <a:r>
              <a:rPr lang="ko-KR" altLang="en-US" sz="1400" dirty="0"/>
              <a:t>단백질 </a:t>
            </a:r>
            <a:r>
              <a:rPr lang="en-US" altLang="ko-KR" sz="1400" dirty="0"/>
              <a:t>2</a:t>
            </a:r>
            <a:r>
              <a:rPr lang="ko-KR" altLang="en-US" sz="1400" dirty="0"/>
              <a:t>차 구조</a:t>
            </a:r>
            <a:r>
              <a:rPr lang="en-US" altLang="ko-KR" sz="1400" dirty="0"/>
              <a:t>, long-distance </a:t>
            </a:r>
            <a:r>
              <a:rPr lang="ko-KR" altLang="en-US" sz="1400" dirty="0"/>
              <a:t>상호작용</a:t>
            </a:r>
            <a:r>
              <a:rPr lang="en-US" altLang="ko-KR" sz="1400" dirty="0"/>
              <a:t>, post-translational modification, binding sites </a:t>
            </a:r>
            <a:r>
              <a:rPr lang="ko-KR" altLang="en-US" sz="1400" dirty="0"/>
              <a:t>등</a:t>
            </a:r>
            <a:r>
              <a:rPr lang="en-US" altLang="ko-KR" sz="1400" dirty="0"/>
              <a:t> </a:t>
            </a:r>
            <a:r>
              <a:rPr lang="ko-KR" altLang="en-US" sz="1400" dirty="0"/>
              <a:t>정보 포함</a:t>
            </a:r>
            <a:r>
              <a:rPr lang="en-US" altLang="ko-KR" sz="1400" dirty="0"/>
              <a:t>)</a:t>
            </a:r>
          </a:p>
          <a:p>
            <a:pPr>
              <a:buFontTx/>
              <a:buChar char="-"/>
            </a:pPr>
            <a:r>
              <a:rPr lang="ko-KR" altLang="ko-KR" sz="1400" dirty="0">
                <a:cs typeface="Times New Roman" panose="02020603050405020304" pitchFamily="18" charset="0"/>
              </a:rPr>
              <a:t>아미노산 서열</a:t>
            </a:r>
            <a:r>
              <a:rPr lang="ko-KR" altLang="en-US" sz="1400" dirty="0">
                <a:cs typeface="Times New Roman" panose="02020603050405020304" pitchFamily="18" charset="0"/>
              </a:rPr>
              <a:t> 각 자리의 </a:t>
            </a:r>
            <a:r>
              <a:rPr lang="en-US" altLang="ko-KR" sz="1400" dirty="0">
                <a:cs typeface="Times New Roman" panose="02020603050405020304" pitchFamily="18" charset="0"/>
              </a:rPr>
              <a:t>20 </a:t>
            </a:r>
            <a:r>
              <a:rPr lang="ko-KR" altLang="en-US" sz="1400" dirty="0">
                <a:cs typeface="Times New Roman" panose="02020603050405020304" pitchFamily="18" charset="0"/>
              </a:rPr>
              <a:t>종류 아미노산을 토큰으로 사용하여 모든</a:t>
            </a:r>
            <a:r>
              <a:rPr lang="ko-KR" altLang="en-US" sz="1400" dirty="0"/>
              <a:t> 변이에 대한 영향 </a:t>
            </a:r>
            <a:r>
              <a:rPr lang="en-US" altLang="ko-KR" sz="1400" dirty="0"/>
              <a:t>score </a:t>
            </a:r>
            <a:r>
              <a:rPr lang="ko-KR" altLang="en-US" sz="1400" dirty="0"/>
              <a:t>계산이 가능함</a:t>
            </a:r>
            <a:r>
              <a:rPr lang="en-US" altLang="ko-KR" sz="1400" dirty="0"/>
              <a:t>.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E2AAA809-345C-AB85-473E-23EB7503F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Background</a:t>
            </a:r>
            <a:endParaRPr lang="ko-KR" altLang="en-US" sz="2800" b="1" dirty="0"/>
          </a:p>
        </p:txBody>
      </p:sp>
      <p:pic>
        <p:nvPicPr>
          <p:cNvPr id="24" name="내용 개체 틀 4">
            <a:extLst>
              <a:ext uri="{FF2B5EF4-FFF2-40B4-BE49-F238E27FC236}">
                <a16:creationId xmlns:a16="http://schemas.microsoft.com/office/drawing/2014/main" id="{AA86BC75-81AC-65F0-2352-B8BD7D28AC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61" b="73996"/>
          <a:stretch/>
        </p:blipFill>
        <p:spPr>
          <a:xfrm>
            <a:off x="807473" y="4235909"/>
            <a:ext cx="10577053" cy="225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13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800" b="1" dirty="0"/>
              <a:t>In this paper…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4"/>
            <a:ext cx="5055606" cy="3415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600" b="1" dirty="0"/>
              <a:t>-</a:t>
            </a:r>
            <a:r>
              <a:rPr lang="ko-KR" altLang="en-US" sz="1600" b="1" dirty="0"/>
              <a:t> 기존 </a:t>
            </a:r>
            <a:r>
              <a:rPr lang="en-US" altLang="ko-KR" sz="1600" b="1" dirty="0"/>
              <a:t>ESM1b </a:t>
            </a:r>
            <a:r>
              <a:rPr lang="ko-KR" altLang="en-US" sz="1600" b="1" dirty="0"/>
              <a:t>모델</a:t>
            </a:r>
            <a:endParaRPr lang="en-US" altLang="ko-KR" sz="1600" b="1" dirty="0"/>
          </a:p>
          <a:p>
            <a:pPr marL="0" indent="0">
              <a:buNone/>
            </a:pPr>
            <a:r>
              <a:rPr lang="en-US" altLang="ko-KR" sz="1400" b="1" dirty="0"/>
              <a:t>  1)</a:t>
            </a:r>
            <a:r>
              <a:rPr lang="en-US" altLang="ko-KR" sz="1400" dirty="0"/>
              <a:t> </a:t>
            </a:r>
            <a:r>
              <a:rPr lang="en-US" altLang="ko-KR" sz="1400" b="1" dirty="0"/>
              <a:t>input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length </a:t>
            </a:r>
            <a:r>
              <a:rPr lang="ko-KR" altLang="en-US" sz="1400" b="1" dirty="0"/>
              <a:t>제한</a:t>
            </a:r>
            <a:r>
              <a:rPr lang="en-US" altLang="ko-KR" sz="1400" b="1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: </a:t>
            </a:r>
            <a:r>
              <a:rPr lang="ko-KR" altLang="en-US" sz="1400" dirty="0"/>
              <a:t>최대 </a:t>
            </a:r>
            <a:r>
              <a:rPr lang="en-US" altLang="ko-KR" sz="1400" dirty="0"/>
              <a:t>1,022 </a:t>
            </a:r>
            <a:r>
              <a:rPr lang="ko-KR" altLang="en-US" sz="1400" dirty="0"/>
              <a:t>아미노산 길이의 서열이 입력 가능하며</a:t>
            </a:r>
            <a:r>
              <a:rPr lang="en-US" altLang="ko-KR" sz="1400" dirty="0"/>
              <a:t>, </a:t>
            </a:r>
            <a:r>
              <a:rPr lang="ko-KR" altLang="en-US" sz="1400" dirty="0"/>
              <a:t>이는 단백질 중 </a:t>
            </a:r>
            <a:r>
              <a:rPr lang="en-US" altLang="ko-KR" sz="1400" dirty="0"/>
              <a:t>12% </a:t>
            </a:r>
            <a:r>
              <a:rPr lang="ko-KR" altLang="en-US" sz="1400" dirty="0"/>
              <a:t>를 포함하지 못함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b="1" dirty="0"/>
              <a:t>  2) </a:t>
            </a:r>
            <a:r>
              <a:rPr lang="ko-KR" altLang="en-US" sz="1400" b="1" dirty="0"/>
              <a:t>제한적</a:t>
            </a:r>
            <a:r>
              <a:rPr lang="ko-KR" altLang="en-US" sz="1400" dirty="0"/>
              <a:t> </a:t>
            </a:r>
            <a:r>
              <a:rPr lang="en-US" altLang="ko-KR" sz="1400" b="1" dirty="0"/>
              <a:t>Evaluation</a:t>
            </a:r>
            <a:r>
              <a:rPr lang="en-US" altLang="ko-KR" sz="1400" dirty="0"/>
              <a:t> </a:t>
            </a:r>
          </a:p>
          <a:p>
            <a:pPr marL="0" indent="0">
              <a:buNone/>
            </a:pPr>
            <a:r>
              <a:rPr lang="en-US" altLang="ko-KR" sz="1400" dirty="0"/>
              <a:t>: 32 </a:t>
            </a:r>
            <a:r>
              <a:rPr lang="ko-KR" altLang="en-US" sz="1400" dirty="0"/>
              <a:t>개 유전자를 포함하는 </a:t>
            </a:r>
            <a:r>
              <a:rPr lang="en-US" altLang="ko-KR" sz="1400" dirty="0"/>
              <a:t>DMS </a:t>
            </a:r>
            <a:r>
              <a:rPr lang="ko-KR" altLang="en-US" sz="1400" dirty="0"/>
              <a:t>데이터를 평가에 사용</a:t>
            </a:r>
            <a:r>
              <a:rPr lang="en-US" altLang="ko-KR" sz="1400" dirty="0"/>
              <a:t>. </a:t>
            </a:r>
          </a:p>
          <a:p>
            <a:pPr marL="0" indent="0">
              <a:buNone/>
            </a:pPr>
            <a:r>
              <a:rPr lang="ko-KR" altLang="en-US" sz="1400" dirty="0"/>
              <a:t>단백질 수준에서의 임상적 영향을 예측</a:t>
            </a:r>
            <a:endParaRPr lang="en-US" altLang="ko-KR" sz="1400" dirty="0"/>
          </a:p>
        </p:txBody>
      </p:sp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0EC689C5-4B7B-3F33-281F-C170C89EEECC}"/>
              </a:ext>
            </a:extLst>
          </p:cNvPr>
          <p:cNvSpPr txBox="1">
            <a:spLocks/>
          </p:cNvSpPr>
          <p:nvPr/>
        </p:nvSpPr>
        <p:spPr>
          <a:xfrm>
            <a:off x="6215959" y="1419224"/>
            <a:ext cx="5327209" cy="3985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600" b="1" dirty="0"/>
              <a:t>-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ESM1b </a:t>
            </a:r>
            <a:r>
              <a:rPr lang="ko-KR" altLang="en-US" sz="1600" b="1" dirty="0"/>
              <a:t>모델의 개선</a:t>
            </a:r>
            <a:endParaRPr lang="en-US" altLang="ko-KR" sz="16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b="1" dirty="0"/>
              <a:t>    1)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input length </a:t>
            </a:r>
            <a:r>
              <a:rPr lang="ko-KR" altLang="en-US" sz="1400" b="1" dirty="0"/>
              <a:t>개선</a:t>
            </a:r>
            <a:r>
              <a:rPr lang="en-US" altLang="ko-KR" sz="1400" b="1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: </a:t>
            </a:r>
            <a:r>
              <a:rPr lang="ko-KR" altLang="en-US" sz="1400" dirty="0"/>
              <a:t>사람 </a:t>
            </a:r>
            <a:r>
              <a:rPr lang="en-US" altLang="ko-KR" sz="1400" dirty="0"/>
              <a:t>genome </a:t>
            </a:r>
            <a:r>
              <a:rPr lang="ko-KR" altLang="en-US" sz="1400" dirty="0"/>
              <a:t>의 </a:t>
            </a:r>
            <a:r>
              <a:rPr lang="en-US" altLang="ko-KR" sz="1400" dirty="0"/>
              <a:t>42,236 </a:t>
            </a:r>
            <a:r>
              <a:rPr lang="ko-KR" altLang="en-US" sz="1400" dirty="0"/>
              <a:t>단백질 변이체에서 가능한 </a:t>
            </a: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</a:t>
            </a:r>
            <a:r>
              <a:rPr lang="ko-KR" altLang="en-US" sz="1400" dirty="0"/>
              <a:t>모든 변이를 </a:t>
            </a:r>
            <a:r>
              <a:rPr lang="en-US" altLang="ko-KR" sz="1400" dirty="0"/>
              <a:t>input </a:t>
            </a:r>
            <a:r>
              <a:rPr lang="ko-KR" altLang="en-US" sz="1400" dirty="0"/>
              <a:t>가능함 </a:t>
            </a:r>
            <a:r>
              <a:rPr lang="en-US" altLang="ko-KR" sz="1400" dirty="0"/>
              <a:t>(4.5</a:t>
            </a:r>
            <a:r>
              <a:rPr lang="ko-KR" altLang="en-US" sz="1400" dirty="0" err="1"/>
              <a:t>억개의</a:t>
            </a:r>
            <a:r>
              <a:rPr lang="ko-KR" altLang="en-US" sz="1400" dirty="0"/>
              <a:t> 변이를 학습 가능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b="1" dirty="0"/>
              <a:t>    2) </a:t>
            </a:r>
            <a:r>
              <a:rPr lang="ko-KR" altLang="en-US" sz="1400" b="1" dirty="0"/>
              <a:t>개선된 평가 방법 결과 제공</a:t>
            </a:r>
            <a:endParaRPr lang="en-US" altLang="ko-KR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-</a:t>
            </a:r>
            <a:r>
              <a:rPr lang="ko-KR" altLang="en-US" sz="1400" dirty="0"/>
              <a:t> 변이의</a:t>
            </a:r>
            <a:r>
              <a:rPr lang="en-US" altLang="ko-KR" sz="1400" dirty="0"/>
              <a:t> pathogenic/benign </a:t>
            </a:r>
            <a:r>
              <a:rPr lang="ko-KR" altLang="en-US" sz="1400" b="1" dirty="0"/>
              <a:t>분류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병원성</a:t>
            </a:r>
            <a:r>
              <a:rPr lang="en-US" altLang="ko-KR" sz="1400" dirty="0"/>
              <a:t>/</a:t>
            </a:r>
            <a:r>
              <a:rPr lang="ko-KR" altLang="en-US" sz="1400" dirty="0"/>
              <a:t>정상</a:t>
            </a:r>
            <a:r>
              <a:rPr lang="en-US" altLang="ko-KR" sz="1400" dirty="0"/>
              <a:t>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- DMS </a:t>
            </a:r>
            <a:r>
              <a:rPr lang="ko-KR" altLang="en-US" sz="1400" b="1" dirty="0"/>
              <a:t>측정값 예측</a:t>
            </a:r>
            <a:endParaRPr lang="en-US" altLang="ko-KR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b="1" dirty="0"/>
              <a:t>-&gt; Genome </a:t>
            </a:r>
            <a:r>
              <a:rPr lang="ko-KR" altLang="en-US" sz="1400" b="1" dirty="0"/>
              <a:t>수준의 영향 </a:t>
            </a:r>
            <a:r>
              <a:rPr lang="ko-KR" altLang="en-US" sz="1400" b="1" dirty="0" err="1"/>
              <a:t>에측</a:t>
            </a:r>
            <a:endParaRPr lang="en-US" altLang="ko-KR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- isoform-sensitive variants </a:t>
            </a:r>
            <a:r>
              <a:rPr lang="ko-KR" altLang="en-US" sz="1400" b="1" dirty="0"/>
              <a:t>인식</a:t>
            </a:r>
            <a:endParaRPr lang="en-US" altLang="ko-KR" sz="14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- variants affecting multiple residues </a:t>
            </a:r>
            <a:r>
              <a:rPr lang="ko-KR" altLang="en-US" sz="1400" dirty="0"/>
              <a:t>예측 </a:t>
            </a: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400" dirty="0"/>
              <a:t>      (in-frame indel, stop-gain variants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7F82AEE-86CE-5FA6-48F2-0F1AE18DED4E}"/>
              </a:ext>
            </a:extLst>
          </p:cNvPr>
          <p:cNvGrpSpPr/>
          <p:nvPr/>
        </p:nvGrpSpPr>
        <p:grpSpPr>
          <a:xfrm>
            <a:off x="1357895" y="4486567"/>
            <a:ext cx="9880601" cy="1904418"/>
            <a:chOff x="838200" y="4625981"/>
            <a:chExt cx="9880601" cy="1904418"/>
          </a:xfrm>
        </p:grpSpPr>
        <p:pic>
          <p:nvPicPr>
            <p:cNvPr id="5" name="내용 개체 틀 4">
              <a:extLst>
                <a:ext uri="{FF2B5EF4-FFF2-40B4-BE49-F238E27FC236}">
                  <a16:creationId xmlns:a16="http://schemas.microsoft.com/office/drawing/2014/main" id="{D1653FB7-D860-BE07-D4C1-573B9DB418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63" t="27129" r="51360" b="58960"/>
            <a:stretch/>
          </p:blipFill>
          <p:spPr>
            <a:xfrm>
              <a:off x="838200" y="4625981"/>
              <a:ext cx="2040802" cy="1131144"/>
            </a:xfrm>
            <a:prstGeom prst="rect">
              <a:avLst/>
            </a:prstGeom>
          </p:spPr>
        </p:pic>
        <p:pic>
          <p:nvPicPr>
            <p:cNvPr id="13" name="내용 개체 틀 4">
              <a:extLst>
                <a:ext uri="{FF2B5EF4-FFF2-40B4-BE49-F238E27FC236}">
                  <a16:creationId xmlns:a16="http://schemas.microsoft.com/office/drawing/2014/main" id="{EEC2B4B8-DD5B-6359-1E3F-A4B00C22C4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8" t="58713" r="4088" b="34218"/>
            <a:stretch/>
          </p:blipFill>
          <p:spPr>
            <a:xfrm>
              <a:off x="838201" y="5943601"/>
              <a:ext cx="9880600" cy="586798"/>
            </a:xfrm>
            <a:prstGeom prst="rect">
              <a:avLst/>
            </a:prstGeom>
          </p:spPr>
        </p:pic>
      </p:grp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C659E0-350E-36AE-15F3-10B4C17F88BC}"/>
              </a:ext>
            </a:extLst>
          </p:cNvPr>
          <p:cNvSpPr/>
          <p:nvPr/>
        </p:nvSpPr>
        <p:spPr>
          <a:xfrm>
            <a:off x="578542" y="5763047"/>
            <a:ext cx="849391" cy="8637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1"/>
                </a:solidFill>
              </a:rPr>
              <a:t>아미노산 </a:t>
            </a:r>
            <a:endParaRPr lang="en-US" altLang="ko-KR" sz="1200" dirty="0">
              <a:solidFill>
                <a:schemeClr val="accent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accent1"/>
                </a:solidFill>
              </a:rPr>
              <a:t>20</a:t>
            </a:r>
          </a:p>
          <a:p>
            <a:pPr algn="ctr"/>
            <a:r>
              <a:rPr lang="ko-KR" altLang="en-US" sz="1200" dirty="0">
                <a:solidFill>
                  <a:schemeClr val="accent1"/>
                </a:solidFill>
              </a:rPr>
              <a:t>종류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95AA207-688F-0FE7-C7B8-F0D7955F19F9}"/>
              </a:ext>
            </a:extLst>
          </p:cNvPr>
          <p:cNvSpPr/>
          <p:nvPr/>
        </p:nvSpPr>
        <p:spPr>
          <a:xfrm>
            <a:off x="1710413" y="6365196"/>
            <a:ext cx="9245602" cy="2769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accent1"/>
                </a:solidFill>
              </a:rPr>
              <a:t>총 아미노산 서열 길이</a:t>
            </a:r>
          </a:p>
        </p:txBody>
      </p:sp>
    </p:spTree>
    <p:extLst>
      <p:ext uri="{BB962C8B-B14F-4D97-AF65-F5344CB8AC3E}">
        <p14:creationId xmlns:p14="http://schemas.microsoft.com/office/powerpoint/2010/main" val="412702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</a:t>
            </a:r>
            <a:endParaRPr lang="ko-KR" altLang="en-US" sz="2800" b="1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DCDC86-595A-FD4A-241E-03242114B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031"/>
            <a:ext cx="10515600" cy="49309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1] Variant effect score</a:t>
            </a:r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779883-B554-09A9-CF2B-CFF17FAD6FE9}"/>
              </a:ext>
            </a:extLst>
          </p:cNvPr>
          <p:cNvSpPr txBox="1"/>
          <p:nvPr/>
        </p:nvSpPr>
        <p:spPr>
          <a:xfrm>
            <a:off x="838199" y="4411958"/>
            <a:ext cx="98202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</a:t>
            </a:r>
            <a:r>
              <a:rPr lang="en-US" altLang="ko-KR" sz="1400" b="1" dirty="0"/>
              <a:t>log-likelihood ratio(LLR) </a:t>
            </a:r>
            <a:r>
              <a:rPr lang="en-US" altLang="ko-KR" sz="1400" dirty="0"/>
              <a:t>: </a:t>
            </a:r>
            <a:r>
              <a:rPr lang="ko-KR" altLang="en-US" sz="1400" dirty="0"/>
              <a:t>단백질 서열 중</a:t>
            </a:r>
            <a:r>
              <a:rPr lang="en-US" altLang="ko-KR" sz="1400" dirty="0"/>
              <a:t> </a:t>
            </a:r>
            <a:r>
              <a:rPr lang="ko-KR" altLang="en-US" sz="1400" dirty="0"/>
              <a:t>모든 아미노산의 </a:t>
            </a:r>
            <a:r>
              <a:rPr lang="en-US" altLang="ko-KR" sz="1400" dirty="0"/>
              <a:t>likelihood</a:t>
            </a:r>
            <a:r>
              <a:rPr lang="ko-KR" altLang="en-US" sz="1400" dirty="0"/>
              <a:t>를 원래의 </a:t>
            </a:r>
            <a:r>
              <a:rPr lang="en-US" altLang="ko-KR" sz="1400" dirty="0"/>
              <a:t>wild-type</a:t>
            </a:r>
            <a:r>
              <a:rPr lang="ko-KR" altLang="en-US" sz="1400" dirty="0"/>
              <a:t> 출현 확률과 비교하는 </a:t>
            </a:r>
            <a:r>
              <a:rPr lang="en-US" altLang="ko-KR" sz="1400" dirty="0"/>
              <a:t>score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모든 </a:t>
            </a:r>
            <a:r>
              <a:rPr lang="en-US" altLang="ko-KR" sz="1400" dirty="0"/>
              <a:t>20 </a:t>
            </a:r>
            <a:r>
              <a:rPr lang="ko-KR" altLang="en-US" sz="1400" dirty="0"/>
              <a:t>종류 아미노산에 대한 </a:t>
            </a:r>
            <a:r>
              <a:rPr lang="en-US" altLang="ko-KR" sz="1400" dirty="0"/>
              <a:t>score </a:t>
            </a:r>
            <a:r>
              <a:rPr lang="ko-KR" altLang="en-US" sz="1400" dirty="0"/>
              <a:t>계산</a:t>
            </a:r>
            <a:r>
              <a:rPr lang="en-US" altLang="ko-KR" sz="1400" dirty="0"/>
              <a:t> </a:t>
            </a:r>
            <a:r>
              <a:rPr lang="ko-KR" altLang="en-US" sz="1400" dirty="0"/>
              <a:t>가능</a:t>
            </a:r>
            <a:endParaRPr lang="en-US" altLang="ko-KR" sz="1400" dirty="0"/>
          </a:p>
        </p:txBody>
      </p:sp>
      <p:pic>
        <p:nvPicPr>
          <p:cNvPr id="10" name="내용 개체 틀 4">
            <a:extLst>
              <a:ext uri="{FF2B5EF4-FFF2-40B4-BE49-F238E27FC236}">
                <a16:creationId xmlns:a16="http://schemas.microsoft.com/office/drawing/2014/main" id="{1007F002-A0AE-C781-722D-65BD87D36C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07" t="26004" b="49915"/>
          <a:stretch/>
        </p:blipFill>
        <p:spPr>
          <a:xfrm>
            <a:off x="8721601" y="4781290"/>
            <a:ext cx="2694032" cy="1927333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C787CD3C-7B98-ACA3-98C4-DBCFDAE18A0B}"/>
              </a:ext>
            </a:extLst>
          </p:cNvPr>
          <p:cNvGrpSpPr/>
          <p:nvPr/>
        </p:nvGrpSpPr>
        <p:grpSpPr>
          <a:xfrm>
            <a:off x="1638300" y="1724025"/>
            <a:ext cx="8566211" cy="2595195"/>
            <a:chOff x="1987488" y="1851531"/>
            <a:chExt cx="8217023" cy="2467689"/>
          </a:xfrm>
        </p:grpSpPr>
        <p:pic>
          <p:nvPicPr>
            <p:cNvPr id="6" name="내용 개체 틀 4">
              <a:extLst>
                <a:ext uri="{FF2B5EF4-FFF2-40B4-BE49-F238E27FC236}">
                  <a16:creationId xmlns:a16="http://schemas.microsoft.com/office/drawing/2014/main" id="{C939E904-2B5D-200C-5532-F9BAE006F55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004" r="26369" b="49127"/>
            <a:stretch/>
          </p:blipFill>
          <p:spPr>
            <a:xfrm>
              <a:off x="1987488" y="1851531"/>
              <a:ext cx="8217023" cy="2200850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7AFC696-EBE6-5003-0265-93DF88BA169B}"/>
                </a:ext>
              </a:extLst>
            </p:cNvPr>
            <p:cNvSpPr/>
            <p:nvPr/>
          </p:nvSpPr>
          <p:spPr>
            <a:xfrm>
              <a:off x="6248399" y="3225209"/>
              <a:ext cx="2533651" cy="649315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AFE4A85-AD9C-ACCE-75AC-975EE1671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8399" y="3896194"/>
              <a:ext cx="1872281" cy="423026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21611DB-606E-694C-FF21-E1A1C6984086}"/>
                </a:ext>
              </a:extLst>
            </p:cNvPr>
            <p:cNvSpPr/>
            <p:nvPr/>
          </p:nvSpPr>
          <p:spPr>
            <a:xfrm>
              <a:off x="5695949" y="2156654"/>
              <a:ext cx="152401" cy="176972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1A2AB79-D2B6-E9C4-C67E-C8616E51E71B}"/>
                </a:ext>
              </a:extLst>
            </p:cNvPr>
            <p:cNvSpPr/>
            <p:nvPr/>
          </p:nvSpPr>
          <p:spPr>
            <a:xfrm>
              <a:off x="5153026" y="2602404"/>
              <a:ext cx="180974" cy="197946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E7F3D4F-D18F-E256-3141-B34A1D6B41AA}"/>
              </a:ext>
            </a:extLst>
          </p:cNvPr>
          <p:cNvGrpSpPr/>
          <p:nvPr/>
        </p:nvGrpSpPr>
        <p:grpSpPr>
          <a:xfrm>
            <a:off x="589726" y="5150622"/>
            <a:ext cx="8194853" cy="1615221"/>
            <a:chOff x="589726" y="5150622"/>
            <a:chExt cx="8194853" cy="161522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7A33A0-8B54-E376-1044-F90B4A4AAE8A}"/>
                </a:ext>
              </a:extLst>
            </p:cNvPr>
            <p:cNvSpPr txBox="1"/>
            <p:nvPr/>
          </p:nvSpPr>
          <p:spPr>
            <a:xfrm>
              <a:off x="2383007" y="5582023"/>
              <a:ext cx="6401572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Tx/>
                <a:buChar char="-"/>
              </a:pPr>
              <a:r>
                <a:rPr lang="en-US" altLang="ko-KR" sz="1400" dirty="0"/>
                <a:t>EVE </a:t>
              </a:r>
              <a:r>
                <a:rPr lang="ko-KR" altLang="en-US" sz="1400" dirty="0"/>
                <a:t>모델 </a:t>
              </a:r>
              <a:r>
                <a:rPr lang="en-US" altLang="ko-KR" sz="1400" dirty="0"/>
                <a:t>(background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2])</a:t>
              </a:r>
            </a:p>
            <a:p>
              <a:r>
                <a:rPr lang="en-US" altLang="ko-KR" sz="1400" dirty="0"/>
                <a:t>MSA coverage </a:t>
              </a:r>
              <a:r>
                <a:rPr lang="ko-KR" altLang="en-US" sz="1400" dirty="0"/>
                <a:t>의 정보가 있는 사람 단백질</a:t>
              </a:r>
              <a:r>
                <a:rPr lang="en-US" altLang="ko-KR" sz="1400" dirty="0"/>
                <a:t>(/residue)</a:t>
              </a:r>
              <a:r>
                <a:rPr lang="ko-KR" altLang="en-US" sz="1400" dirty="0"/>
                <a:t>에만 적용 가능 </a:t>
              </a:r>
              <a:r>
                <a:rPr lang="en-US" altLang="ko-KR" sz="1400" dirty="0"/>
                <a:t> </a:t>
              </a:r>
            </a:p>
            <a:p>
              <a:r>
                <a:rPr lang="en-US" altLang="ko-KR" sz="1400" dirty="0"/>
                <a:t>( EVE :</a:t>
              </a:r>
              <a:r>
                <a:rPr lang="ko-KR" altLang="en-US" sz="1400" dirty="0"/>
                <a:t> 약 </a:t>
              </a:r>
              <a:r>
                <a:rPr lang="en-US" altLang="ko-KR" sz="1400" dirty="0"/>
                <a:t>3,000</a:t>
              </a:r>
              <a:r>
                <a:rPr lang="ko-KR" altLang="en-US" sz="1400" dirty="0"/>
                <a:t>개의 질병 관련 유전자에 대한 평균 </a:t>
              </a:r>
              <a:r>
                <a:rPr lang="en-US" altLang="ko-KR" sz="1400" dirty="0"/>
                <a:t>84% </a:t>
              </a:r>
              <a:r>
                <a:rPr lang="ko-KR" altLang="en-US" sz="1400" dirty="0"/>
                <a:t>의 </a:t>
              </a:r>
              <a:r>
                <a:rPr lang="en-US" altLang="ko-KR" sz="1400" dirty="0"/>
                <a:t>coverage </a:t>
              </a:r>
              <a:r>
                <a:rPr lang="ko-KR" altLang="en-US" sz="1400" dirty="0"/>
                <a:t>가짐</a:t>
              </a:r>
              <a:r>
                <a:rPr lang="en-US" altLang="ko-KR" sz="1400" dirty="0"/>
                <a:t>)</a:t>
              </a:r>
              <a:endParaRPr lang="ko-KR" altLang="en-US" sz="1400" dirty="0"/>
            </a:p>
            <a:p>
              <a:r>
                <a:rPr lang="en-US" altLang="ko-KR" sz="1400" dirty="0"/>
                <a:t>  </a:t>
              </a:r>
              <a:r>
                <a:rPr lang="en-US" altLang="ko-KR" sz="1400" dirty="0">
                  <a:sym typeface="Wingdings" panose="05000000000000000000" pitchFamily="2" charset="2"/>
                </a:rPr>
                <a:t> </a:t>
              </a:r>
              <a:r>
                <a:rPr lang="ko-KR" altLang="en-US" sz="1400" dirty="0">
                  <a:sym typeface="Wingdings" panose="05000000000000000000" pitchFamily="2" charset="2"/>
                </a:rPr>
                <a:t>단백질 서열 모든 자리에서의 변이 계산 가능</a:t>
              </a:r>
              <a:endParaRPr lang="en-US" altLang="ko-KR" sz="1400" dirty="0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545ABA7-916E-30D3-AB8B-FBA39BC934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2" t="56318" r="57531" b="-486"/>
            <a:stretch/>
          </p:blipFill>
          <p:spPr>
            <a:xfrm>
              <a:off x="589726" y="5150622"/>
              <a:ext cx="1695451" cy="16152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1736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8" name="내용 개체 틀 4">
            <a:extLst>
              <a:ext uri="{FF2B5EF4-FFF2-40B4-BE49-F238E27FC236}">
                <a16:creationId xmlns:a16="http://schemas.microsoft.com/office/drawing/2014/main" id="{020D8BBC-6289-FFFB-6E0A-C8832B7C1F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8" t="52658" r="4088" b="32956"/>
          <a:stretch/>
        </p:blipFill>
        <p:spPr>
          <a:xfrm>
            <a:off x="2105025" y="3435456"/>
            <a:ext cx="9248775" cy="1117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951EDB-F05C-4559-9241-0B467395385B}"/>
              </a:ext>
            </a:extLst>
          </p:cNvPr>
          <p:cNvSpPr txBox="1"/>
          <p:nvPr/>
        </p:nvSpPr>
        <p:spPr>
          <a:xfrm>
            <a:off x="838200" y="2863640"/>
            <a:ext cx="10248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예</a:t>
            </a:r>
            <a:r>
              <a:rPr lang="en-US" altLang="ko-KR" sz="1400" b="1" dirty="0"/>
              <a:t>] SPAST</a:t>
            </a:r>
            <a:r>
              <a:rPr lang="en-US" altLang="ko-KR" sz="1400" dirty="0"/>
              <a:t> protein</a:t>
            </a:r>
            <a:r>
              <a:rPr lang="en-US" altLang="ko-KR" sz="1400" b="1" dirty="0"/>
              <a:t>: </a:t>
            </a:r>
            <a:r>
              <a:rPr lang="en-US" altLang="ko-KR" sz="1400" dirty="0"/>
              <a:t>microtubule-interacting and trafficking (MIT) domain </a:t>
            </a:r>
          </a:p>
          <a:p>
            <a:r>
              <a:rPr lang="en-US" altLang="ko-KR" sz="1400" dirty="0"/>
              <a:t>  -&gt; contains</a:t>
            </a:r>
            <a:r>
              <a:rPr lang="ko-KR" altLang="en-US" sz="1400" dirty="0"/>
              <a:t> </a:t>
            </a:r>
            <a:r>
              <a:rPr lang="en-US" altLang="ko-KR" sz="1400" dirty="0"/>
              <a:t>missense variants implicated in hereditary spastic paraplegias </a:t>
            </a:r>
            <a:endParaRPr lang="ko-KR" altLang="en-US" sz="1400" b="1" dirty="0"/>
          </a:p>
        </p:txBody>
      </p:sp>
      <p:pic>
        <p:nvPicPr>
          <p:cNvPr id="11" name="내용 개체 틀 4">
            <a:extLst>
              <a:ext uri="{FF2B5EF4-FFF2-40B4-BE49-F238E27FC236}">
                <a16:creationId xmlns:a16="http://schemas.microsoft.com/office/drawing/2014/main" id="{DD9B745B-FB04-1D5F-B3A0-D4C42D48B6F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613" r="4060" b="-1321"/>
          <a:stretch/>
        </p:blipFill>
        <p:spPr>
          <a:xfrm>
            <a:off x="1952625" y="5147853"/>
            <a:ext cx="9401175" cy="160881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B05A7B-BE9E-1B7A-EA3A-EC6224CC8681}"/>
              </a:ext>
            </a:extLst>
          </p:cNvPr>
          <p:cNvSpPr txBox="1"/>
          <p:nvPr/>
        </p:nvSpPr>
        <p:spPr>
          <a:xfrm>
            <a:off x="970083" y="4588948"/>
            <a:ext cx="10248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예</a:t>
            </a:r>
            <a:r>
              <a:rPr lang="en-US" altLang="ko-KR" sz="1400" b="1" dirty="0"/>
              <a:t>] ARX</a:t>
            </a:r>
            <a:r>
              <a:rPr lang="en-US" altLang="ko-KR" sz="1400" dirty="0"/>
              <a:t> protein</a:t>
            </a:r>
            <a:r>
              <a:rPr lang="en-US" altLang="ko-KR" sz="1400" b="1" dirty="0"/>
              <a:t>: </a:t>
            </a:r>
            <a:r>
              <a:rPr lang="en-US" altLang="ko-KR" sz="1400" dirty="0"/>
              <a:t>QP, NLS, PA1, PA2, Acidic domain </a:t>
            </a:r>
          </a:p>
          <a:p>
            <a:r>
              <a:rPr lang="en-US" altLang="ko-KR" sz="1400" dirty="0"/>
              <a:t>  -&gt; contains</a:t>
            </a:r>
            <a:r>
              <a:rPr lang="ko-KR" altLang="en-US" sz="1400" dirty="0"/>
              <a:t> </a:t>
            </a:r>
            <a:r>
              <a:rPr lang="en-US" altLang="ko-KR" sz="1400" dirty="0"/>
              <a:t>missense variants linked to intellectual disability</a:t>
            </a:r>
            <a:endParaRPr lang="ko-KR" altLang="en-US" sz="1400" b="1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2F2F393D-9818-F06D-8BA6-E732E568F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6"/>
            <a:ext cx="10515600" cy="1646184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1] Variant effect score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단백질 서열 각 자리의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missense variants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예측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LLR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score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히트맵에서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MSA coverage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벗어난 부위에서 높은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LLR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score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예측됨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  <a:sym typeface="Wingdings" panose="05000000000000000000" pitchFamily="2" charset="2"/>
              </a:rPr>
              <a:t>모델이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단백질 기능 관련 부위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(protein domain,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functional region)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감지함을 의미</a:t>
            </a:r>
            <a:endParaRPr kumimoji="0" lang="en-US" altLang="ko-KR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à"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EVE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모델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homology-based model)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MSA coverage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벗어났기 때문에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예측이 안됨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88598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FF8C6D0-3A5A-66B8-5F3B-0802467ACE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5" r="67603" b="74985"/>
          <a:stretch/>
        </p:blipFill>
        <p:spPr>
          <a:xfrm>
            <a:off x="7267574" y="2543968"/>
            <a:ext cx="3322377" cy="27496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E14EF7-6BF0-4068-2D46-45120A2C45AB}"/>
              </a:ext>
            </a:extLst>
          </p:cNvPr>
          <p:cNvSpPr txBox="1"/>
          <p:nvPr/>
        </p:nvSpPr>
        <p:spPr>
          <a:xfrm>
            <a:off x="701589" y="5431948"/>
            <a:ext cx="51943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dataset</a:t>
            </a:r>
            <a:r>
              <a:rPr lang="en-US" altLang="ko-KR" sz="1400" b="1" dirty="0"/>
              <a:t> </a:t>
            </a:r>
            <a:r>
              <a:rPr lang="en-US" altLang="ko-KR" sz="1400" dirty="0"/>
              <a:t>1: </a:t>
            </a:r>
            <a:r>
              <a:rPr lang="en-US" altLang="ko-KR" sz="1400" b="1" dirty="0" err="1">
                <a:solidFill>
                  <a:srgbClr val="FEB265"/>
                </a:solidFill>
              </a:rPr>
              <a:t>ClinVar</a:t>
            </a:r>
            <a:r>
              <a:rPr lang="en-US" altLang="ko-KR" sz="1400" dirty="0"/>
              <a:t> </a:t>
            </a:r>
            <a:r>
              <a:rPr lang="ko-KR" altLang="en-US" sz="1400" dirty="0"/>
              <a:t>의 </a:t>
            </a:r>
            <a:r>
              <a:rPr lang="en-US" altLang="ko-KR" sz="1400" dirty="0"/>
              <a:t>“pathogenic”/“benign” </a:t>
            </a:r>
            <a:r>
              <a:rPr lang="ko-KR" altLang="en-US" sz="1400" dirty="0"/>
              <a:t>카테고리</a:t>
            </a:r>
            <a:endParaRPr lang="en-US" altLang="ko-KR" sz="1400" dirty="0"/>
          </a:p>
          <a:p>
            <a:r>
              <a:rPr lang="en-US" altLang="ko-KR" sz="1400" dirty="0"/>
              <a:t>dataset</a:t>
            </a:r>
            <a:r>
              <a:rPr lang="ko-KR" altLang="en-US" sz="1400" dirty="0"/>
              <a:t> </a:t>
            </a:r>
            <a:r>
              <a:rPr lang="en-US" altLang="ko-KR" sz="1400" dirty="0"/>
              <a:t>2: </a:t>
            </a:r>
            <a:r>
              <a:rPr lang="en-US" altLang="ko-KR" sz="1400" b="1" dirty="0">
                <a:solidFill>
                  <a:srgbClr val="EF7679"/>
                </a:solidFill>
              </a:rPr>
              <a:t>HGMD</a:t>
            </a:r>
            <a:r>
              <a:rPr lang="en-US" altLang="ko-KR" sz="1400" dirty="0"/>
              <a:t> </a:t>
            </a:r>
            <a:r>
              <a:rPr lang="ko-KR" altLang="en-US" sz="1400" dirty="0"/>
              <a:t>의</a:t>
            </a:r>
            <a:r>
              <a:rPr lang="en-US" altLang="ko-KR" sz="1400" dirty="0"/>
              <a:t> “disease-causing” </a:t>
            </a:r>
            <a:r>
              <a:rPr lang="ko-KR" altLang="en-US" sz="1400" dirty="0"/>
              <a:t>변이</a:t>
            </a:r>
            <a:r>
              <a:rPr lang="en-US" altLang="ko-KR" sz="1400" dirty="0"/>
              <a:t>/ </a:t>
            </a:r>
          </a:p>
          <a:p>
            <a:r>
              <a:rPr lang="en-US" altLang="ko-KR" sz="1400" dirty="0"/>
              <a:t>             </a:t>
            </a:r>
            <a:r>
              <a:rPr lang="en-US" altLang="ko-KR" sz="1400" b="1" dirty="0" err="1">
                <a:solidFill>
                  <a:srgbClr val="87B2D3"/>
                </a:solidFill>
              </a:rPr>
              <a:t>gnomAD</a:t>
            </a:r>
            <a:r>
              <a:rPr lang="ko-KR" altLang="en-US" sz="1400" dirty="0"/>
              <a:t>의 </a:t>
            </a:r>
            <a:r>
              <a:rPr lang="en-US" altLang="ko-KR" sz="1400" dirty="0"/>
              <a:t>wild-type (allele frequency&gt;1%) </a:t>
            </a:r>
            <a:r>
              <a:rPr lang="ko-KR" altLang="en-US" sz="1400" dirty="0"/>
              <a:t>데이터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5F49EB9-D0B3-889A-E0EE-C9CCAB94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720908ED-66BF-E6A8-7DE8-4076A27A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6"/>
            <a:ext cx="7269729" cy="341300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lang="en-US" altLang="ko-KR" sz="1800" b="1" dirty="0"/>
              <a:t>benign/pathogenic classification </a:t>
            </a:r>
            <a:r>
              <a:rPr lang="ko-KR" altLang="en-US" sz="1800" b="1" dirty="0"/>
              <a:t>결과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LLR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score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이용 단백질 서열의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pathogenic/benign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분류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9C496CE-5512-D0F2-528A-F059B10AB6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38" r="67603" b="60402"/>
          <a:stretch/>
        </p:blipFill>
        <p:spPr>
          <a:xfrm>
            <a:off x="638916" y="2487489"/>
            <a:ext cx="5092874" cy="2431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D5ECD7-5833-F414-84A5-EA82375B5714}"/>
              </a:ext>
            </a:extLst>
          </p:cNvPr>
          <p:cNvSpPr txBox="1"/>
          <p:nvPr/>
        </p:nvSpPr>
        <p:spPr>
          <a:xfrm>
            <a:off x="6756486" y="5647392"/>
            <a:ext cx="49244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score </a:t>
            </a:r>
            <a:r>
              <a:rPr lang="ko-KR" altLang="en-US" sz="1400" dirty="0"/>
              <a:t>값이 카테고리</a:t>
            </a:r>
            <a:r>
              <a:rPr lang="en-US" altLang="ko-KR" sz="1400" dirty="0"/>
              <a:t>/</a:t>
            </a:r>
            <a:r>
              <a:rPr lang="ko-KR" altLang="en-US" sz="1400" dirty="0"/>
              <a:t>데이터셋 별 일정한 분포 양상을 보임</a:t>
            </a:r>
            <a:endParaRPr lang="en-US" altLang="ko-KR" sz="1400" dirty="0"/>
          </a:p>
          <a:p>
            <a:r>
              <a:rPr lang="en-US" altLang="ko-KR" sz="1400" dirty="0">
                <a:sym typeface="Wingdings" panose="05000000000000000000" pitchFamily="2" charset="2"/>
              </a:rPr>
              <a:t>    </a:t>
            </a:r>
            <a:r>
              <a:rPr lang="en-US" altLang="ko-KR" sz="1400" b="1" dirty="0">
                <a:solidFill>
                  <a:srgbClr val="C00000"/>
                </a:solidFill>
              </a:rPr>
              <a:t>LLR score</a:t>
            </a:r>
            <a:r>
              <a:rPr lang="ko-KR" altLang="en-US" sz="1400" b="1" dirty="0">
                <a:solidFill>
                  <a:srgbClr val="C00000"/>
                </a:solidFill>
              </a:rPr>
              <a:t> 사용의 신뢰도를 보여줌</a:t>
            </a:r>
            <a:r>
              <a:rPr lang="en-US" altLang="ko-KR" sz="1400" b="1" dirty="0">
                <a:solidFill>
                  <a:srgbClr val="C00000"/>
                </a:solidFill>
              </a:rPr>
              <a:t>.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3088CB5-FB06-7CC9-33D5-231FD94AC530}"/>
              </a:ext>
            </a:extLst>
          </p:cNvPr>
          <p:cNvGrpSpPr/>
          <p:nvPr/>
        </p:nvGrpSpPr>
        <p:grpSpPr>
          <a:xfrm>
            <a:off x="6647527" y="3318608"/>
            <a:ext cx="4285321" cy="372251"/>
            <a:chOff x="6485602" y="2655489"/>
            <a:chExt cx="4285321" cy="372251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5E5B8E-4798-403D-1284-1F66CAFB1226}"/>
                </a:ext>
              </a:extLst>
            </p:cNvPr>
            <p:cNvSpPr txBox="1"/>
            <p:nvPr/>
          </p:nvSpPr>
          <p:spPr>
            <a:xfrm>
              <a:off x="6972301" y="2655489"/>
              <a:ext cx="37986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>
                  <a:solidFill>
                    <a:srgbClr val="FFA600"/>
                  </a:solidFill>
                </a:rPr>
                <a:t>pathogenic</a:t>
              </a:r>
              <a:r>
                <a:rPr lang="en-US" altLang="ko-KR" sz="1800" dirty="0"/>
                <a:t>          </a:t>
              </a:r>
              <a:r>
                <a:rPr lang="en-US" altLang="ko-KR" sz="1800" dirty="0">
                  <a:solidFill>
                    <a:srgbClr val="94B5F3"/>
                  </a:solidFill>
                </a:rPr>
                <a:t>benign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5A883B-4EF3-EB96-CAF0-C4CFAF62D7F3}"/>
                </a:ext>
              </a:extLst>
            </p:cNvPr>
            <p:cNvSpPr txBox="1"/>
            <p:nvPr/>
          </p:nvSpPr>
          <p:spPr>
            <a:xfrm>
              <a:off x="6485602" y="2719963"/>
              <a:ext cx="9733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dataset</a:t>
              </a:r>
              <a:r>
                <a:rPr lang="en-US" altLang="ko-KR" sz="1400" b="1" dirty="0"/>
                <a:t> </a:t>
              </a:r>
              <a:r>
                <a:rPr lang="en-US" altLang="ko-KR" sz="1400" dirty="0"/>
                <a:t>1</a:t>
              </a:r>
              <a:endParaRPr lang="ko-KR" altLang="en-US" sz="1400" b="1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F7434AB-C14F-EC89-A815-D5CFFDF048E7}"/>
              </a:ext>
            </a:extLst>
          </p:cNvPr>
          <p:cNvGrpSpPr/>
          <p:nvPr/>
        </p:nvGrpSpPr>
        <p:grpSpPr>
          <a:xfrm>
            <a:off x="6227503" y="4104998"/>
            <a:ext cx="4705345" cy="369332"/>
            <a:chOff x="6065578" y="3441879"/>
            <a:chExt cx="4705345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14C744-4BFD-0513-ECA5-AC3DF68E84AC}"/>
                </a:ext>
              </a:extLst>
            </p:cNvPr>
            <p:cNvSpPr txBox="1"/>
            <p:nvPr/>
          </p:nvSpPr>
          <p:spPr>
            <a:xfrm>
              <a:off x="6065578" y="3472656"/>
              <a:ext cx="97339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dataset 2</a:t>
              </a:r>
              <a:endParaRPr lang="ko-KR" altLang="en-US" sz="1400" b="1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882983C2-E619-AA7F-2A6B-AA1DFB09DD7B}"/>
                </a:ext>
              </a:extLst>
            </p:cNvPr>
            <p:cNvSpPr txBox="1"/>
            <p:nvPr/>
          </p:nvSpPr>
          <p:spPr>
            <a:xfrm>
              <a:off x="6972301" y="3441879"/>
              <a:ext cx="37986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dirty="0">
                  <a:solidFill>
                    <a:srgbClr val="EB595B"/>
                  </a:solidFill>
                </a:rPr>
                <a:t>disease-causing            </a:t>
              </a:r>
              <a:r>
                <a:rPr lang="en-US" altLang="ko-KR" sz="1800" dirty="0">
                  <a:solidFill>
                    <a:srgbClr val="2B2AB3"/>
                  </a:solidFill>
                </a:rPr>
                <a:t>wild-type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E91B4BC-4E38-1DF4-6B31-50D34B1ABBE2}"/>
              </a:ext>
            </a:extLst>
          </p:cNvPr>
          <p:cNvGrpSpPr/>
          <p:nvPr/>
        </p:nvGrpSpPr>
        <p:grpSpPr>
          <a:xfrm>
            <a:off x="8377890" y="1707876"/>
            <a:ext cx="1619252" cy="3355793"/>
            <a:chOff x="8244540" y="1492432"/>
            <a:chExt cx="1619252" cy="3355793"/>
          </a:xfrm>
        </p:grpSpPr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7E5DD592-793C-04DD-05B8-9C48318766B1}"/>
                </a:ext>
              </a:extLst>
            </p:cNvPr>
            <p:cNvCxnSpPr>
              <a:cxnSpLocks/>
              <a:stCxn id="31" idx="2"/>
            </p:cNvCxnSpPr>
            <p:nvPr/>
          </p:nvCxnSpPr>
          <p:spPr>
            <a:xfrm>
              <a:off x="9054166" y="2308040"/>
              <a:ext cx="0" cy="2540185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C9E38E6-15F2-6A64-798A-95C7024FFFC7}"/>
                </a:ext>
              </a:extLst>
            </p:cNvPr>
            <p:cNvSpPr txBox="1"/>
            <p:nvPr/>
          </p:nvSpPr>
          <p:spPr>
            <a:xfrm>
              <a:off x="8244540" y="1492432"/>
              <a:ext cx="1619252" cy="815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100" b="1" dirty="0"/>
                <a:t>( true-positive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81%, true-</a:t>
              </a:r>
              <a:r>
                <a:rPr lang="en-US" altLang="ko-KR" sz="1100" b="1" dirty="0" err="1"/>
                <a:t>netgative</a:t>
              </a:r>
              <a:r>
                <a:rPr lang="ko-KR" altLang="en-US" sz="1100" b="1" dirty="0"/>
                <a:t> </a:t>
              </a:r>
              <a:r>
                <a:rPr lang="en-US" altLang="ko-KR" sz="1100" b="1" dirty="0"/>
                <a:t>82% )</a:t>
              </a:r>
            </a:p>
            <a:p>
              <a:endParaRPr lang="en-US" altLang="ko-KR" sz="1100" b="1" dirty="0"/>
            </a:p>
            <a:p>
              <a:r>
                <a:rPr lang="en-US" altLang="ko-KR" sz="1400" b="1" dirty="0">
                  <a:solidFill>
                    <a:srgbClr val="C00000"/>
                  </a:solidFill>
                </a:rPr>
                <a:t>Threshold (-7.5)</a:t>
              </a:r>
              <a:endParaRPr lang="ko-KR" altLang="en-US" sz="1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3BA654EB-51E5-22FD-8E66-3425A7A80046}"/>
              </a:ext>
            </a:extLst>
          </p:cNvPr>
          <p:cNvSpPr/>
          <p:nvPr/>
        </p:nvSpPr>
        <p:spPr>
          <a:xfrm>
            <a:off x="6095258" y="1564420"/>
            <a:ext cx="5801466" cy="47601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23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8436804E-095E-EEB9-9A9B-E146A1B4B4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5" r="33522" b="81635"/>
          <a:stretch/>
        </p:blipFill>
        <p:spPr>
          <a:xfrm>
            <a:off x="1536927" y="3429000"/>
            <a:ext cx="4169715" cy="2747701"/>
          </a:xfrm>
          <a:prstGeom prst="rect">
            <a:avLst/>
          </a:prstGeom>
        </p:spPr>
      </p:pic>
      <p:sp>
        <p:nvSpPr>
          <p:cNvPr id="10" name="제목 1">
            <a:extLst>
              <a:ext uri="{FF2B5EF4-FFF2-40B4-BE49-F238E27FC236}">
                <a16:creationId xmlns:a16="http://schemas.microsoft.com/office/drawing/2014/main" id="{95F49EB9-D0B3-889A-E0EE-C9CCAB94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720908ED-66BF-E6A8-7DE8-4076A27A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5"/>
            <a:ext cx="11068050" cy="412606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2-1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lang="en-US" altLang="ko-KR" sz="1800" b="1" dirty="0"/>
              <a:t>benign/pathogenic classification </a:t>
            </a:r>
            <a:r>
              <a:rPr lang="ko-KR" altLang="en-US" sz="1800" b="1" dirty="0"/>
              <a:t>결과</a:t>
            </a:r>
            <a:r>
              <a:rPr lang="en-US" altLang="ko-KR" sz="1800" b="1" dirty="0"/>
              <a:t>- EVE</a:t>
            </a:r>
            <a:r>
              <a:rPr lang="en-US" altLang="ko-KR" sz="1800" dirty="0"/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전체 분류 정확도의 평가에서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ESM1b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개선한 모델에서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EVE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보다 높은 성능을 보임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특정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Gene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에 대한 분류 정확도 결과는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EVE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더 높지만 전체 정확도의 경우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ESM1b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더 높음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-&gt; EVE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는 단백질의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MSA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학습한 여러 모델로 구성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특정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Gene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들에 대한 분류 정확 더 높음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하지만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ESM1b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는 하나의 모델로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genome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수준에서 유전자에 대해 일관적이고 비교 가능한 분류 정확도를 가짐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3B2F34F-B7A1-3B85-9B7F-DC4F5652AB2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" t="33748" r="63037" b="32638"/>
          <a:stretch/>
        </p:blipFill>
        <p:spPr>
          <a:xfrm>
            <a:off x="6926580" y="3020761"/>
            <a:ext cx="2715792" cy="356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84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95F49EB9-D0B3-889A-E0EE-C9CCAB94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720908ED-66BF-E6A8-7DE8-4076A27A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7456"/>
            <a:ext cx="11068050" cy="54927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2-1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lang="en-US" altLang="ko-KR" sz="1800" b="1" dirty="0"/>
              <a:t>benign/pathogenic classification </a:t>
            </a:r>
            <a:r>
              <a:rPr lang="ko-KR" altLang="en-US" sz="1800" b="1" dirty="0"/>
              <a:t>결과 </a:t>
            </a:r>
            <a:r>
              <a:rPr lang="en-US" altLang="ko-KR" sz="1800" b="1" dirty="0"/>
              <a:t>- benchmark</a:t>
            </a:r>
            <a:r>
              <a:rPr lang="en-US" altLang="ko-KR" sz="1800" dirty="0"/>
              <a:t> 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BD917CF-EAAB-1FE6-4AC8-116571D1826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9" b="858"/>
          <a:stretch/>
        </p:blipFill>
        <p:spPr>
          <a:xfrm>
            <a:off x="371475" y="1766732"/>
            <a:ext cx="7859561" cy="49144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FF0C61-73A5-15E6-2F2C-52BB132B4DD1}"/>
              </a:ext>
            </a:extLst>
          </p:cNvPr>
          <p:cNvSpPr txBox="1"/>
          <p:nvPr/>
        </p:nvSpPr>
        <p:spPr>
          <a:xfrm>
            <a:off x="8582023" y="4610365"/>
            <a:ext cx="332422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 err="1"/>
              <a:t>e,f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전체 분류 정확도</a:t>
            </a:r>
            <a:r>
              <a:rPr lang="en-US" altLang="ko-KR" sz="1400" b="1" dirty="0"/>
              <a:t> </a:t>
            </a:r>
          </a:p>
          <a:p>
            <a:r>
              <a:rPr lang="en-US" altLang="ko-KR" sz="1400" dirty="0"/>
              <a:t>: ESM1b </a:t>
            </a:r>
            <a:r>
              <a:rPr lang="ko-KR" altLang="en-US" sz="1400" dirty="0"/>
              <a:t>가 방법 중 </a:t>
            </a:r>
            <a:r>
              <a:rPr lang="ko-KR" altLang="en-US" sz="1400" b="1" dirty="0"/>
              <a:t>가장 높은 분류 성능</a:t>
            </a:r>
            <a:r>
              <a:rPr lang="ko-KR" altLang="en-US" sz="1400" dirty="0"/>
              <a:t>을 보임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b="1" dirty="0" err="1"/>
              <a:t>g,h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모델 직접 비교 </a:t>
            </a:r>
            <a:endParaRPr lang="en-US" altLang="ko-KR" sz="1400" b="1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모든 </a:t>
            </a:r>
            <a:r>
              <a:rPr lang="en-US" altLang="ko-KR" sz="1400" dirty="0"/>
              <a:t>gene </a:t>
            </a:r>
            <a:r>
              <a:rPr lang="ko-KR" altLang="en-US" sz="1400" dirty="0"/>
              <a:t>이 아닌</a:t>
            </a:r>
            <a:r>
              <a:rPr lang="en-US" altLang="ko-KR" sz="1400" dirty="0"/>
              <a:t>,</a:t>
            </a:r>
            <a:r>
              <a:rPr lang="ko-KR" altLang="en-US" sz="1400" dirty="0"/>
              <a:t> 해당 모델이 평가된 변이 데이터셋 이용</a:t>
            </a:r>
            <a:r>
              <a:rPr lang="en-US" altLang="ko-KR" sz="1400" dirty="0"/>
              <a:t>. </a:t>
            </a:r>
            <a:r>
              <a:rPr lang="en-US" altLang="ko-KR" sz="1400" b="1" dirty="0"/>
              <a:t>ESM1b</a:t>
            </a:r>
            <a:r>
              <a:rPr lang="ko-KR" altLang="en-US" sz="1400" b="1" dirty="0"/>
              <a:t>와 해당 모델 간 정확도 차이</a:t>
            </a:r>
            <a:r>
              <a:rPr lang="ko-KR" altLang="en-US" sz="1400" dirty="0"/>
              <a:t>를 보임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29FCD7-F60E-83C0-5C9F-987C9B5D2487}"/>
              </a:ext>
            </a:extLst>
          </p:cNvPr>
          <p:cNvSpPr txBox="1"/>
          <p:nvPr/>
        </p:nvSpPr>
        <p:spPr>
          <a:xfrm>
            <a:off x="8582024" y="1339694"/>
            <a:ext cx="3324225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/>
              <a:t>19</a:t>
            </a:r>
            <a:r>
              <a:rPr lang="ko-KR" altLang="en-US" sz="1600" b="1" dirty="0"/>
              <a:t>가지 </a:t>
            </a:r>
            <a:r>
              <a:rPr lang="en-US" altLang="ko-KR" sz="1600" b="1" dirty="0"/>
              <a:t>VEP </a:t>
            </a:r>
            <a:r>
              <a:rPr lang="ko-KR" altLang="en-US" sz="1600" b="1" dirty="0"/>
              <a:t>모델</a:t>
            </a:r>
            <a:r>
              <a:rPr lang="en-US" altLang="ko-KR" sz="1600" b="1" dirty="0"/>
              <a:t> benchmark</a:t>
            </a:r>
          </a:p>
          <a:p>
            <a:endParaRPr lang="en-US" altLang="ko-KR" sz="1200" b="1" dirty="0"/>
          </a:p>
          <a:p>
            <a:r>
              <a:rPr lang="en-US" altLang="ko-KR" sz="1400" dirty="0" err="1">
                <a:hlinkClick r:id="rId4"/>
              </a:rPr>
              <a:t>dbNSFP</a:t>
            </a:r>
            <a:r>
              <a:rPr lang="en-US" altLang="ko-KR" sz="1400" dirty="0"/>
              <a:t> </a:t>
            </a:r>
            <a:r>
              <a:rPr lang="en-US" altLang="ko-KR" sz="1200" dirty="0"/>
              <a:t>(Database for Nonsynonymous SNPs’ Functional Predictions) </a:t>
            </a:r>
            <a:r>
              <a:rPr lang="ko-KR" altLang="en-US" sz="1200" dirty="0"/>
              <a:t>프레임워크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모든 예측 모델과</a:t>
            </a:r>
            <a:r>
              <a:rPr lang="en-US" altLang="ko-KR" sz="1400" dirty="0"/>
              <a:t> conservation score </a:t>
            </a:r>
            <a:r>
              <a:rPr lang="ko-KR" altLang="en-US" sz="1400" dirty="0"/>
              <a:t>모델</a:t>
            </a:r>
            <a:r>
              <a:rPr lang="en-US" altLang="ko-KR" sz="1400" dirty="0"/>
              <a:t>(</a:t>
            </a:r>
            <a:r>
              <a:rPr lang="ko-KR" altLang="en-US" sz="1400" dirty="0"/>
              <a:t>변이의 진화적 보존 </a:t>
            </a:r>
            <a:r>
              <a:rPr lang="ko-KR" altLang="en-US" sz="1400" dirty="0" err="1"/>
              <a:t>정도값</a:t>
            </a:r>
            <a:r>
              <a:rPr lang="en-US" altLang="ko-KR" sz="1400" dirty="0"/>
              <a:t>)</a:t>
            </a:r>
            <a:r>
              <a:rPr lang="ko-KR" altLang="en-US" sz="1400" dirty="0"/>
              <a:t> 중 임상적 결론 도출을 위해 다음의 기준을 만족하는 </a:t>
            </a:r>
            <a:r>
              <a:rPr lang="en-US" altLang="ko-KR" sz="1400" dirty="0"/>
              <a:t>19</a:t>
            </a:r>
            <a:r>
              <a:rPr lang="ko-KR" altLang="en-US" sz="1400" dirty="0"/>
              <a:t>개 모델 </a:t>
            </a:r>
            <a:r>
              <a:rPr lang="en-US" altLang="ko-KR" sz="1400" dirty="0"/>
              <a:t>benchmark</a:t>
            </a:r>
          </a:p>
          <a:p>
            <a:r>
              <a:rPr lang="en-US" altLang="ko-KR" sz="1400" dirty="0"/>
              <a:t>-</a:t>
            </a:r>
            <a:r>
              <a:rPr lang="en-US" altLang="ko-KR" sz="1200" dirty="0"/>
              <a:t>  </a:t>
            </a:r>
            <a:r>
              <a:rPr lang="en-US" altLang="ko-KR" sz="1200" b="1" dirty="0"/>
              <a:t>(1) </a:t>
            </a:r>
            <a:r>
              <a:rPr lang="ko-KR" altLang="en-US" sz="1200" b="1" dirty="0"/>
              <a:t>임상 </a:t>
            </a:r>
            <a:r>
              <a:rPr lang="en-US" altLang="ko-KR" sz="1200" b="1" dirty="0"/>
              <a:t>database (</a:t>
            </a:r>
            <a:r>
              <a:rPr lang="en-US" altLang="ko-KR" sz="1200" b="1" dirty="0" err="1"/>
              <a:t>ClinVar</a:t>
            </a:r>
            <a:r>
              <a:rPr lang="en-US" altLang="ko-KR" sz="1200" b="1" dirty="0"/>
              <a:t>, HGMD)</a:t>
            </a:r>
            <a:r>
              <a:rPr lang="ko-KR" altLang="en-US" sz="1200" b="1" dirty="0"/>
              <a:t> </a:t>
            </a:r>
            <a:r>
              <a:rPr lang="ko-KR" altLang="en-US" sz="1200" dirty="0"/>
              <a:t>의 데이터 또는 </a:t>
            </a:r>
            <a:r>
              <a:rPr lang="en-US" altLang="ko-KR" sz="1200" dirty="0"/>
              <a:t>feature</a:t>
            </a:r>
            <a:r>
              <a:rPr lang="ko-KR" altLang="en-US" sz="1200" dirty="0"/>
              <a:t> 으로 학습하지 않은 모델</a:t>
            </a:r>
            <a:endParaRPr lang="en-US" altLang="ko-KR" sz="1200" dirty="0"/>
          </a:p>
          <a:p>
            <a:r>
              <a:rPr lang="en-US" altLang="ko-KR" sz="1200" dirty="0"/>
              <a:t>   </a:t>
            </a:r>
            <a:r>
              <a:rPr lang="en-US" altLang="ko-KR" sz="1200" b="1" dirty="0"/>
              <a:t>(2) allele frequency</a:t>
            </a:r>
            <a:r>
              <a:rPr lang="en-US" altLang="ko-KR" sz="1200" dirty="0"/>
              <a:t> </a:t>
            </a:r>
            <a:r>
              <a:rPr lang="ko-KR" altLang="en-US" sz="1200" dirty="0"/>
              <a:t>를 </a:t>
            </a:r>
            <a:r>
              <a:rPr lang="en-US" altLang="ko-KR" sz="1200" dirty="0"/>
              <a:t>feature</a:t>
            </a:r>
            <a:r>
              <a:rPr lang="ko-KR" altLang="en-US" sz="1200" dirty="0"/>
              <a:t> 로 사용하지 않은 모델 </a:t>
            </a:r>
            <a:r>
              <a:rPr lang="en-US" altLang="ko-KR" sz="1200" dirty="0"/>
              <a:t>(</a:t>
            </a:r>
            <a:r>
              <a:rPr lang="ko-KR" altLang="en-US" sz="1200" dirty="0"/>
              <a:t>분류 </a:t>
            </a:r>
            <a:r>
              <a:rPr lang="en-US" altLang="ko-KR" sz="1200" dirty="0"/>
              <a:t>benign </a:t>
            </a:r>
            <a:r>
              <a:rPr lang="ko-KR" altLang="en-US" sz="1200" dirty="0"/>
              <a:t>판단에 사용되기 때문에</a:t>
            </a:r>
            <a:r>
              <a:rPr lang="en-US" altLang="ko-KR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5636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95F49EB9-D0B3-889A-E0EE-C9CCAB948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720908ED-66BF-E6A8-7DE8-4076A27AB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7455"/>
            <a:ext cx="10220325" cy="408796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altLang="ko-KR" sz="1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2-2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lang="en-US" altLang="ko-KR" sz="1800" b="1" dirty="0"/>
              <a:t>benign/pathogenic classification </a:t>
            </a:r>
            <a:r>
              <a:rPr lang="ko-KR" altLang="en-US" sz="1800" b="1" dirty="0"/>
              <a:t>결과</a:t>
            </a:r>
            <a:r>
              <a:rPr lang="en-US" altLang="ko-KR" sz="18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800" b="1" dirty="0"/>
              <a:t>– VUS </a:t>
            </a:r>
            <a:r>
              <a:rPr lang="ko-KR" altLang="en-US" sz="1800" b="1" dirty="0"/>
              <a:t>분류</a:t>
            </a:r>
            <a:endParaRPr lang="en-US" altLang="ko-KR" sz="18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Variants of uncertain significance (VUS)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의 분류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유전자 변이가 질병과 관련이 있는지 혹은 질병과 무관한지 명확히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판단하기 어려운 유전자 변이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분류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-&gt; VUS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ESM1b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구하고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가우시안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분해를 통해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threshold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조정하여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benign/pathogenic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분류 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threshold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적용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benign/pathogenic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을 각각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58%, 47%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해당되게 분류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436804E-095E-EEB9-9A9B-E146A1B4B4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55" t="20022" b="53750"/>
          <a:stretch/>
        </p:blipFill>
        <p:spPr>
          <a:xfrm>
            <a:off x="5414469" y="3235565"/>
            <a:ext cx="5386881" cy="253483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482AC95-06B0-B516-0C06-7160D10241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86" t="306" r="226" b="80313"/>
          <a:stretch/>
        </p:blipFill>
        <p:spPr>
          <a:xfrm>
            <a:off x="1390650" y="3314501"/>
            <a:ext cx="2908863" cy="2209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E23D58B-96B7-90F2-880E-0152ECF0516A}"/>
              </a:ext>
            </a:extLst>
          </p:cNvPr>
          <p:cNvSpPr txBox="1"/>
          <p:nvPr/>
        </p:nvSpPr>
        <p:spPr>
          <a:xfrm>
            <a:off x="904874" y="5802470"/>
            <a:ext cx="4219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dirty="0"/>
              <a:t>C</a:t>
            </a:r>
            <a:r>
              <a:rPr lang="en-US" altLang="ko-KR" sz="1000" dirty="0"/>
              <a:t>. The distribution of ESM1b effect scores across </a:t>
            </a:r>
            <a:r>
              <a:rPr lang="en-US" altLang="ko-KR" sz="1000" dirty="0" err="1"/>
              <a:t>ClinVar</a:t>
            </a:r>
            <a:r>
              <a:rPr lang="en-US" altLang="ko-KR" sz="1000" dirty="0"/>
              <a:t> missense VUS, decomposed as a mixture of two Gaussian distributions.</a:t>
            </a:r>
            <a:endParaRPr lang="ko-KR" altLang="en-US" sz="1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C73A535-B7E9-D51A-6084-CDAD33AF323B}"/>
              </a:ext>
            </a:extLst>
          </p:cNvPr>
          <p:cNvSpPr/>
          <p:nvPr/>
        </p:nvSpPr>
        <p:spPr>
          <a:xfrm>
            <a:off x="9610725" y="3048000"/>
            <a:ext cx="1314450" cy="275447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C00000"/>
                </a:solidFill>
              </a:ln>
              <a:noFill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8B05ED-4576-6CCC-0481-64A7EFED8C15}"/>
              </a:ext>
            </a:extLst>
          </p:cNvPr>
          <p:cNvSpPr/>
          <p:nvPr/>
        </p:nvSpPr>
        <p:spPr>
          <a:xfrm>
            <a:off x="838199" y="3152775"/>
            <a:ext cx="4219576" cy="3162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17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5499D22-04B9-7EA7-0BD8-4FD7C67F84E0}"/>
              </a:ext>
            </a:extLst>
          </p:cNvPr>
          <p:cNvSpPr txBox="1"/>
          <p:nvPr/>
        </p:nvSpPr>
        <p:spPr>
          <a:xfrm>
            <a:off x="8515350" y="2000365"/>
            <a:ext cx="35002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a</a:t>
            </a:r>
            <a:r>
              <a:rPr lang="en-US" altLang="ko-KR" sz="14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) </a:t>
            </a:r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ESM1b score(</a:t>
            </a:r>
            <a:r>
              <a:rPr lang="en-US" altLang="ko-KR" sz="1400" b="1" dirty="0"/>
              <a:t>LLR)</a:t>
            </a:r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 Vs </a:t>
            </a:r>
            <a:r>
              <a:rPr lang="ko-KR" altLang="en-US" sz="14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측정값</a:t>
            </a:r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 </a:t>
            </a:r>
            <a:r>
              <a:rPr lang="ko-KR" altLang="en-US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비교</a:t>
            </a:r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 </a:t>
            </a:r>
          </a:p>
          <a:p>
            <a:endParaRPr lang="en-US" altLang="ko-KR" sz="14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arding"/>
            </a:endParaRPr>
          </a:p>
          <a:p>
            <a:r>
              <a:rPr lang="ko-KR" altLang="en-US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실험적으로 얻은 측정 값과 각 </a:t>
            </a:r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방법의 </a:t>
            </a:r>
            <a:r>
              <a:rPr lang="en-US" altLang="ko-KR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score </a:t>
            </a:r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의 </a:t>
            </a:r>
            <a:r>
              <a:rPr lang="en-US" altLang="ko-KR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Spearman </a:t>
            </a:r>
            <a:r>
              <a:rPr lang="ko-KR" altLang="en-US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상관계수</a:t>
            </a:r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를 이용하여 비교</a:t>
            </a:r>
            <a:endParaRPr lang="en-US" altLang="ko-KR" sz="1400" dirty="0">
              <a:solidFill>
                <a:srgbClr val="222222"/>
              </a:solidFill>
              <a:highlight>
                <a:srgbClr val="FFFFFF"/>
              </a:highlight>
              <a:latin typeface="Harding"/>
            </a:endParaRPr>
          </a:p>
          <a:p>
            <a:endParaRPr lang="en-US" altLang="ko-KR" sz="14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arding"/>
            </a:endParaRPr>
          </a:p>
          <a:p>
            <a:r>
              <a:rPr lang="ko-KR" altLang="en-US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 </a:t>
            </a:r>
            <a:r>
              <a:rPr lang="en-US" altLang="ko-KR" sz="1400" b="1" dirty="0">
                <a:solidFill>
                  <a:srgbClr val="C00000"/>
                </a:solidFill>
                <a:highlight>
                  <a:srgbClr val="FFFFFF"/>
                </a:highlight>
                <a:latin typeface="Harding"/>
              </a:rPr>
              <a:t>-&gt;  DMS </a:t>
            </a:r>
            <a:r>
              <a:rPr lang="ko-KR" altLang="en-US" sz="1400" b="1" dirty="0">
                <a:solidFill>
                  <a:srgbClr val="C00000"/>
                </a:solidFill>
                <a:highlight>
                  <a:srgbClr val="FFFFFF"/>
                </a:highlight>
                <a:latin typeface="Harding"/>
              </a:rPr>
              <a:t>실험적 측정값과 가장 가까운 예측 가능 </a:t>
            </a:r>
            <a:endParaRPr lang="en-US" altLang="ko-KR" sz="1400" b="1" dirty="0">
              <a:solidFill>
                <a:srgbClr val="C00000"/>
              </a:solidFill>
              <a:highlight>
                <a:srgbClr val="FFFFFF"/>
              </a:highlight>
              <a:latin typeface="Harding"/>
            </a:endParaRPr>
          </a:p>
          <a:p>
            <a:endParaRPr lang="en-US" altLang="ko-KR" sz="14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arding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CFD3F4-20E3-6A2C-E9FD-EC246FFBC3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1" b="63194"/>
          <a:stretch/>
        </p:blipFill>
        <p:spPr>
          <a:xfrm>
            <a:off x="838200" y="1674672"/>
            <a:ext cx="7567766" cy="30301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CEE20C-2A2C-B918-07DE-72556908F063}"/>
              </a:ext>
            </a:extLst>
          </p:cNvPr>
          <p:cNvSpPr txBox="1"/>
          <p:nvPr/>
        </p:nvSpPr>
        <p:spPr>
          <a:xfrm>
            <a:off x="8515350" y="4857635"/>
            <a:ext cx="350028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b) ESM1b score Vs EVE score </a:t>
            </a:r>
            <a:r>
              <a:rPr lang="ko-KR" altLang="en-US" sz="14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직접 비교</a:t>
            </a:r>
          </a:p>
          <a:p>
            <a:endParaRPr lang="en-US" altLang="ko-KR" sz="1400" i="0" dirty="0">
              <a:solidFill>
                <a:srgbClr val="222222"/>
              </a:solidFill>
              <a:effectLst/>
              <a:highlight>
                <a:srgbClr val="FFFFFF"/>
              </a:highlight>
              <a:latin typeface="Harding"/>
            </a:endParaRPr>
          </a:p>
          <a:p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특정 </a:t>
            </a:r>
            <a:r>
              <a:rPr lang="en-US" altLang="ko-KR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15 </a:t>
            </a:r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유전자에서 </a:t>
            </a:r>
            <a:r>
              <a:rPr lang="en-US" altLang="ko-KR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EVE </a:t>
            </a:r>
            <a:r>
              <a:rPr lang="en-US" altLang="ko-KR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score </a:t>
            </a:r>
            <a:r>
              <a:rPr lang="ko-KR" altLang="en-US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값과 똑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같은 변이</a:t>
            </a:r>
            <a:r>
              <a:rPr lang="en-US" altLang="ko-KR" sz="1400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Harding"/>
              </a:rPr>
              <a:t>(64,580 </a:t>
            </a:r>
            <a:r>
              <a:rPr lang="ko-KR" altLang="en-US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개</a:t>
            </a:r>
            <a:r>
              <a:rPr lang="en-US" altLang="ko-KR" sz="1400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와 전체 서열에 대한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ESM1b 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비교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ESM1b</a:t>
            </a:r>
            <a:r>
              <a:rPr lang="ko-KR" altLang="en-US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는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 genome </a:t>
            </a:r>
            <a:r>
              <a:rPr lang="ko-KR" altLang="en-US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수준에서 일관적인 예측 가능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(EVE</a:t>
            </a:r>
            <a:r>
              <a:rPr lang="ko-KR" altLang="en-US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는 특정 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gene </a:t>
            </a:r>
            <a:r>
              <a:rPr lang="ko-KR" altLang="en-US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에서 높은 상관율을 보임</a:t>
            </a:r>
            <a:r>
              <a:rPr lang="en-US" altLang="ko-KR" sz="1400" dirty="0">
                <a:solidFill>
                  <a:srgbClr val="C00000"/>
                </a:solidFill>
                <a:latin typeface="맑은 고딕" panose="020F0502020204030204"/>
                <a:ea typeface="맑은 고딕" panose="020B0503020000020004" pitchFamily="50" charset="-127"/>
              </a:rPr>
              <a:t>)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2B5589-CA32-3149-277F-0AAD9759E6E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250" r="43213" b="34281"/>
          <a:stretch/>
        </p:blipFill>
        <p:spPr>
          <a:xfrm>
            <a:off x="838200" y="4242266"/>
            <a:ext cx="4848225" cy="261573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8A23836E-76B7-3FFC-0D95-DB60392D054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D2556F-5017-8CCA-E251-86C39051E737}"/>
              </a:ext>
            </a:extLst>
          </p:cNvPr>
          <p:cNvSpPr txBox="1"/>
          <p:nvPr/>
        </p:nvSpPr>
        <p:spPr>
          <a:xfrm>
            <a:off x="838200" y="12727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en-US" altLang="ko-K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3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] </a:t>
            </a:r>
            <a:r>
              <a:rPr lang="en-US" altLang="ko-KR" sz="1800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DMS </a:t>
            </a:r>
            <a:r>
              <a:rPr lang="ko-KR" altLang="en-US" b="1" dirty="0">
                <a:solidFill>
                  <a:srgbClr val="222222"/>
                </a:solidFill>
                <a:highlight>
                  <a:srgbClr val="FFFFFF"/>
                </a:highlight>
                <a:latin typeface="Harding"/>
              </a:rPr>
              <a:t>실험적 측정값 예측</a:t>
            </a:r>
            <a:endParaRPr lang="en-US" altLang="ko-KR" sz="1800" b="1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540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057133A1-3724-722B-032D-3E0105F1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54434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4] </a:t>
            </a:r>
            <a:r>
              <a:rPr lang="ko-KR" altLang="en-US" sz="1800" b="1" dirty="0"/>
              <a:t>변이 종류 별 </a:t>
            </a:r>
            <a:r>
              <a:rPr lang="en-US" altLang="ko-KR" sz="1800" b="1" dirty="0"/>
              <a:t>score </a:t>
            </a:r>
            <a:r>
              <a:rPr lang="ko-KR" altLang="en-US" sz="1800" b="1" dirty="0"/>
              <a:t>계산 </a:t>
            </a:r>
            <a:r>
              <a:rPr lang="en-US" altLang="ko-KR" sz="1800" b="1" dirty="0"/>
              <a:t>(in-frame indel)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ko-KR" altLang="en-US" sz="1800" b="1" dirty="0"/>
              <a:t>원하는 유전자 변이의 </a:t>
            </a:r>
            <a:r>
              <a:rPr lang="en-US" altLang="ko-KR" sz="1800" b="1" dirty="0"/>
              <a:t>ESMb1 score </a:t>
            </a:r>
            <a:r>
              <a:rPr lang="ko-KR" altLang="en-US" sz="1800" b="1" dirty="0"/>
              <a:t>계산 가능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b="1" dirty="0"/>
              <a:t>a) indel </a:t>
            </a:r>
            <a:r>
              <a:rPr lang="ko-KR" altLang="en-US" sz="1400" b="1" dirty="0"/>
              <a:t>변이에서</a:t>
            </a:r>
            <a:r>
              <a:rPr lang="en-US" altLang="ko-KR" sz="1400" b="1" dirty="0"/>
              <a:t> pseudo-log-likelihood ratio (PLLR) score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: </a:t>
            </a:r>
            <a:r>
              <a:rPr lang="ko-KR" altLang="en-US" sz="1400" dirty="0"/>
              <a:t>각 자리에서의 변이의 </a:t>
            </a:r>
            <a:r>
              <a:rPr lang="en-US" altLang="ko-KR" sz="1400" dirty="0"/>
              <a:t>likelihood </a:t>
            </a:r>
            <a:r>
              <a:rPr lang="ko-KR" altLang="en-US" sz="1400" dirty="0"/>
              <a:t>를 계산할 수 있다면</a:t>
            </a:r>
            <a:r>
              <a:rPr lang="en-US" altLang="ko-KR" sz="1400" dirty="0"/>
              <a:t>, </a:t>
            </a:r>
          </a:p>
          <a:p>
            <a:pPr marL="0" indent="0">
              <a:buNone/>
            </a:pPr>
            <a:r>
              <a:rPr lang="ko-KR" altLang="en-US" sz="1400" dirty="0"/>
              <a:t>각 자리에 나타남</a:t>
            </a:r>
            <a:r>
              <a:rPr lang="en-US" altLang="ko-KR" sz="1400" dirty="0"/>
              <a:t>/</a:t>
            </a:r>
            <a:r>
              <a:rPr lang="ko-KR" altLang="en-US" sz="1400" dirty="0"/>
              <a:t>사라진 것에 대한 </a:t>
            </a:r>
            <a:r>
              <a:rPr lang="en-US" altLang="ko-KR" sz="1400" dirty="0"/>
              <a:t>PLLR</a:t>
            </a:r>
            <a:r>
              <a:rPr lang="ko-KR" altLang="en-US" sz="1400" dirty="0"/>
              <a:t> 계산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</a:t>
            </a:r>
            <a:r>
              <a:rPr lang="ko-KR" altLang="en-US" sz="1400" dirty="0">
                <a:solidFill>
                  <a:srgbClr val="586E58"/>
                </a:solidFill>
              </a:rPr>
              <a:t>정상 아미노산 </a:t>
            </a:r>
            <a:r>
              <a:rPr lang="en-US" altLang="ko-KR" sz="1400" dirty="0">
                <a:solidFill>
                  <a:srgbClr val="586E58"/>
                </a:solidFill>
              </a:rPr>
              <a:t>(wild type) </a:t>
            </a:r>
            <a:r>
              <a:rPr lang="ko-KR" altLang="en-US" sz="1400" dirty="0">
                <a:solidFill>
                  <a:srgbClr val="586E58"/>
                </a:solidFill>
              </a:rPr>
              <a:t>에 대한 </a:t>
            </a:r>
            <a:r>
              <a:rPr lang="en-US" altLang="ko-KR" sz="1400" dirty="0">
                <a:solidFill>
                  <a:srgbClr val="586E58"/>
                </a:solidFill>
              </a:rPr>
              <a:t>likelihood </a:t>
            </a:r>
            <a:r>
              <a:rPr lang="ko-KR" altLang="en-US" sz="1400" dirty="0">
                <a:solidFill>
                  <a:srgbClr val="586E58"/>
                </a:solidFill>
              </a:rPr>
              <a:t>의 합 </a:t>
            </a:r>
            <a:endParaRPr lang="en-US" altLang="ko-KR" sz="1400" dirty="0">
              <a:solidFill>
                <a:srgbClr val="586E58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rgbClr val="586E58"/>
                </a:solidFill>
              </a:rPr>
              <a:t>      </a:t>
            </a:r>
            <a:r>
              <a:rPr lang="en-US" altLang="ko-KR" sz="1400" dirty="0"/>
              <a:t>-</a:t>
            </a:r>
            <a:r>
              <a:rPr lang="en-US" altLang="ko-KR" sz="1400" dirty="0">
                <a:solidFill>
                  <a:srgbClr val="586E58"/>
                </a:solidFill>
              </a:rPr>
              <a:t> </a:t>
            </a:r>
            <a:r>
              <a:rPr lang="ko-KR" altLang="en-US" sz="1400" dirty="0">
                <a:solidFill>
                  <a:srgbClr val="D09156"/>
                </a:solidFill>
              </a:rPr>
              <a:t>해당 자리에서 생성할 변이의 </a:t>
            </a:r>
            <a:r>
              <a:rPr lang="en-US" altLang="ko-KR" sz="1400" dirty="0">
                <a:solidFill>
                  <a:srgbClr val="D09156"/>
                </a:solidFill>
              </a:rPr>
              <a:t>likelihood </a:t>
            </a:r>
            <a:r>
              <a:rPr lang="ko-KR" altLang="en-US" sz="1400" dirty="0">
                <a:solidFill>
                  <a:srgbClr val="D09156"/>
                </a:solidFill>
              </a:rPr>
              <a:t>합과</a:t>
            </a:r>
            <a:r>
              <a:rPr lang="ko-KR" altLang="en-US" sz="1400" dirty="0"/>
              <a:t>의 차이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를</a:t>
            </a:r>
            <a:r>
              <a:rPr lang="ko-KR" altLang="en-US" sz="1400" dirty="0"/>
              <a:t> 계산하여 생성된 </a:t>
            </a:r>
            <a:r>
              <a:rPr lang="en-US" altLang="ko-KR" sz="1400" dirty="0"/>
              <a:t>pseudo-</a:t>
            </a:r>
            <a:r>
              <a:rPr lang="ko-KR" altLang="en-US" sz="1400" dirty="0"/>
              <a:t>변이의 </a:t>
            </a:r>
            <a:r>
              <a:rPr lang="en-US" altLang="ko-KR" sz="1400" dirty="0"/>
              <a:t>likelihood </a:t>
            </a:r>
            <a:r>
              <a:rPr lang="ko-KR" altLang="en-US" sz="1400" dirty="0"/>
              <a:t>를 나타낼 수 있음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>
              <a:solidFill>
                <a:srgbClr val="D09156"/>
              </a:solidFill>
            </a:endParaRPr>
          </a:p>
          <a:p>
            <a:pPr marL="0" indent="0">
              <a:buNone/>
            </a:pPr>
            <a:r>
              <a:rPr lang="en-US" altLang="ko-KR" sz="1400" b="1" dirty="0"/>
              <a:t>b) indel </a:t>
            </a:r>
            <a:r>
              <a:rPr lang="ko-KR" altLang="en-US" sz="1400" b="1" dirty="0"/>
              <a:t>변이에 대한 데이터셋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 err="1"/>
              <a:t>ClinVar</a:t>
            </a:r>
            <a:r>
              <a:rPr lang="en-US" altLang="ko-KR" sz="1400" dirty="0"/>
              <a:t> :</a:t>
            </a:r>
            <a:r>
              <a:rPr lang="ko-KR" altLang="en-US" sz="1400" dirty="0"/>
              <a:t> </a:t>
            </a:r>
            <a:r>
              <a:rPr lang="en-US" altLang="ko-KR" sz="1400" dirty="0"/>
              <a:t>benign/pathogenic indel</a:t>
            </a:r>
            <a:r>
              <a:rPr lang="ko-KR" altLang="en-US" sz="1400" dirty="0"/>
              <a:t> 변이 </a:t>
            </a:r>
            <a:r>
              <a:rPr lang="en-US" altLang="ko-KR" sz="1400" dirty="0"/>
              <a:t>1700</a:t>
            </a:r>
            <a:r>
              <a:rPr lang="ko-KR" altLang="en-US" sz="1400" dirty="0"/>
              <a:t>개</a:t>
            </a:r>
            <a:r>
              <a:rPr lang="en-US" altLang="ko-KR" sz="1400" dirty="0"/>
              <a:t>/1800</a:t>
            </a:r>
            <a:r>
              <a:rPr lang="ko-KR" altLang="en-US" sz="1400" dirty="0"/>
              <a:t>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해당 데이터셋에 대해서 </a:t>
            </a:r>
            <a:r>
              <a:rPr lang="en-US" altLang="ko-KR" sz="1400" dirty="0"/>
              <a:t>benign indel </a:t>
            </a:r>
            <a:r>
              <a:rPr lang="ko-KR" altLang="en-US" sz="1400" dirty="0"/>
              <a:t>변이의 </a:t>
            </a:r>
            <a:r>
              <a:rPr lang="en-US" altLang="ko-KR" sz="1400" dirty="0"/>
              <a:t>PLLR score</a:t>
            </a:r>
            <a:r>
              <a:rPr lang="ko-KR" altLang="en-US" sz="1400" dirty="0"/>
              <a:t>와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pathogenic indel </a:t>
            </a:r>
            <a:r>
              <a:rPr lang="ko-KR" altLang="en-US" sz="1400" dirty="0"/>
              <a:t>변이의 </a:t>
            </a:r>
            <a:r>
              <a:rPr lang="en-US" altLang="ko-KR" sz="1400" dirty="0"/>
              <a:t>PLLR score </a:t>
            </a:r>
            <a:r>
              <a:rPr lang="ko-KR" altLang="en-US" sz="1400" dirty="0"/>
              <a:t>가 변이에서 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분명하지 않지만 충분히 유의미한 차이를 보임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 threshold </a:t>
            </a:r>
            <a:r>
              <a:rPr lang="ko-KR" altLang="en-US" sz="1400" dirty="0">
                <a:sym typeface="Wingdings" panose="05000000000000000000" pitchFamily="2" charset="2"/>
              </a:rPr>
              <a:t>결정 가능</a:t>
            </a:r>
            <a:endParaRPr lang="en-US" altLang="ko-KR" sz="14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BF79BEF-B523-BBE2-90F9-DB2CAB0544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CD99F28-3929-79F2-9CD1-3ECC3001FD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40" r="64517"/>
          <a:stretch/>
        </p:blipFill>
        <p:spPr>
          <a:xfrm>
            <a:off x="8029576" y="3967962"/>
            <a:ext cx="2882062" cy="279945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E76D6E2-FE50-E11F-3BA4-DEEAF05A4F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1" t="3750" r="64518" b="60257"/>
          <a:stretch/>
        </p:blipFill>
        <p:spPr>
          <a:xfrm>
            <a:off x="7381875" y="583476"/>
            <a:ext cx="4603295" cy="31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163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057133A1-3724-722B-032D-3E0105F1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4] </a:t>
            </a:r>
            <a:r>
              <a:rPr lang="ko-KR" altLang="en-US" sz="1800" b="1" dirty="0"/>
              <a:t>변이 종류 별 </a:t>
            </a:r>
            <a:r>
              <a:rPr lang="en-US" altLang="ko-KR" sz="1800" b="1" dirty="0"/>
              <a:t>score </a:t>
            </a:r>
            <a:r>
              <a:rPr lang="ko-KR" altLang="en-US" sz="1800" b="1" dirty="0"/>
              <a:t>계산 </a:t>
            </a:r>
            <a:r>
              <a:rPr lang="en-US" altLang="ko-KR" sz="1800" b="1" dirty="0"/>
              <a:t>(in-frame indel)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ko-KR" altLang="en-US" sz="1800" b="1" dirty="0"/>
              <a:t>유전자 변이의 </a:t>
            </a:r>
            <a:r>
              <a:rPr lang="en-US" altLang="ko-KR" sz="1800" b="1" dirty="0"/>
              <a:t>ESMb1 score </a:t>
            </a:r>
            <a:r>
              <a:rPr lang="ko-KR" altLang="en-US" sz="1800" b="1" dirty="0"/>
              <a:t>생성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b="1" dirty="0"/>
              <a:t>b)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benign/</a:t>
            </a:r>
            <a:r>
              <a:rPr lang="en-US" altLang="ko-KR" sz="1400" b="1" dirty="0">
                <a:sym typeface="Wingdings" panose="05000000000000000000" pitchFamily="2" charset="2"/>
              </a:rPr>
              <a:t>pathogenic </a:t>
            </a:r>
            <a:r>
              <a:rPr lang="ko-KR" altLang="en-US" sz="1400" b="1" dirty="0">
                <a:sym typeface="Wingdings" panose="05000000000000000000" pitchFamily="2" charset="2"/>
              </a:rPr>
              <a:t>분류</a:t>
            </a:r>
            <a:r>
              <a:rPr lang="en-US" altLang="ko-KR" sz="1400" b="1" dirty="0"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ym typeface="Wingdings" panose="05000000000000000000" pitchFamily="2" charset="2"/>
              </a:rPr>
              <a:t>성능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ko-KR" sz="1400" dirty="0"/>
              <a:t>PLLR score </a:t>
            </a:r>
            <a:r>
              <a:rPr lang="ko-KR" altLang="en-US" sz="1400" dirty="0"/>
              <a:t>이용 </a:t>
            </a:r>
            <a:r>
              <a:rPr lang="en-US" altLang="ko-KR" sz="1400" dirty="0">
                <a:sym typeface="Wingdings" panose="05000000000000000000" pitchFamily="2" charset="2"/>
              </a:rPr>
              <a:t>threshold</a:t>
            </a:r>
            <a:r>
              <a:rPr lang="ko-KR" altLang="en-US" sz="1400" dirty="0">
                <a:sym typeface="Wingdings" panose="05000000000000000000" pitchFamily="2" charset="2"/>
              </a:rPr>
              <a:t>를 사용 </a:t>
            </a:r>
            <a:r>
              <a:rPr lang="en-US" altLang="ko-KR" sz="1400" dirty="0">
                <a:sym typeface="Wingdings" panose="05000000000000000000" pitchFamily="2" charset="2"/>
              </a:rPr>
              <a:t>(eFig.3)</a:t>
            </a:r>
          </a:p>
          <a:p>
            <a:pPr marL="0" indent="0">
              <a:buNone/>
            </a:pPr>
            <a:r>
              <a:rPr lang="en-US" altLang="ko-KR" sz="1400" dirty="0">
                <a:sym typeface="Wingdings" panose="05000000000000000000" pitchFamily="2" charset="2"/>
              </a:rPr>
              <a:t>    1) vanilla PLLR, 2) indel </a:t>
            </a:r>
            <a:r>
              <a:rPr lang="ko-KR" altLang="en-US" sz="1400" dirty="0">
                <a:sym typeface="Wingdings" panose="05000000000000000000" pitchFamily="2" charset="2"/>
              </a:rPr>
              <a:t>크기 가중치</a:t>
            </a:r>
            <a:r>
              <a:rPr lang="en-US" altLang="ko-KR" sz="1400" dirty="0">
                <a:sym typeface="Wingdings" panose="05000000000000000000" pitchFamily="2" charset="2"/>
              </a:rPr>
              <a:t>-PLLR, 3) PLLR </a:t>
            </a:r>
            <a:r>
              <a:rPr lang="ko-KR" altLang="en-US" sz="1400" dirty="0">
                <a:sym typeface="Wingdings" panose="05000000000000000000" pitchFamily="2" charset="2"/>
              </a:rPr>
              <a:t>절대값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benchmark: CADD </a:t>
            </a:r>
            <a:r>
              <a:rPr lang="ko-KR" altLang="en-US" sz="1400" dirty="0">
                <a:sym typeface="Wingdings" panose="05000000000000000000" pitchFamily="2" charset="2"/>
              </a:rPr>
              <a:t>의 </a:t>
            </a:r>
            <a:r>
              <a:rPr lang="en-US" altLang="ko-KR" sz="1400" dirty="0">
                <a:sym typeface="Wingdings" panose="05000000000000000000" pitchFamily="2" charset="2"/>
              </a:rPr>
              <a:t>Indel </a:t>
            </a:r>
            <a:r>
              <a:rPr lang="ko-KR" altLang="en-US" sz="1400" dirty="0">
                <a:sym typeface="Wingdings" panose="05000000000000000000" pitchFamily="2" charset="2"/>
              </a:rPr>
              <a:t>변이의 병원성 분류 비교</a:t>
            </a:r>
            <a:r>
              <a:rPr lang="en-US" altLang="ko-KR" sz="1400" dirty="0">
                <a:sym typeface="Wingdings" panose="05000000000000000000" pitchFamily="2" charset="2"/>
              </a:rPr>
              <a:t> (p&lt;0.05) / </a:t>
            </a:r>
          </a:p>
          <a:p>
            <a:pPr>
              <a:buFontTx/>
              <a:buChar char="-"/>
            </a:pPr>
            <a:r>
              <a:rPr lang="en-US" altLang="ko-KR" sz="1400" dirty="0">
                <a:sym typeface="Wingdings" panose="05000000000000000000" pitchFamily="2" charset="2"/>
              </a:rPr>
              <a:t>simple: alignment,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sym typeface="Wingdings" panose="05000000000000000000" pitchFamily="2" charset="2"/>
              </a:rPr>
              <a:t>distance </a:t>
            </a:r>
            <a:r>
              <a:rPr lang="ko-KR" altLang="en-US" sz="1400" dirty="0">
                <a:sym typeface="Wingdings" panose="05000000000000000000" pitchFamily="2" charset="2"/>
              </a:rPr>
              <a:t>측정</a:t>
            </a:r>
            <a:r>
              <a:rPr lang="en-US" altLang="ko-KR" sz="1400" dirty="0">
                <a:sym typeface="Wingdings" panose="05000000000000000000" pitchFamily="2" charset="2"/>
              </a:rPr>
              <a:t>,</a:t>
            </a:r>
            <a:r>
              <a:rPr lang="ko-KR" altLang="en-US" sz="1400" dirty="0">
                <a:sym typeface="Wingdings" panose="05000000000000000000" pitchFamily="2" charset="2"/>
              </a:rPr>
              <a:t> </a:t>
            </a:r>
            <a:r>
              <a:rPr lang="en-US" altLang="ko-KR" sz="1400" dirty="0" err="1">
                <a:sym typeface="Wingdings" panose="05000000000000000000" pitchFamily="2" charset="2"/>
              </a:rPr>
              <a:t>BlastP</a:t>
            </a:r>
            <a:r>
              <a:rPr lang="en-US" altLang="ko-KR" sz="1400" dirty="0">
                <a:sym typeface="Wingdings" panose="05000000000000000000" pitchFamily="2" charset="2"/>
              </a:rPr>
              <a:t> score </a:t>
            </a:r>
            <a:r>
              <a:rPr lang="ko-KR" altLang="en-US" sz="1400" dirty="0">
                <a:sym typeface="Wingdings" panose="05000000000000000000" pitchFamily="2" charset="2"/>
              </a:rPr>
              <a:t>와의 분류 성능 비교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endParaRPr lang="en-US" altLang="ko-KR" sz="14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en-US" altLang="ko-KR" sz="1400" b="1" dirty="0">
                <a:sym typeface="Wingdings" panose="05000000000000000000" pitchFamily="2" charset="2"/>
              </a:rPr>
              <a:t>deletion/insertions/</a:t>
            </a:r>
            <a:r>
              <a:rPr lang="en-US" altLang="ko-KR" sz="1400" b="1" dirty="0" err="1">
                <a:sym typeface="Wingdings" panose="05000000000000000000" pitchFamily="2" charset="2"/>
              </a:rPr>
              <a:t>Delins</a:t>
            </a:r>
            <a:r>
              <a:rPr lang="en-US" altLang="ko-KR" sz="1400" b="1" dirty="0"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ym typeface="Wingdings" panose="05000000000000000000" pitchFamily="2" charset="2"/>
              </a:rPr>
              <a:t>분류 성능</a:t>
            </a: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sz="1400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-&gt; PLLR </a:t>
            </a:r>
            <a:r>
              <a:rPr lang="ko-KR" altLang="en-US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의 절대값</a:t>
            </a:r>
            <a:r>
              <a:rPr lang="en-US" altLang="ko-KR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을</a:t>
            </a:r>
            <a:r>
              <a:rPr lang="en-US" altLang="ko-KR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sym typeface="Wingdings" panose="05000000000000000000" pitchFamily="2" charset="2"/>
              </a:rPr>
              <a:t>사용한 분류 결과가 가장 높은 성능을 보임</a:t>
            </a:r>
            <a:endParaRPr lang="en-US" altLang="ko-KR" sz="1400" b="1" dirty="0">
              <a:solidFill>
                <a:srgbClr val="C00000"/>
              </a:solidFill>
              <a:sym typeface="Wingdings" panose="05000000000000000000" pitchFamily="2" charset="2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BF79BEF-B523-BBE2-90F9-DB2CAB0544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D4D778-E297-F757-72C6-AD4645165A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51" r="214" b="43056"/>
          <a:stretch/>
        </p:blipFill>
        <p:spPr>
          <a:xfrm>
            <a:off x="6838657" y="3803696"/>
            <a:ext cx="4419598" cy="2708232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92EC80-63BA-4B47-15A4-B4CC49075F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557" y="1046183"/>
            <a:ext cx="2608953" cy="234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326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057133A1-3724-722B-032D-3E0105F1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4] </a:t>
            </a:r>
            <a:r>
              <a:rPr lang="ko-KR" altLang="en-US" sz="1800" b="1" dirty="0"/>
              <a:t>변이 종류 별 </a:t>
            </a:r>
            <a:r>
              <a:rPr lang="en-US" altLang="ko-KR" sz="1800" b="1" dirty="0"/>
              <a:t>score </a:t>
            </a:r>
            <a:r>
              <a:rPr lang="ko-KR" altLang="en-US" sz="1800" b="1" dirty="0"/>
              <a:t>계산 </a:t>
            </a:r>
            <a:r>
              <a:rPr lang="en-US" altLang="ko-KR" sz="1800" b="1" dirty="0"/>
              <a:t>(Stop-gain </a:t>
            </a:r>
            <a:r>
              <a:rPr lang="ko-KR" altLang="en-US" sz="1800" b="1" dirty="0"/>
              <a:t>변이</a:t>
            </a:r>
            <a:r>
              <a:rPr lang="en-US" altLang="ko-KR" sz="1800" b="1" dirty="0"/>
              <a:t>)</a:t>
            </a:r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ko-KR" altLang="en-US" sz="1800" b="1" dirty="0"/>
              <a:t>유전자 변이의 </a:t>
            </a:r>
            <a:r>
              <a:rPr lang="en-US" altLang="ko-KR" sz="1800" b="1" dirty="0"/>
              <a:t>ESMb1 score </a:t>
            </a:r>
            <a:r>
              <a:rPr lang="ko-KR" altLang="en-US" sz="1800" b="1" dirty="0"/>
              <a:t>생성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b="1" dirty="0"/>
              <a:t>a) stop-gain </a:t>
            </a:r>
            <a:r>
              <a:rPr lang="ko-KR" altLang="en-US" sz="1400" b="1" dirty="0"/>
              <a:t>변이에서</a:t>
            </a:r>
            <a:r>
              <a:rPr lang="en-US" altLang="ko-KR" sz="1400" b="1" dirty="0"/>
              <a:t> pseudo-log-likelihood ratio (PLLR) score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= stop</a:t>
            </a:r>
            <a:r>
              <a:rPr lang="ko-KR" altLang="en-US" sz="1400" dirty="0"/>
              <a:t> 이후 서열에서 가장 낮은 </a:t>
            </a:r>
            <a:r>
              <a:rPr lang="en-US" altLang="ko-KR" sz="1400" dirty="0"/>
              <a:t>LLR score</a:t>
            </a:r>
            <a:r>
              <a:rPr lang="ko-KR" altLang="en-US" sz="1400" dirty="0"/>
              <a:t> 이용 </a:t>
            </a:r>
            <a:r>
              <a:rPr lang="en-US" altLang="ko-KR" sz="1400" dirty="0"/>
              <a:t>( = most damaging )</a:t>
            </a:r>
          </a:p>
          <a:p>
            <a:pPr marL="0" indent="0">
              <a:buNone/>
            </a:pPr>
            <a:endParaRPr lang="en-US" altLang="ko-KR" sz="1400" dirty="0"/>
          </a:p>
          <a:p>
            <a:pPr>
              <a:buFontTx/>
              <a:buChar char="-"/>
            </a:pPr>
            <a:r>
              <a:rPr lang="ko-KR" altLang="en-US" sz="1400" dirty="0">
                <a:solidFill>
                  <a:srgbClr val="C00000"/>
                </a:solidFill>
              </a:rPr>
              <a:t>단백질의 영향 예측을 위해 학습되었기 때문에 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ko-KR" altLang="en-US" sz="1400" dirty="0">
                <a:solidFill>
                  <a:srgbClr val="C00000"/>
                </a:solidFill>
              </a:rPr>
              <a:t>유전자 전사 수준에서 일어나는 </a:t>
            </a:r>
            <a:r>
              <a:rPr lang="en-US" altLang="ko-KR" sz="1400" dirty="0">
                <a:solidFill>
                  <a:srgbClr val="C00000"/>
                </a:solidFill>
              </a:rPr>
              <a:t>stop-gain </a:t>
            </a:r>
            <a:r>
              <a:rPr lang="ko-KR" altLang="en-US" sz="1400" dirty="0">
                <a:solidFill>
                  <a:srgbClr val="C00000"/>
                </a:solidFill>
              </a:rPr>
              <a:t>변이에서 성능이 낮음</a:t>
            </a:r>
            <a:endParaRPr lang="en-US" altLang="ko-KR" sz="1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1400" dirty="0">
                <a:solidFill>
                  <a:srgbClr val="C00000"/>
                </a:solidFill>
              </a:rPr>
              <a:t>(nonsense-mediated decay(NMD)</a:t>
            </a:r>
            <a:r>
              <a:rPr lang="ko-KR" altLang="en-US" sz="1400" dirty="0">
                <a:solidFill>
                  <a:srgbClr val="C00000"/>
                </a:solidFill>
              </a:rPr>
              <a:t>의 조기 종결 </a:t>
            </a:r>
            <a:r>
              <a:rPr lang="ko-KR" altLang="en-US" sz="1400" dirty="0" err="1">
                <a:solidFill>
                  <a:srgbClr val="C00000"/>
                </a:solidFill>
              </a:rPr>
              <a:t>코돈에</a:t>
            </a:r>
            <a:r>
              <a:rPr lang="ko-KR" altLang="en-US" sz="1400" dirty="0">
                <a:solidFill>
                  <a:srgbClr val="C00000"/>
                </a:solidFill>
              </a:rPr>
              <a:t> 의한 소멸에서의 성능</a:t>
            </a:r>
            <a:r>
              <a:rPr lang="en-US" altLang="ko-KR" sz="1400" dirty="0">
                <a:solidFill>
                  <a:srgbClr val="C00000"/>
                </a:solidFill>
              </a:rPr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>
              <a:buFontTx/>
              <a:buChar char="-"/>
            </a:pPr>
            <a:r>
              <a:rPr lang="en-US" altLang="ko-KR" sz="1400" dirty="0"/>
              <a:t>50 </a:t>
            </a:r>
            <a:r>
              <a:rPr lang="ko-KR" altLang="en-US" sz="1400" dirty="0"/>
              <a:t>염기 규칙에 따라 </a:t>
            </a:r>
            <a:r>
              <a:rPr lang="en-US" altLang="ko-KR" sz="1400" dirty="0"/>
              <a:t>NMD </a:t>
            </a:r>
            <a:r>
              <a:rPr lang="ko-KR" altLang="en-US" sz="1400" dirty="0"/>
              <a:t>이 일어나지 않은 경우 좋은 성능</a:t>
            </a:r>
            <a:r>
              <a:rPr lang="en-US" altLang="ko-KR" sz="1400" dirty="0"/>
              <a:t>(0.734), </a:t>
            </a:r>
          </a:p>
          <a:p>
            <a:pPr>
              <a:buFontTx/>
              <a:buChar char="-"/>
            </a:pPr>
            <a:r>
              <a:rPr lang="en-US" altLang="ko-KR" sz="1400" dirty="0"/>
              <a:t>NMD </a:t>
            </a:r>
            <a:r>
              <a:rPr lang="ko-KR" altLang="en-US" sz="1400" dirty="0"/>
              <a:t>에 영향을 받은 변이에서는 낮은 성능을 나타냄</a:t>
            </a:r>
            <a:r>
              <a:rPr lang="en-US" altLang="ko-KR" sz="1400" dirty="0"/>
              <a:t>(0.565) </a:t>
            </a:r>
          </a:p>
          <a:p>
            <a:pPr marL="0" indent="0">
              <a:buNone/>
            </a:pPr>
            <a:endParaRPr lang="en-US" altLang="ko-KR" sz="1400" dirty="0"/>
          </a:p>
          <a:p>
            <a:pPr>
              <a:buFontTx/>
              <a:buChar char="-"/>
            </a:pPr>
            <a:endParaRPr lang="en-US" altLang="ko-KR" sz="14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BF79BEF-B523-BBE2-90F9-DB2CAB0544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ACCA32F-5EDA-0516-4FCF-93E0F1E8F1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49" t="58472"/>
          <a:stretch/>
        </p:blipFill>
        <p:spPr>
          <a:xfrm>
            <a:off x="7800975" y="3644900"/>
            <a:ext cx="3653207" cy="284797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6E45CD1-1250-72AD-4E9D-387D24E1D8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39" t="58472" r="33861"/>
          <a:stretch/>
        </p:blipFill>
        <p:spPr>
          <a:xfrm>
            <a:off x="7932127" y="581025"/>
            <a:ext cx="3390901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6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0">
            <a:extLst>
              <a:ext uri="{FF2B5EF4-FFF2-40B4-BE49-F238E27FC236}">
                <a16:creationId xmlns:a16="http://schemas.microsoft.com/office/drawing/2014/main" id="{50154090-DDC8-49F3-43AC-6C72AA97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10325101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각 자리에서의 변이의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likelihood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추정값을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이용하여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해당 변이가 서로 다른 단백질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isoform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들의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pathogenic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여부에 미치는 영향도 예측할 수 있음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C991BE-7960-3030-4C80-85234AA98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273" b="68889"/>
          <a:stretch/>
        </p:blipFill>
        <p:spPr>
          <a:xfrm>
            <a:off x="2733674" y="2958252"/>
            <a:ext cx="6343651" cy="322813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8E482F60-CF17-1BD3-F18D-BB27CA6139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622072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CC991BE-7960-3030-4C80-85234AA988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2" t="31370" r="75050" b="34497"/>
          <a:stretch/>
        </p:blipFill>
        <p:spPr>
          <a:xfrm>
            <a:off x="752473" y="3103224"/>
            <a:ext cx="3471954" cy="3459499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BF004CD7-78D4-764F-AFD3-407D1B493F9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CD551FF-FDE9-2207-79AB-F82C355582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17" t="4400" r="-1026" b="69880"/>
          <a:stretch/>
        </p:blipFill>
        <p:spPr>
          <a:xfrm>
            <a:off x="4705348" y="3853655"/>
            <a:ext cx="6467475" cy="2157412"/>
          </a:xfrm>
          <a:prstGeom prst="rect">
            <a:avLst/>
          </a:prstGeom>
        </p:spPr>
      </p:pic>
      <p:sp>
        <p:nvSpPr>
          <p:cNvPr id="20" name="내용 개체 틀 10">
            <a:extLst>
              <a:ext uri="{FF2B5EF4-FFF2-40B4-BE49-F238E27FC236}">
                <a16:creationId xmlns:a16="http://schemas.microsoft.com/office/drawing/2014/main" id="{32C98568-1C20-2FC7-75D4-85C40DBA60A0}"/>
              </a:ext>
            </a:extLst>
          </p:cNvPr>
          <p:cNvSpPr txBox="1">
            <a:spLocks/>
          </p:cNvSpPr>
          <p:nvPr/>
        </p:nvSpPr>
        <p:spPr>
          <a:xfrm>
            <a:off x="838199" y="1323975"/>
            <a:ext cx="11020426" cy="5168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altLang="ko-KR" sz="1800" b="1" dirty="0"/>
          </a:p>
          <a:p>
            <a:r>
              <a:rPr lang="en-US" altLang="ko-KR" sz="1400" dirty="0" err="1"/>
              <a:t>ClinVar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데이터셋</a:t>
            </a:r>
            <a:r>
              <a:rPr lang="en-US" altLang="ko-KR" sz="1400" dirty="0"/>
              <a:t> : </a:t>
            </a:r>
            <a:r>
              <a:rPr lang="ko-KR" altLang="en-US" sz="1400" dirty="0"/>
              <a:t>같은 단백질 서로 다른 </a:t>
            </a:r>
            <a:r>
              <a:rPr lang="en-US" altLang="ko-KR" sz="1400" dirty="0"/>
              <a:t>isoform </a:t>
            </a:r>
            <a:r>
              <a:rPr lang="ko-KR" altLang="en-US" sz="1400" dirty="0"/>
              <a:t>에서 </a:t>
            </a:r>
            <a:r>
              <a:rPr lang="en-US" altLang="ko-KR" sz="1400" dirty="0"/>
              <a:t>ESM1b score </a:t>
            </a:r>
            <a:r>
              <a:rPr lang="ko-KR" altLang="en-US" sz="1400" dirty="0"/>
              <a:t>차이를 나타내는 변이 </a:t>
            </a:r>
            <a:r>
              <a:rPr lang="en-US" altLang="ko-KR" sz="1400" dirty="0"/>
              <a:t>3,500</a:t>
            </a:r>
            <a:r>
              <a:rPr lang="ko-KR" altLang="en-US" sz="1400" dirty="0"/>
              <a:t>개</a:t>
            </a:r>
            <a:r>
              <a:rPr lang="en-US" altLang="ko-KR" sz="1400" dirty="0"/>
              <a:t> </a:t>
            </a:r>
            <a:r>
              <a:rPr lang="ko-KR" altLang="en-US" sz="1400" dirty="0"/>
              <a:t>획득</a:t>
            </a:r>
            <a:endParaRPr lang="en-US" altLang="ko-KR" sz="1400" dirty="0"/>
          </a:p>
          <a:p>
            <a:pPr marL="0" indent="0">
              <a:buNone/>
              <a:defRPr/>
            </a:pPr>
            <a:r>
              <a:rPr lang="en-US" altLang="ko-KR" sz="1400" dirty="0"/>
              <a:t>- </a:t>
            </a:r>
            <a:r>
              <a:rPr lang="ko-KR" altLang="en-US" sz="1400" dirty="0"/>
              <a:t>같은 단백질 서열의 특정 </a:t>
            </a:r>
            <a:r>
              <a:rPr lang="en-US" altLang="ko-KR" sz="1400" dirty="0"/>
              <a:t>isoform </a:t>
            </a:r>
            <a:r>
              <a:rPr lang="ko-KR" altLang="en-US" sz="1400" dirty="0"/>
              <a:t>에서 </a:t>
            </a:r>
            <a:r>
              <a:rPr lang="en-US" altLang="ko-KR" sz="1400" dirty="0"/>
              <a:t>pathogenic</a:t>
            </a:r>
            <a:r>
              <a:rPr lang="ko-KR" altLang="en-US" sz="1400" dirty="0"/>
              <a:t> </a:t>
            </a:r>
            <a:r>
              <a:rPr lang="en-US" altLang="ko-KR" sz="1400" dirty="0"/>
              <a:t>score </a:t>
            </a:r>
            <a:r>
              <a:rPr lang="ko-KR" altLang="en-US" sz="1400" dirty="0"/>
              <a:t>가 높은</a:t>
            </a:r>
            <a:r>
              <a:rPr lang="en-US" altLang="ko-KR" sz="1400" dirty="0"/>
              <a:t> </a:t>
            </a:r>
            <a:r>
              <a:rPr lang="ko-KR" altLang="en-US" sz="1400" dirty="0"/>
              <a:t>경우를 </a:t>
            </a:r>
            <a:r>
              <a:rPr lang="en-US" altLang="ko-KR" sz="1400" dirty="0"/>
              <a:t>maximum isoform, </a:t>
            </a:r>
            <a:r>
              <a:rPr lang="ko-KR" altLang="en-US" sz="1400" dirty="0"/>
              <a:t>낮은 경우를 </a:t>
            </a:r>
            <a:r>
              <a:rPr lang="en-US" altLang="ko-KR" sz="1400" dirty="0"/>
              <a:t>minimum isoform </a:t>
            </a:r>
            <a:r>
              <a:rPr lang="ko-KR" altLang="en-US" sz="1400" dirty="0"/>
              <a:t>라 정의</a:t>
            </a:r>
            <a:endParaRPr lang="en-US" altLang="ko-KR" sz="14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9460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0">
            <a:extLst>
              <a:ext uri="{FF2B5EF4-FFF2-40B4-BE49-F238E27FC236}">
                <a16:creationId xmlns:a16="http://schemas.microsoft.com/office/drawing/2014/main" id="{50154090-DDC8-49F3-43AC-6C72AA97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8343901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dirty="0"/>
              <a:t>-&gt; </a:t>
            </a:r>
            <a:r>
              <a:rPr lang="en-US" altLang="ko-KR" sz="1400" dirty="0" err="1"/>
              <a:t>ClinVar</a:t>
            </a:r>
            <a:r>
              <a:rPr lang="en-US" altLang="ko-KR" sz="1400" dirty="0"/>
              <a:t> </a:t>
            </a:r>
            <a:r>
              <a:rPr lang="ko-KR" altLang="en-US" sz="1400" b="1" dirty="0"/>
              <a:t>전체</a:t>
            </a:r>
            <a:r>
              <a:rPr lang="ko-KR" altLang="en-US" sz="1400" dirty="0"/>
              <a:t> </a:t>
            </a:r>
            <a:r>
              <a:rPr lang="en-US" altLang="ko-KR" sz="1400" b="1" dirty="0"/>
              <a:t>pathogenic/benign </a:t>
            </a:r>
            <a:r>
              <a:rPr lang="ko-KR" altLang="en-US" sz="1400" dirty="0"/>
              <a:t>과 </a:t>
            </a:r>
            <a:r>
              <a:rPr lang="en-US" altLang="ko-KR" sz="1400" b="1" dirty="0"/>
              <a:t>maximum/minimum isoform</a:t>
            </a:r>
            <a:r>
              <a:rPr lang="en-US" altLang="ko-KR" sz="1400" dirty="0"/>
              <a:t> </a:t>
            </a:r>
            <a:r>
              <a:rPr lang="ko-KR" altLang="en-US" sz="1400" dirty="0"/>
              <a:t>의 </a:t>
            </a:r>
            <a:r>
              <a:rPr lang="en-US" altLang="ko-KR" sz="1400" dirty="0"/>
              <a:t>ESM1b score </a:t>
            </a:r>
            <a:r>
              <a:rPr lang="ko-KR" altLang="en-US" sz="1400" dirty="0"/>
              <a:t>분포 비교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: </a:t>
            </a:r>
            <a:r>
              <a:rPr lang="ko-KR" altLang="en-US" sz="1400" dirty="0"/>
              <a:t>거의 분포가 겹침을 확인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-&gt; </a:t>
            </a:r>
            <a:r>
              <a:rPr lang="ko-KR" altLang="en-US" sz="1400" dirty="0"/>
              <a:t>같은 단백질 내 </a:t>
            </a:r>
            <a:r>
              <a:rPr lang="en-US" altLang="ko-KR" sz="1400" dirty="0"/>
              <a:t>score</a:t>
            </a:r>
            <a:r>
              <a:rPr lang="ko-KR" altLang="en-US" sz="1400" dirty="0"/>
              <a:t> 차이가 큰 변이는 단백질의 </a:t>
            </a:r>
            <a:r>
              <a:rPr lang="en-US" altLang="ko-KR" sz="1400" dirty="0"/>
              <a:t>isoform </a:t>
            </a:r>
            <a:r>
              <a:rPr lang="ko-KR" altLang="en-US" sz="1400" dirty="0"/>
              <a:t>을 인식한 것임을 유추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E482F60-CF17-1BD3-F18D-BB27CA6139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EA5840F-5F01-596B-F032-111659852B6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0" t="31370" r="3389" b="33869"/>
          <a:stretch/>
        </p:blipFill>
        <p:spPr>
          <a:xfrm>
            <a:off x="1685925" y="3011548"/>
            <a:ext cx="8820150" cy="3160652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A5AF7169-576F-6A4B-B87E-E6156DE5100D}"/>
              </a:ext>
            </a:extLst>
          </p:cNvPr>
          <p:cNvGrpSpPr/>
          <p:nvPr/>
        </p:nvGrpSpPr>
        <p:grpSpPr>
          <a:xfrm>
            <a:off x="1914525" y="3560823"/>
            <a:ext cx="1285875" cy="1829503"/>
            <a:chOff x="3514725" y="1798698"/>
            <a:chExt cx="1285875" cy="182950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648EC6F-54D9-8C59-681D-83DB39FA9B5C}"/>
                </a:ext>
              </a:extLst>
            </p:cNvPr>
            <p:cNvSpPr/>
            <p:nvPr/>
          </p:nvSpPr>
          <p:spPr>
            <a:xfrm>
              <a:off x="3514725" y="1798698"/>
              <a:ext cx="1285875" cy="201552"/>
            </a:xfrm>
            <a:prstGeom prst="rect">
              <a:avLst/>
            </a:prstGeom>
            <a:solidFill>
              <a:srgbClr val="F9E7A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EC34F5-F44D-3788-7A80-8CB9024E9B2F}"/>
                </a:ext>
              </a:extLst>
            </p:cNvPr>
            <p:cNvSpPr/>
            <p:nvPr/>
          </p:nvSpPr>
          <p:spPr>
            <a:xfrm>
              <a:off x="3514725" y="2234497"/>
              <a:ext cx="1285875" cy="201552"/>
            </a:xfrm>
            <a:prstGeom prst="rect">
              <a:avLst/>
            </a:prstGeom>
            <a:solidFill>
              <a:srgbClr val="CAEFE7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CC6AEBE-B15C-D44E-EFA9-9C26A297F252}"/>
                </a:ext>
              </a:extLst>
            </p:cNvPr>
            <p:cNvSpPr/>
            <p:nvPr/>
          </p:nvSpPr>
          <p:spPr>
            <a:xfrm>
              <a:off x="4305300" y="2993201"/>
              <a:ext cx="495300" cy="204848"/>
            </a:xfrm>
            <a:prstGeom prst="rect">
              <a:avLst/>
            </a:prstGeom>
            <a:noFill/>
            <a:ln w="28575">
              <a:solidFill>
                <a:srgbClr val="F2B2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00DE57-1093-F69C-1D8B-D1FB02FA2571}"/>
                </a:ext>
              </a:extLst>
            </p:cNvPr>
            <p:cNvSpPr/>
            <p:nvPr/>
          </p:nvSpPr>
          <p:spPr>
            <a:xfrm>
              <a:off x="4048125" y="3423353"/>
              <a:ext cx="752475" cy="204848"/>
            </a:xfrm>
            <a:prstGeom prst="rect">
              <a:avLst/>
            </a:prstGeom>
            <a:noFill/>
            <a:ln w="28575">
              <a:solidFill>
                <a:srgbClr val="5873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6638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0">
            <a:extLst>
              <a:ext uri="{FF2B5EF4-FFF2-40B4-BE49-F238E27FC236}">
                <a16:creationId xmlns:a16="http://schemas.microsoft.com/office/drawing/2014/main" id="{50154090-DDC8-49F3-43AC-6C72AA97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6534151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dirty="0"/>
              <a:t>- splicing </a:t>
            </a:r>
            <a:r>
              <a:rPr lang="ko-KR" altLang="en-US" sz="1400" dirty="0"/>
              <a:t>에 영향을 받아 변이가 다른 </a:t>
            </a:r>
            <a:r>
              <a:rPr lang="en-US" altLang="ko-KR" sz="1400" dirty="0"/>
              <a:t>isoform </a:t>
            </a:r>
            <a:r>
              <a:rPr lang="ko-KR" altLang="en-US" sz="1400" dirty="0"/>
              <a:t>을 가지게 됨을 이용</a:t>
            </a:r>
            <a:r>
              <a:rPr lang="en-US" altLang="ko-KR" sz="1400" dirty="0"/>
              <a:t>,</a:t>
            </a:r>
          </a:p>
          <a:p>
            <a:pPr marL="0" indent="0">
              <a:buNone/>
            </a:pPr>
            <a:r>
              <a:rPr lang="ko-KR" altLang="en-US" sz="1400" dirty="0">
                <a:solidFill>
                  <a:prstClr val="black"/>
                </a:solidFill>
              </a:rPr>
              <a:t>단백질의 변이가 </a:t>
            </a:r>
            <a:r>
              <a:rPr lang="en-US" altLang="ko-KR" sz="1400" dirty="0">
                <a:solidFill>
                  <a:prstClr val="black"/>
                </a:solidFill>
              </a:rPr>
              <a:t>i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soform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에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sensitive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한 경우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</a:p>
          <a:p>
            <a:pPr marL="0" indent="0">
              <a:buNone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무작위 샘플과 비교해 </a:t>
            </a: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splicing site/donor site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에서 높은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보임 발견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indent="0">
              <a:buNone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E482F60-CF17-1BD3-F18D-BB27CA6139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1BD16D-AF7E-A43B-9F93-5D211AFA041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05" r="62246" b="32778"/>
          <a:stretch/>
        </p:blipFill>
        <p:spPr>
          <a:xfrm>
            <a:off x="6096000" y="3326241"/>
            <a:ext cx="4840549" cy="266498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A583845-E0AE-CF13-3192-CCE658CDB3E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06" r="62246" b="54077"/>
          <a:stretch/>
        </p:blipFill>
        <p:spPr>
          <a:xfrm>
            <a:off x="687648" y="3657600"/>
            <a:ext cx="5408352" cy="19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815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0">
            <a:extLst>
              <a:ext uri="{FF2B5EF4-FFF2-40B4-BE49-F238E27FC236}">
                <a16:creationId xmlns:a16="http://schemas.microsoft.com/office/drawing/2014/main" id="{50154090-DDC8-49F3-43AC-6C72AA97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4981576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Case Study 1: </a:t>
            </a:r>
          </a:p>
          <a:p>
            <a:pPr marL="0" indent="0">
              <a:buNone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MEN1 (Q8WYO7) primary isoform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149-153 deletion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에 의해 발생하는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secondary isoform (5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염기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del)</a:t>
            </a:r>
          </a:p>
          <a:p>
            <a:pPr marL="0" indent="0">
              <a:buNone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primary isoform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경우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,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해당 위치 직전에 높은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pathogenic 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나타냄을 보임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</a:p>
          <a:p>
            <a:pPr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secondary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isoform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은 낮은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를 나타냄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>
              <a:buFontTx/>
              <a:buChar char="-"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score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차이가 나타나는 부분은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splicing effect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를 인식함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>
              <a:buFontTx/>
              <a:buChar char="-"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모델의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차원 구조에서의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isoform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인식을 나타냄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E482F60-CF17-1BD3-F18D-BB27CA6139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91A788-0C47-B432-CB06-06128672F4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10" b="35000"/>
          <a:stretch/>
        </p:blipFill>
        <p:spPr>
          <a:xfrm>
            <a:off x="6276975" y="1019175"/>
            <a:ext cx="5284559" cy="53594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E8C7829-C8DA-0D24-1111-AE567D1DD694}"/>
              </a:ext>
            </a:extLst>
          </p:cNvPr>
          <p:cNvSpPr/>
          <p:nvPr/>
        </p:nvSpPr>
        <p:spPr>
          <a:xfrm>
            <a:off x="10129839" y="1019175"/>
            <a:ext cx="519112" cy="2776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10">
            <a:extLst>
              <a:ext uri="{FF2B5EF4-FFF2-40B4-BE49-F238E27FC236}">
                <a16:creationId xmlns:a16="http://schemas.microsoft.com/office/drawing/2014/main" id="{50154090-DDC8-49F3-43AC-6C72AA97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3975"/>
            <a:ext cx="9972675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 </a:t>
            </a:r>
            <a:r>
              <a:rPr lang="en-US" altLang="ko-KR" sz="1800" b="1" dirty="0"/>
              <a:t>– isoform-sensitive </a:t>
            </a:r>
            <a:r>
              <a:rPr lang="ko-KR" altLang="en-US" sz="1800" b="1" dirty="0"/>
              <a:t>변이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pPr marL="0" indent="0">
              <a:buNone/>
            </a:pPr>
            <a:r>
              <a:rPr lang="en-US" altLang="ko-KR" sz="14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Case Study 2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: TGFB3 proprotein (Transforming growth factor beta-3)</a:t>
            </a:r>
          </a:p>
          <a:p>
            <a:pPr marL="0" indent="0">
              <a:buNone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TGFB3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의 </a:t>
            </a:r>
            <a:r>
              <a:rPr lang="en-US" altLang="ko-KR" sz="1400" dirty="0">
                <a:solidFill>
                  <a:srgbClr val="F27301"/>
                </a:solidFill>
                <a:latin typeface="맑은 고딕" panose="020F0502020204030204"/>
                <a:ea typeface="맑은 고딕" panose="020B0503020000020004" pitchFamily="50" charset="-127"/>
              </a:rPr>
              <a:t>LAP,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TGF</a:t>
            </a:r>
            <a:r>
              <a:rPr lang="el-GR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β-3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중 </a:t>
            </a:r>
            <a:r>
              <a:rPr lang="en-US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TGF</a:t>
            </a:r>
            <a:r>
              <a:rPr lang="el-GR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β-3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체인이 제거된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isoform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은 해당 위치에서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pathogenic score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가 낮아짐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-&gt; 200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염기 이상 </a:t>
            </a:r>
            <a:r>
              <a:rPr lang="ko-KR" altLang="en-US" sz="14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멀리있는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변이에 대해서 영향 예측이 가능함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>
              <a:buFontTx/>
              <a:buChar char="-"/>
            </a:pP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차원 모습에서 </a:t>
            </a:r>
            <a:r>
              <a:rPr lang="en-US" altLang="ko-KR" sz="1400" dirty="0">
                <a:solidFill>
                  <a:srgbClr val="F27301"/>
                </a:solidFill>
                <a:latin typeface="맑은 고딕" panose="020F0502020204030204"/>
                <a:ea typeface="맑은 고딕" panose="020B0503020000020004" pitchFamily="50" charset="-127"/>
              </a:rPr>
              <a:t>LAP,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TGF</a:t>
            </a:r>
            <a:r>
              <a:rPr lang="el-GR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β-3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두 체인이 상호작용함을 보이며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(AlphaFold)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제거된 </a:t>
            </a:r>
            <a:r>
              <a:rPr lang="en-US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TGF</a:t>
            </a:r>
            <a:r>
              <a:rPr lang="el-GR" altLang="ko-KR" sz="1400" dirty="0">
                <a:solidFill>
                  <a:srgbClr val="004D80"/>
                </a:solidFill>
                <a:latin typeface="맑은 고딕" panose="020F0502020204030204"/>
                <a:ea typeface="맑은 고딕" panose="020B0503020000020004" pitchFamily="50" charset="-127"/>
              </a:rPr>
              <a:t>β-3 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체인으로 인해 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3</a:t>
            </a:r>
            <a:r>
              <a:rPr lang="ko-KR" altLang="en-US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차원에서의 상호작용이 달라져 기능적으로 변화함</a:t>
            </a:r>
            <a:r>
              <a:rPr lang="en-US" altLang="ko-KR" sz="14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>
              <a:buFontTx/>
              <a:buChar char="-"/>
            </a:pPr>
            <a:endParaRPr lang="en-US" altLang="ko-KR" sz="14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8E482F60-CF17-1BD3-F18D-BB27CA61394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F91A788-0C47-B432-CB06-06128672F4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3" t="69833" r="-112" b="112"/>
          <a:stretch/>
        </p:blipFill>
        <p:spPr>
          <a:xfrm>
            <a:off x="1109662" y="3638550"/>
            <a:ext cx="9972675" cy="296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08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10">
            <a:extLst>
              <a:ext uri="{FF2B5EF4-FFF2-40B4-BE49-F238E27FC236}">
                <a16:creationId xmlns:a16="http://schemas.microsoft.com/office/drawing/2014/main" id="{057133A1-3724-722B-032D-3E0105F12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5168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5] </a:t>
            </a:r>
            <a:r>
              <a:rPr lang="ko-KR" altLang="en-US" sz="1800" b="1" dirty="0"/>
              <a:t>단백질에 대한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변이 영향 예측</a:t>
            </a: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/>
          </a:p>
          <a:p>
            <a:r>
              <a:rPr lang="en-US" altLang="ko-KR" sz="1800" b="1" dirty="0"/>
              <a:t>score </a:t>
            </a:r>
            <a:r>
              <a:rPr lang="ko-KR" altLang="en-US" sz="1800" b="1" dirty="0"/>
              <a:t>분포 차이가 가장 큰 </a:t>
            </a:r>
            <a:r>
              <a:rPr lang="en-US" altLang="ko-KR" sz="1800" b="1" dirty="0"/>
              <a:t>top100 </a:t>
            </a:r>
            <a:r>
              <a:rPr lang="ko-KR" altLang="en-US" sz="1800" b="1" dirty="0"/>
              <a:t>과 </a:t>
            </a:r>
            <a:r>
              <a:rPr lang="en-US" altLang="ko-KR" sz="1800" b="1" dirty="0"/>
              <a:t>isoform annotation </a:t>
            </a:r>
            <a:r>
              <a:rPr lang="ko-KR" altLang="en-US" sz="1800" b="1" dirty="0"/>
              <a:t>수</a:t>
            </a:r>
            <a:r>
              <a:rPr lang="en-US" altLang="ko-KR" sz="1800" b="1" dirty="0"/>
              <a:t>/%</a:t>
            </a:r>
            <a:r>
              <a:rPr lang="ko-KR" altLang="en-US" sz="1800" b="1" dirty="0"/>
              <a:t> </a:t>
            </a:r>
            <a:endParaRPr lang="en-US" altLang="ko-KR" sz="1800" b="1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0BF79BEF-B523-BBE2-90F9-DB2CAB05446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b="1" dirty="0"/>
              <a:t>Results</a:t>
            </a:r>
            <a:endParaRPr lang="ko-KR" altLang="en-US" sz="2800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1290EA-A3E4-A1B2-43A5-36CFE4EB7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875"/>
          <a:stretch/>
        </p:blipFill>
        <p:spPr>
          <a:xfrm>
            <a:off x="838200" y="2771774"/>
            <a:ext cx="11083946" cy="268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0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2BDF-BE9B-3129-252F-522137F49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Summary &amp; conclusion</a:t>
            </a:r>
            <a:endParaRPr lang="ko-KR" altLang="en-US" sz="2800" b="1" dirty="0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0EDC3B4E-840D-1C95-105A-C0B22EB4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3975"/>
            <a:ext cx="10515600" cy="48529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dirty="0"/>
              <a:t>ESM1b </a:t>
            </a:r>
            <a:r>
              <a:rPr lang="ko-KR" altLang="en-US" sz="1800" dirty="0"/>
              <a:t>를 개선한 이번 연구에서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1)</a:t>
            </a:r>
            <a:r>
              <a:rPr lang="en-US" altLang="ko-KR" sz="1800" dirty="0"/>
              <a:t> </a:t>
            </a:r>
            <a:r>
              <a:rPr lang="en-US" altLang="ko-KR" sz="1800" dirty="0" err="1"/>
              <a:t>ClinVar</a:t>
            </a:r>
            <a:r>
              <a:rPr lang="en-US" altLang="ko-KR" sz="1800" dirty="0"/>
              <a:t>/HGMD </a:t>
            </a:r>
            <a:r>
              <a:rPr lang="ko-KR" altLang="en-US" sz="1800" dirty="0"/>
              <a:t>데이터셋 내</a:t>
            </a:r>
            <a:r>
              <a:rPr lang="en-US" altLang="ko-KR" sz="1800" dirty="0"/>
              <a:t> missense</a:t>
            </a:r>
            <a:r>
              <a:rPr lang="ko-KR" altLang="en-US" sz="1800" dirty="0"/>
              <a:t> </a:t>
            </a:r>
            <a:r>
              <a:rPr lang="en-US" altLang="ko-KR" sz="1800" dirty="0"/>
              <a:t>variant </a:t>
            </a:r>
            <a:r>
              <a:rPr lang="ko-KR" altLang="en-US" sz="1800" dirty="0"/>
              <a:t>의</a:t>
            </a:r>
            <a:r>
              <a:rPr lang="en-US" altLang="ko-KR" sz="1800" dirty="0"/>
              <a:t> pathogenic/benign </a:t>
            </a:r>
            <a:r>
              <a:rPr lang="en-US" altLang="ko-KR" sz="1800" b="1" dirty="0"/>
              <a:t>classification</a:t>
            </a:r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2) </a:t>
            </a:r>
            <a:r>
              <a:rPr lang="en-US" altLang="ko-KR" sz="1800" dirty="0"/>
              <a:t>28</a:t>
            </a:r>
            <a:r>
              <a:rPr lang="ko-KR" altLang="en-US" sz="1800" dirty="0"/>
              <a:t>개</a:t>
            </a:r>
            <a:r>
              <a:rPr lang="en-US" altLang="ko-KR" sz="1800" dirty="0"/>
              <a:t> deep mutational scan(DMS) data</a:t>
            </a:r>
            <a:r>
              <a:rPr lang="ko-KR" altLang="en-US" sz="1800" dirty="0"/>
              <a:t>의 측정값</a:t>
            </a:r>
            <a:r>
              <a:rPr lang="en-US" altLang="ko-KR" sz="1800" dirty="0"/>
              <a:t> </a:t>
            </a:r>
            <a:r>
              <a:rPr lang="en-US" altLang="ko-KR" sz="1800" b="1" dirty="0"/>
              <a:t>prediction</a:t>
            </a:r>
          </a:p>
          <a:p>
            <a:pPr marL="0" indent="0">
              <a:buNone/>
            </a:pPr>
            <a:r>
              <a:rPr lang="ko-KR" altLang="en-US" sz="1800" dirty="0"/>
              <a:t>       에서 기존의 변이 영향 예측 방법보다 우수한 성능을 보임</a:t>
            </a:r>
            <a:r>
              <a:rPr lang="en-US" altLang="ko-KR" sz="1800" dirty="0"/>
              <a:t>.</a:t>
            </a:r>
            <a:endParaRPr lang="en-US" altLang="ko-KR" sz="1800" b="1" dirty="0"/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3)</a:t>
            </a:r>
            <a:r>
              <a:rPr lang="en-US" altLang="ko-KR" sz="1800" dirty="0"/>
              <a:t> 2</a:t>
            </a:r>
            <a:r>
              <a:rPr lang="ko-KR" altLang="en-US" sz="1800" dirty="0"/>
              <a:t>백만개의</a:t>
            </a:r>
            <a:r>
              <a:rPr lang="en-US" altLang="ko-KR" sz="1800" dirty="0"/>
              <a:t> </a:t>
            </a:r>
            <a:r>
              <a:rPr lang="ko-KR" altLang="en-US" sz="1800" dirty="0"/>
              <a:t>변이에 대해 </a:t>
            </a:r>
            <a:r>
              <a:rPr lang="en-US" altLang="ko-KR" sz="1800" dirty="0"/>
              <a:t>damaging </a:t>
            </a:r>
            <a:r>
              <a:rPr lang="ko-KR" altLang="en-US" sz="1800" dirty="0"/>
              <a:t>을 나타내는 단백질 </a:t>
            </a:r>
            <a:r>
              <a:rPr lang="en-US" altLang="ko-KR" sz="1800" dirty="0"/>
              <a:t>isoform </a:t>
            </a:r>
            <a:r>
              <a:rPr lang="ko-KR" altLang="en-US" sz="1800" dirty="0"/>
              <a:t>을 </a:t>
            </a:r>
            <a:r>
              <a:rPr lang="en-US" altLang="ko-KR" sz="1800" b="1" dirty="0"/>
              <a:t>annotation</a:t>
            </a:r>
          </a:p>
          <a:p>
            <a:pPr marL="0" indent="0">
              <a:buNone/>
            </a:pPr>
            <a:r>
              <a:rPr lang="en-US" altLang="ko-KR" sz="1800" dirty="0"/>
              <a:t>      : </a:t>
            </a:r>
            <a:r>
              <a:rPr lang="ko-KR" altLang="en-US" sz="1800" dirty="0"/>
              <a:t>변이 영향 예측에서 모든 </a:t>
            </a:r>
            <a:r>
              <a:rPr lang="en-US" altLang="ko-KR" sz="1800" dirty="0"/>
              <a:t>isoform </a:t>
            </a:r>
            <a:r>
              <a:rPr lang="ko-KR" altLang="en-US" sz="1800" dirty="0"/>
              <a:t>고려의 중요함을 시사함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</a:t>
            </a:r>
            <a:r>
              <a:rPr lang="en-US" altLang="ko-KR" sz="1800" b="1" dirty="0"/>
              <a:t>4) </a:t>
            </a:r>
            <a:r>
              <a:rPr lang="en-US" altLang="ko-KR" sz="1800" dirty="0"/>
              <a:t>in-frame indels, stop-gains </a:t>
            </a:r>
            <a:r>
              <a:rPr lang="ko-KR" altLang="en-US" sz="1800" dirty="0"/>
              <a:t>등 복잡한 변이에 대한 예측까지 확장 가능성을 보임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235730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A34FD-8AC4-E56E-8A9F-F0A2759D4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51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8295</TotalTime>
  <Words>2204</Words>
  <Application>Microsoft Office PowerPoint</Application>
  <PresentationFormat>와이드스크린</PresentationFormat>
  <Paragraphs>336</Paragraphs>
  <Slides>32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-apple-system</vt:lpstr>
      <vt:lpstr>Harding</vt:lpstr>
      <vt:lpstr>맑은 고딕</vt:lpstr>
      <vt:lpstr>Arial</vt:lpstr>
      <vt:lpstr>Times New Roman</vt:lpstr>
      <vt:lpstr>Wingdings</vt:lpstr>
      <vt:lpstr>Office 테마</vt:lpstr>
      <vt:lpstr>Genome-wide prediction  of disease variant effects  with a deep protein language model</vt:lpstr>
      <vt:lpstr>목차</vt:lpstr>
      <vt:lpstr>Introduction</vt:lpstr>
      <vt:lpstr>Introduction</vt:lpstr>
      <vt:lpstr>Introduction</vt:lpstr>
      <vt:lpstr>Introduction</vt:lpstr>
      <vt:lpstr>Background</vt:lpstr>
      <vt:lpstr>Background</vt:lpstr>
      <vt:lpstr>Background</vt:lpstr>
      <vt:lpstr>PowerPoint 프레젠테이션</vt:lpstr>
      <vt:lpstr>PowerPoint 프레젠테이션</vt:lpstr>
      <vt:lpstr>Background</vt:lpstr>
      <vt:lpstr>In this paper…</vt:lpstr>
      <vt:lpstr>Result</vt:lpstr>
      <vt:lpstr>Results</vt:lpstr>
      <vt:lpstr>Results</vt:lpstr>
      <vt:lpstr>Results</vt:lpstr>
      <vt:lpstr>Results</vt:lpstr>
      <vt:lpstr>Results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Summary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Genome-wide prediction of disease variant effects with a deep protein language model</dc:title>
  <dc:creator>김 윤하</dc:creator>
  <cp:lastModifiedBy>김윤하</cp:lastModifiedBy>
  <cp:revision>111</cp:revision>
  <dcterms:created xsi:type="dcterms:W3CDTF">2024-05-23T05:14:18Z</dcterms:created>
  <dcterms:modified xsi:type="dcterms:W3CDTF">2024-06-02T12:00:16Z</dcterms:modified>
</cp:coreProperties>
</file>