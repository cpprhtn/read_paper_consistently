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34"/>
  </p:notesMasterIdLst>
  <p:handoutMasterIdLst>
    <p:handoutMasterId r:id="rId35"/>
  </p:handoutMasterIdLst>
  <p:sldIdLst>
    <p:sldId id="934" r:id="rId2"/>
    <p:sldId id="1318" r:id="rId3"/>
    <p:sldId id="1319" r:id="rId4"/>
    <p:sldId id="1339" r:id="rId5"/>
    <p:sldId id="1321" r:id="rId6"/>
    <p:sldId id="1340" r:id="rId7"/>
    <p:sldId id="1323" r:id="rId8"/>
    <p:sldId id="1322" r:id="rId9"/>
    <p:sldId id="1324" r:id="rId10"/>
    <p:sldId id="1341" r:id="rId11"/>
    <p:sldId id="1320" r:id="rId12"/>
    <p:sldId id="1325" r:id="rId13"/>
    <p:sldId id="1326" r:id="rId14"/>
    <p:sldId id="1327" r:id="rId15"/>
    <p:sldId id="1328" r:id="rId16"/>
    <p:sldId id="1329" r:id="rId17"/>
    <p:sldId id="1331" r:id="rId18"/>
    <p:sldId id="1333" r:id="rId19"/>
    <p:sldId id="1332" r:id="rId20"/>
    <p:sldId id="1334" r:id="rId21"/>
    <p:sldId id="1335" r:id="rId22"/>
    <p:sldId id="1336" r:id="rId23"/>
    <p:sldId id="1337" r:id="rId24"/>
    <p:sldId id="1345" r:id="rId25"/>
    <p:sldId id="1342" r:id="rId26"/>
    <p:sldId id="1343" r:id="rId27"/>
    <p:sldId id="1344" r:id="rId28"/>
    <p:sldId id="1346" r:id="rId29"/>
    <p:sldId id="1347" r:id="rId30"/>
    <p:sldId id="1330" r:id="rId31"/>
    <p:sldId id="1348" r:id="rId32"/>
    <p:sldId id="1338" r:id="rId33"/>
  </p:sldIdLst>
  <p:sldSz cx="9144000" cy="6858000" type="screen4x3"/>
  <p:notesSz cx="6742113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55759C"/>
    <a:srgbClr val="4F81BD"/>
    <a:srgbClr val="0000FF"/>
    <a:srgbClr val="FFC000"/>
    <a:srgbClr val="66FF33"/>
    <a:srgbClr val="FF9900"/>
    <a:srgbClr val="595959"/>
    <a:srgbClr val="BCBCBC"/>
    <a:srgbClr val="61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4" autoAdjust="0"/>
    <p:restoredTop sz="92852" autoAdjust="0"/>
  </p:normalViewPr>
  <p:slideViewPr>
    <p:cSldViewPr snapToObjects="1">
      <p:cViewPr varScale="1">
        <p:scale>
          <a:sx n="115" d="100"/>
          <a:sy n="115" d="100"/>
        </p:scale>
        <p:origin x="10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1" d="100"/>
          <a:sy n="101" d="100"/>
        </p:scale>
        <p:origin x="-3018" y="-90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>
              <a:defRPr sz="1200"/>
            </a:lvl1pPr>
          </a:lstStyle>
          <a:p>
            <a:fld id="{85C30BFA-5C6F-4751-A60F-1891D9D032AD}" type="datetimeFigureOut">
              <a:rPr lang="ko-KR" altLang="en-US" smtClean="0"/>
              <a:pPr/>
              <a:t>2022-09-04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>
              <a:defRPr sz="1200"/>
            </a:lvl1pPr>
          </a:lstStyle>
          <a:p>
            <a:fld id="{E885786E-BF44-4B4E-B288-71366A7332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1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688D100-9705-4248-87A6-B01B0E7D9CB9}" type="datetimeFigureOut">
              <a:rPr lang="ko-KR" altLang="en-US"/>
              <a:pPr>
                <a:defRPr/>
              </a:pPr>
              <a:t>2022-09-04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553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5" tIns="45423" rIns="90845" bIns="4542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690269"/>
            <a:ext cx="5393690" cy="4443412"/>
          </a:xfrm>
          <a:prstGeom prst="rect">
            <a:avLst/>
          </a:prstGeom>
        </p:spPr>
        <p:txBody>
          <a:bodyPr vert="horz" lIns="90845" tIns="45423" rIns="90845" bIns="4542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11EDD26-A168-4EA9-A3CB-289510ED91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9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43042" y="2000240"/>
            <a:ext cx="7215238" cy="1714511"/>
          </a:xfrm>
          <a:solidFill>
            <a:schemeClr val="tx1"/>
          </a:solidFill>
          <a:ln/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  <a:softEdge rad="63500"/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none"/>
        </p:style>
        <p:txBody>
          <a:bodyPr>
            <a:normAutofit/>
          </a:bodyPr>
          <a:lstStyle>
            <a:lvl1pPr marL="93663" indent="0" algn="l">
              <a:defRPr sz="2800" b="0" cap="none" spc="0" baseline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noProof="0" dirty="0"/>
              <a:t>마스터</a:t>
            </a:r>
            <a:r>
              <a:rPr lang="en-US" altLang="ko-KR" dirty="0"/>
              <a:t> </a:t>
            </a:r>
            <a:r>
              <a:rPr lang="ko-KR" altLang="en-US" dirty="0"/>
              <a:t>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14480" y="4286256"/>
            <a:ext cx="6715172" cy="2071702"/>
          </a:xfrm>
        </p:spPr>
        <p:txBody>
          <a:bodyPr>
            <a:normAutofit/>
          </a:bodyPr>
          <a:lstStyle>
            <a:lvl1pPr marL="74613" indent="0" algn="r">
              <a:buNone/>
              <a:defRPr sz="2000" baseline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357158" y="2000240"/>
            <a:ext cx="928694" cy="785818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571472" y="2500306"/>
            <a:ext cx="928694" cy="78581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214282" y="2928934"/>
            <a:ext cx="928694" cy="7858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6406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013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1233870" y="2271543"/>
            <a:ext cx="7119359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548358" y="1018919"/>
            <a:ext cx="6809830" cy="1202124"/>
          </a:xfrm>
        </p:spPr>
        <p:txBody>
          <a:bodyPr anchor="b" anchorCtr="0">
            <a:normAutofit/>
          </a:bodyPr>
          <a:lstStyle>
            <a:lvl1pPr algn="r">
              <a:defRPr sz="32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359532" y="857722"/>
            <a:ext cx="694318" cy="652444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673326" y="1336396"/>
            <a:ext cx="694318" cy="65244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272173" y="1636316"/>
            <a:ext cx="694318" cy="65244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9132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>
            <a:lvl1pPr marL="452438" indent="-452438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>
              <a:spcBef>
                <a:spcPts val="800"/>
              </a:spcBef>
              <a:buFontTx/>
              <a:buBlip>
                <a:blip r:embed="rId2"/>
              </a:buBlip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>
              <a:spcBef>
                <a:spcPts val="700"/>
              </a:spcBef>
              <a:defRPr sz="1800" baseline="0">
                <a:latin typeface="+mj-ea"/>
                <a:ea typeface="+mj-ea"/>
              </a:defRPr>
            </a:lvl3pPr>
            <a:lvl4pPr>
              <a:spcBef>
                <a:spcPts val="600"/>
              </a:spcBef>
              <a:defRPr sz="1800" baseline="0">
                <a:latin typeface="+mj-ea"/>
                <a:ea typeface="+mj-ea"/>
              </a:defRPr>
            </a:lvl4pPr>
            <a:lvl5pPr>
              <a:spcBef>
                <a:spcPts val="500"/>
              </a:spcBef>
              <a:defRPr sz="1600" baseline="0"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>
            <a:cxnSpLocks/>
          </p:cNvCxnSpPr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3642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7" name="직선 연결선 16"/>
          <p:cNvCxnSpPr>
            <a:cxnSpLocks/>
          </p:cNvCxnSpPr>
          <p:nvPr userDrawn="1"/>
        </p:nvCxnSpPr>
        <p:spPr>
          <a:xfrm flipV="1">
            <a:off x="0" y="6561348"/>
            <a:ext cx="9144000" cy="197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250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D88BC96-86ED-4F8B-B297-F70E08D8F79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6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35" r:id="rId3"/>
    <p:sldLayoutId id="2147483836" r:id="rId4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sz="36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MetaFormer</a:t>
            </a:r>
            <a:r>
              <a:rPr lang="ko-KR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is</a:t>
            </a:r>
            <a:r>
              <a:rPr lang="ko-KR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Actually What You Need for Vision</a:t>
            </a:r>
            <a:endParaRPr lang="ko-KR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발표자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 </a:t>
            </a:r>
          </a:p>
          <a:p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김병현 </a:t>
            </a:r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  <a:p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  <a:p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이미지처리팀</a:t>
            </a:r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  <a:p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김준철 박재완 </a:t>
            </a:r>
            <a:r>
              <a:rPr lang="ko-KR" altLang="en-US" b="1" dirty="0" err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이희재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 조경진</a:t>
            </a:r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0D231-9F58-5AE5-02DE-85AB3EB33A0B}"/>
              </a:ext>
            </a:extLst>
          </p:cNvPr>
          <p:cNvSpPr txBox="1"/>
          <p:nvPr/>
        </p:nvSpPr>
        <p:spPr>
          <a:xfrm>
            <a:off x="4154102" y="1462941"/>
            <a:ext cx="4630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CVPR 2022 Oral</a:t>
            </a:r>
          </a:p>
        </p:txBody>
      </p:sp>
    </p:spTree>
    <p:extLst>
      <p:ext uri="{BB962C8B-B14F-4D97-AF65-F5344CB8AC3E}">
        <p14:creationId xmlns:p14="http://schemas.microsoft.com/office/powerpoint/2010/main" val="79576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</a:t>
            </a:r>
            <a:r>
              <a:rPr lang="en-US" altLang="ko-KR" dirty="0" err="1"/>
              <a:t>MetaFormer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Generalized Transformer Architecture </a:t>
            </a:r>
          </a:p>
          <a:p>
            <a:pPr lvl="1"/>
            <a:r>
              <a:rPr lang="en-US" altLang="ko-KR" dirty="0"/>
              <a:t>Any token mixer performs well in </a:t>
            </a:r>
            <a:r>
              <a:rPr lang="en-US" altLang="ko-KR" dirty="0" err="1"/>
              <a:t>MetaFormer</a:t>
            </a:r>
            <a:r>
              <a:rPr lang="en-US" altLang="ko-KR" dirty="0"/>
              <a:t> arch. for CV tasks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10E740-3942-19E9-FC49-A3A49DE4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2" y="2420461"/>
            <a:ext cx="8496436" cy="3345371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F0FCB37-D1A1-89ED-61BC-3D7B774F168E}"/>
              </a:ext>
            </a:extLst>
          </p:cNvPr>
          <p:cNvSpPr/>
          <p:nvPr/>
        </p:nvSpPr>
        <p:spPr>
          <a:xfrm>
            <a:off x="214282" y="2420460"/>
            <a:ext cx="1513402" cy="34568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1198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3437B-0B44-EA0C-8A0F-C347BF7F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Rise of Transformers in Computer Vision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AC796-E5E7-E3C9-314C-DE229E07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changes from conventional CNNs to </a:t>
            </a:r>
            <a:r>
              <a:rPr lang="en-US" altLang="ko-KR" dirty="0" err="1"/>
              <a:t>ViTs</a:t>
            </a:r>
            <a:endParaRPr lang="en-US" altLang="ko-KR" dirty="0"/>
          </a:p>
          <a:p>
            <a:pPr lvl="1"/>
            <a:r>
              <a:rPr lang="en-US" altLang="ko-KR" dirty="0"/>
              <a:t>Patch Embedding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0EDDE-F640-8FA7-E285-A4BA18A18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D72E61D-4BE8-0AA1-CFE9-EE2B7866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52" y="2336832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B65EDE-658F-9538-16AF-70FA262C928B}"/>
              </a:ext>
            </a:extLst>
          </p:cNvPr>
          <p:cNvSpPr txBox="1"/>
          <p:nvPr/>
        </p:nvSpPr>
        <p:spPr>
          <a:xfrm>
            <a:off x="2172469" y="5929371"/>
            <a:ext cx="46303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Roboto" panose="020B0604020202020204" pitchFamily="2" charset="0"/>
              </a:rPr>
              <a:t>Convolutional Layer with Kernel</a:t>
            </a:r>
            <a:endParaRPr lang="ko-KR" altLang="en-US" sz="1600" dirty="0">
              <a:latin typeface="Roboto" panose="020B06040202020202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1534C0-A8CF-C584-8463-FD59AC5FD5F9}"/>
              </a:ext>
            </a:extLst>
          </p:cNvPr>
          <p:cNvSpPr txBox="1"/>
          <p:nvPr/>
        </p:nvSpPr>
        <p:spPr>
          <a:xfrm>
            <a:off x="1943708" y="6280965"/>
            <a:ext cx="71684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/>
              <a:t>https://medium.com/mad-data-science/convolution-networks-for-dummies-aa8b086020ef</a:t>
            </a:r>
          </a:p>
        </p:txBody>
      </p:sp>
    </p:spTree>
    <p:extLst>
      <p:ext uri="{BB962C8B-B14F-4D97-AF65-F5344CB8AC3E}">
        <p14:creationId xmlns:p14="http://schemas.microsoft.com/office/powerpoint/2010/main" val="16780861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3437B-0B44-EA0C-8A0F-C347BF7F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Rise of Transformers in Computer Vision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0AC796-E5E7-E3C9-314C-DE229E07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changes from conventional CNNs to </a:t>
            </a:r>
            <a:r>
              <a:rPr lang="en-US" altLang="ko-KR" dirty="0" err="1"/>
              <a:t>ViTs</a:t>
            </a:r>
            <a:endParaRPr lang="en-US" altLang="ko-KR" dirty="0"/>
          </a:p>
          <a:p>
            <a:pPr lvl="1"/>
            <a:r>
              <a:rPr lang="en-US" altLang="ko-KR" dirty="0"/>
              <a:t>Patch Embedding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0EDDE-F640-8FA7-E285-A4BA18A18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8513EB-53B6-04E5-3BD5-6FBDF6B7A599}"/>
              </a:ext>
            </a:extLst>
          </p:cNvPr>
          <p:cNvGrpSpPr/>
          <p:nvPr/>
        </p:nvGrpSpPr>
        <p:grpSpPr>
          <a:xfrm>
            <a:off x="1025522" y="2026466"/>
            <a:ext cx="7332666" cy="4275666"/>
            <a:chOff x="4281954" y="1832926"/>
            <a:chExt cx="5307996" cy="427566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8B2AEC-3115-8D75-7A50-F02C1AD824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7252" y="1832926"/>
              <a:ext cx="4935589" cy="3874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D025D7-87E6-0A33-204E-E016EE0302AB}"/>
                </a:ext>
              </a:extLst>
            </p:cNvPr>
            <p:cNvSpPr txBox="1"/>
            <p:nvPr/>
          </p:nvSpPr>
          <p:spPr>
            <a:xfrm>
              <a:off x="4281954" y="5770038"/>
              <a:ext cx="53079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b="0" i="0" dirty="0">
                  <a:effectLst/>
                  <a:latin typeface="Roboto" panose="020B0604020202020204" pitchFamily="2" charset="0"/>
                </a:rPr>
                <a:t>The Vision Transformer treats an input image as a sequence of patches</a:t>
              </a:r>
              <a:endParaRPr lang="ko-KR" altLang="en-US" sz="16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88E21D9-5706-EFCA-8A1F-E87972A70DB5}"/>
              </a:ext>
            </a:extLst>
          </p:cNvPr>
          <p:cNvSpPr txBox="1"/>
          <p:nvPr/>
        </p:nvSpPr>
        <p:spPr>
          <a:xfrm>
            <a:off x="4361104" y="6298626"/>
            <a:ext cx="46303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https://ai.googleblog.com/2020/12/transformers-for-image-recognition-at.html</a:t>
            </a:r>
          </a:p>
        </p:txBody>
      </p:sp>
    </p:spTree>
    <p:extLst>
      <p:ext uri="{BB962C8B-B14F-4D97-AF65-F5344CB8AC3E}">
        <p14:creationId xmlns:p14="http://schemas.microsoft.com/office/powerpoint/2010/main" val="48094635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30580-0778-6B8A-2146-931A9093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Rise of Transformers in Computer Vision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5B180-38BD-0595-1DA8-30B4F381F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changes from conventional CNNs to </a:t>
            </a:r>
            <a:r>
              <a:rPr lang="en-US" altLang="ko-KR" dirty="0" err="1"/>
              <a:t>ViTs</a:t>
            </a:r>
            <a:endParaRPr lang="en-US" altLang="ko-KR" dirty="0"/>
          </a:p>
          <a:p>
            <a:pPr lvl="1"/>
            <a:r>
              <a:rPr lang="en-US" altLang="ko-KR" dirty="0"/>
              <a:t>Attention module (Token mixer mechanism)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F0CC8-3D6F-C008-3CA3-6A3E13017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90235B-DF25-2BEA-66ED-0B3D584D24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21" t="4822" r="28260" b="24439"/>
          <a:stretch/>
        </p:blipFill>
        <p:spPr>
          <a:xfrm>
            <a:off x="1097329" y="2049893"/>
            <a:ext cx="7020780" cy="3813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907B7A-E58C-6E44-774F-7A27C006B8D6}"/>
              </a:ext>
            </a:extLst>
          </p:cNvPr>
          <p:cNvSpPr txBox="1"/>
          <p:nvPr/>
        </p:nvSpPr>
        <p:spPr>
          <a:xfrm>
            <a:off x="2123728" y="5780689"/>
            <a:ext cx="5120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Roboto" panose="020B0604020202020204" pitchFamily="2" charset="0"/>
              </a:rPr>
              <a:t>Self-attention for a set of reference points (from DINO)</a:t>
            </a:r>
            <a:endParaRPr lang="ko-KR" altLang="en-US" sz="1600" dirty="0">
              <a:latin typeface="Roboto" panose="020B06040202020202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9028E-FB1A-8BEB-EF06-A5805044EDE9}"/>
              </a:ext>
            </a:extLst>
          </p:cNvPr>
          <p:cNvSpPr txBox="1"/>
          <p:nvPr/>
        </p:nvSpPr>
        <p:spPr>
          <a:xfrm>
            <a:off x="2828283" y="6199513"/>
            <a:ext cx="63157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Caron, M.,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Touvron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H.,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Misra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I.,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Jégou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H.,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Mairal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Bojanowski, P., &amp; </a:t>
            </a:r>
            <a:r>
              <a:rPr lang="en-US" altLang="ko-KR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Joulin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(2021). Emerging properties in self-supervised vision transformers. In </a:t>
            </a:r>
            <a:r>
              <a:rPr lang="en-US" altLang="ko-KR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IEEE/CVF International Conference on Computer Vision</a:t>
            </a:r>
            <a:r>
              <a:rPr lang="en-US" altLang="ko-KR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9650-9660).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73326797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8013E-C4F6-AC25-F2D1-AC9215B9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Reason for Success of Vision Transformers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69B2A9-934D-5A5B-55BB-04EFF5873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Success of Transformers attributed to the </a:t>
            </a:r>
            <a:r>
              <a:rPr lang="en-US" altLang="ko-KR" dirty="0">
                <a:solidFill>
                  <a:srgbClr val="FF0000"/>
                </a:solidFill>
              </a:rPr>
              <a:t>attention</a:t>
            </a:r>
            <a:r>
              <a:rPr lang="en-US" altLang="ko-KR" dirty="0"/>
              <a:t>-based token mixer</a:t>
            </a:r>
          </a:p>
          <a:p>
            <a:pPr lvl="1"/>
            <a:r>
              <a:rPr lang="en-US" altLang="ko-KR" dirty="0"/>
              <a:t>Robustness against occlusion, distribution shift, adversarial patch, permutation, auto-segment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357AA-0F11-DCDA-4C22-600048605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4A56D3-C391-5F42-96BE-B7700E014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30" y="3140968"/>
            <a:ext cx="8787243" cy="25050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E27838-85CD-66BD-13FD-B06FB166B466}"/>
              </a:ext>
            </a:extLst>
          </p:cNvPr>
          <p:cNvSpPr txBox="1"/>
          <p:nvPr/>
        </p:nvSpPr>
        <p:spPr>
          <a:xfrm>
            <a:off x="2494852" y="6100724"/>
            <a:ext cx="6506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Naseer, M. M., Ranasinghe, K., Khan, S. H., Hayat, M., Shahbaz Khan, F., &amp; Yang, M. H. (2021). Intriguing properties of vision transformers. 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34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23296-23308.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786055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D906E-DDA7-8A68-4EC0-4AD194FC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Variants of Attention Module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FCDAF-E360-C11B-19E7-053CA201D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Attention-based Token Mixers</a:t>
            </a:r>
          </a:p>
          <a:p>
            <a:pPr lvl="1"/>
            <a:r>
              <a:rPr lang="en-US" altLang="ko-KR" dirty="0" err="1"/>
              <a:t>ConViT</a:t>
            </a:r>
            <a:r>
              <a:rPr lang="en-US" altLang="ko-KR" dirty="0"/>
              <a:t> with Gated Positional Self-Attention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E7F51F-B5A6-223E-A758-A318A1E1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DBFF0C-849D-30E6-2E72-730745FFE0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48"/>
          <a:stretch/>
        </p:blipFill>
        <p:spPr>
          <a:xfrm>
            <a:off x="2127759" y="2240868"/>
            <a:ext cx="4633446" cy="413078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58E4DE7-4369-6BF9-2834-863EE1492BDB}"/>
              </a:ext>
            </a:extLst>
          </p:cNvPr>
          <p:cNvSpPr/>
          <p:nvPr/>
        </p:nvSpPr>
        <p:spPr>
          <a:xfrm>
            <a:off x="2699792" y="4041068"/>
            <a:ext cx="1116124" cy="900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4161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D906E-DDA7-8A68-4EC0-4AD194FC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Variants of Attention Module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FCDAF-E360-C11B-19E7-053CA201D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Spatial multi-layered perceptron (MLP)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E7F51F-B5A6-223E-A758-A318A1E1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9CE792-0543-9B9A-C00D-61AB88746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3" r="9217" b="22266"/>
          <a:stretch/>
        </p:blipFill>
        <p:spPr>
          <a:xfrm>
            <a:off x="971600" y="1788519"/>
            <a:ext cx="7579350" cy="4097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1175B2-E5EF-5AFF-12F6-02CA71C6D97F}"/>
              </a:ext>
            </a:extLst>
          </p:cNvPr>
          <p:cNvSpPr txBox="1"/>
          <p:nvPr/>
        </p:nvSpPr>
        <p:spPr>
          <a:xfrm>
            <a:off x="2419000" y="6140859"/>
            <a:ext cx="67334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Tolstikhin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I. O.,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Houlsby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N., Kolesnikov, A., Beyer, L.,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Zhai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X.,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Unterthiner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... &amp;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Dosovitskiy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(2021). 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Mlp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-mixer: An all-</a:t>
            </a:r>
            <a:r>
              <a:rPr lang="en-US" altLang="ko-KR" sz="1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mlp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architecture for vision. 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ko-KR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34</a:t>
            </a:r>
            <a:r>
              <a:rPr lang="en-US" altLang="ko-KR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24261-24272.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0BA5FB-536E-B0C7-2D79-ED8CE5657E39}"/>
              </a:ext>
            </a:extLst>
          </p:cNvPr>
          <p:cNvSpPr/>
          <p:nvPr/>
        </p:nvSpPr>
        <p:spPr>
          <a:xfrm>
            <a:off x="3671900" y="2348880"/>
            <a:ext cx="792088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1F078BC-DB1C-3C22-1AC3-C7DE0A80ECC4}"/>
              </a:ext>
            </a:extLst>
          </p:cNvPr>
          <p:cNvCxnSpPr/>
          <p:nvPr/>
        </p:nvCxnSpPr>
        <p:spPr>
          <a:xfrm flipV="1">
            <a:off x="2303748" y="3068960"/>
            <a:ext cx="1368152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39113A-7C72-ED24-8B7E-97E8AC539222}"/>
              </a:ext>
            </a:extLst>
          </p:cNvPr>
          <p:cNvSpPr txBox="1"/>
          <p:nvPr/>
        </p:nvSpPr>
        <p:spPr>
          <a:xfrm>
            <a:off x="503548" y="3609020"/>
            <a:ext cx="22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Token Mixing MLP</a:t>
            </a:r>
            <a:endParaRPr lang="ko-KR" altLang="en-US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637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AF48-8ABE-EE54-8D5C-7B22245D0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Variants of Attention Module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172D0-8EC2-F362-67C6-21F9BF85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Token mixer with 2D FFT and IFFT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4181FA-069C-DB90-3975-B89BB25C8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112E9D-717C-D599-AD62-F284698F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48" y="1794360"/>
            <a:ext cx="7632340" cy="4076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4AC51-5103-1DAC-18DC-C79A88FE4377}"/>
              </a:ext>
            </a:extLst>
          </p:cNvPr>
          <p:cNvSpPr txBox="1"/>
          <p:nvPr/>
        </p:nvSpPr>
        <p:spPr>
          <a:xfrm>
            <a:off x="3241086" y="6069947"/>
            <a:ext cx="56886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Rao, Y., Zhao, W., Zhu, Z., Lu, J., &amp; Zhou, J. (2021). Global filter networks for image classification. </a:t>
            </a:r>
            <a:r>
              <a:rPr lang="en-US" altLang="ko-KR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ko-K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ko-KR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34</a:t>
            </a:r>
            <a:r>
              <a:rPr lang="en-US" altLang="ko-KR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980-993.</a:t>
            </a:r>
            <a:endParaRPr lang="ko-KR" altLang="en-US" sz="10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6EE5AFD-6861-8C99-E418-06DE21895E8B}"/>
              </a:ext>
            </a:extLst>
          </p:cNvPr>
          <p:cNvSpPr/>
          <p:nvPr/>
        </p:nvSpPr>
        <p:spPr>
          <a:xfrm>
            <a:off x="5508104" y="3356992"/>
            <a:ext cx="2412268" cy="18722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93919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9D5D-1387-D51C-2916-31BE3AD3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Degradation of Attention Module in </a:t>
            </a:r>
            <a:r>
              <a:rPr lang="en-US" altLang="ko-KR" dirty="0" err="1"/>
              <a:t>ViTs</a:t>
            </a:r>
            <a:r>
              <a:rPr lang="en-US" altLang="ko-KR" dirty="0"/>
              <a:t>…?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DA95E-DB85-EAEC-677C-32A8BD42FE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pic>
        <p:nvPicPr>
          <p:cNvPr id="5" name="Picture 4" descr="Hmm... - Meme - MemesHappen">
            <a:extLst>
              <a:ext uri="{FF2B5EF4-FFF2-40B4-BE49-F238E27FC236}">
                <a16:creationId xmlns:a16="http://schemas.microsoft.com/office/drawing/2014/main" id="{6DF600D1-5502-FF7F-A072-2CCE32E2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224" y="4757384"/>
            <a:ext cx="2380493" cy="175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lf-Attention In Computer Vision | by Branislav Holländer | Towards Data  Science">
            <a:extLst>
              <a:ext uri="{FF2B5EF4-FFF2-40B4-BE49-F238E27FC236}">
                <a16:creationId xmlns:a16="http://schemas.microsoft.com/office/drawing/2014/main" id="{F658F2BC-1D36-A8E3-D073-E39D863CB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2168860"/>
            <a:ext cx="2766801" cy="194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7BB6D-7739-C11D-B757-779D6157F6F4}"/>
              </a:ext>
            </a:extLst>
          </p:cNvPr>
          <p:cNvSpPr txBox="1"/>
          <p:nvPr/>
        </p:nvSpPr>
        <p:spPr>
          <a:xfrm>
            <a:off x="464790" y="4247255"/>
            <a:ext cx="21242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Roboto" panose="020B0604020202020204" pitchFamily="2" charset="0"/>
              </a:rPr>
              <a:t>Self-Attention</a:t>
            </a:r>
            <a:endParaRPr lang="ko-KR" altLang="en-US" sz="1600" dirty="0">
              <a:latin typeface="Roboto" panose="020B0604020202020204" pitchFamily="2" charset="0"/>
            </a:endParaRPr>
          </a:p>
        </p:txBody>
      </p:sp>
      <p:pic>
        <p:nvPicPr>
          <p:cNvPr id="2052" name="Picture 4" descr="Multi layer Perceptron (MLP) Models on Real World Banking Data | by Awhan  Mohanty | Becoming Human: Artificial Intelligence Magazine">
            <a:extLst>
              <a:ext uri="{FF2B5EF4-FFF2-40B4-BE49-F238E27FC236}">
                <a16:creationId xmlns:a16="http://schemas.microsoft.com/office/drawing/2014/main" id="{FC1FBB69-FDB3-B182-792F-00CBE8E9A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636" y="2209463"/>
            <a:ext cx="2766801" cy="203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791B6EF-F914-BD2E-B3F3-6CE49BFD9E20}"/>
              </a:ext>
            </a:extLst>
          </p:cNvPr>
          <p:cNvSpPr/>
          <p:nvPr/>
        </p:nvSpPr>
        <p:spPr>
          <a:xfrm>
            <a:off x="2987824" y="2926093"/>
            <a:ext cx="506699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6CE27-8199-8F4F-AB18-5138884FFAD3}"/>
              </a:ext>
            </a:extLst>
          </p:cNvPr>
          <p:cNvSpPr txBox="1"/>
          <p:nvPr/>
        </p:nvSpPr>
        <p:spPr>
          <a:xfrm>
            <a:off x="3494873" y="4253250"/>
            <a:ext cx="2592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Roboto" panose="020B0604020202020204" pitchFamily="2" charset="0"/>
              </a:rPr>
              <a:t>Multi-layered Perceptron</a:t>
            </a:r>
            <a:endParaRPr lang="ko-KR" altLang="en-US" sz="1600" dirty="0">
              <a:latin typeface="Roboto" panose="020B0604020202020204" pitchFamily="2" charset="0"/>
            </a:endParaRPr>
          </a:p>
        </p:txBody>
      </p:sp>
      <p:pic>
        <p:nvPicPr>
          <p:cNvPr id="2054" name="Picture 6" descr="FFT">
            <a:extLst>
              <a:ext uri="{FF2B5EF4-FFF2-40B4-BE49-F238E27FC236}">
                <a16:creationId xmlns:a16="http://schemas.microsoft.com/office/drawing/2014/main" id="{57EAA677-0251-C2C2-F301-658FF0D7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478" y="2387250"/>
            <a:ext cx="2546556" cy="178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780BCD6-C7DA-33D4-E882-9ADC380BE419}"/>
              </a:ext>
            </a:extLst>
          </p:cNvPr>
          <p:cNvSpPr/>
          <p:nvPr/>
        </p:nvSpPr>
        <p:spPr>
          <a:xfrm>
            <a:off x="5939803" y="2906642"/>
            <a:ext cx="506699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0CD9C-C863-6F1F-85A5-2233AA808347}"/>
              </a:ext>
            </a:extLst>
          </p:cNvPr>
          <p:cNvSpPr txBox="1"/>
          <p:nvPr/>
        </p:nvSpPr>
        <p:spPr>
          <a:xfrm>
            <a:off x="6382594" y="4253425"/>
            <a:ext cx="2592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Roboto" panose="020B0604020202020204" pitchFamily="2" charset="0"/>
              </a:rPr>
              <a:t>Fourier Transform</a:t>
            </a:r>
            <a:endParaRPr lang="ko-KR" altLang="en-US" sz="1600" dirty="0">
              <a:latin typeface="Roboto" panose="020B060402020202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0A5D6-6464-F89B-0832-7B4B75BD3FDC}"/>
              </a:ext>
            </a:extLst>
          </p:cNvPr>
          <p:cNvSpPr txBox="1"/>
          <p:nvPr/>
        </p:nvSpPr>
        <p:spPr>
          <a:xfrm>
            <a:off x="423286" y="1596314"/>
            <a:ext cx="2124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Roboto" panose="020B0604020202020204" pitchFamily="2" charset="0"/>
              </a:rPr>
              <a:t>2010s</a:t>
            </a:r>
            <a:endParaRPr lang="ko-KR" altLang="en-US" sz="2400" dirty="0">
              <a:latin typeface="Roboto" panose="020B06040202020202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3C226B-CE05-5F13-4A2F-0ED7621F3146}"/>
              </a:ext>
            </a:extLst>
          </p:cNvPr>
          <p:cNvSpPr txBox="1"/>
          <p:nvPr/>
        </p:nvSpPr>
        <p:spPr>
          <a:xfrm>
            <a:off x="3707904" y="1571507"/>
            <a:ext cx="2124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Roboto" panose="020B0604020202020204" pitchFamily="2" charset="0"/>
              </a:rPr>
              <a:t>1980s</a:t>
            </a:r>
            <a:endParaRPr lang="ko-KR" altLang="en-US" sz="2400" dirty="0">
              <a:latin typeface="Roboto" panose="020B06040202020202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9DCD0-9A3F-6678-1468-B86325CD9BDC}"/>
              </a:ext>
            </a:extLst>
          </p:cNvPr>
          <p:cNvSpPr txBox="1"/>
          <p:nvPr/>
        </p:nvSpPr>
        <p:spPr>
          <a:xfrm>
            <a:off x="6596478" y="1571506"/>
            <a:ext cx="2124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Roboto" panose="020B0604020202020204" pitchFamily="2" charset="0"/>
              </a:rPr>
              <a:t>1800s</a:t>
            </a:r>
            <a:endParaRPr lang="ko-KR" altLang="en-US" sz="2400" dirty="0">
              <a:latin typeface="Roboto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46812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3E40B-F291-5A26-A594-D4D04E2F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Motivation of </a:t>
            </a:r>
            <a:r>
              <a:rPr lang="en-US" altLang="ko-KR" dirty="0" err="1"/>
              <a:t>MetaFormer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23AF24-62A1-43A7-13C2-5B71B45F2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ko-KR" sz="2000" dirty="0"/>
          </a:p>
          <a:p>
            <a:pPr marL="0" indent="0" algn="ctr">
              <a:buNone/>
            </a:pPr>
            <a:endParaRPr lang="en-US" altLang="ko-KR" sz="2000" dirty="0"/>
          </a:p>
          <a:p>
            <a:pPr marL="0" indent="0" algn="ctr">
              <a:buNone/>
            </a:pPr>
            <a:r>
              <a:rPr lang="en-US" altLang="ko-KR" dirty="0"/>
              <a:t>What if </a:t>
            </a:r>
            <a:r>
              <a:rPr lang="en-US" altLang="ko-KR" u="sng" dirty="0"/>
              <a:t>Attention</a:t>
            </a:r>
            <a:r>
              <a:rPr lang="en-US" altLang="ko-KR" dirty="0"/>
              <a:t> is not that important ….???</a:t>
            </a:r>
          </a:p>
          <a:p>
            <a:pPr marL="0" indent="0" algn="ctr">
              <a:buNone/>
            </a:pPr>
            <a:endParaRPr lang="en-US" altLang="ko-KR" sz="2800" dirty="0"/>
          </a:p>
          <a:p>
            <a:pPr marL="0" indent="0" algn="ctr">
              <a:buNone/>
            </a:pPr>
            <a:r>
              <a:rPr lang="en-US" altLang="ko-KR" sz="2800" dirty="0"/>
              <a:t>Why not non-parametric operators like </a:t>
            </a:r>
            <a:r>
              <a:rPr lang="en-US" altLang="ko-KR" sz="3600" u="sng" dirty="0"/>
              <a:t>‘</a:t>
            </a:r>
            <a:r>
              <a:rPr lang="en-US" altLang="ko-KR" sz="3600" i="1" u="sng" dirty="0"/>
              <a:t>pooling’??</a:t>
            </a:r>
            <a:endParaRPr lang="en-US" altLang="ko-KR" sz="2800" i="1" u="sng" dirty="0"/>
          </a:p>
          <a:p>
            <a:pPr marL="0" indent="0" algn="ctr">
              <a:buNone/>
            </a:pPr>
            <a:endParaRPr lang="en-US" altLang="ko-KR" sz="2800" dirty="0"/>
          </a:p>
          <a:p>
            <a:pPr marL="0" indent="0" algn="ctr">
              <a:buNone/>
            </a:pPr>
            <a:endParaRPr lang="en-US" altLang="ko-KR" sz="2800" dirty="0"/>
          </a:p>
          <a:p>
            <a:pPr marL="0" indent="0" algn="ctr">
              <a:buNone/>
            </a:pP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515B05-127E-10DD-040C-14D3D2F22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1028" name="Picture 4" descr="Hmm... - Meme - MemesHappen">
            <a:extLst>
              <a:ext uri="{FF2B5EF4-FFF2-40B4-BE49-F238E27FC236}">
                <a16:creationId xmlns:a16="http://schemas.microsoft.com/office/drawing/2014/main" id="{214A75BF-96B0-B277-32D8-51479FAD0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224" y="4757384"/>
            <a:ext cx="2380493" cy="175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30066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88718-710C-121C-13F2-14F8C519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Here comes </a:t>
            </a:r>
            <a:r>
              <a:rPr lang="en-US" altLang="ko-KR" dirty="0" err="1"/>
              <a:t>PoolFormer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F2E6F-506C-B473-B1E2-15DFA9A3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Average pooling Attention module achieved SOTA performance!!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97E278-1E50-6D3B-FD84-6793125528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7EF9CC-682C-E7A9-7404-9A03317186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220"/>
          <a:stretch/>
        </p:blipFill>
        <p:spPr>
          <a:xfrm>
            <a:off x="344447" y="2178047"/>
            <a:ext cx="4659601" cy="323117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1590507-C153-64E9-246F-15F4443CA018}"/>
              </a:ext>
            </a:extLst>
          </p:cNvPr>
          <p:cNvSpPr txBox="1">
            <a:spLocks/>
          </p:cNvSpPr>
          <p:nvPr/>
        </p:nvSpPr>
        <p:spPr bwMode="auto">
          <a:xfrm>
            <a:off x="5070846" y="2704888"/>
            <a:ext cx="8786874" cy="5408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2438" indent="-452438" algn="l" rtl="0" eaLnBrk="0" fontAlgn="base" latinLnBrk="1" hangingPunct="0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kern="120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 algn="l" rtl="0" eaLnBrk="0" fontAlgn="base" latinLnBrk="1" hangingPunct="0">
              <a:spcBef>
                <a:spcPts val="800"/>
              </a:spcBef>
              <a:spcAft>
                <a:spcPct val="0"/>
              </a:spcAft>
              <a:buFontTx/>
              <a:buBlip>
                <a:blip r:embed="rId3"/>
              </a:buBlip>
              <a:defRPr sz="2000" b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 algn="l" rtl="0" eaLnBrk="0" fontAlgn="base" latinLnBrk="1" hangingPunct="0">
              <a:spcBef>
                <a:spcPts val="700"/>
              </a:spcBef>
              <a:spcAft>
                <a:spcPct val="0"/>
              </a:spcAft>
              <a:buFont typeface="Arial" charset="0"/>
              <a:buChar char="•"/>
              <a:defRPr sz="18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ts val="600"/>
              </a:spcBef>
              <a:spcAft>
                <a:spcPct val="0"/>
              </a:spcAft>
              <a:buFont typeface="Arial" charset="0"/>
              <a:buChar char="–"/>
              <a:defRPr sz="18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ts val="500"/>
              </a:spcBef>
              <a:spcAft>
                <a:spcPct val="0"/>
              </a:spcAft>
              <a:buFont typeface="Arial" charset="0"/>
              <a:buChar char="»"/>
              <a:defRPr sz="1600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kumimoji="0" lang="en-US" altLang="ko-KR" dirty="0"/>
              <a:t>SOTA performance</a:t>
            </a:r>
          </a:p>
          <a:p>
            <a:pPr lvl="1"/>
            <a:r>
              <a:rPr kumimoji="0" lang="en-US" altLang="ko-KR" dirty="0"/>
              <a:t>Image Classification</a:t>
            </a:r>
          </a:p>
          <a:p>
            <a:pPr lvl="1"/>
            <a:r>
              <a:rPr kumimoji="0" lang="en-US" altLang="ko-KR" dirty="0"/>
              <a:t>Object Detection </a:t>
            </a:r>
          </a:p>
          <a:p>
            <a:pPr lvl="1"/>
            <a:r>
              <a:rPr kumimoji="0" lang="en-US" altLang="ko-KR" dirty="0"/>
              <a:t>Semantic Segmentation </a:t>
            </a:r>
          </a:p>
          <a:p>
            <a:pPr lvl="1"/>
            <a:r>
              <a:rPr kumimoji="0" lang="en-US" altLang="ko-KR" dirty="0"/>
              <a:t>Instance Segmentation</a:t>
            </a: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502905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65999-88EC-1858-6F57-52FE4AA8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4102F-105E-EF4A-9F36-7A0A5A58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sz="4800" dirty="0"/>
          </a:p>
          <a:p>
            <a:pPr marL="0" indent="0">
              <a:buNone/>
            </a:pPr>
            <a:endParaRPr lang="en-US" altLang="ko-KR" sz="4800" dirty="0"/>
          </a:p>
          <a:p>
            <a:pPr marL="0" indent="0" algn="ctr">
              <a:buNone/>
            </a:pPr>
            <a:r>
              <a:rPr lang="en-US" altLang="ko-KR" sz="11500" dirty="0"/>
              <a:t>Q &amp; A</a:t>
            </a:r>
            <a:r>
              <a:rPr lang="en-US" altLang="ko-KR" sz="4800" dirty="0"/>
              <a:t> </a:t>
            </a:r>
            <a:endParaRPr lang="ko-KR" altLang="en-US" sz="4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4DA2C-3649-2DC9-7AEA-0F9B81F96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633680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F5BED-7D08-4C4F-DD22-6C5FA6F4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MetaFormer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2B8A5D-43E8-5533-8502-D2602AE77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36766BD-5FF7-0BCA-CB2D-B7B8B0ED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68" y="2962210"/>
            <a:ext cx="2505425" cy="4667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E930FE-732C-DC14-4648-AC04C5560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142" y="2620198"/>
            <a:ext cx="777902" cy="3047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1AAC1A-1A45-C8D1-0FDB-C1A81E4DE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012" y="2604392"/>
            <a:ext cx="1080120" cy="3205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EF7782-5FB7-C8E9-2A24-42B73FB7D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118" y="3562804"/>
            <a:ext cx="4429743" cy="5715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5166DC-A6EB-E98F-475D-1C47BF424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921" y="4394662"/>
            <a:ext cx="3858163" cy="5620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DD1FB1C-4EB4-3299-AE58-B7094F6422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941" y="1211171"/>
            <a:ext cx="1676777" cy="449949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FBC011A-8239-1702-0E84-EEF449E1FA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645" y="1096855"/>
            <a:ext cx="323895" cy="22863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E077460-D40F-AE6E-7D44-4512E18CB2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6989" y="1490668"/>
            <a:ext cx="297055" cy="26920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F8A612-8130-D319-FDE9-26FE5079F8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5565" y="5162261"/>
            <a:ext cx="1790950" cy="43821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017E069-9AF2-3EAC-50F2-059392A1B5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8748" y="5722324"/>
            <a:ext cx="1752845" cy="4001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1D9853-2737-0D86-8BF1-9BFBBD21777E}"/>
              </a:ext>
            </a:extLst>
          </p:cNvPr>
          <p:cNvSpPr txBox="1"/>
          <p:nvPr/>
        </p:nvSpPr>
        <p:spPr>
          <a:xfrm>
            <a:off x="6251768" y="1052736"/>
            <a:ext cx="2064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: Sequence Length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EA8AD-EF80-0E43-1B56-41ABCF18D21E}"/>
              </a:ext>
            </a:extLst>
          </p:cNvPr>
          <p:cNvSpPr txBox="1"/>
          <p:nvPr/>
        </p:nvSpPr>
        <p:spPr>
          <a:xfrm>
            <a:off x="6261327" y="1434262"/>
            <a:ext cx="2271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: Embedding Dimension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F76621E-7D95-219F-A3F9-60C256DEB2CF}"/>
              </a:ext>
            </a:extLst>
          </p:cNvPr>
          <p:cNvCxnSpPr>
            <a:cxnSpLocks/>
          </p:cNvCxnSpPr>
          <p:nvPr/>
        </p:nvCxnSpPr>
        <p:spPr>
          <a:xfrm>
            <a:off x="3959932" y="3366652"/>
            <a:ext cx="2952328" cy="48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944689C-66A8-5963-3069-EB037ADD5825}"/>
              </a:ext>
            </a:extLst>
          </p:cNvPr>
          <p:cNvCxnSpPr>
            <a:cxnSpLocks/>
          </p:cNvCxnSpPr>
          <p:nvPr/>
        </p:nvCxnSpPr>
        <p:spPr>
          <a:xfrm>
            <a:off x="3959932" y="3366652"/>
            <a:ext cx="3924436" cy="40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2C239EA-3DFC-C964-7531-48B1DC419D25}"/>
              </a:ext>
            </a:extLst>
          </p:cNvPr>
          <p:cNvCxnSpPr>
            <a:cxnSpLocks/>
          </p:cNvCxnSpPr>
          <p:nvPr/>
        </p:nvCxnSpPr>
        <p:spPr>
          <a:xfrm>
            <a:off x="3922875" y="4108872"/>
            <a:ext cx="3361217" cy="472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79A9D06-6E11-5741-5315-FA5A7F468679}"/>
              </a:ext>
            </a:extLst>
          </p:cNvPr>
          <p:cNvCxnSpPr>
            <a:cxnSpLocks/>
          </p:cNvCxnSpPr>
          <p:nvPr/>
        </p:nvCxnSpPr>
        <p:spPr>
          <a:xfrm>
            <a:off x="3922875" y="4108872"/>
            <a:ext cx="1726127" cy="472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45FD4DC-5AE4-36B1-4E6B-3190464261F4}"/>
              </a:ext>
            </a:extLst>
          </p:cNvPr>
          <p:cNvGrpSpPr/>
          <p:nvPr/>
        </p:nvGrpSpPr>
        <p:grpSpPr>
          <a:xfrm>
            <a:off x="6590691" y="5193196"/>
            <a:ext cx="2314972" cy="307777"/>
            <a:chOff x="6937548" y="5149654"/>
            <a:chExt cx="2314972" cy="307777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ED87DB0D-9892-903B-A6FC-9E584D23C4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81240" t="14198" r="12729" b="26133"/>
            <a:stretch/>
          </p:blipFill>
          <p:spPr>
            <a:xfrm>
              <a:off x="6937548" y="5177285"/>
              <a:ext cx="108012" cy="26147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07899A7-9192-687D-73FF-44646D8BB7A3}"/>
                </a:ext>
              </a:extLst>
            </p:cNvPr>
            <p:cNvSpPr txBox="1"/>
            <p:nvPr/>
          </p:nvSpPr>
          <p:spPr>
            <a:xfrm>
              <a:off x="6981407" y="5149654"/>
              <a:ext cx="22711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: Expansion ratio</a:t>
              </a:r>
              <a:endParaRPr lang="ko-KR" altLang="en-US" sz="1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3D2AFBF0-E5F0-9D96-F210-47940FA59FF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5125" y="5781121"/>
            <a:ext cx="417287" cy="33855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1B3216-9BEB-894A-DF19-4B4B89410B22}"/>
              </a:ext>
            </a:extLst>
          </p:cNvPr>
          <p:cNvSpPr txBox="1"/>
          <p:nvPr/>
        </p:nvSpPr>
        <p:spPr>
          <a:xfrm>
            <a:off x="6887911" y="5768488"/>
            <a:ext cx="2271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: Non-linear activation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04792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F5BED-7D08-4C4F-DD22-6C5FA6F4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PoolFormer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2B8A5D-43E8-5533-8502-D2602AE77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A7FD2D-B8B3-8DCC-F798-1F8B2D0CFF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850"/>
          <a:stretch/>
        </p:blipFill>
        <p:spPr>
          <a:xfrm>
            <a:off x="3347864" y="1678498"/>
            <a:ext cx="5292588" cy="10145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10FDE5-EA0B-50C8-FE55-5B710EDEA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20" y="1520788"/>
            <a:ext cx="1477561" cy="443268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4798D33-3587-E589-6375-B3E5834B9D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6" t="54606" r="90944" b="20552"/>
          <a:stretch/>
        </p:blipFill>
        <p:spPr>
          <a:xfrm>
            <a:off x="6912260" y="2240236"/>
            <a:ext cx="108012" cy="2520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A849DD2-7808-5A63-8495-92C678C568CF}"/>
              </a:ext>
            </a:extLst>
          </p:cNvPr>
          <p:cNvSpPr/>
          <p:nvPr/>
        </p:nvSpPr>
        <p:spPr>
          <a:xfrm>
            <a:off x="4178604" y="1787334"/>
            <a:ext cx="3636404" cy="905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E6D61-1157-0E0B-3D77-4B5F70E582B0}"/>
              </a:ext>
            </a:extLst>
          </p:cNvPr>
          <p:cNvSpPr txBox="1"/>
          <p:nvPr/>
        </p:nvSpPr>
        <p:spPr>
          <a:xfrm>
            <a:off x="5076056" y="1448780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Average Pooling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FEA8EF-99BA-234A-4A3A-9991E70C2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926" y="3033132"/>
            <a:ext cx="4176464" cy="30054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D83E1B-B262-34A6-168B-CAC96D02D91F}"/>
              </a:ext>
            </a:extLst>
          </p:cNvPr>
          <p:cNvSpPr txBox="1"/>
          <p:nvPr/>
        </p:nvSpPr>
        <p:spPr>
          <a:xfrm>
            <a:off x="6300191" y="2694578"/>
            <a:ext cx="2340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: kernel</a:t>
            </a:r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size</a:t>
            </a:r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(odd number)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1B2DE60-A819-3D7D-6D5F-0922A52AEF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89" t="58155" r="79881" b="8474"/>
          <a:stretch/>
        </p:blipFill>
        <p:spPr>
          <a:xfrm>
            <a:off x="6086117" y="2737026"/>
            <a:ext cx="289429" cy="3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2296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0F5BB-DDAE-D04D-AA2C-98747355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PoolFormer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0FE1B-7F67-939A-24D3-758F8CDB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66012-C5EA-66FA-7426-044762285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7DC2DD-FB84-EF60-98E1-74385B6D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280023"/>
            <a:ext cx="8358188" cy="303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1529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911A7-8FE1-EF9C-A5A2-37B7CDC4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PoolFormer</a:t>
            </a:r>
            <a:r>
              <a:rPr lang="en-US" altLang="ko-KR" dirty="0"/>
              <a:t> Configuration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5AB60-C067-D688-7738-EC2705917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0B0BBA-0E77-0DB9-586F-FFC1EEED3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517"/>
          <a:stretch/>
        </p:blipFill>
        <p:spPr>
          <a:xfrm>
            <a:off x="2447764" y="1052736"/>
            <a:ext cx="4156347" cy="543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4789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65999-88EC-1858-6F57-52FE4AA8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4102F-105E-EF4A-9F36-7A0A5A58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sz="4800" dirty="0"/>
          </a:p>
          <a:p>
            <a:pPr marL="0" indent="0">
              <a:buNone/>
            </a:pPr>
            <a:endParaRPr lang="en-US" altLang="ko-KR" sz="4800" dirty="0"/>
          </a:p>
          <a:p>
            <a:pPr marL="0" indent="0" algn="ctr">
              <a:buNone/>
            </a:pPr>
            <a:r>
              <a:rPr lang="en-US" altLang="ko-KR" sz="11500" dirty="0"/>
              <a:t>Q &amp; A</a:t>
            </a:r>
            <a:r>
              <a:rPr lang="en-US" altLang="ko-KR" sz="4800" dirty="0"/>
              <a:t> </a:t>
            </a:r>
            <a:endParaRPr lang="ko-KR" altLang="en-US" sz="4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4DA2C-3649-2DC9-7AEA-0F9B81F96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28276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B38FC-D6BF-B87F-08B1-BAEC1D7C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Experiments: Image Classification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9996D7-9AD5-435C-51B1-E0DA44B4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Top1 accuracy on ImageNet-1K validation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877C02-BCB8-18DA-1597-EEB74CA13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997242-DD99-A273-4E87-C450D446C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2306123"/>
            <a:ext cx="8786874" cy="29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0061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EA1B3-61F1-E73B-12A6-B2E5B0FE0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Experiments: Image Classification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8C229-5A8C-0965-E3A0-4BB366E2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Top1 accuracy on ImageNet-1K validation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097DD5-2C6D-1CA0-6CD7-B4348011B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E91866-3BA8-2325-A58D-FA3526F6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79" y="1664804"/>
            <a:ext cx="6362842" cy="448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0964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ED4D0-095F-0571-7F0B-9BFA9742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 Detection &amp; Instance Segmentation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00782-7F66-F3BE-DF94-DB4E8532B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97F5E-50B2-834C-8D5A-4223F7896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023BA3-6F47-97F5-635F-5A8982421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2333587"/>
            <a:ext cx="8536812" cy="235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2600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F5752-9FB5-614A-7828-DFA95A9F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 Segmentation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04652-44C4-2162-1B24-B1A53C62D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C17DC-7CA6-3710-AB96-3DE0B11C7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FC7552-BC80-F95B-1094-86652972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48" y="1210102"/>
            <a:ext cx="5572903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2713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8461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2D1F87A-27D9-F589-4223-128D8296B355}"/>
              </a:ext>
            </a:extLst>
          </p:cNvPr>
          <p:cNvSpPr/>
          <p:nvPr/>
        </p:nvSpPr>
        <p:spPr>
          <a:xfrm>
            <a:off x="214282" y="1092168"/>
            <a:ext cx="8786874" cy="5287347"/>
          </a:xfrm>
          <a:prstGeom prst="rect">
            <a:avLst/>
          </a:prstGeom>
          <a:solidFill>
            <a:srgbClr val="E9EDF4">
              <a:alpha val="5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8156170-06AC-3F46-C079-F80ADA791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6" t="12034" r="7961" b="76390"/>
          <a:stretch/>
        </p:blipFill>
        <p:spPr>
          <a:xfrm>
            <a:off x="605210" y="1736812"/>
            <a:ext cx="7812868" cy="612068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0784823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7671EBE-B24A-7205-7BEE-A3F956187483}"/>
              </a:ext>
            </a:extLst>
          </p:cNvPr>
          <p:cNvSpPr/>
          <p:nvPr/>
        </p:nvSpPr>
        <p:spPr>
          <a:xfrm>
            <a:off x="214282" y="1092168"/>
            <a:ext cx="8786874" cy="5287347"/>
          </a:xfrm>
          <a:prstGeom prst="rect">
            <a:avLst/>
          </a:prstGeom>
          <a:solidFill>
            <a:srgbClr val="E9EDF4">
              <a:alpha val="5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F52AD0-65AC-67CC-8BB2-2EF0138D87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6" t="22929" r="7961" b="65494"/>
          <a:stretch/>
        </p:blipFill>
        <p:spPr>
          <a:xfrm>
            <a:off x="605210" y="2312876"/>
            <a:ext cx="7812868" cy="612068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4460542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2DEF800-0F2B-FCB7-EC94-8207E906C92F}"/>
              </a:ext>
            </a:extLst>
          </p:cNvPr>
          <p:cNvSpPr/>
          <p:nvPr/>
        </p:nvSpPr>
        <p:spPr>
          <a:xfrm>
            <a:off x="214282" y="1092168"/>
            <a:ext cx="8786874" cy="5287347"/>
          </a:xfrm>
          <a:prstGeom prst="rect">
            <a:avLst/>
          </a:prstGeom>
          <a:solidFill>
            <a:srgbClr val="E9EDF4">
              <a:alpha val="5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7B3E4C6-CAD7-3301-BA09-C3E38A7681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6" t="34507" r="7961" b="53916"/>
          <a:stretch/>
        </p:blipFill>
        <p:spPr>
          <a:xfrm>
            <a:off x="605210" y="2924944"/>
            <a:ext cx="7812868" cy="612068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A3C0EE-F5D4-AE37-C018-AFB6B6AD2F28}"/>
              </a:ext>
            </a:extLst>
          </p:cNvPr>
          <p:cNvSpPr txBox="1"/>
          <p:nvPr/>
        </p:nvSpPr>
        <p:spPr>
          <a:xfrm>
            <a:off x="3203848" y="3753036"/>
            <a:ext cx="554461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Modified Layer Normalization -&gt; patch-wise Group norm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1026" name="Picture 2" descr="Group Normalization | Committed towards better future">
            <a:extLst>
              <a:ext uri="{FF2B5EF4-FFF2-40B4-BE49-F238E27FC236}">
                <a16:creationId xmlns:a16="http://schemas.microsoft.com/office/drawing/2014/main" id="{D1DCA5A7-D035-27EC-57E5-3B0B31F1C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1" r="51575"/>
          <a:stretch/>
        </p:blipFill>
        <p:spPr bwMode="auto">
          <a:xfrm>
            <a:off x="3797626" y="4242559"/>
            <a:ext cx="1710477" cy="19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Group Normalization | Committed towards better future">
            <a:extLst>
              <a:ext uri="{FF2B5EF4-FFF2-40B4-BE49-F238E27FC236}">
                <a16:creationId xmlns:a16="http://schemas.microsoft.com/office/drawing/2014/main" id="{215309DF-9324-A0E5-A7EB-B6BE4F4CD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08" t="136" r="4036" b="-136"/>
          <a:stretch/>
        </p:blipFill>
        <p:spPr bwMode="auto">
          <a:xfrm>
            <a:off x="6084168" y="4242559"/>
            <a:ext cx="1799692" cy="19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65040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8296586-0C37-E374-2D07-F7B75E64B90C}"/>
              </a:ext>
            </a:extLst>
          </p:cNvPr>
          <p:cNvSpPr/>
          <p:nvPr/>
        </p:nvSpPr>
        <p:spPr>
          <a:xfrm>
            <a:off x="214282" y="1092168"/>
            <a:ext cx="8786874" cy="5287347"/>
          </a:xfrm>
          <a:prstGeom prst="rect">
            <a:avLst/>
          </a:prstGeom>
          <a:solidFill>
            <a:srgbClr val="E9EDF4">
              <a:alpha val="5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B839738-D68D-A549-047E-EA6B116A57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6" t="45403" r="7961" b="47106"/>
          <a:stretch/>
        </p:blipFill>
        <p:spPr>
          <a:xfrm>
            <a:off x="605210" y="3501008"/>
            <a:ext cx="7812868" cy="396044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1443517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5AA82E9-0D69-64F5-FF2C-2D761FE0954E}"/>
              </a:ext>
            </a:extLst>
          </p:cNvPr>
          <p:cNvSpPr/>
          <p:nvPr/>
        </p:nvSpPr>
        <p:spPr>
          <a:xfrm>
            <a:off x="214282" y="1092168"/>
            <a:ext cx="8786874" cy="5287347"/>
          </a:xfrm>
          <a:prstGeom prst="rect">
            <a:avLst/>
          </a:prstGeom>
          <a:solidFill>
            <a:srgbClr val="E9EDF4">
              <a:alpha val="5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A50536-703D-6FED-6C29-FD9C037F0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6" t="53576" r="7961" b="38933"/>
          <a:stretch/>
        </p:blipFill>
        <p:spPr>
          <a:xfrm>
            <a:off x="605210" y="3933056"/>
            <a:ext cx="7812868" cy="396044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2029427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07520-19B7-163B-0260-FE68F13D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DDCE9-63D7-9D61-9B7E-9745EC55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829D2-F559-2314-2FF2-144D5A1A0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052408-A72D-9030-B547-04211E6A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68"/>
            <a:ext cx="9144000" cy="52873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5AA82E9-0D69-64F5-FF2C-2D761FE0954E}"/>
              </a:ext>
            </a:extLst>
          </p:cNvPr>
          <p:cNvSpPr/>
          <p:nvPr/>
        </p:nvSpPr>
        <p:spPr>
          <a:xfrm>
            <a:off x="214282" y="1092168"/>
            <a:ext cx="8786874" cy="5287347"/>
          </a:xfrm>
          <a:prstGeom prst="rect">
            <a:avLst/>
          </a:prstGeom>
          <a:solidFill>
            <a:srgbClr val="E9EDF4">
              <a:alpha val="5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A50536-703D-6FED-6C29-FD9C037F04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96" t="61067" r="7961" b="23270"/>
          <a:stretch/>
        </p:blipFill>
        <p:spPr>
          <a:xfrm>
            <a:off x="605210" y="4329100"/>
            <a:ext cx="7812868" cy="828092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7697967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7FBA8-E611-2C02-F5C5-9B7D8E21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GradCam</a:t>
            </a:r>
            <a:r>
              <a:rPr lang="en-US" altLang="ko-KR" dirty="0"/>
              <a:t> Visualization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4301FF-4AEB-8079-F06B-EC6A485A0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3C5C3A-CDE5-C50C-EE0D-8CBB35D81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9D2AC8-D0CD-D7EC-46CA-51C4A29B1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045140"/>
            <a:ext cx="6336704" cy="54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632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53573-4766-9BCB-4570-A951BDC9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Further Questions?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00014-0AEA-1117-5E94-82AE11E38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 Attention surely unnecessary in VITs?</a:t>
            </a:r>
          </a:p>
          <a:p>
            <a:pPr lvl="1"/>
            <a:r>
              <a:rPr lang="en-US" altLang="ko-KR" dirty="0"/>
              <a:t>NO. An attention map is so useful in self-supervised learning and its </a:t>
            </a:r>
            <a:r>
              <a:rPr lang="en-US" altLang="ko-KR" dirty="0" err="1"/>
              <a:t>explainability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29A7C-B7A6-8D1D-1CF1-7AA74E1F0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A7408B-B9E0-794E-9403-0871FB0B7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975007"/>
            <a:ext cx="801052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69582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65999-88EC-1858-6F57-52FE4AA8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04102F-105E-EF4A-9F36-7A0A5A58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sz="4800" dirty="0"/>
          </a:p>
          <a:p>
            <a:pPr marL="0" indent="0">
              <a:buNone/>
            </a:pPr>
            <a:endParaRPr lang="en-US" altLang="ko-KR" sz="4800" dirty="0"/>
          </a:p>
          <a:p>
            <a:pPr marL="0" indent="0" algn="ctr">
              <a:buNone/>
            </a:pPr>
            <a:r>
              <a:rPr lang="en-US" altLang="ko-KR" sz="11500" dirty="0"/>
              <a:t>Q &amp; A</a:t>
            </a:r>
            <a:r>
              <a:rPr lang="en-US" altLang="ko-KR" sz="4800" dirty="0"/>
              <a:t> </a:t>
            </a:r>
            <a:endParaRPr lang="ko-KR" altLang="en-US" sz="4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4DA2C-3649-2DC9-7AEA-0F9B81F96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25788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Calibri" panose="020F0502020204030204" pitchFamily="34" charset="0"/>
            <a:ea typeface="08서울남산체 B" panose="02020603020101020101" pitchFamily="18" charset="-127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60434</TotalTime>
  <Words>609</Words>
  <Application>Microsoft Office PowerPoint</Application>
  <PresentationFormat>화면 슬라이드 쇼(4:3)</PresentationFormat>
  <Paragraphs>135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굴림</vt:lpstr>
      <vt:lpstr>맑은 고딕</vt:lpstr>
      <vt:lpstr>Arial</vt:lpstr>
      <vt:lpstr>Calibri</vt:lpstr>
      <vt:lpstr>Roboto</vt:lpstr>
      <vt:lpstr>Wingdings</vt:lpstr>
      <vt:lpstr>Office 테마</vt:lpstr>
      <vt:lpstr>MetaFormer is Actually What You Need for Vision</vt:lpstr>
      <vt:lpstr>What is MetaFormer?</vt:lpstr>
      <vt:lpstr>Rise of Transformers in Computer Vision</vt:lpstr>
      <vt:lpstr>Rise of Transformers in Computer Vision</vt:lpstr>
      <vt:lpstr>Rise of Transformers in Computer Vision</vt:lpstr>
      <vt:lpstr>Reason for Success of Vision Transformers</vt:lpstr>
      <vt:lpstr>Variants of Attention Module</vt:lpstr>
      <vt:lpstr>Variants of Attention Module</vt:lpstr>
      <vt:lpstr>Variants of Attention Module</vt:lpstr>
      <vt:lpstr>Degradation of Attention Module in ViTs…?</vt:lpstr>
      <vt:lpstr>Research Motivation of MetaFormer  </vt:lpstr>
      <vt:lpstr>Here comes PoolFormer!!</vt:lpstr>
      <vt:lpstr>Q &amp; A </vt:lpstr>
      <vt:lpstr>MetaFormer </vt:lpstr>
      <vt:lpstr>PoolFormer</vt:lpstr>
      <vt:lpstr>PoolFormer</vt:lpstr>
      <vt:lpstr>PoolFormer Configuration</vt:lpstr>
      <vt:lpstr>Q &amp; A </vt:lpstr>
      <vt:lpstr>Experiments: Image Classification</vt:lpstr>
      <vt:lpstr>Experiments: Image Classification</vt:lpstr>
      <vt:lpstr>Object Detection &amp; Instance Segmentation</vt:lpstr>
      <vt:lpstr>Semantic Segmentation</vt:lpstr>
      <vt:lpstr>Ablation Study </vt:lpstr>
      <vt:lpstr>Ablation Study </vt:lpstr>
      <vt:lpstr>Ablation Study </vt:lpstr>
      <vt:lpstr>Ablation Study </vt:lpstr>
      <vt:lpstr>Ablation Study </vt:lpstr>
      <vt:lpstr>Ablation Study </vt:lpstr>
      <vt:lpstr>Ablation Study </vt:lpstr>
      <vt:lpstr>GradCam Visualization </vt:lpstr>
      <vt:lpstr>Further Questions?</vt:lpstr>
      <vt:lpstr>Q &amp; A 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zelos</dc:creator>
  <cp:lastModifiedBy>YOO YEEUN</cp:lastModifiedBy>
  <cp:revision>2994</cp:revision>
  <cp:lastPrinted>2016-03-04T01:44:28Z</cp:lastPrinted>
  <dcterms:created xsi:type="dcterms:W3CDTF">2008-03-01T21:32:25Z</dcterms:created>
  <dcterms:modified xsi:type="dcterms:W3CDTF">2022-09-04T11:57:16Z</dcterms:modified>
</cp:coreProperties>
</file>