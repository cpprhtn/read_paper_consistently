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9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9B32C8-471E-FDB0-DAEC-3359FA0F9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99CCA55-888B-30BA-ED72-E631A2106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7CF834-65A9-9EB2-57EF-7DF619177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2CC7-79F6-447D-BA94-68B017D73F8D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1DDF13-7BDA-EC2D-02FB-39F99979C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470F20-06E8-6896-911B-C2FBB267D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2F17-6751-4379-A3A1-4224F4AA62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53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58086-CB03-6E01-C549-5477019A2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7C5500-D886-90F2-4589-B2148865B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A63EC9-C662-312B-5A25-04A9F2996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2CC7-79F6-447D-BA94-68B017D73F8D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9AC88-0240-3CB5-020B-BDA525CE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AEDB47-E40E-6D0A-AE87-F5CD7F5B0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2F17-6751-4379-A3A1-4224F4AA62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597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36499-7B7D-8B66-EB1A-6FEC16C0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502073-A0F3-0A41-DD73-B09F97B02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0B1B4F-BEE8-D7E9-626E-85AB55EB5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2CC7-79F6-447D-BA94-68B017D73F8D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7B889-E37A-1CFA-A668-27E6728D0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5DEAAD-12E2-1134-76CB-0BCECCCE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2F17-6751-4379-A3A1-4224F4AA62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412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49B9D-5FEF-3977-46CE-5C3C91DF1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C0FC4E-56DA-9E9A-4E52-0C8D31101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F9D6A7-5C5B-54BD-765D-4E82E219A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62939E-BC06-8AE7-3F04-2BA6929AF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2CC7-79F6-447D-BA94-68B017D73F8D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5E8455-A067-C5D2-8106-154D1E0B2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31CC58-8940-B0AA-B5D2-8ED1E318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2F17-6751-4379-A3A1-4224F4AA62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930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DBA24-AA42-517A-E18A-87F5E136C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04E143-B6D6-AE10-7AAF-98C49409A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40BE6B-7E4C-6D85-8C1F-B950DF01C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B9A891-2E32-199F-1BF7-714556DC2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740326-9FFF-707C-8895-3BEEBD8C8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96D189-564B-B9E1-E5C6-F23F26E66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2CC7-79F6-447D-BA94-68B017D73F8D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8A466F5-EFA0-2628-CE0B-FB80240C4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962BE3D-3FB0-E5A8-32D1-9E805779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2F17-6751-4379-A3A1-4224F4AA62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00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66ADE-AA5D-50B9-7BC4-C85CA51A2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8DAAE8-43C8-A48D-DBDD-5B7E4371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2CC7-79F6-447D-BA94-68B017D73F8D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9049E1-B4EA-34F3-7F69-6902A2A81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90878E-5188-8D91-6DEE-55E9876C8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2F17-6751-4379-A3A1-4224F4AA62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648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5F6FB0-0290-B1CC-7B84-3F7D1E3B4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2CC7-79F6-447D-BA94-68B017D73F8D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374E81-56B5-7642-A21E-4D75F162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B173BF-4CAF-51BE-FA82-BA640A7C7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2F17-6751-4379-A3A1-4224F4AA62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680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813DA0-2229-570A-98B0-C0D9A616A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F3176A-3DFA-050D-8BE3-D8AED7710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D1D8FC-BB17-F54B-49B9-BDF4CDC7D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1F2BA8-47FD-3328-9BF4-68413FB7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2CC7-79F6-447D-BA94-68B017D73F8D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0890AB-8F63-2077-74A9-5B46B77CE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FF0BD0-B35A-F16E-FB1B-71E4C6C1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2F17-6751-4379-A3A1-4224F4AA62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631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A3F406-FF24-D402-EE8F-2CA381875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6C5EF0-D83A-7C5E-9391-6598C56082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CDBADB-21C5-CDF2-B3F0-91555A201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3A26D5-4DFD-5413-C219-AA35FB51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2CC7-79F6-447D-BA94-68B017D73F8D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29CE23-17EC-37BB-410F-9434B6C3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FA86FB-127B-7947-4C2E-7B08446AE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2F17-6751-4379-A3A1-4224F4AA62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10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48227F-EBCF-DB07-F66F-ECFF56EB4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C53AEA-330E-A422-FB1C-B2FDED4A4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B4D83B-39A5-0315-6F3C-6236AA558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2CC7-79F6-447D-BA94-68B017D73F8D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84DD21-14C4-6972-BB58-0523E8C1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148613-BD50-E7A6-1D68-585F8B72E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2F17-6751-4379-A3A1-4224F4AA62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269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7F3F0C-896E-9C17-A06C-9D8904BB76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AB290F-0129-B8D0-F21F-D6DF11305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D406C1-6F6D-4834-CD6A-FA95E010E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2CC7-79F6-447D-BA94-68B017D73F8D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97B4B-95E4-13F2-C54E-1158E3C03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781BA1-156B-93B8-5A6F-3CC5B5DE1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2F17-6751-4379-A3A1-4224F4AA62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88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179EA24-3246-0470-A0CA-6BF393944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34338A-FA0C-A553-37C3-4D2B5B46D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984A35-E1EE-448D-D92B-59DA108E3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A02CC7-79F6-447D-BA94-68B017D73F8D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4CA612-0FAC-91ED-006C-69C1C1C50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6EED61-AD0D-2207-F3F7-E07CBD82F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82F17-6751-4379-A3A1-4224F4AA62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857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66E4F1-C056-C952-AE29-933F70BE7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1214438"/>
            <a:ext cx="9144000" cy="2387600"/>
          </a:xfrm>
        </p:spPr>
        <p:txBody>
          <a:bodyPr/>
          <a:lstStyle/>
          <a:p>
            <a:pPr algn="l"/>
            <a:r>
              <a:rPr lang="en-US" altLang="ko-KR" dirty="0"/>
              <a:t>Simple and effective masked diffusion </a:t>
            </a:r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(2024. 06)</a:t>
            </a:r>
            <a:endParaRPr lang="ko-KR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FCD3D6-28BD-E2F9-002E-34807EEFB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3421" y="5299587"/>
            <a:ext cx="5220928" cy="1455174"/>
          </a:xfrm>
        </p:spPr>
        <p:txBody>
          <a:bodyPr>
            <a:noAutofit/>
          </a:bodyPr>
          <a:lstStyle/>
          <a:p>
            <a:pPr algn="l"/>
            <a:r>
              <a:rPr lang="ko-KR" altLang="en-US" sz="1800" dirty="0" err="1">
                <a:latin typeface="+mn-ea"/>
              </a:rPr>
              <a:t>딥논읽</a:t>
            </a:r>
            <a:r>
              <a:rPr lang="ko-KR" altLang="en-US" sz="1800" dirty="0">
                <a:latin typeface="+mn-ea"/>
              </a:rPr>
              <a:t> </a:t>
            </a:r>
            <a:r>
              <a:rPr lang="en-US" altLang="ko-KR" sz="1800" dirty="0">
                <a:latin typeface="+mn-ea"/>
              </a:rPr>
              <a:t>7</a:t>
            </a:r>
            <a:r>
              <a:rPr lang="ko-KR" altLang="en-US" sz="1800" dirty="0">
                <a:latin typeface="+mn-ea"/>
              </a:rPr>
              <a:t>기 자연어처리팀</a:t>
            </a:r>
            <a:endParaRPr lang="en-US" altLang="ko-KR" sz="1800" dirty="0">
              <a:latin typeface="+mn-ea"/>
            </a:endParaRPr>
          </a:p>
          <a:p>
            <a:pPr algn="l"/>
            <a:r>
              <a:rPr lang="ko-KR" altLang="en-US" sz="1800" dirty="0">
                <a:latin typeface="+mn-ea"/>
              </a:rPr>
              <a:t>정현석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발표자</a:t>
            </a:r>
            <a:r>
              <a:rPr lang="en-US" altLang="ko-KR" sz="1800" dirty="0">
                <a:latin typeface="+mn-ea"/>
              </a:rPr>
              <a:t>), </a:t>
            </a:r>
            <a:r>
              <a:rPr lang="ko-KR" altLang="en-US" sz="1800" dirty="0">
                <a:latin typeface="+mn-ea"/>
              </a:rPr>
              <a:t>김보성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 err="1">
                <a:latin typeface="+mn-ea"/>
              </a:rPr>
              <a:t>박민건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 err="1">
                <a:latin typeface="+mn-ea"/>
              </a:rPr>
              <a:t>황예진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박주혜</a:t>
            </a:r>
            <a:r>
              <a:rPr lang="en-US" altLang="ko-KR" sz="1800" dirty="0">
                <a:latin typeface="+mn-ea"/>
              </a:rPr>
              <a:t>, </a:t>
            </a:r>
          </a:p>
          <a:p>
            <a:pPr algn="l"/>
            <a:r>
              <a:rPr lang="ko-KR" altLang="en-US" sz="1800" dirty="0" err="1">
                <a:latin typeface="+mn-ea"/>
              </a:rPr>
              <a:t>이예서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 err="1">
                <a:latin typeface="+mn-ea"/>
              </a:rPr>
              <a:t>임다예슬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김유진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 err="1">
                <a:latin typeface="+mn-ea"/>
              </a:rPr>
              <a:t>이웅기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김기환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 err="1">
                <a:latin typeface="+mn-ea"/>
              </a:rPr>
              <a:t>조해창</a:t>
            </a: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77957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BC86A9-FE67-7982-CCAB-566CFA1A7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그림 16" descr="텍스트, 폰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4D8052-875E-079C-AB29-BB86EE452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300103"/>
            <a:ext cx="5613689" cy="127006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8A77643-4663-61E8-F8DA-C402C4710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26" y="5719699"/>
            <a:ext cx="11212490" cy="9145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65F5E4A-2213-2E8F-C14E-A916CF187FB7}"/>
              </a:ext>
            </a:extLst>
          </p:cNvPr>
          <p:cNvSpPr txBox="1"/>
          <p:nvPr/>
        </p:nvSpPr>
        <p:spPr>
          <a:xfrm>
            <a:off x="344129" y="19185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Both"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BERT</a:t>
            </a:r>
            <a:r>
              <a:rPr lang="ko-KR" altLang="en-US" dirty="0"/>
              <a:t>에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diffusion</a:t>
            </a:r>
            <a:r>
              <a:rPr lang="ko-KR" altLang="en-US" dirty="0"/>
              <a:t>을 접목시켜</a:t>
            </a:r>
            <a:r>
              <a:rPr lang="en-US" altLang="ko-KR" dirty="0"/>
              <a:t> </a:t>
            </a:r>
            <a:r>
              <a:rPr lang="ko-KR" altLang="en-US" dirty="0"/>
              <a:t>생성능력을 부여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679DFC-1DB5-3B96-629C-F35055BBE761}"/>
              </a:ext>
            </a:extLst>
          </p:cNvPr>
          <p:cNvSpPr txBox="1"/>
          <p:nvPr/>
        </p:nvSpPr>
        <p:spPr>
          <a:xfrm>
            <a:off x="6172200" y="19185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(2) </a:t>
            </a:r>
            <a:r>
              <a:rPr lang="ko-KR" altLang="en-US" dirty="0"/>
              <a:t>수학적 안정성을 챙기면서 복잡한 손실함수 단순화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1B5B0460-6816-773A-0B10-607E38C8F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26" y="2687188"/>
            <a:ext cx="4908029" cy="290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856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0B82D3-71F4-1D1B-5B25-D52BAD72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Method – Absorbing state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A79C0B-3521-3EEE-C164-D22325027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06" y="1483110"/>
            <a:ext cx="6602822" cy="2932197"/>
          </a:xfrm>
          <a:prstGeom prst="rect">
            <a:avLst/>
          </a:prstGeom>
        </p:spPr>
      </p:pic>
      <p:pic>
        <p:nvPicPr>
          <p:cNvPr id="9" name="그림 8" descr="폰트, 상징, 화이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FD5840-86EF-B5B1-38DA-5F2EF2CD3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031" y="4553712"/>
            <a:ext cx="3683189" cy="863644"/>
          </a:xfrm>
          <a:prstGeom prst="rect">
            <a:avLst/>
          </a:prstGeom>
        </p:spPr>
      </p:pic>
      <p:pic>
        <p:nvPicPr>
          <p:cNvPr id="11" name="그림 10" descr="폰트, 텍스트, 화이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A04B6C-8340-1A71-B2B9-F48A80A37A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030" y="5324267"/>
            <a:ext cx="4044022" cy="8636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AE0825D-7714-9AA2-9AD7-FB6E94A0AC7E}"/>
              </a:ext>
            </a:extLst>
          </p:cNvPr>
          <p:cNvSpPr txBox="1"/>
          <p:nvPr/>
        </p:nvSpPr>
        <p:spPr>
          <a:xfrm>
            <a:off x="7201725" y="2809931"/>
            <a:ext cx="45838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흔히 아는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diffusion</a:t>
            </a:r>
            <a:r>
              <a:rPr lang="ko-KR" altLang="en-US" dirty="0"/>
              <a:t>은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clean data</a:t>
            </a:r>
            <a:r>
              <a:rPr lang="ko-KR" altLang="en-US" dirty="0"/>
              <a:t>에 잡음을 점진적으로 추가해 나가는 과정이나</a:t>
            </a:r>
            <a:r>
              <a:rPr lang="en-US" altLang="ko-KR" dirty="0"/>
              <a:t>,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MDLM</a:t>
            </a:r>
            <a:r>
              <a:rPr lang="ko-KR" altLang="en-US" dirty="0"/>
              <a:t>에서는 잡음 추가가 아니라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clean data</a:t>
            </a:r>
            <a:r>
              <a:rPr lang="ko-KR" altLang="en-US" dirty="0"/>
              <a:t>와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mask</a:t>
            </a:r>
            <a:r>
              <a:rPr lang="ko-KR" altLang="en-US" dirty="0"/>
              <a:t>사이의 </a:t>
            </a:r>
            <a:r>
              <a:rPr lang="ko-KR" altLang="en-US" dirty="0" err="1"/>
              <a:t>보간이</a:t>
            </a:r>
            <a:r>
              <a:rPr lang="ko-KR" altLang="en-US" dirty="0"/>
              <a:t> 이루어진다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보간 과정에서 </a:t>
            </a:r>
            <a:r>
              <a:rPr lang="ko-KR" altLang="en-US" dirty="0" err="1"/>
              <a:t>노이즈계수가</a:t>
            </a:r>
            <a:r>
              <a:rPr lang="ko-KR" altLang="en-US" dirty="0"/>
              <a:t> 특정 값을 넘어가면 마스크 토큰으로 간주하며</a:t>
            </a:r>
            <a:r>
              <a:rPr lang="en-US" altLang="ko-KR" dirty="0"/>
              <a:t>, </a:t>
            </a:r>
            <a:r>
              <a:rPr lang="ko-KR" altLang="en-US" dirty="0"/>
              <a:t>그 값은 토큰마다 다르고 빈도와 관련이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6220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CE4D1-7D43-FE52-5C0E-658320DDA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0AF929-4689-BEB0-AF4D-A2A92B64C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Method – Absorbing state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D042A7-EFB4-5783-B75E-AC4B78978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0" y="1324708"/>
            <a:ext cx="6602822" cy="2932197"/>
          </a:xfrm>
          <a:prstGeom prst="rect">
            <a:avLst/>
          </a:prstGeom>
        </p:spPr>
      </p:pic>
      <p:pic>
        <p:nvPicPr>
          <p:cNvPr id="11" name="그림 10" descr="폰트, 텍스트, 화이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4FA10D-C1CB-55E8-F2B4-9249501031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030" y="4669648"/>
            <a:ext cx="4044022" cy="863644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6529926-A0E3-542A-53DB-82525CA33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405765"/>
              </p:ext>
            </p:extLst>
          </p:nvPr>
        </p:nvGraphicFramePr>
        <p:xfrm>
          <a:off x="6735628" y="1938288"/>
          <a:ext cx="5353064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266">
                  <a:extLst>
                    <a:ext uri="{9D8B030D-6E8A-4147-A177-3AD203B41FA5}">
                      <a16:colId xmlns:a16="http://schemas.microsoft.com/office/drawing/2014/main" val="104090260"/>
                    </a:ext>
                  </a:extLst>
                </a:gridCol>
                <a:gridCol w="1338266">
                  <a:extLst>
                    <a:ext uri="{9D8B030D-6E8A-4147-A177-3AD203B41FA5}">
                      <a16:colId xmlns:a16="http://schemas.microsoft.com/office/drawing/2014/main" val="4028835963"/>
                    </a:ext>
                  </a:extLst>
                </a:gridCol>
                <a:gridCol w="1338266">
                  <a:extLst>
                    <a:ext uri="{9D8B030D-6E8A-4147-A177-3AD203B41FA5}">
                      <a16:colId xmlns:a16="http://schemas.microsoft.com/office/drawing/2014/main" val="4018701039"/>
                    </a:ext>
                  </a:extLst>
                </a:gridCol>
                <a:gridCol w="1338266">
                  <a:extLst>
                    <a:ext uri="{9D8B030D-6E8A-4147-A177-3AD203B41FA5}">
                      <a16:colId xmlns:a16="http://schemas.microsoft.com/office/drawing/2014/main" val="16142239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ko-KR" altLang="en-US" b="0" dirty="0">
                          <a:effectLst/>
                        </a:rPr>
                        <a:t>토큰 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l-GR" b="0">
                          <a:effectLst/>
                        </a:rPr>
                        <a:t>α_</a:t>
                      </a:r>
                      <a:r>
                        <a:rPr lang="en-US" b="0">
                          <a:effectLst/>
                        </a:rPr>
                        <a:t>t=0.7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l-GR" b="0">
                          <a:effectLst/>
                        </a:rPr>
                        <a:t>α_</a:t>
                      </a:r>
                      <a:r>
                        <a:rPr lang="en-US" b="0">
                          <a:effectLst/>
                        </a:rPr>
                        <a:t>t=0.4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l-GR" b="0">
                          <a:effectLst/>
                        </a:rPr>
                        <a:t>α_</a:t>
                      </a:r>
                      <a:r>
                        <a:rPr lang="en-US" b="0">
                          <a:effectLst/>
                        </a:rPr>
                        <a:t>t=0.2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825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b="0">
                          <a:effectLst/>
                        </a:rPr>
                        <a:t>1</a:t>
                      </a:r>
                      <a:endParaRPr lang="ko-KR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❌ </a:t>
                      </a:r>
                      <a:r>
                        <a:rPr lang="en-US" altLang="ko-KR">
                          <a:effectLst/>
                        </a:rPr>
                        <a:t>(0.7&gt;0.5)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✅ </a:t>
                      </a:r>
                      <a:r>
                        <a:rPr lang="en-US" altLang="ko-KR">
                          <a:effectLst/>
                        </a:rPr>
                        <a:t>(0.4&lt;0.5)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3139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b="0">
                          <a:effectLst/>
                        </a:rPr>
                        <a:t>2</a:t>
                      </a:r>
                      <a:endParaRPr lang="ko-KR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❌ </a:t>
                      </a:r>
                      <a:r>
                        <a:rPr lang="en-US" altLang="ko-KR">
                          <a:effectLst/>
                        </a:rPr>
                        <a:t>(0.4&gt;0.3*)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dirty="0">
                          <a:effectLst/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776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b="0">
                          <a:effectLst/>
                        </a:rPr>
                        <a:t>3</a:t>
                      </a:r>
                      <a:endParaRPr lang="ko-KR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dirty="0">
                          <a:effectLst/>
                        </a:rPr>
                        <a:t>✅ </a:t>
                      </a:r>
                      <a:r>
                        <a:rPr lang="en-US" altLang="ko-KR" dirty="0">
                          <a:effectLst/>
                        </a:rPr>
                        <a:t>(0.2&lt;0.3*)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6806921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E9C5F030-FE03-8065-990B-F157371C9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713" y="4759122"/>
            <a:ext cx="1838535" cy="6846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9F4914-06E4-F7BD-2F9A-A1B9B513A4F7}"/>
              </a:ext>
            </a:extLst>
          </p:cNvPr>
          <p:cNvSpPr txBox="1"/>
          <p:nvPr/>
        </p:nvSpPr>
        <p:spPr>
          <a:xfrm>
            <a:off x="6877713" y="5633884"/>
            <a:ext cx="4350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각 토큰이 가질 수 있는 잠재벡터 값은 원본이나 마스크 둘 중 하나이다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328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56226-C35D-B675-FAC9-3F9795E5A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DC1BE5-CBA4-B913-D732-5C2DEBE49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Method – Absorbing state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6D630F-4855-2465-0175-30C6833A8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52" y="1690688"/>
            <a:ext cx="6602822" cy="2932197"/>
          </a:xfrm>
          <a:prstGeom prst="rect">
            <a:avLst/>
          </a:prstGeom>
        </p:spPr>
      </p:pic>
      <p:pic>
        <p:nvPicPr>
          <p:cNvPr id="11" name="그림 10" descr="폰트, 텍스트, 화이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035884-885C-0082-79C2-48152A8AC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198" y="4622885"/>
            <a:ext cx="4044022" cy="8636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3C5264-71AA-6497-9BA5-3E1F621E422B}"/>
              </a:ext>
            </a:extLst>
          </p:cNvPr>
          <p:cNvSpPr txBox="1"/>
          <p:nvPr/>
        </p:nvSpPr>
        <p:spPr>
          <a:xfrm>
            <a:off x="7241919" y="1878544"/>
            <a:ext cx="458382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ko-KR" altLang="en-US" dirty="0"/>
              <a:t>개의 토큰이 있을 때</a:t>
            </a:r>
            <a:r>
              <a:rPr lang="en-US" altLang="ko-KR" dirty="0"/>
              <a:t>, </a:t>
            </a:r>
            <a:r>
              <a:rPr lang="ko-KR" altLang="en-US" dirty="0"/>
              <a:t>마스크 토큰을 포함하여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ko-KR" dirty="0"/>
              <a:t>+1</a:t>
            </a:r>
            <a:r>
              <a:rPr lang="ko-KR" altLang="en-US" dirty="0"/>
              <a:t>개의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r>
              <a:rPr lang="ko-KR" altLang="en-US" dirty="0"/>
              <a:t>를 갖는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one-hot vector</a:t>
            </a:r>
            <a:r>
              <a:rPr lang="ko-KR" altLang="en-US" dirty="0"/>
              <a:t>들을 만든다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Discrete</a:t>
            </a:r>
            <a:r>
              <a:rPr lang="en-US" altLang="ko-KR" dirty="0"/>
              <a:t>=&gt; [0,0,0,1,0,0]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Masked</a:t>
            </a:r>
            <a:r>
              <a:rPr lang="ko-KR" altLang="en-US" dirty="0"/>
              <a:t> </a:t>
            </a:r>
            <a:r>
              <a:rPr lang="en-US" altLang="ko-KR" dirty="0"/>
              <a:t>=&gt;</a:t>
            </a:r>
            <a:r>
              <a:rPr lang="ko-KR" altLang="en-US" dirty="0"/>
              <a:t> </a:t>
            </a:r>
            <a:r>
              <a:rPr lang="en-US" altLang="ko-KR" dirty="0"/>
              <a:t>[0,0,0,0,0,1]</a:t>
            </a:r>
          </a:p>
          <a:p>
            <a:endParaRPr lang="en-US" altLang="ko-KR" dirty="0"/>
          </a:p>
          <a:p>
            <a:r>
              <a:rPr lang="ko-KR" altLang="en-US" dirty="0"/>
              <a:t>따라서</a:t>
            </a:r>
            <a:r>
              <a:rPr lang="en-US" altLang="ko-KR" dirty="0"/>
              <a:t>, </a:t>
            </a:r>
            <a:r>
              <a:rPr lang="ko-KR" altLang="en-US" dirty="0"/>
              <a:t>모든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Clean data</a:t>
            </a:r>
            <a:r>
              <a:rPr lang="en-US" altLang="ko-KR" dirty="0"/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ko-KR" altLang="en-US" dirty="0"/>
              <a:t>에 대해서</a:t>
            </a:r>
            <a:endParaRPr lang="en-US" altLang="ko-KR" dirty="0"/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ko-KR" altLang="en-US" dirty="0"/>
              <a:t>⋅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ko-KR" dirty="0"/>
              <a:t> = 0 </a:t>
            </a:r>
            <a:r>
              <a:rPr lang="ko-KR" altLang="en-US" dirty="0"/>
              <a:t>이 성립한다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 descr="텍스트, 폰트, 스크린샷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A26547-134A-46DA-05C9-8961B9094C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13" y="1721291"/>
            <a:ext cx="6584300" cy="293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50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5B8CA8-92A5-C853-7F00-F82E28224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Method – Denoising process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54EC7-63FD-C327-C32A-745C423021F8}"/>
              </a:ext>
            </a:extLst>
          </p:cNvPr>
          <p:cNvSpPr txBox="1"/>
          <p:nvPr/>
        </p:nvSpPr>
        <p:spPr>
          <a:xfrm>
            <a:off x="619433" y="1988769"/>
            <a:ext cx="741352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SUBS parameterization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A. Zero Masking Probabilities</a:t>
            </a:r>
          </a:p>
          <a:p>
            <a:pPr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ko-KR" altLang="en-US" dirty="0"/>
              <a:t>⋅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ko-KR" dirty="0"/>
              <a:t> = 0</a:t>
            </a:r>
            <a:r>
              <a:rPr lang="ko-KR" altLang="en-US" dirty="0"/>
              <a:t>을 이어받아서 저자들은 </a:t>
            </a:r>
            <a:r>
              <a:rPr lang="ko-KR" altLang="en-US" dirty="0" err="1"/>
              <a:t>디노이징</a:t>
            </a:r>
            <a:r>
              <a:rPr lang="ko-KR" altLang="en-US" dirty="0"/>
              <a:t> 네트워크가 </a:t>
            </a:r>
            <a:r>
              <a:rPr lang="en-US" altLang="ko-KR" b="1" dirty="0" err="1"/>
              <a:t>xθ</a:t>
            </a:r>
            <a:r>
              <a:rPr lang="en-US" altLang="ko-KR" b="1" dirty="0"/>
              <a:t>(</a:t>
            </a:r>
            <a:r>
              <a:rPr lang="en-US" altLang="ko-KR" b="1" dirty="0" err="1"/>
              <a:t>zt</a:t>
            </a:r>
            <a:r>
              <a:rPr lang="en-US" altLang="ko-KR" b="1" dirty="0"/>
              <a:t>, t) </a:t>
            </a:r>
            <a:r>
              <a:rPr lang="ko-KR" altLang="en-US" dirty="0"/>
              <a:t>⋅</a:t>
            </a:r>
            <a:r>
              <a:rPr lang="en-US" altLang="ko-KR" b="1" dirty="0"/>
              <a:t> m = 0</a:t>
            </a:r>
            <a:r>
              <a:rPr lang="ko-KR" altLang="en-US" dirty="0"/>
              <a:t>을 만족하도록 설계했다</a:t>
            </a:r>
            <a:r>
              <a:rPr lang="en-US" altLang="ko-KR" dirty="0"/>
              <a:t>. [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MASK</a:t>
            </a:r>
            <a:r>
              <a:rPr lang="en-US" altLang="ko-KR" dirty="0"/>
              <a:t>] </a:t>
            </a:r>
            <a:r>
              <a:rPr lang="ko-KR" altLang="en-US" dirty="0"/>
              <a:t>토큰에 해당하는 </a:t>
            </a:r>
            <a:r>
              <a:rPr lang="ko-KR" altLang="en-US" dirty="0" err="1"/>
              <a:t>로짓</a:t>
            </a:r>
            <a:r>
              <a:rPr lang="en-US" altLang="ko-KR" dirty="0"/>
              <a:t> </a:t>
            </a:r>
            <a:r>
              <a:rPr lang="ko-KR" altLang="en-US" dirty="0"/>
              <a:t>인덱스를 −∞로 설정하여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ko-KR" altLang="en-US" dirty="0"/>
              <a:t> 출력 결과 </a:t>
            </a:r>
            <a:r>
              <a:rPr lang="en-US" altLang="ko-KR" b="1" dirty="0"/>
              <a:t>[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MASK</a:t>
            </a:r>
            <a:r>
              <a:rPr lang="en-US" altLang="ko-KR" b="1" dirty="0"/>
              <a:t>]</a:t>
            </a:r>
            <a:r>
              <a:rPr lang="ko-KR" altLang="en-US" b="1" dirty="0"/>
              <a:t>으로 예측할 확률을 </a:t>
            </a:r>
            <a:r>
              <a:rPr lang="en-US" altLang="ko-KR" b="1" dirty="0"/>
              <a:t>0</a:t>
            </a:r>
            <a:r>
              <a:rPr lang="ko-KR" altLang="en-US" b="1" dirty="0"/>
              <a:t>으로 만든다</a:t>
            </a:r>
            <a:r>
              <a:rPr lang="en-US" altLang="ko-KR" b="1" dirty="0"/>
              <a:t>.</a:t>
            </a:r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B. Carry-Over Unmasking</a:t>
            </a:r>
          </a:p>
          <a:p>
            <a:r>
              <a:rPr lang="ko-KR" altLang="en-US" b="1" dirty="0"/>
              <a:t>만약 </a:t>
            </a:r>
            <a:r>
              <a:rPr lang="en-US" altLang="ko-KR" b="1" dirty="0" err="1">
                <a:latin typeface="Arial" panose="020B0604020202020204" pitchFamily="34" charset="0"/>
                <a:cs typeface="Arial" panose="020B0604020202020204" pitchFamily="34" charset="0"/>
              </a:rPr>
              <a:t>zt</a:t>
            </a:r>
            <a:r>
              <a:rPr lang="ko-KR" altLang="en-US" b="1" dirty="0"/>
              <a:t>가 </a:t>
            </a:r>
            <a:r>
              <a:rPr lang="ko-KR" altLang="en-US" b="1" dirty="0" err="1"/>
              <a:t>마스킹되지</a:t>
            </a:r>
            <a:r>
              <a:rPr lang="ko-KR" altLang="en-US" b="1" dirty="0"/>
              <a:t> 않았다면 </a:t>
            </a:r>
            <a:r>
              <a:rPr lang="en-US" altLang="ko-KR" b="1" dirty="0" err="1">
                <a:latin typeface="Arial" panose="020B0604020202020204" pitchFamily="34" charset="0"/>
                <a:cs typeface="Arial" panose="020B0604020202020204" pitchFamily="34" charset="0"/>
              </a:rPr>
              <a:t>xθ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ko-KR" b="1" dirty="0" err="1">
                <a:latin typeface="Arial" panose="020B0604020202020204" pitchFamily="34" charset="0"/>
                <a:cs typeface="Arial" panose="020B0604020202020204" pitchFamily="34" charset="0"/>
              </a:rPr>
              <a:t>zt,t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  <a:r>
              <a:rPr lang="en-US" altLang="ko-KR" b="1" dirty="0" err="1">
                <a:latin typeface="Arial" panose="020B0604020202020204" pitchFamily="34" charset="0"/>
                <a:cs typeface="Arial" panose="020B0604020202020204" pitchFamily="34" charset="0"/>
              </a:rPr>
              <a:t>zt</a:t>
            </a:r>
            <a:r>
              <a:rPr lang="ko-KR" altLang="en-US" dirty="0"/>
              <a:t>가 되도록 한다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 err="1"/>
              <a:t>마스킹되지</a:t>
            </a:r>
            <a:r>
              <a:rPr lang="ko-KR" altLang="en-US" dirty="0"/>
              <a:t> 않은 잠재 변수는 </a:t>
            </a:r>
            <a:r>
              <a:rPr lang="en-US" altLang="ko-KR" dirty="0"/>
              <a:t>'</a:t>
            </a:r>
            <a:r>
              <a:rPr lang="ko-KR" altLang="en-US" dirty="0"/>
              <a:t>그대로 전달</a:t>
            </a:r>
            <a:r>
              <a:rPr lang="en-US" altLang="ko-KR" dirty="0"/>
              <a:t>(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carry over</a:t>
            </a:r>
            <a:r>
              <a:rPr lang="en-US" altLang="ko-KR" dirty="0"/>
              <a:t>)'</a:t>
            </a:r>
            <a:r>
              <a:rPr lang="ko-KR" altLang="en-US" dirty="0"/>
              <a:t>되며</a:t>
            </a:r>
            <a:r>
              <a:rPr lang="en-US" altLang="ko-KR" dirty="0"/>
              <a:t>, </a:t>
            </a:r>
            <a:r>
              <a:rPr lang="ko-KR" altLang="en-US" dirty="0"/>
              <a:t>이를 위해 </a:t>
            </a:r>
            <a:r>
              <a:rPr lang="ko-KR" altLang="en-US" b="1" dirty="0"/>
              <a:t>네트워크의 출력에서 </a:t>
            </a:r>
            <a:r>
              <a:rPr lang="ko-KR" altLang="en-US" b="1" dirty="0" err="1"/>
              <a:t>마스킹되지</a:t>
            </a:r>
            <a:r>
              <a:rPr lang="ko-KR" altLang="en-US" b="1" dirty="0"/>
              <a:t> 않은 입력은 단순히 복사하도록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⇒</a:t>
            </a:r>
            <a:r>
              <a:rPr lang="en-US" altLang="ko-KR" dirty="0"/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Absorbing process</a:t>
            </a:r>
            <a:r>
              <a:rPr lang="ko-KR" altLang="en-US" dirty="0"/>
              <a:t>의 반대과정 </a:t>
            </a:r>
            <a:r>
              <a:rPr lang="en-US" altLang="ko-KR" dirty="0"/>
              <a:t>(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Absorbing</a:t>
            </a:r>
            <a:r>
              <a:rPr lang="ko-KR" altLang="en-US" dirty="0"/>
              <a:t>때는 한번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Masking</a:t>
            </a:r>
            <a:r>
              <a:rPr lang="ko-KR" altLang="en-US" dirty="0"/>
              <a:t> 되면 끝까지 유지</a:t>
            </a:r>
            <a:r>
              <a:rPr lang="en-US" altLang="ko-KR" dirty="0"/>
              <a:t>,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Denoising</a:t>
            </a:r>
            <a:r>
              <a:rPr lang="ko-KR" altLang="en-US" dirty="0"/>
              <a:t>때는 한번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Unmasking</a:t>
            </a:r>
            <a:r>
              <a:rPr lang="ko-KR" altLang="en-US" dirty="0"/>
              <a:t>되면 끝까지 유지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95946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A8835-77F1-1EFF-463E-B155941C8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Method – Sampler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89F1EC-949B-7076-86C4-F2E545AE41E6}"/>
              </a:ext>
            </a:extLst>
          </p:cNvPr>
          <p:cNvSpPr txBox="1"/>
          <p:nvPr/>
        </p:nvSpPr>
        <p:spPr>
          <a:xfrm>
            <a:off x="838199" y="2119979"/>
            <a:ext cx="63786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ELBO</a:t>
            </a:r>
            <a:r>
              <a:rPr lang="ko-KR" altLang="en-US" dirty="0"/>
              <a:t>의 분산을 줄이는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low-discrepancy sampler</a:t>
            </a:r>
            <a:r>
              <a:rPr lang="ko-KR" altLang="en-US" dirty="0"/>
              <a:t>를 사용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Sobol</a:t>
            </a:r>
            <a:r>
              <a:rPr lang="ko-KR" altLang="en-US" dirty="0"/>
              <a:t>과 같은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low-discrepancy</a:t>
            </a:r>
            <a:r>
              <a:rPr lang="en-US" altLang="ko-KR" dirty="0"/>
              <a:t> </a:t>
            </a:r>
            <a:r>
              <a:rPr lang="ko-KR" altLang="en-US" dirty="0"/>
              <a:t>방식은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timestep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사이의 구간을 균등하게 커버한다는 장점이 있다</a:t>
            </a:r>
            <a:r>
              <a:rPr lang="en-US" altLang="ko-KR" dirty="0"/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6E582BC-A43F-A4B6-6DC9-8495C6E4C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35" y="3635290"/>
            <a:ext cx="6858204" cy="2857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585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61D62-7CAF-AA76-B3C1-FA681AE7A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Result – Language modelling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8C6096-EDFF-2B4F-065A-38B6A621C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789" y="1690688"/>
            <a:ext cx="7536421" cy="40306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8858C3-341E-9C5A-392C-7BA2A01FB3C5}"/>
              </a:ext>
            </a:extLst>
          </p:cNvPr>
          <p:cNvSpPr txBox="1"/>
          <p:nvPr/>
        </p:nvSpPr>
        <p:spPr>
          <a:xfrm>
            <a:off x="1025013" y="5974364"/>
            <a:ext cx="9839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Language modelling</a:t>
            </a:r>
            <a:r>
              <a:rPr lang="ko-KR" altLang="en-US" dirty="0"/>
              <a:t>에서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diffusion LLM </a:t>
            </a:r>
            <a:r>
              <a:rPr lang="ko-KR" altLang="en-US" dirty="0"/>
              <a:t>중에서는 가장 좋고</a:t>
            </a:r>
            <a:r>
              <a:rPr lang="en-US" altLang="ko-KR" dirty="0"/>
              <a:t>,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lang="ko-KR" altLang="en-US" dirty="0"/>
              <a:t>에 근접하는 성능을 보인다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4061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05065-526E-4FD1-5B5E-802B94D5A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Result – Zero shot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546906-B224-A4A5-E9D5-AD0099EFF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192" y="2122197"/>
            <a:ext cx="9887615" cy="26136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1878FC-4BD7-2D56-A85A-A3E29A2CAF3B}"/>
              </a:ext>
            </a:extLst>
          </p:cNvPr>
          <p:cNvSpPr txBox="1"/>
          <p:nvPr/>
        </p:nvSpPr>
        <p:spPr>
          <a:xfrm>
            <a:off x="1152192" y="5309870"/>
            <a:ext cx="96239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Zero shot test</a:t>
            </a:r>
            <a:r>
              <a:rPr lang="ko-KR" altLang="en-US" dirty="0"/>
              <a:t>에서는 기존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SOTA</a:t>
            </a:r>
            <a:r>
              <a:rPr lang="ko-KR" altLang="en-US" dirty="0"/>
              <a:t>인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SEDD</a:t>
            </a:r>
            <a:r>
              <a:rPr lang="ko-KR" altLang="en-US" dirty="0"/>
              <a:t>보다 모든 벤치마크에서 좋은 결과를 보이며</a:t>
            </a:r>
            <a:r>
              <a:rPr lang="en-US" altLang="ko-KR" dirty="0"/>
              <a:t>, </a:t>
            </a:r>
            <a:r>
              <a:rPr lang="ko-KR" altLang="en-US" dirty="0"/>
              <a:t>특정 도메인에서는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lang="ko-KR" altLang="en-US" dirty="0"/>
              <a:t>마저도 능가하는 성능을 보인다</a:t>
            </a:r>
            <a:r>
              <a:rPr lang="en-US" altLang="ko-KR" dirty="0"/>
              <a:t>. ⇒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OOD</a:t>
            </a:r>
            <a:r>
              <a:rPr lang="ko-KR" altLang="en-US" dirty="0"/>
              <a:t>에 강하다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7552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5D8AB-E41D-3FB4-D04A-ABD52D7C1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Result – Downstream evaluation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2F0B4A-A4FA-2E60-63F9-7F19DA7515C0}"/>
              </a:ext>
            </a:extLst>
          </p:cNvPr>
          <p:cNvSpPr txBox="1"/>
          <p:nvPr/>
        </p:nvSpPr>
        <p:spPr>
          <a:xfrm>
            <a:off x="2191078" y="4982073"/>
            <a:ext cx="83797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Downstream evaluation test</a:t>
            </a:r>
            <a:r>
              <a:rPr lang="en-US" altLang="ko-KR" dirty="0"/>
              <a:t> (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BERT</a:t>
            </a:r>
            <a:r>
              <a:rPr lang="ko-KR" altLang="en-US" dirty="0"/>
              <a:t>의 성능을 유지한 채 생성모델링을 할 수 있는가</a:t>
            </a:r>
            <a:r>
              <a:rPr lang="en-US" altLang="ko-KR" dirty="0"/>
              <a:t>?) </a:t>
            </a:r>
            <a:r>
              <a:rPr lang="ko-KR" altLang="en-US" dirty="0"/>
              <a:t>에서도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PPL</a:t>
            </a:r>
            <a:r>
              <a:rPr lang="ko-KR" altLang="en-US" dirty="0"/>
              <a:t>도 줄어들고 </a:t>
            </a:r>
            <a:r>
              <a:rPr lang="en-US" altLang="ko-KR" dirty="0"/>
              <a:t>(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BERT</a:t>
            </a:r>
            <a:r>
              <a:rPr lang="en-US" altLang="ko-KR" dirty="0"/>
              <a:t>: </a:t>
            </a:r>
            <a:r>
              <a:rPr lang="en-US" altLang="ko-KR" b="1" dirty="0"/>
              <a:t>78</a:t>
            </a:r>
            <a:r>
              <a:rPr lang="en-US" altLang="ko-KR" dirty="0"/>
              <a:t> →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BERT+MDLM-FT</a:t>
            </a:r>
            <a:r>
              <a:rPr lang="en-US" altLang="ko-KR" dirty="0"/>
              <a:t>: </a:t>
            </a:r>
            <a:r>
              <a:rPr lang="en-US" altLang="ko-KR" b="1" dirty="0"/>
              <a:t>35</a:t>
            </a:r>
            <a:r>
              <a:rPr lang="en-US" altLang="ko-KR" dirty="0"/>
              <a:t>,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lang="en-US" altLang="ko-KR" dirty="0"/>
              <a:t>: </a:t>
            </a:r>
            <a:r>
              <a:rPr lang="en-US" altLang="ko-KR" b="1" dirty="0"/>
              <a:t>22</a:t>
            </a:r>
            <a:r>
              <a:rPr lang="en-US" altLang="ko-KR" dirty="0"/>
              <a:t>)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GLUE benchmark</a:t>
            </a:r>
            <a:r>
              <a:rPr lang="en-US" altLang="ko-KR" dirty="0"/>
              <a:t> </a:t>
            </a:r>
            <a:r>
              <a:rPr lang="ko-KR" altLang="en-US" dirty="0"/>
              <a:t>결과를 보면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BERT</a:t>
            </a:r>
            <a:r>
              <a:rPr lang="ko-KR" altLang="en-US" dirty="0"/>
              <a:t>와 거의 유사한 성능을 보인다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890E0B-AB98-2E95-BEAD-0F245C3DE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01" y="2387546"/>
            <a:ext cx="11608397" cy="208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911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D6030-3945-2E26-8EF7-73344285B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Result – Semi Autoregressive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1C93AF-2E43-9606-18B2-35ECB4960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59" y="2123893"/>
            <a:ext cx="6306430" cy="26102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6B5E10-07EA-1313-5C79-D0AE8D24F8A8}"/>
              </a:ext>
            </a:extLst>
          </p:cNvPr>
          <p:cNvSpPr txBox="1"/>
          <p:nvPr/>
        </p:nvSpPr>
        <p:spPr>
          <a:xfrm>
            <a:off x="7065972" y="1690688"/>
            <a:ext cx="51260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Autoregressive</a:t>
            </a:r>
            <a:r>
              <a:rPr lang="en-US" altLang="ko-KR" b="0" i="0" dirty="0">
                <a:effectLst/>
              </a:rPr>
              <a:t>:</a:t>
            </a:r>
            <a:br>
              <a:rPr lang="en-US" altLang="ko-KR" b="0" i="0" dirty="0">
                <a:effectLst/>
              </a:rPr>
            </a:br>
            <a:r>
              <a:rPr lang="ko-KR" altLang="en-US" b="0" i="0" dirty="0">
                <a:effectLst/>
              </a:rPr>
              <a:t>토큰을 하나씩 순서대로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br>
              <a:rPr lang="en-US" altLang="ko-KR" b="0" i="0" dirty="0">
                <a:effectLst/>
              </a:rPr>
            </a:br>
            <a:r>
              <a:rPr lang="ko-KR" altLang="en-US" b="0" i="0" dirty="0">
                <a:effectLst/>
              </a:rPr>
              <a:t> </a:t>
            </a:r>
            <a:r>
              <a:rPr lang="en-US" altLang="ko-KR" b="0" i="0" dirty="0">
                <a:effectLst/>
              </a:rPr>
              <a:t>"</a:t>
            </a:r>
            <a:r>
              <a:rPr lang="ko-KR" altLang="en-US" b="0" i="0" dirty="0">
                <a:effectLst/>
              </a:rPr>
              <a:t>나는</a:t>
            </a:r>
            <a:r>
              <a:rPr lang="en-US" altLang="ko-KR" b="0" i="0" dirty="0">
                <a:effectLst/>
              </a:rPr>
              <a:t>" → "</a:t>
            </a:r>
            <a:r>
              <a:rPr lang="ko-KR" altLang="en-US" b="0" i="0" dirty="0">
                <a:effectLst/>
              </a:rPr>
              <a:t>나는 학교에</a:t>
            </a:r>
            <a:r>
              <a:rPr lang="en-US" altLang="ko-KR" b="0" i="0" dirty="0">
                <a:effectLst/>
              </a:rPr>
              <a:t>" → "</a:t>
            </a:r>
            <a:r>
              <a:rPr lang="ko-KR" altLang="en-US" b="0" i="0" dirty="0">
                <a:effectLst/>
              </a:rPr>
              <a:t>나는 학교에 간다</a:t>
            </a:r>
            <a:r>
              <a:rPr lang="en-US" altLang="ko-KR" b="0" i="0" dirty="0">
                <a:effectLst/>
              </a:rPr>
              <a:t>“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Non-autoregressive</a:t>
            </a:r>
            <a:r>
              <a:rPr lang="en-US" altLang="ko-KR" b="0" i="0" dirty="0">
                <a:effectLst/>
              </a:rPr>
              <a:t>:</a:t>
            </a:r>
            <a:br>
              <a:rPr lang="en-US" altLang="ko-KR" b="0" i="0" dirty="0">
                <a:effectLst/>
              </a:rPr>
            </a:br>
            <a:r>
              <a:rPr lang="ko-KR" altLang="en-US" b="0" i="0" dirty="0">
                <a:effectLst/>
              </a:rPr>
              <a:t>모든 토큰을 한 번에 병렬로 생성</a:t>
            </a:r>
            <a:r>
              <a:rPr lang="en-US" altLang="ko-KR" b="0" i="0" dirty="0">
                <a:effectLst/>
              </a:rPr>
              <a:t>.</a:t>
            </a:r>
            <a:br>
              <a:rPr lang="en-US" altLang="ko-KR" b="0" i="0" dirty="0">
                <a:effectLst/>
              </a:rPr>
            </a:br>
            <a:r>
              <a:rPr lang="en-US" altLang="ko-KR" b="0" i="0" dirty="0">
                <a:effectLst/>
              </a:rPr>
              <a:t>＂</a:t>
            </a:r>
            <a:r>
              <a:rPr lang="ko-KR" altLang="en-US" b="0" i="0" dirty="0">
                <a:effectLst/>
              </a:rPr>
              <a:t>나는 학교에 간다</a:t>
            </a:r>
            <a:r>
              <a:rPr lang="en-US" altLang="ko-KR" b="0" i="0" dirty="0">
                <a:effectLst/>
              </a:rPr>
              <a:t>＂</a:t>
            </a:r>
            <a:r>
              <a:rPr lang="ko-KR" altLang="en-US" b="0" i="0" dirty="0">
                <a:effectLst/>
              </a:rPr>
              <a:t>의 네 단어를 동시에 예측</a:t>
            </a:r>
            <a:r>
              <a:rPr lang="en-US" altLang="ko-KR" b="0" i="0" dirty="0"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Semi-autoregressive</a:t>
            </a:r>
            <a:r>
              <a:rPr lang="en-US" altLang="ko-KR" b="0" i="0" dirty="0">
                <a:effectLst/>
              </a:rPr>
              <a:t>:</a:t>
            </a:r>
            <a:br>
              <a:rPr lang="en-US" altLang="ko-KR" b="0" i="0" dirty="0">
                <a:effectLst/>
              </a:rPr>
            </a:br>
            <a:r>
              <a:rPr lang="ko-KR" altLang="en-US" b="0" i="0" dirty="0">
                <a:effectLst/>
              </a:rPr>
              <a:t>여러 개의 토큰을 한 번에 병렬로 생성하지만</a:t>
            </a:r>
            <a:r>
              <a:rPr lang="en-US" altLang="ko-KR" b="0" i="0" dirty="0">
                <a:effectLst/>
              </a:rPr>
              <a:t>, </a:t>
            </a:r>
            <a:r>
              <a:rPr lang="ko-KR" altLang="en-US" b="0" i="0" dirty="0">
                <a:effectLst/>
              </a:rPr>
              <a:t>그 블록</a:t>
            </a:r>
            <a:r>
              <a:rPr lang="en-US" altLang="ko-KR" b="0" i="0" dirty="0">
                <a:effectLst/>
              </a:rPr>
              <a:t> </a:t>
            </a:r>
            <a:r>
              <a:rPr lang="ko-KR" altLang="en-US" b="0" i="0" dirty="0">
                <a:effectLst/>
              </a:rPr>
              <a:t>간에는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lang="ko-KR" altLang="en-US" b="0" i="0" dirty="0">
                <a:effectLst/>
              </a:rPr>
              <a:t>처럼 순서를 따름</a:t>
            </a:r>
            <a:r>
              <a:rPr lang="en-US" altLang="ko-KR" b="0" i="0" dirty="0">
                <a:effectLst/>
              </a:rPr>
              <a:t>.</a:t>
            </a:r>
            <a:br>
              <a:rPr lang="en-US" altLang="ko-KR" b="0" i="0" dirty="0">
                <a:effectLst/>
              </a:rPr>
            </a:br>
            <a:br>
              <a:rPr lang="ko-KR" altLang="en-US" b="0" i="0" dirty="0">
                <a:effectLst/>
              </a:rPr>
            </a:br>
            <a:r>
              <a:rPr lang="en-US" altLang="ko-KR" b="0" i="0" dirty="0">
                <a:effectLst/>
              </a:rPr>
              <a:t>1</a:t>
            </a:r>
            <a:r>
              <a:rPr lang="ko-KR" altLang="en-US" b="0" i="0" dirty="0">
                <a:effectLst/>
              </a:rPr>
              <a:t>단계</a:t>
            </a:r>
            <a:r>
              <a:rPr lang="en-US" altLang="ko-KR" b="0" i="0" dirty="0">
                <a:effectLst/>
              </a:rPr>
              <a:t>: "</a:t>
            </a:r>
            <a:r>
              <a:rPr lang="ko-KR" altLang="en-US" b="0" i="0" dirty="0">
                <a:effectLst/>
              </a:rPr>
              <a:t>나는</a:t>
            </a:r>
            <a:r>
              <a:rPr lang="en-US" altLang="ko-KR" b="0" i="0" dirty="0">
                <a:effectLst/>
              </a:rPr>
              <a:t>", "</a:t>
            </a:r>
            <a:r>
              <a:rPr lang="ko-KR" altLang="en-US" b="0" i="0" dirty="0">
                <a:effectLst/>
              </a:rPr>
              <a:t>학교에</a:t>
            </a:r>
            <a:r>
              <a:rPr lang="en-US" altLang="ko-KR" b="0" i="0" dirty="0">
                <a:effectLst/>
              </a:rPr>
              <a:t>"</a:t>
            </a:r>
            <a:br>
              <a:rPr lang="en-US" altLang="ko-KR" b="0" i="0" dirty="0">
                <a:effectLst/>
              </a:rPr>
            </a:br>
            <a:r>
              <a:rPr lang="en-US" altLang="ko-KR" b="0" i="0" dirty="0">
                <a:effectLst/>
              </a:rPr>
              <a:t>2</a:t>
            </a:r>
            <a:r>
              <a:rPr lang="ko-KR" altLang="en-US" b="0" i="0" dirty="0">
                <a:effectLst/>
              </a:rPr>
              <a:t>단계</a:t>
            </a:r>
            <a:r>
              <a:rPr lang="en-US" altLang="ko-KR" b="0" i="0" dirty="0">
                <a:effectLst/>
              </a:rPr>
              <a:t>: "</a:t>
            </a:r>
            <a:r>
              <a:rPr lang="ko-KR" altLang="en-US" b="0" i="0" dirty="0">
                <a:effectLst/>
              </a:rPr>
              <a:t>간다</a:t>
            </a:r>
            <a:r>
              <a:rPr lang="en-US" altLang="ko-KR" b="0" i="0" dirty="0">
                <a:effectLst/>
              </a:rPr>
              <a:t>"</a:t>
            </a:r>
            <a:br>
              <a:rPr lang="en-US" altLang="ko-KR" b="0" i="0" dirty="0">
                <a:effectLst/>
              </a:rPr>
            </a:br>
            <a:r>
              <a:rPr lang="ko-KR" altLang="en-US" b="0" i="0" dirty="0">
                <a:effectLst/>
              </a:rPr>
              <a:t>이런 식으로 </a:t>
            </a:r>
            <a:r>
              <a:rPr lang="en-US" altLang="ko-KR" b="0" i="0" dirty="0">
                <a:effectLst/>
              </a:rPr>
              <a:t>"</a:t>
            </a:r>
            <a:r>
              <a:rPr lang="ko-KR" altLang="en-US" b="0" i="0" dirty="0">
                <a:effectLst/>
              </a:rPr>
              <a:t>나는</a:t>
            </a:r>
            <a:r>
              <a:rPr lang="en-US" altLang="ko-KR" b="0" i="0" dirty="0">
                <a:effectLst/>
              </a:rPr>
              <a:t>"</a:t>
            </a:r>
            <a:r>
              <a:rPr lang="ko-KR" altLang="en-US" b="0" i="0" dirty="0">
                <a:effectLst/>
              </a:rPr>
              <a:t>과 </a:t>
            </a:r>
            <a:r>
              <a:rPr lang="en-US" altLang="ko-KR" b="0" i="0" dirty="0">
                <a:effectLst/>
              </a:rPr>
              <a:t>"</a:t>
            </a:r>
            <a:r>
              <a:rPr lang="ko-KR" altLang="en-US" b="0" i="0" dirty="0">
                <a:effectLst/>
              </a:rPr>
              <a:t>학교에</a:t>
            </a:r>
            <a:r>
              <a:rPr lang="en-US" altLang="ko-KR" b="0" i="0" dirty="0">
                <a:effectLst/>
              </a:rPr>
              <a:t>"</a:t>
            </a:r>
            <a:r>
              <a:rPr lang="ko-KR" altLang="en-US" b="0" i="0" dirty="0">
                <a:effectLst/>
              </a:rPr>
              <a:t>는 동시에 예측</a:t>
            </a:r>
            <a:r>
              <a:rPr lang="en-US" altLang="ko-KR" b="0" i="0" dirty="0">
                <a:effectLst/>
              </a:rPr>
              <a:t>, </a:t>
            </a:r>
            <a:r>
              <a:rPr lang="ko-KR" altLang="en-US" b="0" i="0" dirty="0">
                <a:effectLst/>
              </a:rPr>
              <a:t>그 다음 </a:t>
            </a:r>
            <a:r>
              <a:rPr lang="en-US" altLang="ko-KR" b="0" i="0" dirty="0">
                <a:effectLst/>
              </a:rPr>
              <a:t>"</a:t>
            </a:r>
            <a:r>
              <a:rPr lang="ko-KR" altLang="en-US" b="0" i="0" dirty="0">
                <a:effectLst/>
              </a:rPr>
              <a:t>간다</a:t>
            </a:r>
            <a:r>
              <a:rPr lang="en-US" altLang="ko-KR" b="0" i="0" dirty="0">
                <a:effectLst/>
              </a:rPr>
              <a:t>"</a:t>
            </a:r>
            <a:r>
              <a:rPr lang="ko-KR" altLang="en-US" b="0" i="0" dirty="0">
                <a:effectLst/>
              </a:rPr>
              <a:t>는 앞 블록을 보고 예측</a:t>
            </a:r>
            <a:r>
              <a:rPr lang="en-US" altLang="ko-KR" b="0" i="0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8942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C6A788-693A-3932-BDF4-3FE788A93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Ablation study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ADC9E9-F206-7251-5C1B-15CBD60FF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09" y="1543590"/>
            <a:ext cx="5137991" cy="342917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F0EF273-5643-666F-7A20-E66B2E8E5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966" y="1452938"/>
            <a:ext cx="2457793" cy="36104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3DEBC9-F148-6CD2-DB75-74C2DE83CCBE}"/>
              </a:ext>
            </a:extLst>
          </p:cNvPr>
          <p:cNvSpPr txBox="1"/>
          <p:nvPr/>
        </p:nvSpPr>
        <p:spPr>
          <a:xfrm>
            <a:off x="1366684" y="5314410"/>
            <a:ext cx="81607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Continuous time training</a:t>
            </a:r>
            <a:r>
              <a:rPr lang="ko-KR" altLang="en-US" dirty="0"/>
              <a:t>을 제외하거나</a:t>
            </a:r>
            <a:r>
              <a:rPr lang="en-US" altLang="ko-KR" dirty="0"/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Carry-over unmasking</a:t>
            </a:r>
            <a:r>
              <a:rPr lang="ko-KR" altLang="en-US" dirty="0"/>
              <a:t>을 제외했을 때 성능이 유의미하게 감소하며</a:t>
            </a:r>
            <a:r>
              <a:rPr lang="en-US" altLang="ko-KR" dirty="0"/>
              <a:t>,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finite time</a:t>
            </a:r>
            <a:r>
              <a:rPr lang="ko-KR" altLang="en-US" dirty="0"/>
              <a:t>에서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infinite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r>
              <a:rPr lang="ko-KR" altLang="en-US" dirty="0"/>
              <a:t>으로 증가함에 따라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PPL</a:t>
            </a:r>
            <a:r>
              <a:rPr lang="ko-KR" altLang="en-US" dirty="0"/>
              <a:t>은 지속적으로 감소한다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7518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DEF1B5-13A5-D9EA-7433-FC5110F97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Contribution (1) Simplified NELBO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 descr="폰트, 화이트, 서예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8A6D9C-A0A2-4251-8CB8-DF12AC760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471" y="2659868"/>
            <a:ext cx="2971953" cy="533427"/>
          </a:xfrm>
          <a:prstGeom prst="rect">
            <a:avLst/>
          </a:prstGeom>
        </p:spPr>
      </p:pic>
      <p:pic>
        <p:nvPicPr>
          <p:cNvPr id="6" name="그림 5" descr="텍스트, 폰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A6F13F-C95D-A35F-6A58-D5BB6724B8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73" y="3664706"/>
            <a:ext cx="5613689" cy="12700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158ACE-BD39-78ED-1F91-E4E5F4C851DE}"/>
              </a:ext>
            </a:extLst>
          </p:cNvPr>
          <p:cNvSpPr txBox="1"/>
          <p:nvPr/>
        </p:nvSpPr>
        <p:spPr>
          <a:xfrm>
            <a:off x="5613381" y="2512477"/>
            <a:ext cx="64111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Train time</a:t>
            </a:r>
            <a:r>
              <a:rPr lang="ko-KR" altLang="en-US" dirty="0"/>
              <a:t>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discrete</a:t>
            </a:r>
            <a:r>
              <a:rPr lang="ko-KR" altLang="en-US" dirty="0"/>
              <a:t>가 아니라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continuous</a:t>
            </a:r>
            <a:r>
              <a:rPr lang="ko-KR" altLang="en-US" dirty="0"/>
              <a:t>로 가져갔다</a:t>
            </a:r>
            <a:r>
              <a:rPr lang="en-US" altLang="ko-KR" dirty="0"/>
              <a:t>. </a:t>
            </a:r>
            <a:r>
              <a:rPr lang="ko-KR" altLang="en-US" dirty="0"/>
              <a:t>그 결과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reconstruction loss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이 되어 첫번째 항이 사라진다</a:t>
            </a:r>
            <a:r>
              <a:rPr lang="en-US" altLang="ko-KR" dirty="0"/>
              <a:t>.</a:t>
            </a:r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t=T</a:t>
            </a:r>
            <a:r>
              <a:rPr lang="en-US" altLang="ko-KR" dirty="0"/>
              <a:t> </a:t>
            </a:r>
            <a:r>
              <a:rPr lang="ko-KR" altLang="en-US" dirty="0"/>
              <a:t>시점에서 모든 토큰이 </a:t>
            </a:r>
            <a:r>
              <a:rPr lang="ko-KR" altLang="en-US" dirty="0" err="1"/>
              <a:t>마스킹</a:t>
            </a:r>
            <a:r>
              <a:rPr lang="ko-KR" altLang="en-US" dirty="0"/>
              <a:t> 되도록 설계</a:t>
            </a:r>
            <a:r>
              <a:rPr lang="en-US" altLang="ko-KR" dirty="0"/>
              <a:t>.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prior loss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이 되면서 세번째 항이 사라진다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이제 복잡했던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NELBO</a:t>
            </a:r>
            <a:r>
              <a:rPr lang="ko-KR" altLang="en-US" dirty="0"/>
              <a:t>에는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diffusion loss</a:t>
            </a:r>
            <a:r>
              <a:rPr lang="ko-KR" altLang="en-US" dirty="0"/>
              <a:t>만 남게 되며</a:t>
            </a:r>
            <a:r>
              <a:rPr lang="en-US" altLang="ko-KR" dirty="0"/>
              <a:t>, </a:t>
            </a:r>
            <a:r>
              <a:rPr lang="ko-KR" altLang="en-US" dirty="0" err="1"/>
              <a:t>그마저도</a:t>
            </a:r>
            <a:r>
              <a:rPr lang="ko-KR" altLang="en-US" dirty="0"/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SUBS parameterization</a:t>
            </a:r>
            <a:r>
              <a:rPr lang="ko-KR" altLang="en-US" dirty="0"/>
              <a:t>을 통해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BERT</a:t>
            </a:r>
            <a:r>
              <a:rPr lang="ko-KR" altLang="en-US" dirty="0"/>
              <a:t>의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MLM</a:t>
            </a:r>
            <a:r>
              <a:rPr lang="ko-KR" altLang="en-US" dirty="0"/>
              <a:t>손실의 가중합에 불과하다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5756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4577EB-F047-480F-B87A-7DAC8855F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Contribution (2)</a:t>
            </a:r>
            <a:b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3100" dirty="0">
                <a:latin typeface="Arial" panose="020B0604020202020204" pitchFamily="34" charset="0"/>
                <a:cs typeface="Arial" panose="020B0604020202020204" pitchFamily="34" charset="0"/>
              </a:rPr>
              <a:t>The BPD result is independent of the form of noise scheduling</a:t>
            </a:r>
            <a:endParaRPr lang="ko-KR" alt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34B78E3-6962-0231-AA26-1EC915D69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65" y="3521731"/>
            <a:ext cx="5080279" cy="560977"/>
          </a:xfrm>
          <a:prstGeom prst="rect">
            <a:avLst/>
          </a:prstGeom>
        </p:spPr>
      </p:pic>
      <p:pic>
        <p:nvPicPr>
          <p:cNvPr id="6" name="그림 5" descr="텍스트, 폰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CE63FC-8647-01D9-5635-4CED84D1E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4" y="1971177"/>
            <a:ext cx="5613689" cy="1270065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56DB6A-883A-3442-56B7-674AA3D304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03" y="4622265"/>
            <a:ext cx="5510202" cy="17597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FBD61E-7177-9DCC-B12E-2312EB09CB77}"/>
              </a:ext>
            </a:extLst>
          </p:cNvPr>
          <p:cNvSpPr txBox="1"/>
          <p:nvPr/>
        </p:nvSpPr>
        <p:spPr>
          <a:xfrm>
            <a:off x="6148997" y="5040455"/>
            <a:ext cx="59370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/>
              <a:t>⇒ 노이즈 스케줄 함수 형태는</a:t>
            </a:r>
          </a:p>
          <a:p>
            <a:r>
              <a:rPr lang="ko-KR" altLang="en-US" b="1" dirty="0"/>
              <a:t>최종 성능</a:t>
            </a:r>
            <a:r>
              <a:rPr lang="en-US" altLang="ko-KR" b="1" dirty="0"/>
              <a:t>(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BPD</a:t>
            </a:r>
            <a:r>
              <a:rPr lang="en-US" altLang="ko-KR" b="1" dirty="0"/>
              <a:t>)</a:t>
            </a:r>
            <a:r>
              <a:rPr lang="ko-KR" altLang="en-US" b="1" dirty="0"/>
              <a:t>에는 영향 없지만</a:t>
            </a:r>
            <a:r>
              <a:rPr lang="en-US" altLang="ko-KR" b="1" dirty="0"/>
              <a:t>, </a:t>
            </a:r>
            <a:r>
              <a:rPr lang="ko-KR" altLang="en-US" b="1" dirty="0"/>
              <a:t>학습 과정의 안정성</a:t>
            </a:r>
            <a:r>
              <a:rPr lang="en-US" altLang="ko-KR" b="1" dirty="0"/>
              <a:t>(</a:t>
            </a:r>
            <a:r>
              <a:rPr lang="ko-KR" altLang="en-US" b="1" dirty="0"/>
              <a:t>분산</a:t>
            </a:r>
            <a:r>
              <a:rPr lang="en-US" altLang="ko-KR" b="1" dirty="0"/>
              <a:t>)</a:t>
            </a:r>
            <a:r>
              <a:rPr lang="ko-KR" altLang="en-US" b="1" dirty="0"/>
              <a:t>을 결정한다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6BE69A-A93A-9519-7347-659E98D1C75B}"/>
              </a:ext>
            </a:extLst>
          </p:cNvPr>
          <p:cNvSpPr txBox="1"/>
          <p:nvPr/>
        </p:nvSpPr>
        <p:spPr>
          <a:xfrm>
            <a:off x="6148997" y="269342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⇒</a:t>
            </a:r>
            <a:r>
              <a:rPr lang="en-US" altLang="ko-KR" dirty="0"/>
              <a:t> </a:t>
            </a:r>
            <a:r>
              <a:rPr lang="ko-KR" altLang="en-US" dirty="0"/>
              <a:t>노이즈 스케쥴은 감소하는 함수이므로</a:t>
            </a:r>
            <a:r>
              <a:rPr lang="en-US" altLang="ko-KR" dirty="0"/>
              <a:t>, </a:t>
            </a:r>
            <a:r>
              <a:rPr lang="ko-KR" altLang="en-US" dirty="0"/>
              <a:t>역함수가 존재한다</a:t>
            </a:r>
            <a:r>
              <a:rPr lang="en-US" altLang="ko-KR" dirty="0"/>
              <a:t>. </a:t>
            </a:r>
            <a:r>
              <a:rPr lang="ko-KR" altLang="en-US" dirty="0"/>
              <a:t>따라서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r=log(1-at)</a:t>
            </a:r>
            <a:r>
              <a:rPr lang="ko-KR" altLang="en-US" dirty="0"/>
              <a:t>로 두고 치환적분을 해볼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3201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5E2BC6F-7A5A-EF83-E4EF-1BE6252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5170"/>
            <a:ext cx="10515600" cy="2852737"/>
          </a:xfrm>
        </p:spPr>
        <p:txBody>
          <a:bodyPr/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386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738</Words>
  <Application>Microsoft Office PowerPoint</Application>
  <PresentationFormat>와이드스크린</PresentationFormat>
  <Paragraphs>78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Simple and effective masked diffusion (2024. 06)</vt:lpstr>
      <vt:lpstr>Conclusion</vt:lpstr>
      <vt:lpstr>Method – Absorbing state</vt:lpstr>
      <vt:lpstr>Method – Absorbing state</vt:lpstr>
      <vt:lpstr>Method – Absorbing state</vt:lpstr>
      <vt:lpstr>Method – Denoising process</vt:lpstr>
      <vt:lpstr>Method – Sampler</vt:lpstr>
      <vt:lpstr>Result – Language modelling</vt:lpstr>
      <vt:lpstr>Result – Zero shot</vt:lpstr>
      <vt:lpstr>Result – Downstream evaluation</vt:lpstr>
      <vt:lpstr>Result – Semi Autoregressive</vt:lpstr>
      <vt:lpstr>Ablation study</vt:lpstr>
      <vt:lpstr>Contribution (1) Simplified NELBO</vt:lpstr>
      <vt:lpstr>Contribution (2) The BPD result is independent of the form of noise scheduling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정현석</dc:creator>
  <cp:lastModifiedBy>정현석</cp:lastModifiedBy>
  <cp:revision>63</cp:revision>
  <dcterms:created xsi:type="dcterms:W3CDTF">2025-06-22T08:22:06Z</dcterms:created>
  <dcterms:modified xsi:type="dcterms:W3CDTF">2025-06-22T12:08:29Z</dcterms:modified>
</cp:coreProperties>
</file>