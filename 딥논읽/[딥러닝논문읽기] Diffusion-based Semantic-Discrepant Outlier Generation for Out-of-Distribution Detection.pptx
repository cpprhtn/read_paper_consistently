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395" r:id="rId2"/>
    <p:sldId id="264" r:id="rId3"/>
    <p:sldId id="301" r:id="rId4"/>
    <p:sldId id="543" r:id="rId5"/>
    <p:sldId id="552" r:id="rId6"/>
    <p:sldId id="554" r:id="rId7"/>
    <p:sldId id="560" r:id="rId8"/>
    <p:sldId id="558" r:id="rId9"/>
    <p:sldId id="561" r:id="rId10"/>
    <p:sldId id="562" r:id="rId11"/>
    <p:sldId id="514" r:id="rId12"/>
    <p:sldId id="567" r:id="rId13"/>
    <p:sldId id="569" r:id="rId14"/>
    <p:sldId id="568" r:id="rId15"/>
    <p:sldId id="571" r:id="rId16"/>
    <p:sldId id="564" r:id="rId17"/>
    <p:sldId id="530" r:id="rId18"/>
    <p:sldId id="572" r:id="rId19"/>
    <p:sldId id="573" r:id="rId20"/>
    <p:sldId id="548" r:id="rId21"/>
    <p:sldId id="516" r:id="rId22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CEB"/>
    <a:srgbClr val="5458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08" autoAdjust="0"/>
    <p:restoredTop sz="93821" autoAdjust="0"/>
  </p:normalViewPr>
  <p:slideViewPr>
    <p:cSldViewPr snapToGrid="0">
      <p:cViewPr varScale="1">
        <p:scale>
          <a:sx n="58" d="100"/>
          <a:sy n="58" d="100"/>
        </p:scale>
        <p:origin x="62" y="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038E00-CAC9-4D4F-AF06-9450768AB910}" type="datetimeFigureOut">
              <a:rPr lang="ko-KR" altLang="en-US" smtClean="0"/>
              <a:t>2024-03-31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87AEA7-BFB3-44B1-8F47-EF37B964AB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261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87AEA7-BFB3-44B1-8F47-EF37B964ABF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593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03A6CA-6786-0D1B-6ABF-584E2958C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A2395C-7470-4AE9-8DC9-7629E1747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B564C6-EFCA-9368-AFEB-AB7C99833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8CDC3-2DA7-BE49-AA22-A44E971461AD}" type="datetimeFigureOut">
              <a:rPr kumimoji="1" lang="ko-Kore-KR" altLang="en-US" smtClean="0"/>
              <a:t>03/31/2024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8202FC-7B23-637F-7E19-1411DD13B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A0B96F-2068-6630-FD7F-A62E2B20D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943E-B528-5344-8903-F76E637BB37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06947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CF3BC-2ED5-704A-820A-89DD915A4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F4CAB4-3D7D-3E90-1564-05E315222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9FE1DC-1C3E-C44A-AB0E-A828CC9EF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8CDC3-2DA7-BE49-AA22-A44E971461AD}" type="datetimeFigureOut">
              <a:rPr kumimoji="1" lang="ko-Kore-KR" altLang="en-US" smtClean="0"/>
              <a:t>03/31/2024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14E602-7585-294D-FAD5-E65489619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F91DF0-2559-694D-19A4-719512D98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943E-B528-5344-8903-F76E637BB37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3219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A6C325-3EAC-9100-A8B9-E306B691C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68320F-ED25-C236-FC9E-74FC49AB1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95D47F-64B1-0BD4-1176-BA7F76DEA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8CDC3-2DA7-BE49-AA22-A44E971461AD}" type="datetimeFigureOut">
              <a:rPr kumimoji="1" lang="ko-Kore-KR" altLang="en-US" smtClean="0"/>
              <a:t>03/31/2024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748EF8-BE47-F177-85CA-4DBD07A5D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1BD13F-4795-663D-8732-CFBFFC8DF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943E-B528-5344-8903-F76E637BB37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97681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2520FF-3946-DE20-0463-38CB07018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0AB207-617E-6D89-D2FA-945AA5DE1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1CABCF-39FF-D584-E163-CA88DDA3C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CA35D6-59D5-D8C2-104B-6993F7DD3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8CDC3-2DA7-BE49-AA22-A44E971461AD}" type="datetimeFigureOut">
              <a:rPr kumimoji="1" lang="ko-Kore-KR" altLang="en-US" smtClean="0"/>
              <a:t>03/31/2024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31727D-655B-9154-5C5F-EC45D1796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60AAFB-39B2-C956-6AB8-78020C335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943E-B528-5344-8903-F76E637BB37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3327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872EDB-24F5-BE80-23C1-D29461F40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1CA63E-3B60-4B17-9D11-025AA633D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3FD702-719D-BAC7-0CFF-03B746DDC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561927A-5F2E-6D16-3E89-236855EDB9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5D8CE87-D89E-1D79-DC5D-7107EA61F7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3124983-6200-B27A-5E0B-DEBDADB7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8CDC3-2DA7-BE49-AA22-A44E971461AD}" type="datetimeFigureOut">
              <a:rPr kumimoji="1" lang="ko-Kore-KR" altLang="en-US" smtClean="0"/>
              <a:t>03/31/2024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9F11020-C298-C015-75A5-2FE97E0F6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403059F-49E0-D497-D011-FF2F2245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943E-B528-5344-8903-F76E637BB37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86001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E63005-39B0-5F8E-4A69-B3DE104F3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A2A689-38E8-1055-6C42-CC20A480E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8CDC3-2DA7-BE49-AA22-A44E971461AD}" type="datetimeFigureOut">
              <a:rPr kumimoji="1" lang="ko-Kore-KR" altLang="en-US" smtClean="0"/>
              <a:t>03/31/2024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3315D4-CFFE-99A6-014F-D050F86A2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D8ED2A8-DDAA-BFDA-F645-096AA6A08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943E-B528-5344-8903-F76E637BB37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59024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50BD69-662C-0A26-9521-3738FBAC4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8CDC3-2DA7-BE49-AA22-A44E971461AD}" type="datetimeFigureOut">
              <a:rPr kumimoji="1" lang="ko-Kore-KR" altLang="en-US" smtClean="0"/>
              <a:t>03/31/2024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86783F-E5F0-C876-01FC-667D0D152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B19138-6747-CDCF-1069-C84696FB9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943E-B528-5344-8903-F76E637BB37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79068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3A28E-A55C-1C84-EC5B-408C8EC39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8C9A42-D308-0A62-89B3-1D96A925D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89FDAB-95F2-2141-E06B-11C52D2E9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C28A9D-F85A-16E3-B002-5B3AFA540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8CDC3-2DA7-BE49-AA22-A44E971461AD}" type="datetimeFigureOut">
              <a:rPr kumimoji="1" lang="ko-Kore-KR" altLang="en-US" smtClean="0"/>
              <a:t>03/31/2024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1EB382-04D0-2004-1F73-F136D1A5D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A7BD34-0E4A-66C1-2F6C-091A33C7D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943E-B528-5344-8903-F76E637BB37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28120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13878-9A28-3725-59FA-A5B66CD7A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E67E0C-C1F2-32AD-E7B9-D693381D06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E23D42-320D-D3D8-0949-343A0C119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094A75-3FF1-F46E-F69A-33DD0B76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8CDC3-2DA7-BE49-AA22-A44E971461AD}" type="datetimeFigureOut">
              <a:rPr kumimoji="1" lang="ko-Kore-KR" altLang="en-US" smtClean="0"/>
              <a:t>03/31/2024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CD3CC9-5933-772C-D4A9-81288928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016890-AEBC-A877-0051-E4FD49DF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943E-B528-5344-8903-F76E637BB37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41261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2B127-D02C-6230-CF0B-72CB73E5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4F416D-AAB2-67A3-0A19-F9E76108F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E15B43-2033-83D8-5E94-4678A8451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8CDC3-2DA7-BE49-AA22-A44E971461AD}" type="datetimeFigureOut">
              <a:rPr kumimoji="1" lang="ko-Kore-KR" altLang="en-US" smtClean="0"/>
              <a:t>03/31/2024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CE33AC-8BC8-3B5D-CF44-16E29C5FA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53CD22-743F-FCD1-D7C3-D02BBFBD4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943E-B528-5344-8903-F76E637BB37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3299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E720EA8-FA67-19CC-B3CC-05C8C3103F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109FAD-E2E9-D163-2979-596C214C4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CA0102-3AF9-1EFC-91ED-8B0D4EA4B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8CDC3-2DA7-BE49-AA22-A44E971461AD}" type="datetimeFigureOut">
              <a:rPr kumimoji="1" lang="ko-Kore-KR" altLang="en-US" smtClean="0"/>
              <a:t>03/31/2024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811E7E-84BB-4591-009C-EBFE4B255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F3758C-682F-FFCD-7C38-10868F5DA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C943E-B528-5344-8903-F76E637BB37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18581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2940C66-63A9-D58D-4137-51CA5A11A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75F734-DB29-1AD0-5ED9-BA7A0DFE8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71CC80-73C4-4556-5BA6-5F09B4B1A6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8CDC3-2DA7-BE49-AA22-A44E971461AD}" type="datetimeFigureOut">
              <a:rPr kumimoji="1" lang="ko-Kore-KR" altLang="en-US" smtClean="0"/>
              <a:t>03/31/2024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3E6B2-69E6-D619-9B9E-76B9555FB0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579F9-F5F0-4C34-2018-59617BECD6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C943E-B528-5344-8903-F76E637BB37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33098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zenodo.org/records/8394847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직사각형 145"/>
          <p:cNvSpPr/>
          <p:nvPr/>
        </p:nvSpPr>
        <p:spPr>
          <a:xfrm>
            <a:off x="1010190" y="1570475"/>
            <a:ext cx="1017162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600" b="1" dirty="0">
                <a:solidFill>
                  <a:prstClr val="white"/>
                </a:solidFill>
                <a:latin typeface="+mn-ea"/>
              </a:rPr>
              <a:t>Diffusion-based Semantic-Discrepant </a:t>
            </a:r>
          </a:p>
          <a:p>
            <a:pPr algn="ctr">
              <a:lnSpc>
                <a:spcPct val="150000"/>
              </a:lnSpc>
            </a:pPr>
            <a:r>
              <a:rPr lang="en-US" altLang="ko-KR" sz="3600" b="1" dirty="0">
                <a:solidFill>
                  <a:prstClr val="white"/>
                </a:solidFill>
                <a:latin typeface="+mn-ea"/>
              </a:rPr>
              <a:t>Outlier Generation for </a:t>
            </a:r>
          </a:p>
          <a:p>
            <a:pPr algn="ctr">
              <a:lnSpc>
                <a:spcPct val="150000"/>
              </a:lnSpc>
            </a:pPr>
            <a:r>
              <a:rPr lang="en-US" altLang="ko-KR" sz="3600" b="1" dirty="0">
                <a:solidFill>
                  <a:prstClr val="white"/>
                </a:solidFill>
                <a:latin typeface="+mn-ea"/>
              </a:rPr>
              <a:t>Out-of-Distribution Detection</a:t>
            </a:r>
            <a:endParaRPr lang="ko-KR" altLang="en-US" sz="3600" dirty="0">
              <a:solidFill>
                <a:prstClr val="white">
                  <a:alpha val="50000"/>
                </a:prstClr>
              </a:solidFill>
              <a:latin typeface="+mn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5524368" y="5287525"/>
            <a:ext cx="114326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+mn-ea"/>
              </a:rPr>
              <a:t>24.03.31</a:t>
            </a:r>
          </a:p>
          <a:p>
            <a:pPr algn="ctr"/>
            <a:r>
              <a:rPr lang="ko-KR" altLang="en-US" sz="2000" dirty="0">
                <a:solidFill>
                  <a:prstClr val="white"/>
                </a:solidFill>
                <a:latin typeface="+mn-ea"/>
              </a:rPr>
              <a:t>김윤하</a:t>
            </a:r>
            <a:endParaRPr lang="ko-KR" altLang="en-US" dirty="0">
              <a:latin typeface="+mn-ea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6B6B5BB2-8FBA-A844-8811-BAB8AA2B3940}"/>
              </a:ext>
            </a:extLst>
          </p:cNvPr>
          <p:cNvSpPr/>
          <p:nvPr/>
        </p:nvSpPr>
        <p:spPr>
          <a:xfrm>
            <a:off x="3722158" y="849240"/>
            <a:ext cx="361919" cy="36191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  <a:latin typeface="+mn-ea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A954D22-7F05-E642-B3D8-D4039FF11EA7}"/>
              </a:ext>
            </a:extLst>
          </p:cNvPr>
          <p:cNvSpPr/>
          <p:nvPr/>
        </p:nvSpPr>
        <p:spPr>
          <a:xfrm>
            <a:off x="5915040" y="870223"/>
            <a:ext cx="361919" cy="36191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  <a:latin typeface="+mn-ea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F1C09D2-DA09-C54C-927E-927485418C92}"/>
              </a:ext>
            </a:extLst>
          </p:cNvPr>
          <p:cNvSpPr/>
          <p:nvPr/>
        </p:nvSpPr>
        <p:spPr>
          <a:xfrm>
            <a:off x="8158177" y="842294"/>
            <a:ext cx="361919" cy="36191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9840BB-43AF-8D44-1A35-A9BCA1A38D18}"/>
              </a:ext>
            </a:extLst>
          </p:cNvPr>
          <p:cNvSpPr/>
          <p:nvPr/>
        </p:nvSpPr>
        <p:spPr>
          <a:xfrm>
            <a:off x="1610765" y="4278623"/>
            <a:ext cx="89704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[</a:t>
            </a:r>
            <a:r>
              <a:rPr lang="en-US" altLang="ko-KR" sz="2000" dirty="0" err="1">
                <a:solidFill>
                  <a:schemeClr val="bg2">
                    <a:lumMod val="90000"/>
                  </a:schemeClr>
                </a:solidFill>
                <a:latin typeface="+mn-ea"/>
              </a:rPr>
              <a:t>NeurIPS</a:t>
            </a:r>
            <a:r>
              <a:rPr lang="en-US" altLang="ko-KR" sz="2000" dirty="0">
                <a:solidFill>
                  <a:schemeClr val="bg2">
                    <a:lumMod val="90000"/>
                  </a:schemeClr>
                </a:solidFill>
                <a:latin typeface="+mn-ea"/>
              </a:rPr>
              <a:t> 2023] Workshop on Synthetic Data Generation with Generative AI</a:t>
            </a:r>
            <a:endParaRPr lang="ko-KR" altLang="en-US" dirty="0">
              <a:solidFill>
                <a:schemeClr val="bg2">
                  <a:lumMod val="9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82709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8855079" y="2486782"/>
            <a:ext cx="1981200" cy="1981200"/>
            <a:chOff x="1052285" y="2354035"/>
            <a:chExt cx="1981200" cy="1981200"/>
          </a:xfrm>
        </p:grpSpPr>
        <p:sp>
          <p:nvSpPr>
            <p:cNvPr id="4" name="눈물 방울 3"/>
            <p:cNvSpPr/>
            <p:nvPr/>
          </p:nvSpPr>
          <p:spPr>
            <a:xfrm rot="2700000">
              <a:off x="1052285" y="2354035"/>
              <a:ext cx="1981200" cy="1981200"/>
            </a:xfrm>
            <a:prstGeom prst="teardrop">
              <a:avLst/>
            </a:prstGeom>
            <a:solidFill>
              <a:srgbClr val="545871"/>
            </a:solidFill>
            <a:ln w="133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타원 4"/>
            <p:cNvSpPr/>
            <p:nvPr/>
          </p:nvSpPr>
          <p:spPr>
            <a:xfrm>
              <a:off x="1227929" y="2529679"/>
              <a:ext cx="1629911" cy="16299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7049523" y="2486781"/>
            <a:ext cx="1981200" cy="1981200"/>
            <a:chOff x="1052285" y="2354035"/>
            <a:chExt cx="1981200" cy="1981200"/>
          </a:xfrm>
        </p:grpSpPr>
        <p:sp>
          <p:nvSpPr>
            <p:cNvPr id="11" name="눈물 방울 10"/>
            <p:cNvSpPr/>
            <p:nvPr/>
          </p:nvSpPr>
          <p:spPr>
            <a:xfrm rot="2700000">
              <a:off x="1052285" y="2354035"/>
              <a:ext cx="1981200" cy="1981200"/>
            </a:xfrm>
            <a:prstGeom prst="teardrop">
              <a:avLst/>
            </a:prstGeom>
            <a:solidFill>
              <a:srgbClr val="888CA6"/>
            </a:solidFill>
            <a:ln w="133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" name="타원 11"/>
            <p:cNvSpPr/>
            <p:nvPr/>
          </p:nvSpPr>
          <p:spPr>
            <a:xfrm>
              <a:off x="1227929" y="2529679"/>
              <a:ext cx="1629911" cy="16299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5243967" y="2486780"/>
            <a:ext cx="1981200" cy="1981200"/>
            <a:chOff x="1052285" y="2354035"/>
            <a:chExt cx="1981200" cy="1981200"/>
          </a:xfrm>
        </p:grpSpPr>
        <p:sp>
          <p:nvSpPr>
            <p:cNvPr id="14" name="눈물 방울 13"/>
            <p:cNvSpPr/>
            <p:nvPr/>
          </p:nvSpPr>
          <p:spPr>
            <a:xfrm rot="2700000">
              <a:off x="1052285" y="2354035"/>
              <a:ext cx="1981200" cy="1981200"/>
            </a:xfrm>
            <a:prstGeom prst="teardrop">
              <a:avLst/>
            </a:prstGeom>
            <a:solidFill>
              <a:schemeClr val="bg1">
                <a:lumMod val="85000"/>
              </a:schemeClr>
            </a:solidFill>
            <a:ln w="133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타원 14"/>
            <p:cNvSpPr/>
            <p:nvPr/>
          </p:nvSpPr>
          <p:spPr>
            <a:xfrm>
              <a:off x="1227929" y="2529679"/>
              <a:ext cx="1629911" cy="16299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3438411" y="2486779"/>
            <a:ext cx="1981200" cy="1981200"/>
            <a:chOff x="1052285" y="2354035"/>
            <a:chExt cx="1981200" cy="1981200"/>
          </a:xfrm>
        </p:grpSpPr>
        <p:sp>
          <p:nvSpPr>
            <p:cNvPr id="17" name="눈물 방울 16"/>
            <p:cNvSpPr/>
            <p:nvPr/>
          </p:nvSpPr>
          <p:spPr>
            <a:xfrm rot="2700000">
              <a:off x="1052285" y="2354035"/>
              <a:ext cx="1981200" cy="1981200"/>
            </a:xfrm>
            <a:prstGeom prst="teardrop">
              <a:avLst/>
            </a:prstGeom>
            <a:solidFill>
              <a:srgbClr val="888CA6"/>
            </a:solidFill>
            <a:ln w="133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1227929" y="2529679"/>
              <a:ext cx="1629911" cy="16299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1632855" y="2486778"/>
            <a:ext cx="1981200" cy="1981200"/>
            <a:chOff x="1052285" y="2354035"/>
            <a:chExt cx="1981200" cy="1981200"/>
          </a:xfrm>
        </p:grpSpPr>
        <p:sp>
          <p:nvSpPr>
            <p:cNvPr id="20" name="눈물 방울 19"/>
            <p:cNvSpPr/>
            <p:nvPr/>
          </p:nvSpPr>
          <p:spPr>
            <a:xfrm rot="2700000">
              <a:off x="1052285" y="2354035"/>
              <a:ext cx="1981200" cy="1981200"/>
            </a:xfrm>
            <a:prstGeom prst="teardrop">
              <a:avLst/>
            </a:prstGeom>
            <a:solidFill>
              <a:srgbClr val="545871"/>
            </a:solidFill>
            <a:ln w="133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21" name="타원 20"/>
            <p:cNvSpPr/>
            <p:nvPr/>
          </p:nvSpPr>
          <p:spPr>
            <a:xfrm>
              <a:off x="1227929" y="2529679"/>
              <a:ext cx="1629911" cy="16299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44" name="직사각형 43"/>
          <p:cNvSpPr/>
          <p:nvPr/>
        </p:nvSpPr>
        <p:spPr>
          <a:xfrm>
            <a:off x="5837586" y="3221198"/>
            <a:ext cx="1629911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Platypus</a:t>
            </a:r>
            <a:r>
              <a:rPr lang="en-US" altLang="ko-KR" b="1" kern="0" dirty="0">
                <a:solidFill>
                  <a:srgbClr val="545871"/>
                </a:solidFill>
              </a:rPr>
              <a:t> </a:t>
            </a:r>
            <a:endParaRPr lang="en-US" altLang="ko-KR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7049522" y="3162990"/>
            <a:ext cx="2312426" cy="50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Camping site</a:t>
            </a:r>
            <a:endParaRPr lang="en-US" altLang="ko-KR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9544327" y="3162990"/>
            <a:ext cx="988540" cy="503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More</a:t>
            </a: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B23A67ED-6FCB-8F46-ABF5-0AC3E581C87C}"/>
              </a:ext>
            </a:extLst>
          </p:cNvPr>
          <p:cNvSpPr/>
          <p:nvPr/>
        </p:nvSpPr>
        <p:spPr>
          <a:xfrm flipV="1">
            <a:off x="2125013" y="5180468"/>
            <a:ext cx="9055058" cy="45719"/>
          </a:xfrm>
          <a:prstGeom prst="roundRect">
            <a:avLst>
              <a:gd name="adj" fmla="val 0"/>
            </a:avLst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rgbClr val="888CA6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16AA525-F8DC-F342-8400-AC1FFF71A852}"/>
              </a:ext>
            </a:extLst>
          </p:cNvPr>
          <p:cNvSpPr/>
          <p:nvPr/>
        </p:nvSpPr>
        <p:spPr>
          <a:xfrm>
            <a:off x="3978703" y="3269546"/>
            <a:ext cx="9925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Activity</a:t>
            </a:r>
            <a:endParaRPr lang="ko-Kore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DED5A48-8E1D-EE44-AD27-3B44F56E51AC}"/>
              </a:ext>
            </a:extLst>
          </p:cNvPr>
          <p:cNvSpPr/>
          <p:nvPr/>
        </p:nvSpPr>
        <p:spPr>
          <a:xfrm>
            <a:off x="1967161" y="3165864"/>
            <a:ext cx="12496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Hopetoun</a:t>
            </a:r>
          </a:p>
          <a:p>
            <a:pPr algn="ctr"/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Falls</a:t>
            </a:r>
            <a:endParaRPr lang="ko-Kore-KR" altLang="en-US" sz="20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FB26709-A48B-6947-B648-4F9498216A2A}"/>
              </a:ext>
            </a:extLst>
          </p:cNvPr>
          <p:cNvSpPr/>
          <p:nvPr/>
        </p:nvSpPr>
        <p:spPr>
          <a:xfrm>
            <a:off x="0" y="-1814"/>
            <a:ext cx="12192000" cy="85425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5F0ECB7-EF3A-2243-B57A-E984A8EDF300}"/>
              </a:ext>
            </a:extLst>
          </p:cNvPr>
          <p:cNvSpPr/>
          <p:nvPr/>
        </p:nvSpPr>
        <p:spPr>
          <a:xfrm>
            <a:off x="343229" y="132282"/>
            <a:ext cx="391454" cy="589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bg1"/>
                </a:solidFill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</a:rPr>
              <a:t>*</a:t>
            </a:r>
            <a:endParaRPr lang="en-US" altLang="ko-KR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608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-1814"/>
            <a:ext cx="12192000" cy="85425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43229" y="132282"/>
            <a:ext cx="1018227" cy="5749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  목차</a:t>
            </a:r>
            <a:endParaRPr lang="en-US" altLang="ko-KR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24" name="직선 연결선 23"/>
          <p:cNvCxnSpPr>
            <a:cxnSpLocks/>
          </p:cNvCxnSpPr>
          <p:nvPr/>
        </p:nvCxnSpPr>
        <p:spPr>
          <a:xfrm flipV="1">
            <a:off x="1593301" y="4017813"/>
            <a:ext cx="9131671" cy="1"/>
          </a:xfrm>
          <a:prstGeom prst="line">
            <a:avLst/>
          </a:prstGeom>
          <a:ln w="28575">
            <a:solidFill>
              <a:srgbClr val="2121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/>
          <p:cNvSpPr/>
          <p:nvPr/>
        </p:nvSpPr>
        <p:spPr>
          <a:xfrm>
            <a:off x="1438224" y="3940275"/>
            <a:ext cx="155077" cy="15507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2121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ko-KR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10724972" y="3940275"/>
            <a:ext cx="155077" cy="155077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ko-KR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9" name="타원 28"/>
          <p:cNvSpPr/>
          <p:nvPr/>
        </p:nvSpPr>
        <p:spPr>
          <a:xfrm>
            <a:off x="3195105" y="3940275"/>
            <a:ext cx="155077" cy="15507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2121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ko-KR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5023428" y="3940275"/>
            <a:ext cx="155078" cy="15507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2121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ko-KR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408734" y="2532411"/>
            <a:ext cx="2171714" cy="1429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Introduction</a:t>
            </a:r>
          </a:p>
          <a:p>
            <a:pPr algn="ctr">
              <a:lnSpc>
                <a:spcPct val="150000"/>
              </a:lnSpc>
            </a:pPr>
            <a:r>
              <a:rPr lang="en-US" altLang="ko-KR" sz="2000" b="1" dirty="0">
                <a:solidFill>
                  <a:srgbClr val="212121"/>
                </a:solidFill>
                <a:latin typeface="+mj-ea"/>
                <a:ea typeface="+mj-ea"/>
              </a:rPr>
              <a:t>1.</a:t>
            </a:r>
          </a:p>
          <a:p>
            <a:pPr algn="ctr">
              <a:lnSpc>
                <a:spcPct val="150000"/>
              </a:lnSpc>
            </a:pPr>
            <a:endParaRPr lang="en-US" altLang="ko-KR" sz="20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2281076" y="4342356"/>
            <a:ext cx="1969812" cy="96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solidFill>
                  <a:srgbClr val="212121"/>
                </a:solidFill>
                <a:latin typeface="+mj-ea"/>
                <a:ea typeface="+mj-ea"/>
              </a:rPr>
              <a:t>2.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Background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015110" y="2533369"/>
            <a:ext cx="2171714" cy="96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Method</a:t>
            </a:r>
          </a:p>
          <a:p>
            <a:pPr algn="ctr">
              <a:lnSpc>
                <a:spcPct val="150000"/>
              </a:lnSpc>
            </a:pPr>
            <a:r>
              <a:rPr lang="en-US" altLang="ko-KR" sz="2000" b="1" dirty="0">
                <a:solidFill>
                  <a:srgbClr val="212121"/>
                </a:solidFill>
                <a:latin typeface="+mj-ea"/>
                <a:ea typeface="+mj-ea"/>
              </a:rPr>
              <a:t>3.</a:t>
            </a:r>
            <a:endParaRPr lang="en-US" altLang="ko-KR" sz="20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5961870" y="4355599"/>
            <a:ext cx="1969812" cy="96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latin typeface="+mj-ea"/>
                <a:ea typeface="+mj-ea"/>
              </a:rPr>
              <a:t>4.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Result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9817604" y="4214425"/>
            <a:ext cx="1969812" cy="96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solidFill>
                  <a:srgbClr val="212121"/>
                </a:solidFill>
                <a:latin typeface="+mj-ea"/>
                <a:ea typeface="+mj-ea"/>
              </a:rPr>
              <a:t>6.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Conclusion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A086CC4-BCCD-030A-1009-8F9BFB3D5CB2}"/>
              </a:ext>
            </a:extLst>
          </p:cNvPr>
          <p:cNvSpPr/>
          <p:nvPr/>
        </p:nvSpPr>
        <p:spPr>
          <a:xfrm>
            <a:off x="8839160" y="3932521"/>
            <a:ext cx="155078" cy="17058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2121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ko-KR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BD98042-1C1F-10F7-D816-2EA248B249BC}"/>
              </a:ext>
            </a:extLst>
          </p:cNvPr>
          <p:cNvSpPr/>
          <p:nvPr/>
        </p:nvSpPr>
        <p:spPr>
          <a:xfrm>
            <a:off x="8040413" y="2532411"/>
            <a:ext cx="1752572" cy="96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Discussion</a:t>
            </a:r>
          </a:p>
          <a:p>
            <a:pPr algn="ctr">
              <a:lnSpc>
                <a:spcPct val="150000"/>
              </a:lnSpc>
            </a:pPr>
            <a:r>
              <a:rPr lang="en-US" altLang="ko-KR" sz="2000" b="1" dirty="0">
                <a:solidFill>
                  <a:srgbClr val="212121"/>
                </a:solidFill>
                <a:latin typeface="+mj-ea"/>
                <a:ea typeface="+mj-ea"/>
              </a:rPr>
              <a:t>5.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D87E7DD-3715-DA74-4577-CD56616B587F}"/>
              </a:ext>
            </a:extLst>
          </p:cNvPr>
          <p:cNvSpPr/>
          <p:nvPr/>
        </p:nvSpPr>
        <p:spPr>
          <a:xfrm>
            <a:off x="6831701" y="3940275"/>
            <a:ext cx="155078" cy="15507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2121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ko-KR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32063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03AD5BD4-0D98-4306-AD39-B06A516B230D}"/>
              </a:ext>
            </a:extLst>
          </p:cNvPr>
          <p:cNvSpPr/>
          <p:nvPr/>
        </p:nvSpPr>
        <p:spPr>
          <a:xfrm>
            <a:off x="1823894" y="937611"/>
            <a:ext cx="9954286" cy="1839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545871"/>
                </a:solidFill>
                <a:latin typeface="+mj-ea"/>
                <a:ea typeface="+mj-ea"/>
              </a:rPr>
              <a:t>Out-of-distribution detection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학습된 모델은 적용 시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input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된 데이터가 학습 데이터셋과 동일한 분포를 가진다고 전제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.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-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실제로는 학습 데이터에 나타나지 있지 않은 데이터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(out-of-distribution; OOD)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가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input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수 있음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.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=&gt;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주어진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data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가 기존 학습한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In-Distribution (ID)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에 해당하는지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,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OOD detection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필요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53" name="모서리가 둥근 직사각형 152"/>
          <p:cNvSpPr/>
          <p:nvPr/>
        </p:nvSpPr>
        <p:spPr>
          <a:xfrm rot="5400000">
            <a:off x="6561232" y="482481"/>
            <a:ext cx="45719" cy="11215817"/>
          </a:xfrm>
          <a:prstGeom prst="roundRect">
            <a:avLst>
              <a:gd name="adj" fmla="val 50000"/>
            </a:avLst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3" name="타원 102"/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163324" y="703564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163324" y="1355391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55" name="타원 154"/>
          <p:cNvSpPr/>
          <p:nvPr/>
        </p:nvSpPr>
        <p:spPr>
          <a:xfrm>
            <a:off x="413820" y="1782983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163324" y="2007218"/>
            <a:ext cx="66717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888CA6"/>
                </a:solidFill>
              </a:rPr>
              <a:t>CONTENT</a:t>
            </a:r>
            <a:endParaRPr lang="ko-KR" altLang="en-US" sz="800" b="1" dirty="0">
              <a:solidFill>
                <a:srgbClr val="888CA6"/>
              </a:solidFill>
            </a:endParaRPr>
          </a:p>
        </p:txBody>
      </p:sp>
      <p:sp>
        <p:nvSpPr>
          <p:cNvPr id="157" name="타원 156"/>
          <p:cNvSpPr/>
          <p:nvPr/>
        </p:nvSpPr>
        <p:spPr>
          <a:xfrm>
            <a:off x="413820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163324" y="2659045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59" name="타원 158"/>
          <p:cNvSpPr/>
          <p:nvPr/>
        </p:nvSpPr>
        <p:spPr>
          <a:xfrm>
            <a:off x="413820" y="3086637"/>
            <a:ext cx="148545" cy="148545"/>
          </a:xfrm>
          <a:prstGeom prst="ellipse">
            <a:avLst/>
          </a:prstGeom>
          <a:solidFill>
            <a:srgbClr val="F7EBE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163324" y="3310872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F7EBEB"/>
                </a:solidFill>
              </a:rPr>
              <a:t>CONTENT</a:t>
            </a:r>
            <a:endParaRPr lang="ko-KR" altLang="en-US" sz="800" dirty="0">
              <a:solidFill>
                <a:srgbClr val="F7EBEB"/>
              </a:solidFill>
            </a:endParaRPr>
          </a:p>
        </p:txBody>
      </p:sp>
      <p:sp>
        <p:nvSpPr>
          <p:cNvPr id="161" name="타원 160"/>
          <p:cNvSpPr/>
          <p:nvPr/>
        </p:nvSpPr>
        <p:spPr>
          <a:xfrm>
            <a:off x="413820" y="373846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163324" y="3962699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63" name="타원 162"/>
          <p:cNvSpPr/>
          <p:nvPr/>
        </p:nvSpPr>
        <p:spPr>
          <a:xfrm>
            <a:off x="413820" y="4390291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163324" y="4614526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65" name="타원 164"/>
          <p:cNvSpPr/>
          <p:nvPr/>
        </p:nvSpPr>
        <p:spPr>
          <a:xfrm>
            <a:off x="413820" y="479329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1039A137-1D31-6942-A27F-B3129E2E96FD}"/>
              </a:ext>
            </a:extLst>
          </p:cNvPr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168" name="타원 167">
            <a:extLst>
              <a:ext uri="{FF2B5EF4-FFF2-40B4-BE49-F238E27FC236}">
                <a16:creationId xmlns:a16="http://schemas.microsoft.com/office/drawing/2014/main" id="{2A1729E8-7140-D343-B48C-15B741E81323}"/>
              </a:ext>
            </a:extLst>
          </p:cNvPr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7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9EE7D2CC-71C2-2745-B927-AC8C4F4EEDC5}"/>
              </a:ext>
            </a:extLst>
          </p:cNvPr>
          <p:cNvSpPr/>
          <p:nvPr/>
        </p:nvSpPr>
        <p:spPr>
          <a:xfrm>
            <a:off x="413819" y="479329"/>
            <a:ext cx="148545" cy="1485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0C460022-409F-5541-AB59-97D739C0468F}"/>
              </a:ext>
            </a:extLst>
          </p:cNvPr>
          <p:cNvSpPr/>
          <p:nvPr/>
        </p:nvSpPr>
        <p:spPr>
          <a:xfrm>
            <a:off x="413820" y="2434810"/>
            <a:ext cx="148545" cy="148545"/>
          </a:xfrm>
          <a:prstGeom prst="ellipse">
            <a:avLst/>
          </a:prstGeom>
          <a:solidFill>
            <a:srgbClr val="87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75" name="타원 174">
            <a:extLst>
              <a:ext uri="{FF2B5EF4-FFF2-40B4-BE49-F238E27FC236}">
                <a16:creationId xmlns:a16="http://schemas.microsoft.com/office/drawing/2014/main" id="{699C9EE4-DC06-334D-97DD-34515398BC9C}"/>
              </a:ext>
            </a:extLst>
          </p:cNvPr>
          <p:cNvSpPr/>
          <p:nvPr/>
        </p:nvSpPr>
        <p:spPr>
          <a:xfrm>
            <a:off x="413820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77" name="타원 176">
            <a:extLst>
              <a:ext uri="{FF2B5EF4-FFF2-40B4-BE49-F238E27FC236}">
                <a16:creationId xmlns:a16="http://schemas.microsoft.com/office/drawing/2014/main" id="{9260F5A8-402C-8F4F-9BBE-1A8491AA174F}"/>
              </a:ext>
            </a:extLst>
          </p:cNvPr>
          <p:cNvSpPr/>
          <p:nvPr/>
        </p:nvSpPr>
        <p:spPr>
          <a:xfrm>
            <a:off x="406179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66" name="타원 165">
            <a:extLst>
              <a:ext uri="{FF2B5EF4-FFF2-40B4-BE49-F238E27FC236}">
                <a16:creationId xmlns:a16="http://schemas.microsoft.com/office/drawing/2014/main" id="{80093826-4132-3E42-9059-67E0B4195E48}"/>
              </a:ext>
            </a:extLst>
          </p:cNvPr>
          <p:cNvSpPr/>
          <p:nvPr/>
        </p:nvSpPr>
        <p:spPr>
          <a:xfrm>
            <a:off x="1400230" y="120684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48ADDE4-BF7D-B589-8E57-4679CECBF4E8}"/>
              </a:ext>
            </a:extLst>
          </p:cNvPr>
          <p:cNvSpPr/>
          <p:nvPr/>
        </p:nvSpPr>
        <p:spPr>
          <a:xfrm>
            <a:off x="380477" y="3715929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BDD31A-1B47-8761-75EC-BA3B1EC54D18}"/>
              </a:ext>
            </a:extLst>
          </p:cNvPr>
          <p:cNvSpPr txBox="1"/>
          <p:nvPr/>
        </p:nvSpPr>
        <p:spPr>
          <a:xfrm>
            <a:off x="5214165" y="352243"/>
            <a:ext cx="2616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kern="0" dirty="0">
                <a:solidFill>
                  <a:srgbClr val="545871"/>
                </a:solidFill>
                <a:latin typeface="+mj-ea"/>
                <a:ea typeface="+mj-ea"/>
              </a:rPr>
              <a:t>Introduction</a:t>
            </a:r>
            <a:endParaRPr kumimoji="1" lang="ko-Kore-KR" altLang="en-US" dirty="0">
              <a:latin typeface="+mj-ea"/>
              <a:ea typeface="+mj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39F1A03-6E30-04B2-BEB3-424824163B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3" t="6563" b="5605"/>
          <a:stretch/>
        </p:blipFill>
        <p:spPr>
          <a:xfrm>
            <a:off x="2534748" y="3143687"/>
            <a:ext cx="7695278" cy="27902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FFEC8DD-BBE9-5518-05B6-776BCAE44A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658" t="30359" r="31387"/>
          <a:stretch/>
        </p:blipFill>
        <p:spPr>
          <a:xfrm>
            <a:off x="1548775" y="3159340"/>
            <a:ext cx="822650" cy="11568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87FA1B6-36A3-DD24-BE4F-B9697C24E1E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972" r="15618"/>
          <a:stretch/>
        </p:blipFill>
        <p:spPr>
          <a:xfrm>
            <a:off x="1548775" y="4528249"/>
            <a:ext cx="822650" cy="116835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466432B-7C08-B377-2A8F-66C1C556811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271" r="20963"/>
          <a:stretch/>
        </p:blipFill>
        <p:spPr>
          <a:xfrm>
            <a:off x="10393349" y="3159340"/>
            <a:ext cx="1215342" cy="133094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B3DC534-9BA1-5848-FE8F-472E9024A1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3349" y="4722248"/>
            <a:ext cx="1215342" cy="121534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B1EB09-8995-3C85-15E5-91A086FCE2A0}"/>
              </a:ext>
            </a:extLst>
          </p:cNvPr>
          <p:cNvSpPr txBox="1"/>
          <p:nvPr/>
        </p:nvSpPr>
        <p:spPr>
          <a:xfrm>
            <a:off x="1548775" y="6273511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Liang, </a:t>
            </a:r>
            <a:r>
              <a:rPr lang="en-US" altLang="ko-K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Shiyu</a:t>
            </a:r>
            <a:r>
              <a:rPr lang="en-US" altLang="ko-K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altLang="ko-K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Yixuan</a:t>
            </a:r>
            <a:r>
              <a:rPr lang="en-US" altLang="ko-K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Li, and </a:t>
            </a:r>
            <a:r>
              <a:rPr lang="en-US" altLang="ko-K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Rayadurgam</a:t>
            </a:r>
            <a:r>
              <a:rPr lang="en-US" altLang="ko-K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Srikant. "Enhancing the reliability of out-of-distribution image detection in neural networks." </a:t>
            </a:r>
            <a:r>
              <a:rPr lang="en-US" altLang="ko-KR" sz="11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altLang="ko-KR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arXiv:1706.02690</a:t>
            </a:r>
            <a:r>
              <a:rPr lang="en-US" altLang="ko-K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(2017).</a:t>
            </a:r>
            <a:endParaRPr lang="ko-KR" altLang="en-US" sz="11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ECAC8D4-775E-B9AA-5E5C-CE5EDC2905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6073" y="3261480"/>
            <a:ext cx="976184" cy="97618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1DC0826-1DEB-DEF1-5C48-4BF22C93F6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5722" y="3261480"/>
            <a:ext cx="976184" cy="97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084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타원 10">
            <a:extLst>
              <a:ext uri="{FF2B5EF4-FFF2-40B4-BE49-F238E27FC236}">
                <a16:creationId xmlns:a16="http://schemas.microsoft.com/office/drawing/2014/main" id="{C810E806-D143-B542-A784-4BFF19FEED4D}"/>
              </a:ext>
            </a:extLst>
          </p:cNvPr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F33477A-D8B8-864C-9FBF-D8C3B1B87E15}"/>
              </a:ext>
            </a:extLst>
          </p:cNvPr>
          <p:cNvSpPr/>
          <p:nvPr/>
        </p:nvSpPr>
        <p:spPr>
          <a:xfrm>
            <a:off x="155682" y="2005570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F1954A-1911-6C43-8AF4-A77D715512DA}"/>
              </a:ext>
            </a:extLst>
          </p:cNvPr>
          <p:cNvSpPr/>
          <p:nvPr/>
        </p:nvSpPr>
        <p:spPr>
          <a:xfrm>
            <a:off x="163324" y="1355391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807F5A0-B6BF-194D-A58F-A62F26AFBCF4}"/>
              </a:ext>
            </a:extLst>
          </p:cNvPr>
          <p:cNvSpPr/>
          <p:nvPr/>
        </p:nvSpPr>
        <p:spPr>
          <a:xfrm>
            <a:off x="413819" y="479329"/>
            <a:ext cx="148545" cy="148545"/>
          </a:xfrm>
          <a:prstGeom prst="ellipse">
            <a:avLst/>
          </a:prstGeom>
          <a:solidFill>
            <a:srgbClr val="F7EBE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1AC22B9-0EE1-E44D-B222-965DF2B37AF8}"/>
              </a:ext>
            </a:extLst>
          </p:cNvPr>
          <p:cNvSpPr/>
          <p:nvPr/>
        </p:nvSpPr>
        <p:spPr>
          <a:xfrm>
            <a:off x="163324" y="696697"/>
            <a:ext cx="59503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b="1" dirty="0">
                <a:solidFill>
                  <a:srgbClr val="F7EBEB"/>
                </a:solidFill>
              </a:rPr>
              <a:t>들어가며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9723837-6010-5C4B-8AA9-B924F89FBE15}"/>
              </a:ext>
            </a:extLst>
          </p:cNvPr>
          <p:cNvSpPr/>
          <p:nvPr/>
        </p:nvSpPr>
        <p:spPr>
          <a:xfrm>
            <a:off x="413820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9B260B7-8280-E74A-BBB3-F6973EFC26BA}"/>
              </a:ext>
            </a:extLst>
          </p:cNvPr>
          <p:cNvSpPr/>
          <p:nvPr/>
        </p:nvSpPr>
        <p:spPr>
          <a:xfrm>
            <a:off x="163324" y="2659045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68A2E32-C446-9A46-95B5-2D788524C21E}"/>
              </a:ext>
            </a:extLst>
          </p:cNvPr>
          <p:cNvSpPr/>
          <p:nvPr/>
        </p:nvSpPr>
        <p:spPr>
          <a:xfrm>
            <a:off x="413820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8FE152D-2A59-EF49-8FA7-6E0626059F60}"/>
              </a:ext>
            </a:extLst>
          </p:cNvPr>
          <p:cNvSpPr/>
          <p:nvPr/>
        </p:nvSpPr>
        <p:spPr>
          <a:xfrm>
            <a:off x="163324" y="3310872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484C3C3-3E56-994A-8DCB-0E6A0AFDA28B}"/>
              </a:ext>
            </a:extLst>
          </p:cNvPr>
          <p:cNvSpPr/>
          <p:nvPr/>
        </p:nvSpPr>
        <p:spPr>
          <a:xfrm>
            <a:off x="413820" y="373846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30A32B2-E4F2-7542-9ED5-A15F3416C2F8}"/>
              </a:ext>
            </a:extLst>
          </p:cNvPr>
          <p:cNvSpPr/>
          <p:nvPr/>
        </p:nvSpPr>
        <p:spPr>
          <a:xfrm>
            <a:off x="163324" y="3962699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1DBB5F9-5D80-0547-9223-0AD75A39AF53}"/>
              </a:ext>
            </a:extLst>
          </p:cNvPr>
          <p:cNvSpPr/>
          <p:nvPr/>
        </p:nvSpPr>
        <p:spPr>
          <a:xfrm>
            <a:off x="413820" y="4390291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2A796F3-87BA-2B49-B505-D67323CE319E}"/>
              </a:ext>
            </a:extLst>
          </p:cNvPr>
          <p:cNvSpPr/>
          <p:nvPr/>
        </p:nvSpPr>
        <p:spPr>
          <a:xfrm>
            <a:off x="163324" y="4614526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F75558BA-A792-5844-8C90-25D424AAC0C0}"/>
              </a:ext>
            </a:extLst>
          </p:cNvPr>
          <p:cNvSpPr/>
          <p:nvPr/>
        </p:nvSpPr>
        <p:spPr>
          <a:xfrm>
            <a:off x="406179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76DEE7-EF4B-764D-86C9-607B5AB0703E}"/>
              </a:ext>
            </a:extLst>
          </p:cNvPr>
          <p:cNvSpPr/>
          <p:nvPr/>
        </p:nvSpPr>
        <p:spPr>
          <a:xfrm>
            <a:off x="-15812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63378BD-A388-E245-87B7-EBBC660A2A48}"/>
              </a:ext>
            </a:extLst>
          </p:cNvPr>
          <p:cNvSpPr/>
          <p:nvPr/>
        </p:nvSpPr>
        <p:spPr>
          <a:xfrm>
            <a:off x="185590" y="2005570"/>
            <a:ext cx="18473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F9304A4-C063-5840-825A-45BD9D80CE91}"/>
              </a:ext>
            </a:extLst>
          </p:cNvPr>
          <p:cNvSpPr/>
          <p:nvPr/>
        </p:nvSpPr>
        <p:spPr>
          <a:xfrm>
            <a:off x="208472" y="1355391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03C7ACD3-5E36-474A-AFEC-3B76C963118A}"/>
              </a:ext>
            </a:extLst>
          </p:cNvPr>
          <p:cNvSpPr/>
          <p:nvPr/>
        </p:nvSpPr>
        <p:spPr>
          <a:xfrm>
            <a:off x="398008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A2371AE-4375-0F40-9108-64F7235BF377}"/>
              </a:ext>
            </a:extLst>
          </p:cNvPr>
          <p:cNvSpPr/>
          <p:nvPr/>
        </p:nvSpPr>
        <p:spPr>
          <a:xfrm>
            <a:off x="208472" y="2659045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58AEEE3-28A3-6647-9690-7340F0DB47DB}"/>
              </a:ext>
            </a:extLst>
          </p:cNvPr>
          <p:cNvSpPr/>
          <p:nvPr/>
        </p:nvSpPr>
        <p:spPr>
          <a:xfrm>
            <a:off x="398008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1EC4BBF-8F95-924A-B463-334606E9DE9D}"/>
              </a:ext>
            </a:extLst>
          </p:cNvPr>
          <p:cNvSpPr/>
          <p:nvPr/>
        </p:nvSpPr>
        <p:spPr>
          <a:xfrm>
            <a:off x="390367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ECE5EBB7-A374-624A-9F46-E0F5ED00CDA9}"/>
              </a:ext>
            </a:extLst>
          </p:cNvPr>
          <p:cNvSpPr/>
          <p:nvPr/>
        </p:nvSpPr>
        <p:spPr>
          <a:xfrm>
            <a:off x="1124729" y="6332952"/>
            <a:ext cx="10846438" cy="45720"/>
          </a:xfrm>
          <a:prstGeom prst="roundRect">
            <a:avLst>
              <a:gd name="adj" fmla="val 0"/>
            </a:avLst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rgbClr val="888CA6"/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1E214ED9-8129-E895-9143-22C6BE3DA917}"/>
              </a:ext>
            </a:extLst>
          </p:cNvPr>
          <p:cNvSpPr/>
          <p:nvPr/>
        </p:nvSpPr>
        <p:spPr>
          <a:xfrm>
            <a:off x="409054" y="375879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9D0E270-6497-0DE9-E92C-85DB1D4E1122}"/>
              </a:ext>
            </a:extLst>
          </p:cNvPr>
          <p:cNvSpPr/>
          <p:nvPr/>
        </p:nvSpPr>
        <p:spPr>
          <a:xfrm>
            <a:off x="1823894" y="937611"/>
            <a:ext cx="5345423" cy="4793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545871"/>
                </a:solidFill>
                <a:latin typeface="+mj-ea"/>
                <a:ea typeface="+mj-ea"/>
              </a:rPr>
              <a:t>Out-of-distribution detection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</a:rPr>
              <a:t>auxiliary OOD dataset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</a:rPr>
              <a:t>: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모델 학습에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OOD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데이터셋을 추가하여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OOD detection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의 성능을 높일 수 있음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(Outlier Exposure(OE)) </a:t>
            </a:r>
            <a:r>
              <a:rPr lang="en-US" altLang="ko-KR" sz="1000" kern="0" dirty="0">
                <a:solidFill>
                  <a:srgbClr val="545871"/>
                </a:solidFill>
                <a:latin typeface="+mj-ea"/>
                <a:ea typeface="+mj-ea"/>
              </a:rPr>
              <a:t>(</a:t>
            </a:r>
            <a:r>
              <a:rPr lang="en-US" altLang="ko-KR" sz="1000" kern="0" dirty="0" err="1">
                <a:solidFill>
                  <a:srgbClr val="545871"/>
                </a:solidFill>
                <a:latin typeface="+mj-ea"/>
                <a:ea typeface="+mj-ea"/>
              </a:rPr>
              <a:t>Hendrycks</a:t>
            </a:r>
            <a:r>
              <a:rPr lang="en-US" altLang="ko-KR" sz="1000" kern="0" dirty="0">
                <a:solidFill>
                  <a:srgbClr val="545871"/>
                </a:solidFill>
                <a:latin typeface="+mj-ea"/>
                <a:ea typeface="+mj-ea"/>
              </a:rPr>
              <a:t>, Dan, Mantas </a:t>
            </a:r>
            <a:r>
              <a:rPr lang="en-US" altLang="ko-KR" sz="1000" kern="0" dirty="0" err="1">
                <a:solidFill>
                  <a:srgbClr val="545871"/>
                </a:solidFill>
                <a:latin typeface="+mj-ea"/>
                <a:ea typeface="+mj-ea"/>
              </a:rPr>
              <a:t>Mazeika</a:t>
            </a:r>
            <a:r>
              <a:rPr lang="en-US" altLang="ko-KR" sz="1000" kern="0" dirty="0">
                <a:solidFill>
                  <a:srgbClr val="545871"/>
                </a:solidFill>
                <a:latin typeface="+mj-ea"/>
                <a:ea typeface="+mj-ea"/>
              </a:rPr>
              <a:t>, and Thomas </a:t>
            </a:r>
            <a:r>
              <a:rPr lang="en-US" altLang="ko-KR" sz="1000" kern="0" dirty="0" err="1">
                <a:solidFill>
                  <a:srgbClr val="545871"/>
                </a:solidFill>
                <a:latin typeface="+mj-ea"/>
                <a:ea typeface="+mj-ea"/>
              </a:rPr>
              <a:t>Dietterich</a:t>
            </a:r>
            <a:r>
              <a:rPr lang="en-US" altLang="ko-KR" sz="1000" kern="0" dirty="0">
                <a:solidFill>
                  <a:srgbClr val="545871"/>
                </a:solidFill>
                <a:latin typeface="+mj-ea"/>
                <a:ea typeface="+mj-ea"/>
              </a:rPr>
              <a:t>. "Deep anomaly detection with outlier exposure."  (2018)) </a:t>
            </a:r>
          </a:p>
          <a:p>
            <a:pPr>
              <a:lnSpc>
                <a:spcPct val="150000"/>
              </a:lnSpc>
              <a:defRPr/>
            </a:pPr>
            <a:endParaRPr lang="en-US" altLang="ko-KR" sz="1000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</a:rPr>
              <a:t>OOD Benchmark dataset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: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학습되지 않은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class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의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semantic shift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데이터</a:t>
            </a: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 (near-OOD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또는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far-OOD)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: class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내의 데이터의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covariate shift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데이터</a:t>
            </a: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하지만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, OOD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데이터셋을 얻기 </a:t>
            </a:r>
            <a:r>
              <a:rPr lang="ko-KR" altLang="en-US" kern="0" dirty="0" err="1">
                <a:solidFill>
                  <a:srgbClr val="545871"/>
                </a:solidFill>
                <a:latin typeface="+mj-ea"/>
                <a:ea typeface="+mj-ea"/>
              </a:rPr>
              <a:t>힘듬</a:t>
            </a: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457F6F7-583F-54DC-4D48-5215D6ADFD61}"/>
              </a:ext>
            </a:extLst>
          </p:cNvPr>
          <p:cNvSpPr/>
          <p:nvPr/>
        </p:nvSpPr>
        <p:spPr>
          <a:xfrm>
            <a:off x="1400230" y="120684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pic>
        <p:nvPicPr>
          <p:cNvPr id="1026" name="Picture 2" descr="Examples for the two F-OOD detection benchmarks: COVID and OBJECTS. Each benchmark consists of a training ID dataset, two covariate-shifted ID datasets, two near-OOD datasets, and four far-OOD datasets">
            <a:extLst>
              <a:ext uri="{FF2B5EF4-FFF2-40B4-BE49-F238E27FC236}">
                <a16:creationId xmlns:a16="http://schemas.microsoft.com/office/drawing/2014/main" id="{25000F37-FC83-FE20-4975-2AA870BAD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1" y="1373701"/>
            <a:ext cx="4973128" cy="4620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AF33C4-55CF-170C-E3A8-17DDBA16A044}"/>
              </a:ext>
            </a:extLst>
          </p:cNvPr>
          <p:cNvSpPr txBox="1"/>
          <p:nvPr/>
        </p:nvSpPr>
        <p:spPr>
          <a:xfrm>
            <a:off x="1295634" y="6438926"/>
            <a:ext cx="93571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Yang, </a:t>
            </a:r>
            <a:r>
              <a:rPr lang="en-US" altLang="ko-KR" sz="1100" dirty="0" err="1"/>
              <a:t>Jingkang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Kaiyang</a:t>
            </a:r>
            <a:r>
              <a:rPr lang="en-US" altLang="ko-KR" sz="1100" dirty="0"/>
              <a:t> Zhou, and </a:t>
            </a:r>
            <a:r>
              <a:rPr lang="en-US" altLang="ko-KR" sz="1100" dirty="0" err="1"/>
              <a:t>Ziwei</a:t>
            </a:r>
            <a:r>
              <a:rPr lang="en-US" altLang="ko-KR" sz="1100" dirty="0"/>
              <a:t> Liu. "Full-spectrum out-of-distribution detection." International Journal of Computer Vision 131.10 (2023): 2607-2622.</a:t>
            </a:r>
            <a:endParaRPr lang="ko-KR" altLang="en-US" sz="1100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8B4A0F39-9042-4A80-281D-12DAEEE65F90}"/>
              </a:ext>
            </a:extLst>
          </p:cNvPr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1758003-F7FF-E232-8595-7BDC991207D0}"/>
              </a:ext>
            </a:extLst>
          </p:cNvPr>
          <p:cNvSpPr/>
          <p:nvPr/>
        </p:nvSpPr>
        <p:spPr>
          <a:xfrm>
            <a:off x="163324" y="703564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81549691-2C91-80D5-3BD2-E6032F2A4940}"/>
              </a:ext>
            </a:extLst>
          </p:cNvPr>
          <p:cNvSpPr/>
          <p:nvPr/>
        </p:nvSpPr>
        <p:spPr>
          <a:xfrm>
            <a:off x="413820" y="479329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B4DDC1A4-1E01-91C6-1D86-59C01ED69923}"/>
              </a:ext>
            </a:extLst>
          </p:cNvPr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7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56EEB575-A2BB-E91F-DCF3-66661A627CE1}"/>
              </a:ext>
            </a:extLst>
          </p:cNvPr>
          <p:cNvSpPr/>
          <p:nvPr/>
        </p:nvSpPr>
        <p:spPr>
          <a:xfrm>
            <a:off x="413819" y="479329"/>
            <a:ext cx="148545" cy="1485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01E4D9-5E54-98D6-2434-6392FE367470}"/>
              </a:ext>
            </a:extLst>
          </p:cNvPr>
          <p:cNvSpPr txBox="1"/>
          <p:nvPr/>
        </p:nvSpPr>
        <p:spPr>
          <a:xfrm>
            <a:off x="5214165" y="352243"/>
            <a:ext cx="2616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kern="0" dirty="0">
                <a:solidFill>
                  <a:srgbClr val="545871"/>
                </a:solidFill>
                <a:latin typeface="+mj-ea"/>
                <a:ea typeface="+mj-ea"/>
              </a:rPr>
              <a:t>Introduction</a:t>
            </a:r>
            <a:endParaRPr kumimoji="1" lang="ko-Kore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42713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모서리가 둥근 직사각형 152"/>
          <p:cNvSpPr/>
          <p:nvPr/>
        </p:nvSpPr>
        <p:spPr>
          <a:xfrm rot="5400000">
            <a:off x="6561232" y="482481"/>
            <a:ext cx="45719" cy="11215817"/>
          </a:xfrm>
          <a:prstGeom prst="roundRect">
            <a:avLst>
              <a:gd name="adj" fmla="val 50000"/>
            </a:avLst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163324" y="703564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163324" y="1355391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163324" y="2007218"/>
            <a:ext cx="66717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888CA6"/>
                </a:solidFill>
              </a:rPr>
              <a:t>CONTENT</a:t>
            </a:r>
            <a:endParaRPr lang="ko-KR" altLang="en-US" sz="800" b="1" dirty="0">
              <a:solidFill>
                <a:srgbClr val="888CA6"/>
              </a:solidFill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163324" y="2659045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163324" y="3310872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F7EBEB"/>
                </a:solidFill>
              </a:rPr>
              <a:t>CONTENT</a:t>
            </a:r>
            <a:endParaRPr lang="ko-KR" altLang="en-US" sz="800" dirty="0">
              <a:solidFill>
                <a:srgbClr val="F7EBEB"/>
              </a:solidFill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163324" y="3962699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163324" y="4614526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1039A137-1D31-6942-A27F-B3129E2E96FD}"/>
              </a:ext>
            </a:extLst>
          </p:cNvPr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BDD31A-1B47-8761-75EC-BA3B1EC54D18}"/>
              </a:ext>
            </a:extLst>
          </p:cNvPr>
          <p:cNvSpPr txBox="1"/>
          <p:nvPr/>
        </p:nvSpPr>
        <p:spPr>
          <a:xfrm>
            <a:off x="5214165" y="352243"/>
            <a:ext cx="25266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kern="0" dirty="0">
                <a:solidFill>
                  <a:srgbClr val="545871"/>
                </a:solidFill>
                <a:latin typeface="+mj-ea"/>
                <a:ea typeface="+mj-ea"/>
              </a:rPr>
              <a:t>Background</a:t>
            </a:r>
            <a:endParaRPr kumimoji="1" lang="ko-Kore-KR" altLang="en-US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ED9CC5-BE48-5CC3-F3AB-50E1EE9AC6DE}"/>
              </a:ext>
            </a:extLst>
          </p:cNvPr>
          <p:cNvSpPr txBox="1"/>
          <p:nvPr/>
        </p:nvSpPr>
        <p:spPr>
          <a:xfrm>
            <a:off x="1548774" y="6266692"/>
            <a:ext cx="93630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Lee, </a:t>
            </a:r>
            <a:r>
              <a:rPr lang="en-US" altLang="ko-K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Kimin</a:t>
            </a:r>
            <a:r>
              <a:rPr lang="en-US" altLang="ko-K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et al. "Training confidence-calibrated classifiers for detecting out-of-distribution samples." </a:t>
            </a:r>
            <a:r>
              <a:rPr lang="en-US" altLang="ko-KR" sz="11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altLang="ko-KR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arXiv:1711.09325</a:t>
            </a:r>
            <a:r>
              <a:rPr lang="en-US" altLang="ko-K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(2017).</a:t>
            </a:r>
            <a:endParaRPr lang="ko-KR" altLang="en-US" sz="11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0480A7B-C231-783F-C34F-8627AC2A9634}"/>
              </a:ext>
            </a:extLst>
          </p:cNvPr>
          <p:cNvSpPr/>
          <p:nvPr/>
        </p:nvSpPr>
        <p:spPr>
          <a:xfrm>
            <a:off x="1823894" y="1001448"/>
            <a:ext cx="95203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“Training confidence-calibrated classifiers for detecting out-of-distribution samples.” (2017)</a:t>
            </a:r>
          </a:p>
          <a:p>
            <a:endParaRPr kumimoji="1" lang="en-US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A6D51C4-F9A4-C830-1D15-E872C8D5402F}"/>
              </a:ext>
            </a:extLst>
          </p:cNvPr>
          <p:cNvSpPr/>
          <p:nvPr/>
        </p:nvSpPr>
        <p:spPr>
          <a:xfrm>
            <a:off x="1400230" y="120684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14836A1-AA48-9B6C-5B04-CE5C63BD5CEF}"/>
              </a:ext>
            </a:extLst>
          </p:cNvPr>
          <p:cNvSpPr/>
          <p:nvPr/>
        </p:nvSpPr>
        <p:spPr>
          <a:xfrm>
            <a:off x="1507432" y="4373362"/>
            <a:ext cx="10153317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OOD dataset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과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in-distribution(ID) dataset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과의 차이가 큰 경우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(a),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그렇지 않은 경우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(c, d)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에 비해 학습된 모델의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decision boundary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가 넓고 정확하지 않은 모습을 보임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(b)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 - auxiliary dataset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획득을 위해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GAN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을 사용한 방법 제시</a:t>
            </a: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28E6365-F80A-F318-750B-EDE8AA5578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-383"/>
          <a:stretch/>
        </p:blipFill>
        <p:spPr>
          <a:xfrm>
            <a:off x="1975687" y="1847611"/>
            <a:ext cx="9216809" cy="2372309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8777F0A1-46CC-05CB-2A80-2275F77BC7A6}"/>
              </a:ext>
            </a:extLst>
          </p:cNvPr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115CC44-76E1-51CF-59EF-891A3271397C}"/>
              </a:ext>
            </a:extLst>
          </p:cNvPr>
          <p:cNvSpPr/>
          <p:nvPr/>
        </p:nvSpPr>
        <p:spPr>
          <a:xfrm>
            <a:off x="413819" y="479329"/>
            <a:ext cx="148545" cy="148545"/>
          </a:xfrm>
          <a:prstGeom prst="ellipse">
            <a:avLst/>
          </a:prstGeom>
          <a:solidFill>
            <a:srgbClr val="F7EBE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18A84D6-6DCA-5993-9644-0F187F03A395}"/>
              </a:ext>
            </a:extLst>
          </p:cNvPr>
          <p:cNvSpPr/>
          <p:nvPr/>
        </p:nvSpPr>
        <p:spPr>
          <a:xfrm>
            <a:off x="413820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F9BC27F-802E-F149-6987-835E02BDA043}"/>
              </a:ext>
            </a:extLst>
          </p:cNvPr>
          <p:cNvSpPr/>
          <p:nvPr/>
        </p:nvSpPr>
        <p:spPr>
          <a:xfrm>
            <a:off x="413820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E2A593F-EC4D-F5F9-D885-6D0106221358}"/>
              </a:ext>
            </a:extLst>
          </p:cNvPr>
          <p:cNvSpPr/>
          <p:nvPr/>
        </p:nvSpPr>
        <p:spPr>
          <a:xfrm>
            <a:off x="413820" y="373846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167D870-9455-5414-A0A6-BE67DC70922B}"/>
              </a:ext>
            </a:extLst>
          </p:cNvPr>
          <p:cNvSpPr/>
          <p:nvPr/>
        </p:nvSpPr>
        <p:spPr>
          <a:xfrm>
            <a:off x="413820" y="4390291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1EEFB59-D4B8-B7BD-F23D-92B8CB8F8E89}"/>
              </a:ext>
            </a:extLst>
          </p:cNvPr>
          <p:cNvSpPr/>
          <p:nvPr/>
        </p:nvSpPr>
        <p:spPr>
          <a:xfrm>
            <a:off x="406179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DE4F519-EC8F-55E6-8811-D1F36A4209E4}"/>
              </a:ext>
            </a:extLst>
          </p:cNvPr>
          <p:cNvSpPr/>
          <p:nvPr/>
        </p:nvSpPr>
        <p:spPr>
          <a:xfrm>
            <a:off x="398008" y="1131156"/>
            <a:ext cx="148545" cy="1485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34111CC-1C12-DEC8-F19B-13D9397CCAFA}"/>
              </a:ext>
            </a:extLst>
          </p:cNvPr>
          <p:cNvSpPr/>
          <p:nvPr/>
        </p:nvSpPr>
        <p:spPr>
          <a:xfrm>
            <a:off x="398007" y="479329"/>
            <a:ext cx="148545" cy="148545"/>
          </a:xfrm>
          <a:prstGeom prst="ellipse">
            <a:avLst/>
          </a:prstGeom>
          <a:solidFill>
            <a:srgbClr val="87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BEFACA2-9C3B-F1B8-78CC-5A6FB13ECB33}"/>
              </a:ext>
            </a:extLst>
          </p:cNvPr>
          <p:cNvSpPr/>
          <p:nvPr/>
        </p:nvSpPr>
        <p:spPr>
          <a:xfrm>
            <a:off x="398008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6A03811-988F-71EF-8E70-C297F5366F4C}"/>
              </a:ext>
            </a:extLst>
          </p:cNvPr>
          <p:cNvSpPr/>
          <p:nvPr/>
        </p:nvSpPr>
        <p:spPr>
          <a:xfrm>
            <a:off x="398008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0A653F50-AC82-B7D1-7A9A-CA04386E00F9}"/>
              </a:ext>
            </a:extLst>
          </p:cNvPr>
          <p:cNvSpPr/>
          <p:nvPr/>
        </p:nvSpPr>
        <p:spPr>
          <a:xfrm>
            <a:off x="390367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74B896F-347B-ADFE-1AF8-0E5296992464}"/>
              </a:ext>
            </a:extLst>
          </p:cNvPr>
          <p:cNvSpPr/>
          <p:nvPr/>
        </p:nvSpPr>
        <p:spPr>
          <a:xfrm>
            <a:off x="409054" y="375879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146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모서리가 둥근 직사각형 152"/>
          <p:cNvSpPr/>
          <p:nvPr/>
        </p:nvSpPr>
        <p:spPr>
          <a:xfrm rot="5400000">
            <a:off x="6561232" y="482481"/>
            <a:ext cx="45719" cy="11215817"/>
          </a:xfrm>
          <a:prstGeom prst="roundRect">
            <a:avLst>
              <a:gd name="adj" fmla="val 50000"/>
            </a:avLst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163324" y="703564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163324" y="1355391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163324" y="2007218"/>
            <a:ext cx="66717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888CA6"/>
                </a:solidFill>
              </a:rPr>
              <a:t>CONTENT</a:t>
            </a:r>
            <a:endParaRPr lang="ko-KR" altLang="en-US" sz="800" b="1" dirty="0">
              <a:solidFill>
                <a:srgbClr val="888CA6"/>
              </a:solidFill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163324" y="2659045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163324" y="3310872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F7EBEB"/>
                </a:solidFill>
              </a:rPr>
              <a:t>CONTENT</a:t>
            </a:r>
            <a:endParaRPr lang="ko-KR" altLang="en-US" sz="800" dirty="0">
              <a:solidFill>
                <a:srgbClr val="F7EBEB"/>
              </a:solidFill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163324" y="3962699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163324" y="4614526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1039A137-1D31-6942-A27F-B3129E2E96FD}"/>
              </a:ext>
            </a:extLst>
          </p:cNvPr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BDD31A-1B47-8761-75EC-BA3B1EC54D18}"/>
              </a:ext>
            </a:extLst>
          </p:cNvPr>
          <p:cNvSpPr txBox="1"/>
          <p:nvPr/>
        </p:nvSpPr>
        <p:spPr>
          <a:xfrm>
            <a:off x="5214165" y="352243"/>
            <a:ext cx="25266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kern="0" dirty="0">
                <a:solidFill>
                  <a:srgbClr val="545871"/>
                </a:solidFill>
                <a:latin typeface="+mj-ea"/>
                <a:ea typeface="+mj-ea"/>
              </a:rPr>
              <a:t>Background</a:t>
            </a:r>
            <a:endParaRPr kumimoji="1" lang="ko-Kore-KR" altLang="en-US" dirty="0">
              <a:latin typeface="+mj-ea"/>
              <a:ea typeface="+mj-ea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8777F0A1-46CC-05CB-2A80-2275F77BC7A6}"/>
              </a:ext>
            </a:extLst>
          </p:cNvPr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115CC44-76E1-51CF-59EF-891A3271397C}"/>
              </a:ext>
            </a:extLst>
          </p:cNvPr>
          <p:cNvSpPr/>
          <p:nvPr/>
        </p:nvSpPr>
        <p:spPr>
          <a:xfrm>
            <a:off x="413819" y="479329"/>
            <a:ext cx="148545" cy="148545"/>
          </a:xfrm>
          <a:prstGeom prst="ellipse">
            <a:avLst/>
          </a:prstGeom>
          <a:solidFill>
            <a:srgbClr val="F7EBE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18A84D6-6DCA-5993-9644-0F187F03A395}"/>
              </a:ext>
            </a:extLst>
          </p:cNvPr>
          <p:cNvSpPr/>
          <p:nvPr/>
        </p:nvSpPr>
        <p:spPr>
          <a:xfrm>
            <a:off x="413820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F9BC27F-802E-F149-6987-835E02BDA043}"/>
              </a:ext>
            </a:extLst>
          </p:cNvPr>
          <p:cNvSpPr/>
          <p:nvPr/>
        </p:nvSpPr>
        <p:spPr>
          <a:xfrm>
            <a:off x="413820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E2A593F-EC4D-F5F9-D885-6D0106221358}"/>
              </a:ext>
            </a:extLst>
          </p:cNvPr>
          <p:cNvSpPr/>
          <p:nvPr/>
        </p:nvSpPr>
        <p:spPr>
          <a:xfrm>
            <a:off x="413820" y="373846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167D870-9455-5414-A0A6-BE67DC70922B}"/>
              </a:ext>
            </a:extLst>
          </p:cNvPr>
          <p:cNvSpPr/>
          <p:nvPr/>
        </p:nvSpPr>
        <p:spPr>
          <a:xfrm>
            <a:off x="413820" y="4390291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1EEFB59-D4B8-B7BD-F23D-92B8CB8F8E89}"/>
              </a:ext>
            </a:extLst>
          </p:cNvPr>
          <p:cNvSpPr/>
          <p:nvPr/>
        </p:nvSpPr>
        <p:spPr>
          <a:xfrm>
            <a:off x="406179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DE4F519-EC8F-55E6-8811-D1F36A4209E4}"/>
              </a:ext>
            </a:extLst>
          </p:cNvPr>
          <p:cNvSpPr/>
          <p:nvPr/>
        </p:nvSpPr>
        <p:spPr>
          <a:xfrm>
            <a:off x="398008" y="1131156"/>
            <a:ext cx="148545" cy="1485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34111CC-1C12-DEC8-F19B-13D9397CCAFA}"/>
              </a:ext>
            </a:extLst>
          </p:cNvPr>
          <p:cNvSpPr/>
          <p:nvPr/>
        </p:nvSpPr>
        <p:spPr>
          <a:xfrm>
            <a:off x="398007" y="479329"/>
            <a:ext cx="148545" cy="148545"/>
          </a:xfrm>
          <a:prstGeom prst="ellipse">
            <a:avLst/>
          </a:prstGeom>
          <a:solidFill>
            <a:srgbClr val="87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BEFACA2-9C3B-F1B8-78CC-5A6FB13ECB33}"/>
              </a:ext>
            </a:extLst>
          </p:cNvPr>
          <p:cNvSpPr/>
          <p:nvPr/>
        </p:nvSpPr>
        <p:spPr>
          <a:xfrm>
            <a:off x="398008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6A03811-988F-71EF-8E70-C297F5366F4C}"/>
              </a:ext>
            </a:extLst>
          </p:cNvPr>
          <p:cNvSpPr/>
          <p:nvPr/>
        </p:nvSpPr>
        <p:spPr>
          <a:xfrm>
            <a:off x="398008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0A653F50-AC82-B7D1-7A9A-CA04386E00F9}"/>
              </a:ext>
            </a:extLst>
          </p:cNvPr>
          <p:cNvSpPr/>
          <p:nvPr/>
        </p:nvSpPr>
        <p:spPr>
          <a:xfrm>
            <a:off x="390367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74B896F-347B-ADFE-1AF8-0E5296992464}"/>
              </a:ext>
            </a:extLst>
          </p:cNvPr>
          <p:cNvSpPr/>
          <p:nvPr/>
        </p:nvSpPr>
        <p:spPr>
          <a:xfrm>
            <a:off x="409054" y="375879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2E82BF-EB02-CF1A-DEAF-E957B046BCED}"/>
              </a:ext>
            </a:extLst>
          </p:cNvPr>
          <p:cNvSpPr/>
          <p:nvPr/>
        </p:nvSpPr>
        <p:spPr>
          <a:xfrm>
            <a:off x="1823894" y="937611"/>
            <a:ext cx="9682306" cy="3085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545871"/>
                </a:solidFill>
                <a:latin typeface="+mj-ea"/>
                <a:ea typeface="+mj-ea"/>
              </a:rPr>
              <a:t>OOD detection using generative models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- </a:t>
            </a: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</a:rPr>
              <a:t>joint objective function </a:t>
            </a:r>
            <a:r>
              <a:rPr lang="ko-KR" altLang="en-US" b="1" kern="0" dirty="0">
                <a:solidFill>
                  <a:srgbClr val="545871"/>
                </a:solidFill>
                <a:latin typeface="+mj-ea"/>
                <a:ea typeface="+mj-ea"/>
              </a:rPr>
              <a:t>정의</a:t>
            </a:r>
            <a:endParaRPr lang="en-US" altLang="ko-KR" b="1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: KL-divergence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의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confidence loss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과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GAN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의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objective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function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을 합침</a:t>
            </a: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</a:rPr>
              <a:t>(c)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ID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데이터셋의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cross-entropy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</a:rPr>
              <a:t>(d)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 Generator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의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 OOD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데이터셋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PG(x)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의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uniform distribution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과의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KL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divergence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     (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목적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: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차이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 minimizing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을 통한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OOD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데이터셋의 </a:t>
            </a:r>
            <a:r>
              <a:rPr lang="en-US" altLang="ko-KR" kern="0" dirty="0" err="1">
                <a:solidFill>
                  <a:srgbClr val="545871"/>
                </a:solidFill>
                <a:latin typeface="+mj-ea"/>
                <a:ea typeface="+mj-ea"/>
              </a:rPr>
              <a:t>softmax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 logit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을 균등하게 유도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</a:rPr>
              <a:t>(e)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ID/OOD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에 대한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GAN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의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objective function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6623608-8515-8A8C-1990-F5860DFCA3BB}"/>
              </a:ext>
            </a:extLst>
          </p:cNvPr>
          <p:cNvSpPr/>
          <p:nvPr/>
        </p:nvSpPr>
        <p:spPr>
          <a:xfrm>
            <a:off x="1400230" y="120684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FBF8BB0-CDED-ADA1-4F1A-EDFF14421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137" y="4157100"/>
            <a:ext cx="9373908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717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모서리가 둥근 직사각형 152"/>
          <p:cNvSpPr/>
          <p:nvPr/>
        </p:nvSpPr>
        <p:spPr>
          <a:xfrm rot="5400000">
            <a:off x="6561232" y="482481"/>
            <a:ext cx="45719" cy="11215817"/>
          </a:xfrm>
          <a:prstGeom prst="roundRect">
            <a:avLst>
              <a:gd name="adj" fmla="val 50000"/>
            </a:avLst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163324" y="703564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163324" y="1355391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163324" y="2007218"/>
            <a:ext cx="66717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888CA6"/>
                </a:solidFill>
              </a:rPr>
              <a:t>CONTENT</a:t>
            </a:r>
            <a:endParaRPr lang="ko-KR" altLang="en-US" sz="800" b="1" dirty="0">
              <a:solidFill>
                <a:srgbClr val="888CA6"/>
              </a:solidFill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163324" y="2659045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163324" y="3310872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F7EBEB"/>
                </a:solidFill>
              </a:rPr>
              <a:t>CONTENT</a:t>
            </a:r>
            <a:endParaRPr lang="ko-KR" altLang="en-US" sz="800" dirty="0">
              <a:solidFill>
                <a:srgbClr val="F7EBEB"/>
              </a:solidFill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163324" y="3962699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163324" y="4614526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1039A137-1D31-6942-A27F-B3129E2E96FD}"/>
              </a:ext>
            </a:extLst>
          </p:cNvPr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BDD31A-1B47-8761-75EC-BA3B1EC54D18}"/>
              </a:ext>
            </a:extLst>
          </p:cNvPr>
          <p:cNvSpPr txBox="1"/>
          <p:nvPr/>
        </p:nvSpPr>
        <p:spPr>
          <a:xfrm>
            <a:off x="5214165" y="352243"/>
            <a:ext cx="25266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kern="0" dirty="0">
                <a:solidFill>
                  <a:srgbClr val="545871"/>
                </a:solidFill>
                <a:latin typeface="+mj-ea"/>
                <a:ea typeface="+mj-ea"/>
              </a:rPr>
              <a:t>Background</a:t>
            </a:r>
            <a:endParaRPr kumimoji="1" lang="ko-Kore-KR" altLang="en-US" dirty="0">
              <a:latin typeface="+mj-ea"/>
              <a:ea typeface="+mj-ea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8777F0A1-46CC-05CB-2A80-2275F77BC7A6}"/>
              </a:ext>
            </a:extLst>
          </p:cNvPr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115CC44-76E1-51CF-59EF-891A3271397C}"/>
              </a:ext>
            </a:extLst>
          </p:cNvPr>
          <p:cNvSpPr/>
          <p:nvPr/>
        </p:nvSpPr>
        <p:spPr>
          <a:xfrm>
            <a:off x="413819" y="479329"/>
            <a:ext cx="148545" cy="148545"/>
          </a:xfrm>
          <a:prstGeom prst="ellipse">
            <a:avLst/>
          </a:prstGeom>
          <a:solidFill>
            <a:srgbClr val="F7EBE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18A84D6-6DCA-5993-9644-0F187F03A395}"/>
              </a:ext>
            </a:extLst>
          </p:cNvPr>
          <p:cNvSpPr/>
          <p:nvPr/>
        </p:nvSpPr>
        <p:spPr>
          <a:xfrm>
            <a:off x="413820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F9BC27F-802E-F149-6987-835E02BDA043}"/>
              </a:ext>
            </a:extLst>
          </p:cNvPr>
          <p:cNvSpPr/>
          <p:nvPr/>
        </p:nvSpPr>
        <p:spPr>
          <a:xfrm>
            <a:off x="413820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E2A593F-EC4D-F5F9-D885-6D0106221358}"/>
              </a:ext>
            </a:extLst>
          </p:cNvPr>
          <p:cNvSpPr/>
          <p:nvPr/>
        </p:nvSpPr>
        <p:spPr>
          <a:xfrm>
            <a:off x="413820" y="373846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167D870-9455-5414-A0A6-BE67DC70922B}"/>
              </a:ext>
            </a:extLst>
          </p:cNvPr>
          <p:cNvSpPr/>
          <p:nvPr/>
        </p:nvSpPr>
        <p:spPr>
          <a:xfrm>
            <a:off x="413820" y="4390291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1EEFB59-D4B8-B7BD-F23D-92B8CB8F8E89}"/>
              </a:ext>
            </a:extLst>
          </p:cNvPr>
          <p:cNvSpPr/>
          <p:nvPr/>
        </p:nvSpPr>
        <p:spPr>
          <a:xfrm>
            <a:off x="406179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DE4F519-EC8F-55E6-8811-D1F36A4209E4}"/>
              </a:ext>
            </a:extLst>
          </p:cNvPr>
          <p:cNvSpPr/>
          <p:nvPr/>
        </p:nvSpPr>
        <p:spPr>
          <a:xfrm>
            <a:off x="398008" y="1131156"/>
            <a:ext cx="148545" cy="1485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34111CC-1C12-DEC8-F19B-13D9397CCAFA}"/>
              </a:ext>
            </a:extLst>
          </p:cNvPr>
          <p:cNvSpPr/>
          <p:nvPr/>
        </p:nvSpPr>
        <p:spPr>
          <a:xfrm>
            <a:off x="398007" y="479329"/>
            <a:ext cx="148545" cy="148545"/>
          </a:xfrm>
          <a:prstGeom prst="ellipse">
            <a:avLst/>
          </a:prstGeom>
          <a:solidFill>
            <a:srgbClr val="87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BEFACA2-9C3B-F1B8-78CC-5A6FB13ECB33}"/>
              </a:ext>
            </a:extLst>
          </p:cNvPr>
          <p:cNvSpPr/>
          <p:nvPr/>
        </p:nvSpPr>
        <p:spPr>
          <a:xfrm>
            <a:off x="398008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6A03811-988F-71EF-8E70-C297F5366F4C}"/>
              </a:ext>
            </a:extLst>
          </p:cNvPr>
          <p:cNvSpPr/>
          <p:nvPr/>
        </p:nvSpPr>
        <p:spPr>
          <a:xfrm>
            <a:off x="398008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0A653F50-AC82-B7D1-7A9A-CA04386E00F9}"/>
              </a:ext>
            </a:extLst>
          </p:cNvPr>
          <p:cNvSpPr/>
          <p:nvPr/>
        </p:nvSpPr>
        <p:spPr>
          <a:xfrm>
            <a:off x="390367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74B896F-347B-ADFE-1AF8-0E5296992464}"/>
              </a:ext>
            </a:extLst>
          </p:cNvPr>
          <p:cNvSpPr/>
          <p:nvPr/>
        </p:nvSpPr>
        <p:spPr>
          <a:xfrm>
            <a:off x="409054" y="375879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2E82BF-EB02-CF1A-DEAF-E957B046BCED}"/>
              </a:ext>
            </a:extLst>
          </p:cNvPr>
          <p:cNvSpPr/>
          <p:nvPr/>
        </p:nvSpPr>
        <p:spPr>
          <a:xfrm>
            <a:off x="1823894" y="937611"/>
            <a:ext cx="9520395" cy="1423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545871"/>
                </a:solidFill>
                <a:latin typeface="+mj-ea"/>
                <a:ea typeface="+mj-ea"/>
              </a:rPr>
              <a:t>OOD detection using generative models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-  Generative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adversarial network(GAN)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을 이용한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OOD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데이터 생성</a:t>
            </a: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: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생성된 데이터는 기존 데이터와 가깝지만 기존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class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에 맞는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semantic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한 정보가 없어짐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6623608-8515-8A8C-1990-F5860DFCA3BB}"/>
              </a:ext>
            </a:extLst>
          </p:cNvPr>
          <p:cNvSpPr/>
          <p:nvPr/>
        </p:nvSpPr>
        <p:spPr>
          <a:xfrm>
            <a:off x="1400230" y="120684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87B53E8-B743-45A5-360F-DC0AB32E8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449" y="2594686"/>
            <a:ext cx="9307853" cy="326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195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모서리가 둥근 직사각형 152"/>
          <p:cNvSpPr/>
          <p:nvPr/>
        </p:nvSpPr>
        <p:spPr>
          <a:xfrm rot="5400000">
            <a:off x="6561232" y="482481"/>
            <a:ext cx="45719" cy="11215817"/>
          </a:xfrm>
          <a:prstGeom prst="roundRect">
            <a:avLst>
              <a:gd name="adj" fmla="val 50000"/>
            </a:avLst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163324" y="703564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163324" y="1355391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163324" y="2007218"/>
            <a:ext cx="66717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888CA6"/>
                </a:solidFill>
              </a:rPr>
              <a:t>CONTENT</a:t>
            </a:r>
            <a:endParaRPr lang="ko-KR" altLang="en-US" sz="800" b="1" dirty="0">
              <a:solidFill>
                <a:srgbClr val="888CA6"/>
              </a:solidFill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163324" y="2659045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163324" y="3310872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F7EBEB"/>
                </a:solidFill>
              </a:rPr>
              <a:t>CONTENT</a:t>
            </a:r>
            <a:endParaRPr lang="ko-KR" altLang="en-US" sz="800" dirty="0">
              <a:solidFill>
                <a:srgbClr val="F7EBEB"/>
              </a:solidFill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163324" y="3962699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163324" y="4614526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1039A137-1D31-6942-A27F-B3129E2E96FD}"/>
              </a:ext>
            </a:extLst>
          </p:cNvPr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BDD31A-1B47-8761-75EC-BA3B1EC54D18}"/>
              </a:ext>
            </a:extLst>
          </p:cNvPr>
          <p:cNvSpPr txBox="1"/>
          <p:nvPr/>
        </p:nvSpPr>
        <p:spPr>
          <a:xfrm>
            <a:off x="5214165" y="352243"/>
            <a:ext cx="25266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kern="0" dirty="0">
                <a:solidFill>
                  <a:srgbClr val="545871"/>
                </a:solidFill>
                <a:latin typeface="+mj-ea"/>
                <a:ea typeface="+mj-ea"/>
              </a:rPr>
              <a:t>Background</a:t>
            </a:r>
            <a:endParaRPr kumimoji="1" lang="ko-Kore-KR" altLang="en-US" dirty="0">
              <a:latin typeface="+mj-ea"/>
              <a:ea typeface="+mj-ea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8777F0A1-46CC-05CB-2A80-2275F77BC7A6}"/>
              </a:ext>
            </a:extLst>
          </p:cNvPr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115CC44-76E1-51CF-59EF-891A3271397C}"/>
              </a:ext>
            </a:extLst>
          </p:cNvPr>
          <p:cNvSpPr/>
          <p:nvPr/>
        </p:nvSpPr>
        <p:spPr>
          <a:xfrm>
            <a:off x="413819" y="479329"/>
            <a:ext cx="148545" cy="148545"/>
          </a:xfrm>
          <a:prstGeom prst="ellipse">
            <a:avLst/>
          </a:prstGeom>
          <a:solidFill>
            <a:srgbClr val="F7EBE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18A84D6-6DCA-5993-9644-0F187F03A395}"/>
              </a:ext>
            </a:extLst>
          </p:cNvPr>
          <p:cNvSpPr/>
          <p:nvPr/>
        </p:nvSpPr>
        <p:spPr>
          <a:xfrm>
            <a:off x="413820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F9BC27F-802E-F149-6987-835E02BDA043}"/>
              </a:ext>
            </a:extLst>
          </p:cNvPr>
          <p:cNvSpPr/>
          <p:nvPr/>
        </p:nvSpPr>
        <p:spPr>
          <a:xfrm>
            <a:off x="413820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E2A593F-EC4D-F5F9-D885-6D0106221358}"/>
              </a:ext>
            </a:extLst>
          </p:cNvPr>
          <p:cNvSpPr/>
          <p:nvPr/>
        </p:nvSpPr>
        <p:spPr>
          <a:xfrm>
            <a:off x="413820" y="373846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167D870-9455-5414-A0A6-BE67DC70922B}"/>
              </a:ext>
            </a:extLst>
          </p:cNvPr>
          <p:cNvSpPr/>
          <p:nvPr/>
        </p:nvSpPr>
        <p:spPr>
          <a:xfrm>
            <a:off x="413820" y="4390291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1EEFB59-D4B8-B7BD-F23D-92B8CB8F8E89}"/>
              </a:ext>
            </a:extLst>
          </p:cNvPr>
          <p:cNvSpPr/>
          <p:nvPr/>
        </p:nvSpPr>
        <p:spPr>
          <a:xfrm>
            <a:off x="406179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DE4F519-EC8F-55E6-8811-D1F36A4209E4}"/>
              </a:ext>
            </a:extLst>
          </p:cNvPr>
          <p:cNvSpPr/>
          <p:nvPr/>
        </p:nvSpPr>
        <p:spPr>
          <a:xfrm>
            <a:off x="398008" y="1131156"/>
            <a:ext cx="148545" cy="1485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34111CC-1C12-DEC8-F19B-13D9397CCAFA}"/>
              </a:ext>
            </a:extLst>
          </p:cNvPr>
          <p:cNvSpPr/>
          <p:nvPr/>
        </p:nvSpPr>
        <p:spPr>
          <a:xfrm>
            <a:off x="398007" y="479329"/>
            <a:ext cx="148545" cy="148545"/>
          </a:xfrm>
          <a:prstGeom prst="ellipse">
            <a:avLst/>
          </a:prstGeom>
          <a:solidFill>
            <a:srgbClr val="87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BEFACA2-9C3B-F1B8-78CC-5A6FB13ECB33}"/>
              </a:ext>
            </a:extLst>
          </p:cNvPr>
          <p:cNvSpPr/>
          <p:nvPr/>
        </p:nvSpPr>
        <p:spPr>
          <a:xfrm>
            <a:off x="398008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6A03811-988F-71EF-8E70-C297F5366F4C}"/>
              </a:ext>
            </a:extLst>
          </p:cNvPr>
          <p:cNvSpPr/>
          <p:nvPr/>
        </p:nvSpPr>
        <p:spPr>
          <a:xfrm>
            <a:off x="398008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0A653F50-AC82-B7D1-7A9A-CA04386E00F9}"/>
              </a:ext>
            </a:extLst>
          </p:cNvPr>
          <p:cNvSpPr/>
          <p:nvPr/>
        </p:nvSpPr>
        <p:spPr>
          <a:xfrm>
            <a:off x="390367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74B896F-347B-ADFE-1AF8-0E5296992464}"/>
              </a:ext>
            </a:extLst>
          </p:cNvPr>
          <p:cNvSpPr/>
          <p:nvPr/>
        </p:nvSpPr>
        <p:spPr>
          <a:xfrm>
            <a:off x="409054" y="375879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2E82BF-EB02-CF1A-DEAF-E957B046BCED}"/>
              </a:ext>
            </a:extLst>
          </p:cNvPr>
          <p:cNvSpPr/>
          <p:nvPr/>
        </p:nvSpPr>
        <p:spPr>
          <a:xfrm>
            <a:off x="1823894" y="937611"/>
            <a:ext cx="3727557" cy="3639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545871"/>
                </a:solidFill>
                <a:latin typeface="+mj-ea"/>
                <a:ea typeface="+mj-ea"/>
              </a:rPr>
              <a:t>OOD detection using generative models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-  GAN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을 이용한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OOD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데이터를 학습한 결과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(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파랑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)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-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예외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, ID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데이터로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SVHN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데이터셋을 사용한 경우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, CIFAR-10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데이터셋을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OOD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로 활용한 결과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(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초록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)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보다 살짝 낮은 성능을 보임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6623608-8515-8A8C-1990-F5860DFCA3BB}"/>
              </a:ext>
            </a:extLst>
          </p:cNvPr>
          <p:cNvSpPr/>
          <p:nvPr/>
        </p:nvSpPr>
        <p:spPr>
          <a:xfrm>
            <a:off x="1400230" y="120684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0F7ABDE-F5D4-0FFE-ABFC-BDDF396D2A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5"/>
          <a:stretch/>
        </p:blipFill>
        <p:spPr>
          <a:xfrm>
            <a:off x="5681329" y="1206846"/>
            <a:ext cx="6096851" cy="479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414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D4F2CC6-9364-0D49-B6EC-554E5A285C82}"/>
              </a:ext>
            </a:extLst>
          </p:cNvPr>
          <p:cNvSpPr/>
          <p:nvPr/>
        </p:nvSpPr>
        <p:spPr>
          <a:xfrm>
            <a:off x="1206440" y="2007218"/>
            <a:ext cx="66717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F7EBEB"/>
                </a:solidFill>
              </a:rPr>
              <a:t>CONTENT</a:t>
            </a:r>
            <a:endParaRPr lang="ko-KR" altLang="en-US" sz="800" b="1" dirty="0">
              <a:solidFill>
                <a:srgbClr val="F7EBEB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0005CCF-ADF2-2245-A3E3-D4BD2E581E9F}"/>
              </a:ext>
            </a:extLst>
          </p:cNvPr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3015F64-0391-4F4C-BF6E-4B2C72D939D1}"/>
              </a:ext>
            </a:extLst>
          </p:cNvPr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7092BB9-7663-F440-A145-AA41F071577A}"/>
              </a:ext>
            </a:extLst>
          </p:cNvPr>
          <p:cNvSpPr/>
          <p:nvPr/>
        </p:nvSpPr>
        <p:spPr>
          <a:xfrm>
            <a:off x="155682" y="2005570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BC95308-40F3-5E48-8704-FB8138CA47BD}"/>
              </a:ext>
            </a:extLst>
          </p:cNvPr>
          <p:cNvSpPr/>
          <p:nvPr/>
        </p:nvSpPr>
        <p:spPr>
          <a:xfrm>
            <a:off x="163324" y="1355391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5298E228-981F-0F41-A48E-3088383380E2}"/>
              </a:ext>
            </a:extLst>
          </p:cNvPr>
          <p:cNvSpPr/>
          <p:nvPr/>
        </p:nvSpPr>
        <p:spPr>
          <a:xfrm>
            <a:off x="413819" y="479329"/>
            <a:ext cx="148545" cy="148545"/>
          </a:xfrm>
          <a:prstGeom prst="ellipse">
            <a:avLst/>
          </a:prstGeom>
          <a:solidFill>
            <a:srgbClr val="F7EBE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34D53A1-23C1-944C-8B1A-7D13660F92B5}"/>
              </a:ext>
            </a:extLst>
          </p:cNvPr>
          <p:cNvSpPr/>
          <p:nvPr/>
        </p:nvSpPr>
        <p:spPr>
          <a:xfrm>
            <a:off x="163324" y="696697"/>
            <a:ext cx="59503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b="1" dirty="0">
                <a:solidFill>
                  <a:srgbClr val="F7EBEB"/>
                </a:solidFill>
              </a:rPr>
              <a:t>들어가며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B30DA35C-D6C3-A143-A0D7-EAB7533AD514}"/>
              </a:ext>
            </a:extLst>
          </p:cNvPr>
          <p:cNvSpPr/>
          <p:nvPr/>
        </p:nvSpPr>
        <p:spPr>
          <a:xfrm>
            <a:off x="413820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248F319-CB81-1641-94AD-0A6F3A3B6885}"/>
              </a:ext>
            </a:extLst>
          </p:cNvPr>
          <p:cNvSpPr/>
          <p:nvPr/>
        </p:nvSpPr>
        <p:spPr>
          <a:xfrm>
            <a:off x="163324" y="2659045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48DD7F34-C31C-EE4D-BBAC-86A4544AF69A}"/>
              </a:ext>
            </a:extLst>
          </p:cNvPr>
          <p:cNvSpPr/>
          <p:nvPr/>
        </p:nvSpPr>
        <p:spPr>
          <a:xfrm>
            <a:off x="413820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3018FB2-E245-DC40-9939-EB0B088D57D0}"/>
              </a:ext>
            </a:extLst>
          </p:cNvPr>
          <p:cNvSpPr/>
          <p:nvPr/>
        </p:nvSpPr>
        <p:spPr>
          <a:xfrm>
            <a:off x="163324" y="3310872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85D778B-4703-3540-8D37-4EF266EC34CD}"/>
              </a:ext>
            </a:extLst>
          </p:cNvPr>
          <p:cNvSpPr/>
          <p:nvPr/>
        </p:nvSpPr>
        <p:spPr>
          <a:xfrm>
            <a:off x="413820" y="373846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A2851FB-8248-BF44-9775-F9BA714536D1}"/>
              </a:ext>
            </a:extLst>
          </p:cNvPr>
          <p:cNvSpPr/>
          <p:nvPr/>
        </p:nvSpPr>
        <p:spPr>
          <a:xfrm>
            <a:off x="163324" y="3962699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1148767A-F798-F04C-BA9F-8FCB54634857}"/>
              </a:ext>
            </a:extLst>
          </p:cNvPr>
          <p:cNvSpPr/>
          <p:nvPr/>
        </p:nvSpPr>
        <p:spPr>
          <a:xfrm>
            <a:off x="413820" y="4390291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10EFADB-5D43-E841-B970-2A25F6920E5A}"/>
              </a:ext>
            </a:extLst>
          </p:cNvPr>
          <p:cNvSpPr/>
          <p:nvPr/>
        </p:nvSpPr>
        <p:spPr>
          <a:xfrm>
            <a:off x="163324" y="4614526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357BE34D-EBF4-5F4B-9AD2-2030CF084B41}"/>
              </a:ext>
            </a:extLst>
          </p:cNvPr>
          <p:cNvSpPr/>
          <p:nvPr/>
        </p:nvSpPr>
        <p:spPr>
          <a:xfrm>
            <a:off x="406179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2EA4D66-0FBE-5C4C-B3A5-3927EDD30D7C}"/>
              </a:ext>
            </a:extLst>
          </p:cNvPr>
          <p:cNvSpPr/>
          <p:nvPr/>
        </p:nvSpPr>
        <p:spPr>
          <a:xfrm>
            <a:off x="-15812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CD820E2C-BA0C-7141-BBC3-184BE864E88C}"/>
              </a:ext>
            </a:extLst>
          </p:cNvPr>
          <p:cNvSpPr/>
          <p:nvPr/>
        </p:nvSpPr>
        <p:spPr>
          <a:xfrm>
            <a:off x="398008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AF1721D-880E-8541-8B15-52072371A0FB}"/>
              </a:ext>
            </a:extLst>
          </p:cNvPr>
          <p:cNvSpPr/>
          <p:nvPr/>
        </p:nvSpPr>
        <p:spPr>
          <a:xfrm>
            <a:off x="185590" y="2005570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BD4A86C-2EA9-5B43-AB5C-66B942692930}"/>
              </a:ext>
            </a:extLst>
          </p:cNvPr>
          <p:cNvSpPr/>
          <p:nvPr/>
        </p:nvSpPr>
        <p:spPr>
          <a:xfrm>
            <a:off x="208472" y="1355391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12DCB0AB-084C-3C47-864E-41BD47DF9ABC}"/>
              </a:ext>
            </a:extLst>
          </p:cNvPr>
          <p:cNvSpPr/>
          <p:nvPr/>
        </p:nvSpPr>
        <p:spPr>
          <a:xfrm>
            <a:off x="398007" y="479329"/>
            <a:ext cx="148545" cy="148545"/>
          </a:xfrm>
          <a:prstGeom prst="ellipse">
            <a:avLst/>
          </a:prstGeom>
          <a:solidFill>
            <a:srgbClr val="87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B21CE8B1-4748-E748-A434-7166AD05BEE7}"/>
              </a:ext>
            </a:extLst>
          </p:cNvPr>
          <p:cNvSpPr/>
          <p:nvPr/>
        </p:nvSpPr>
        <p:spPr>
          <a:xfrm>
            <a:off x="398008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EA1E9C1-E4C6-C74F-9FB7-542680D49D8F}"/>
              </a:ext>
            </a:extLst>
          </p:cNvPr>
          <p:cNvSpPr/>
          <p:nvPr/>
        </p:nvSpPr>
        <p:spPr>
          <a:xfrm>
            <a:off x="208472" y="2659045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BBB98A09-3585-8141-AB50-C6E90083CE71}"/>
              </a:ext>
            </a:extLst>
          </p:cNvPr>
          <p:cNvSpPr/>
          <p:nvPr/>
        </p:nvSpPr>
        <p:spPr>
          <a:xfrm>
            <a:off x="398008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4603AD80-96A4-3149-9EED-F6954DAA0490}"/>
              </a:ext>
            </a:extLst>
          </p:cNvPr>
          <p:cNvSpPr/>
          <p:nvPr/>
        </p:nvSpPr>
        <p:spPr>
          <a:xfrm>
            <a:off x="390367" y="1782982"/>
            <a:ext cx="148545" cy="1485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64B8C0AF-7EA3-80A4-52F6-2635999AF7C1}"/>
              </a:ext>
            </a:extLst>
          </p:cNvPr>
          <p:cNvSpPr/>
          <p:nvPr/>
        </p:nvSpPr>
        <p:spPr>
          <a:xfrm>
            <a:off x="1345562" y="5920389"/>
            <a:ext cx="10846438" cy="45720"/>
          </a:xfrm>
          <a:prstGeom prst="roundRect">
            <a:avLst>
              <a:gd name="adj" fmla="val 0"/>
            </a:avLst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rgbClr val="888CA6"/>
              </a:solidFill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0FFA6E6B-453D-A28C-7FA4-9B259576CFAF}"/>
              </a:ext>
            </a:extLst>
          </p:cNvPr>
          <p:cNvSpPr/>
          <p:nvPr/>
        </p:nvSpPr>
        <p:spPr>
          <a:xfrm>
            <a:off x="394767" y="370165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A02CE55-E7FF-19A5-D02F-3900C68FBEA1}"/>
              </a:ext>
            </a:extLst>
          </p:cNvPr>
          <p:cNvSpPr/>
          <p:nvPr/>
        </p:nvSpPr>
        <p:spPr>
          <a:xfrm>
            <a:off x="1823894" y="937611"/>
            <a:ext cx="9520395" cy="3916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545871"/>
                </a:solidFill>
                <a:latin typeface="+mj-ea"/>
                <a:ea typeface="+mj-ea"/>
              </a:rPr>
              <a:t>Semantic-Discrepant(SD) Outlier Generation</a:t>
            </a:r>
          </a:p>
          <a:p>
            <a:pPr>
              <a:lnSpc>
                <a:spcPct val="150000"/>
              </a:lnSpc>
              <a:defRPr/>
            </a:pP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</a:rPr>
              <a:t>-SD outlier generation </a:t>
            </a:r>
            <a:r>
              <a:rPr lang="ko-KR" altLang="en-US" b="1" kern="0" dirty="0">
                <a:solidFill>
                  <a:srgbClr val="545871"/>
                </a:solidFill>
                <a:latin typeface="+mj-ea"/>
                <a:ea typeface="+mj-ea"/>
              </a:rPr>
              <a:t>의</a:t>
            </a: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</a:rPr>
              <a:t> </a:t>
            </a:r>
            <a:r>
              <a:rPr lang="ko-KR" altLang="en-US" b="1" kern="0" dirty="0">
                <a:solidFill>
                  <a:srgbClr val="545871"/>
                </a:solidFill>
                <a:latin typeface="+mj-ea"/>
                <a:ea typeface="+mj-ea"/>
              </a:rPr>
              <a:t>데이터 생성 </a:t>
            </a: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</a:rPr>
              <a:t>key point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</a:rPr>
              <a:t>  1) Preserving nuisance (</a:t>
            </a:r>
            <a:r>
              <a:rPr lang="en-US" altLang="ko-KR" b="1" kern="0" dirty="0" err="1">
                <a:solidFill>
                  <a:srgbClr val="545871"/>
                </a:solidFill>
                <a:latin typeface="+mj-ea"/>
                <a:ea typeface="+mj-ea"/>
              </a:rPr>
              <a:t>eg.</a:t>
            </a:r>
            <a:r>
              <a:rPr lang="ko-KR" altLang="en-US" b="1" kern="0" dirty="0">
                <a:solidFill>
                  <a:srgbClr val="545871"/>
                </a:solidFill>
                <a:latin typeface="+mj-ea"/>
                <a:ea typeface="+mj-ea"/>
              </a:rPr>
              <a:t> </a:t>
            </a: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</a:rPr>
              <a:t>background)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</a:rPr>
              <a:t>  2) Semantic discrepant </a:t>
            </a:r>
          </a:p>
          <a:p>
            <a:pPr>
              <a:lnSpc>
                <a:spcPct val="150000"/>
              </a:lnSpc>
              <a:defRPr/>
            </a:pP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: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생성된 데이터셋은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ID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데이터의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nuisance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정보를 유지하여 높은 관련성을 가지지만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semantic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정보는 데이터와 확실히 구별되어야 한다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즉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,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background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와 같은 정보를 유지하며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semantic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하게 다른 데이터를 생성하는 것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4E6F0D7-EE31-852E-1D32-CB6FBA5A9CD2}"/>
              </a:ext>
            </a:extLst>
          </p:cNvPr>
          <p:cNvSpPr/>
          <p:nvPr/>
        </p:nvSpPr>
        <p:spPr>
          <a:xfrm>
            <a:off x="1400230" y="120684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FCD691-7845-BBDF-EAF3-B8CFA920C2EC}"/>
              </a:ext>
            </a:extLst>
          </p:cNvPr>
          <p:cNvSpPr txBox="1"/>
          <p:nvPr/>
        </p:nvSpPr>
        <p:spPr>
          <a:xfrm>
            <a:off x="5214165" y="352243"/>
            <a:ext cx="1723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kern="0" dirty="0">
                <a:solidFill>
                  <a:srgbClr val="545871"/>
                </a:solidFill>
                <a:latin typeface="+mj-ea"/>
                <a:ea typeface="+mj-ea"/>
              </a:rPr>
              <a:t>Method</a:t>
            </a:r>
            <a:endParaRPr kumimoji="1" lang="ko-Kore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78586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D4F2CC6-9364-0D49-B6EC-554E5A285C82}"/>
              </a:ext>
            </a:extLst>
          </p:cNvPr>
          <p:cNvSpPr/>
          <p:nvPr/>
        </p:nvSpPr>
        <p:spPr>
          <a:xfrm>
            <a:off x="1206440" y="2007218"/>
            <a:ext cx="66717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F7EBEB"/>
                </a:solidFill>
              </a:rPr>
              <a:t>CONTENT</a:t>
            </a:r>
            <a:endParaRPr lang="ko-KR" altLang="en-US" sz="800" b="1" dirty="0">
              <a:solidFill>
                <a:srgbClr val="F7EBEB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0005CCF-ADF2-2245-A3E3-D4BD2E581E9F}"/>
              </a:ext>
            </a:extLst>
          </p:cNvPr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3015F64-0391-4F4C-BF6E-4B2C72D939D1}"/>
              </a:ext>
            </a:extLst>
          </p:cNvPr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7092BB9-7663-F440-A145-AA41F071577A}"/>
              </a:ext>
            </a:extLst>
          </p:cNvPr>
          <p:cNvSpPr/>
          <p:nvPr/>
        </p:nvSpPr>
        <p:spPr>
          <a:xfrm>
            <a:off x="155682" y="2005570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BC95308-40F3-5E48-8704-FB8138CA47BD}"/>
              </a:ext>
            </a:extLst>
          </p:cNvPr>
          <p:cNvSpPr/>
          <p:nvPr/>
        </p:nvSpPr>
        <p:spPr>
          <a:xfrm>
            <a:off x="163324" y="1355391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5298E228-981F-0F41-A48E-3088383380E2}"/>
              </a:ext>
            </a:extLst>
          </p:cNvPr>
          <p:cNvSpPr/>
          <p:nvPr/>
        </p:nvSpPr>
        <p:spPr>
          <a:xfrm>
            <a:off x="413819" y="479329"/>
            <a:ext cx="148545" cy="148545"/>
          </a:xfrm>
          <a:prstGeom prst="ellipse">
            <a:avLst/>
          </a:prstGeom>
          <a:solidFill>
            <a:srgbClr val="F7EBE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34D53A1-23C1-944C-8B1A-7D13660F92B5}"/>
              </a:ext>
            </a:extLst>
          </p:cNvPr>
          <p:cNvSpPr/>
          <p:nvPr/>
        </p:nvSpPr>
        <p:spPr>
          <a:xfrm>
            <a:off x="163324" y="696697"/>
            <a:ext cx="59503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b="1" dirty="0">
                <a:solidFill>
                  <a:srgbClr val="F7EBEB"/>
                </a:solidFill>
              </a:rPr>
              <a:t>들어가며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B30DA35C-D6C3-A143-A0D7-EAB7533AD514}"/>
              </a:ext>
            </a:extLst>
          </p:cNvPr>
          <p:cNvSpPr/>
          <p:nvPr/>
        </p:nvSpPr>
        <p:spPr>
          <a:xfrm>
            <a:off x="413820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248F319-CB81-1641-94AD-0A6F3A3B6885}"/>
              </a:ext>
            </a:extLst>
          </p:cNvPr>
          <p:cNvSpPr/>
          <p:nvPr/>
        </p:nvSpPr>
        <p:spPr>
          <a:xfrm>
            <a:off x="163324" y="2659045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48DD7F34-C31C-EE4D-BBAC-86A4544AF69A}"/>
              </a:ext>
            </a:extLst>
          </p:cNvPr>
          <p:cNvSpPr/>
          <p:nvPr/>
        </p:nvSpPr>
        <p:spPr>
          <a:xfrm>
            <a:off x="413820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3018FB2-E245-DC40-9939-EB0B088D57D0}"/>
              </a:ext>
            </a:extLst>
          </p:cNvPr>
          <p:cNvSpPr/>
          <p:nvPr/>
        </p:nvSpPr>
        <p:spPr>
          <a:xfrm>
            <a:off x="163324" y="3310872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85D778B-4703-3540-8D37-4EF266EC34CD}"/>
              </a:ext>
            </a:extLst>
          </p:cNvPr>
          <p:cNvSpPr/>
          <p:nvPr/>
        </p:nvSpPr>
        <p:spPr>
          <a:xfrm>
            <a:off x="413820" y="373846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A2851FB-8248-BF44-9775-F9BA714536D1}"/>
              </a:ext>
            </a:extLst>
          </p:cNvPr>
          <p:cNvSpPr/>
          <p:nvPr/>
        </p:nvSpPr>
        <p:spPr>
          <a:xfrm>
            <a:off x="163324" y="3962699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1148767A-F798-F04C-BA9F-8FCB54634857}"/>
              </a:ext>
            </a:extLst>
          </p:cNvPr>
          <p:cNvSpPr/>
          <p:nvPr/>
        </p:nvSpPr>
        <p:spPr>
          <a:xfrm>
            <a:off x="413820" y="4390291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10EFADB-5D43-E841-B970-2A25F6920E5A}"/>
              </a:ext>
            </a:extLst>
          </p:cNvPr>
          <p:cNvSpPr/>
          <p:nvPr/>
        </p:nvSpPr>
        <p:spPr>
          <a:xfrm>
            <a:off x="163324" y="4614526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357BE34D-EBF4-5F4B-9AD2-2030CF084B41}"/>
              </a:ext>
            </a:extLst>
          </p:cNvPr>
          <p:cNvSpPr/>
          <p:nvPr/>
        </p:nvSpPr>
        <p:spPr>
          <a:xfrm>
            <a:off x="406179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2EA4D66-0FBE-5C4C-B3A5-3927EDD30D7C}"/>
              </a:ext>
            </a:extLst>
          </p:cNvPr>
          <p:cNvSpPr/>
          <p:nvPr/>
        </p:nvSpPr>
        <p:spPr>
          <a:xfrm>
            <a:off x="-15812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CD820E2C-BA0C-7141-BBC3-184BE864E88C}"/>
              </a:ext>
            </a:extLst>
          </p:cNvPr>
          <p:cNvSpPr/>
          <p:nvPr/>
        </p:nvSpPr>
        <p:spPr>
          <a:xfrm>
            <a:off x="398008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AF1721D-880E-8541-8B15-52072371A0FB}"/>
              </a:ext>
            </a:extLst>
          </p:cNvPr>
          <p:cNvSpPr/>
          <p:nvPr/>
        </p:nvSpPr>
        <p:spPr>
          <a:xfrm>
            <a:off x="185590" y="2005570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BD4A86C-2EA9-5B43-AB5C-66B942692930}"/>
              </a:ext>
            </a:extLst>
          </p:cNvPr>
          <p:cNvSpPr/>
          <p:nvPr/>
        </p:nvSpPr>
        <p:spPr>
          <a:xfrm>
            <a:off x="208472" y="1355391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12DCB0AB-084C-3C47-864E-41BD47DF9ABC}"/>
              </a:ext>
            </a:extLst>
          </p:cNvPr>
          <p:cNvSpPr/>
          <p:nvPr/>
        </p:nvSpPr>
        <p:spPr>
          <a:xfrm>
            <a:off x="398007" y="479329"/>
            <a:ext cx="148545" cy="148545"/>
          </a:xfrm>
          <a:prstGeom prst="ellipse">
            <a:avLst/>
          </a:prstGeom>
          <a:solidFill>
            <a:srgbClr val="87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B21CE8B1-4748-E748-A434-7166AD05BEE7}"/>
              </a:ext>
            </a:extLst>
          </p:cNvPr>
          <p:cNvSpPr/>
          <p:nvPr/>
        </p:nvSpPr>
        <p:spPr>
          <a:xfrm>
            <a:off x="398008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EA1E9C1-E4C6-C74F-9FB7-542680D49D8F}"/>
              </a:ext>
            </a:extLst>
          </p:cNvPr>
          <p:cNvSpPr/>
          <p:nvPr/>
        </p:nvSpPr>
        <p:spPr>
          <a:xfrm>
            <a:off x="208472" y="2659045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BBB98A09-3585-8141-AB50-C6E90083CE71}"/>
              </a:ext>
            </a:extLst>
          </p:cNvPr>
          <p:cNvSpPr/>
          <p:nvPr/>
        </p:nvSpPr>
        <p:spPr>
          <a:xfrm>
            <a:off x="398008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4603AD80-96A4-3149-9EED-F6954DAA0490}"/>
              </a:ext>
            </a:extLst>
          </p:cNvPr>
          <p:cNvSpPr/>
          <p:nvPr/>
        </p:nvSpPr>
        <p:spPr>
          <a:xfrm>
            <a:off x="390367" y="1782982"/>
            <a:ext cx="148545" cy="1485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64B8C0AF-7EA3-80A4-52F6-2635999AF7C1}"/>
              </a:ext>
            </a:extLst>
          </p:cNvPr>
          <p:cNvSpPr/>
          <p:nvPr/>
        </p:nvSpPr>
        <p:spPr>
          <a:xfrm>
            <a:off x="1345562" y="5920389"/>
            <a:ext cx="10846438" cy="45720"/>
          </a:xfrm>
          <a:prstGeom prst="roundRect">
            <a:avLst>
              <a:gd name="adj" fmla="val 0"/>
            </a:avLst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rgbClr val="888CA6"/>
              </a:solidFill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0FFA6E6B-453D-A28C-7FA4-9B259576CFAF}"/>
              </a:ext>
            </a:extLst>
          </p:cNvPr>
          <p:cNvSpPr/>
          <p:nvPr/>
        </p:nvSpPr>
        <p:spPr>
          <a:xfrm>
            <a:off x="394767" y="370165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A02CE55-E7FF-19A5-D02F-3900C68FBEA1}"/>
              </a:ext>
            </a:extLst>
          </p:cNvPr>
          <p:cNvSpPr/>
          <p:nvPr/>
        </p:nvSpPr>
        <p:spPr>
          <a:xfrm>
            <a:off x="1823894" y="937611"/>
            <a:ext cx="9520395" cy="3085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545871"/>
                </a:solidFill>
                <a:latin typeface="+mj-ea"/>
                <a:ea typeface="+mj-ea"/>
              </a:rPr>
              <a:t>Semantic-Discrepant(SD) Outlier Generation</a:t>
            </a:r>
          </a:p>
          <a:p>
            <a:pPr>
              <a:lnSpc>
                <a:spcPct val="150000"/>
              </a:lnSpc>
              <a:defRPr/>
            </a:pP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</a:rPr>
              <a:t>Step 1 : Semantic-Aware Diffusion model training </a:t>
            </a:r>
          </a:p>
          <a:p>
            <a:pPr marL="342900" indent="-342900">
              <a:lnSpc>
                <a:spcPct val="150000"/>
              </a:lnSpc>
              <a:buAutoNum type="arabicParenR"/>
              <a:defRPr/>
            </a:pP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</a:rPr>
              <a:t>SCAN clustering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기법을 활용하여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ID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데이터셋에 대해 </a:t>
            </a:r>
            <a:r>
              <a:rPr lang="en-US" altLang="ko-KR" u="sng" kern="0" dirty="0">
                <a:solidFill>
                  <a:srgbClr val="545871"/>
                </a:solidFill>
                <a:latin typeface="+mj-ea"/>
                <a:ea typeface="+mj-ea"/>
              </a:rPr>
              <a:t>pseudo label </a:t>
            </a:r>
            <a:r>
              <a:rPr lang="ko-KR" altLang="en-US" u="sng" kern="0" dirty="0">
                <a:solidFill>
                  <a:srgbClr val="545871"/>
                </a:solidFill>
                <a:latin typeface="+mj-ea"/>
                <a:ea typeface="+mj-ea"/>
              </a:rPr>
              <a:t>생성</a:t>
            </a: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AutoNum type="arabicParenR"/>
              <a:defRPr/>
            </a:pP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  <a:sym typeface="Wingdings" panose="05000000000000000000" pitchFamily="2" charset="2"/>
              </a:rPr>
              <a:t>Classifier-free Diffusion Guidance (CFG)</a:t>
            </a: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</a:rPr>
              <a:t> </a:t>
            </a:r>
            <a:r>
              <a:rPr lang="ko-KR" altLang="en-US" b="1" kern="0" dirty="0">
                <a:solidFill>
                  <a:srgbClr val="545871"/>
                </a:solidFill>
                <a:latin typeface="+mj-ea"/>
                <a:ea typeface="+mj-ea"/>
              </a:rPr>
              <a:t>모델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을 학습시킴</a:t>
            </a: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    - U-Net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을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noise prediction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모델로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ID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데이터셋과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pseudo-label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을 사용하여 학습</a:t>
            </a: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AutoNum type="arabicParenR"/>
              <a:defRPr/>
            </a:pP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4E6F0D7-EE31-852E-1D32-CB6FBA5A9CD2}"/>
              </a:ext>
            </a:extLst>
          </p:cNvPr>
          <p:cNvSpPr/>
          <p:nvPr/>
        </p:nvSpPr>
        <p:spPr>
          <a:xfrm>
            <a:off x="1400230" y="120684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FCD691-7845-BBDF-EAF3-B8CFA920C2EC}"/>
              </a:ext>
            </a:extLst>
          </p:cNvPr>
          <p:cNvSpPr txBox="1"/>
          <p:nvPr/>
        </p:nvSpPr>
        <p:spPr>
          <a:xfrm>
            <a:off x="5214165" y="352243"/>
            <a:ext cx="1723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kern="0" dirty="0">
                <a:solidFill>
                  <a:srgbClr val="545871"/>
                </a:solidFill>
                <a:latin typeface="+mj-ea"/>
                <a:ea typeface="+mj-ea"/>
              </a:rPr>
              <a:t>Method</a:t>
            </a:r>
            <a:endParaRPr kumimoji="1" lang="ko-Kore-KR" altLang="en-US" dirty="0">
              <a:latin typeface="+mj-ea"/>
              <a:ea typeface="+mj-ea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4B6801D-0A9E-A701-F33C-DDDDCA5C4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934" y="3840022"/>
            <a:ext cx="6154009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377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D4F2CC6-9364-0D49-B6EC-554E5A285C82}"/>
              </a:ext>
            </a:extLst>
          </p:cNvPr>
          <p:cNvSpPr/>
          <p:nvPr/>
        </p:nvSpPr>
        <p:spPr>
          <a:xfrm>
            <a:off x="1206440" y="2007218"/>
            <a:ext cx="66717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F7EBEB"/>
                </a:solidFill>
              </a:rPr>
              <a:t>CONTENT</a:t>
            </a:r>
            <a:endParaRPr lang="ko-KR" altLang="en-US" sz="800" b="1" dirty="0">
              <a:solidFill>
                <a:srgbClr val="F7EBEB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0005CCF-ADF2-2245-A3E3-D4BD2E581E9F}"/>
              </a:ext>
            </a:extLst>
          </p:cNvPr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3015F64-0391-4F4C-BF6E-4B2C72D939D1}"/>
              </a:ext>
            </a:extLst>
          </p:cNvPr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7092BB9-7663-F440-A145-AA41F071577A}"/>
              </a:ext>
            </a:extLst>
          </p:cNvPr>
          <p:cNvSpPr/>
          <p:nvPr/>
        </p:nvSpPr>
        <p:spPr>
          <a:xfrm>
            <a:off x="155682" y="2005570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BC95308-40F3-5E48-8704-FB8138CA47BD}"/>
              </a:ext>
            </a:extLst>
          </p:cNvPr>
          <p:cNvSpPr/>
          <p:nvPr/>
        </p:nvSpPr>
        <p:spPr>
          <a:xfrm>
            <a:off x="163324" y="1355391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5298E228-981F-0F41-A48E-3088383380E2}"/>
              </a:ext>
            </a:extLst>
          </p:cNvPr>
          <p:cNvSpPr/>
          <p:nvPr/>
        </p:nvSpPr>
        <p:spPr>
          <a:xfrm>
            <a:off x="413819" y="479329"/>
            <a:ext cx="148545" cy="148545"/>
          </a:xfrm>
          <a:prstGeom prst="ellipse">
            <a:avLst/>
          </a:prstGeom>
          <a:solidFill>
            <a:srgbClr val="F7EBE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34D53A1-23C1-944C-8B1A-7D13660F92B5}"/>
              </a:ext>
            </a:extLst>
          </p:cNvPr>
          <p:cNvSpPr/>
          <p:nvPr/>
        </p:nvSpPr>
        <p:spPr>
          <a:xfrm>
            <a:off x="163324" y="696697"/>
            <a:ext cx="59503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b="1" dirty="0">
                <a:solidFill>
                  <a:srgbClr val="F7EBEB"/>
                </a:solidFill>
              </a:rPr>
              <a:t>들어가며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B30DA35C-D6C3-A143-A0D7-EAB7533AD514}"/>
              </a:ext>
            </a:extLst>
          </p:cNvPr>
          <p:cNvSpPr/>
          <p:nvPr/>
        </p:nvSpPr>
        <p:spPr>
          <a:xfrm>
            <a:off x="413820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248F319-CB81-1641-94AD-0A6F3A3B6885}"/>
              </a:ext>
            </a:extLst>
          </p:cNvPr>
          <p:cNvSpPr/>
          <p:nvPr/>
        </p:nvSpPr>
        <p:spPr>
          <a:xfrm>
            <a:off x="163324" y="2659045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48DD7F34-C31C-EE4D-BBAC-86A4544AF69A}"/>
              </a:ext>
            </a:extLst>
          </p:cNvPr>
          <p:cNvSpPr/>
          <p:nvPr/>
        </p:nvSpPr>
        <p:spPr>
          <a:xfrm>
            <a:off x="413820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3018FB2-E245-DC40-9939-EB0B088D57D0}"/>
              </a:ext>
            </a:extLst>
          </p:cNvPr>
          <p:cNvSpPr/>
          <p:nvPr/>
        </p:nvSpPr>
        <p:spPr>
          <a:xfrm>
            <a:off x="163324" y="3310872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85D778B-4703-3540-8D37-4EF266EC34CD}"/>
              </a:ext>
            </a:extLst>
          </p:cNvPr>
          <p:cNvSpPr/>
          <p:nvPr/>
        </p:nvSpPr>
        <p:spPr>
          <a:xfrm>
            <a:off x="413820" y="373846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A2851FB-8248-BF44-9775-F9BA714536D1}"/>
              </a:ext>
            </a:extLst>
          </p:cNvPr>
          <p:cNvSpPr/>
          <p:nvPr/>
        </p:nvSpPr>
        <p:spPr>
          <a:xfrm>
            <a:off x="163324" y="3962699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1148767A-F798-F04C-BA9F-8FCB54634857}"/>
              </a:ext>
            </a:extLst>
          </p:cNvPr>
          <p:cNvSpPr/>
          <p:nvPr/>
        </p:nvSpPr>
        <p:spPr>
          <a:xfrm>
            <a:off x="413820" y="4390291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10EFADB-5D43-E841-B970-2A25F6920E5A}"/>
              </a:ext>
            </a:extLst>
          </p:cNvPr>
          <p:cNvSpPr/>
          <p:nvPr/>
        </p:nvSpPr>
        <p:spPr>
          <a:xfrm>
            <a:off x="163324" y="4614526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357BE34D-EBF4-5F4B-9AD2-2030CF084B41}"/>
              </a:ext>
            </a:extLst>
          </p:cNvPr>
          <p:cNvSpPr/>
          <p:nvPr/>
        </p:nvSpPr>
        <p:spPr>
          <a:xfrm>
            <a:off x="406179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2EA4D66-0FBE-5C4C-B3A5-3927EDD30D7C}"/>
              </a:ext>
            </a:extLst>
          </p:cNvPr>
          <p:cNvSpPr/>
          <p:nvPr/>
        </p:nvSpPr>
        <p:spPr>
          <a:xfrm>
            <a:off x="-15812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CD820E2C-BA0C-7141-BBC3-184BE864E88C}"/>
              </a:ext>
            </a:extLst>
          </p:cNvPr>
          <p:cNvSpPr/>
          <p:nvPr/>
        </p:nvSpPr>
        <p:spPr>
          <a:xfrm>
            <a:off x="398008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AF1721D-880E-8541-8B15-52072371A0FB}"/>
              </a:ext>
            </a:extLst>
          </p:cNvPr>
          <p:cNvSpPr/>
          <p:nvPr/>
        </p:nvSpPr>
        <p:spPr>
          <a:xfrm>
            <a:off x="185590" y="2005570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BD4A86C-2EA9-5B43-AB5C-66B942692930}"/>
              </a:ext>
            </a:extLst>
          </p:cNvPr>
          <p:cNvSpPr/>
          <p:nvPr/>
        </p:nvSpPr>
        <p:spPr>
          <a:xfrm>
            <a:off x="208472" y="1355391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12DCB0AB-084C-3C47-864E-41BD47DF9ABC}"/>
              </a:ext>
            </a:extLst>
          </p:cNvPr>
          <p:cNvSpPr/>
          <p:nvPr/>
        </p:nvSpPr>
        <p:spPr>
          <a:xfrm>
            <a:off x="398007" y="479329"/>
            <a:ext cx="148545" cy="148545"/>
          </a:xfrm>
          <a:prstGeom prst="ellipse">
            <a:avLst/>
          </a:prstGeom>
          <a:solidFill>
            <a:srgbClr val="87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B21CE8B1-4748-E748-A434-7166AD05BEE7}"/>
              </a:ext>
            </a:extLst>
          </p:cNvPr>
          <p:cNvSpPr/>
          <p:nvPr/>
        </p:nvSpPr>
        <p:spPr>
          <a:xfrm>
            <a:off x="398008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EA1E9C1-E4C6-C74F-9FB7-542680D49D8F}"/>
              </a:ext>
            </a:extLst>
          </p:cNvPr>
          <p:cNvSpPr/>
          <p:nvPr/>
        </p:nvSpPr>
        <p:spPr>
          <a:xfrm>
            <a:off x="208472" y="2659045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BBB98A09-3585-8141-AB50-C6E90083CE71}"/>
              </a:ext>
            </a:extLst>
          </p:cNvPr>
          <p:cNvSpPr/>
          <p:nvPr/>
        </p:nvSpPr>
        <p:spPr>
          <a:xfrm>
            <a:off x="398008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4603AD80-96A4-3149-9EED-F6954DAA0490}"/>
              </a:ext>
            </a:extLst>
          </p:cNvPr>
          <p:cNvSpPr/>
          <p:nvPr/>
        </p:nvSpPr>
        <p:spPr>
          <a:xfrm>
            <a:off x="390367" y="1782982"/>
            <a:ext cx="148545" cy="1485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64B8C0AF-7EA3-80A4-52F6-2635999AF7C1}"/>
              </a:ext>
            </a:extLst>
          </p:cNvPr>
          <p:cNvSpPr/>
          <p:nvPr/>
        </p:nvSpPr>
        <p:spPr>
          <a:xfrm>
            <a:off x="1345562" y="5920389"/>
            <a:ext cx="10846438" cy="45720"/>
          </a:xfrm>
          <a:prstGeom prst="roundRect">
            <a:avLst>
              <a:gd name="adj" fmla="val 0"/>
            </a:avLst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rgbClr val="888CA6"/>
              </a:solidFill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0FFA6E6B-453D-A28C-7FA4-9B259576CFAF}"/>
              </a:ext>
            </a:extLst>
          </p:cNvPr>
          <p:cNvSpPr/>
          <p:nvPr/>
        </p:nvSpPr>
        <p:spPr>
          <a:xfrm>
            <a:off x="394767" y="370165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A02CE55-E7FF-19A5-D02F-3900C68FBEA1}"/>
              </a:ext>
            </a:extLst>
          </p:cNvPr>
          <p:cNvSpPr/>
          <p:nvPr/>
        </p:nvSpPr>
        <p:spPr>
          <a:xfrm>
            <a:off x="1823894" y="937611"/>
            <a:ext cx="10182516" cy="3085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545871"/>
                </a:solidFill>
                <a:latin typeface="+mj-ea"/>
                <a:ea typeface="+mj-ea"/>
              </a:rPr>
              <a:t>Semantic-Discrepant(SD) Outlier Generation</a:t>
            </a:r>
          </a:p>
          <a:p>
            <a:pPr>
              <a:lnSpc>
                <a:spcPct val="150000"/>
              </a:lnSpc>
              <a:defRPr/>
            </a:pP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</a:rPr>
              <a:t>Step 2 : Semantic-discrepant guidance</a:t>
            </a:r>
          </a:p>
          <a:p>
            <a:pPr marL="342900" indent="-342900">
              <a:lnSpc>
                <a:spcPct val="150000"/>
              </a:lnSpc>
              <a:buAutoNum type="arabicParenR"/>
              <a:defRPr/>
            </a:pP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학습시킨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CFG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모델에서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semantic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한 정보를 가지는 영역의 정보가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corrupt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된 영역의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semantic-discrepant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guidance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를 통해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OOD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데이터셋을 생성</a:t>
            </a: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AutoNum type="arabicParenR"/>
              <a:defRPr/>
            </a:pP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AutoNum type="arabicParenR"/>
              <a:defRPr/>
            </a:pP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4E6F0D7-EE31-852E-1D32-CB6FBA5A9CD2}"/>
              </a:ext>
            </a:extLst>
          </p:cNvPr>
          <p:cNvSpPr/>
          <p:nvPr/>
        </p:nvSpPr>
        <p:spPr>
          <a:xfrm>
            <a:off x="1400230" y="120684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FCD691-7845-BBDF-EAF3-B8CFA920C2EC}"/>
              </a:ext>
            </a:extLst>
          </p:cNvPr>
          <p:cNvSpPr txBox="1"/>
          <p:nvPr/>
        </p:nvSpPr>
        <p:spPr>
          <a:xfrm>
            <a:off x="5214165" y="352243"/>
            <a:ext cx="1723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kern="0" dirty="0">
                <a:solidFill>
                  <a:srgbClr val="545871"/>
                </a:solidFill>
                <a:latin typeface="+mj-ea"/>
                <a:ea typeface="+mj-ea"/>
              </a:rPr>
              <a:t>Method</a:t>
            </a:r>
            <a:endParaRPr kumimoji="1" lang="ko-Kore-KR" altLang="en-US" dirty="0">
              <a:latin typeface="+mj-ea"/>
              <a:ea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86CB91-5819-1DA1-E57F-0859081658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91"/>
          <a:stretch/>
        </p:blipFill>
        <p:spPr>
          <a:xfrm>
            <a:off x="2828828" y="3310872"/>
            <a:ext cx="7879905" cy="65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88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D4F2CC6-9364-0D49-B6EC-554E5A285C82}"/>
              </a:ext>
            </a:extLst>
          </p:cNvPr>
          <p:cNvSpPr/>
          <p:nvPr/>
        </p:nvSpPr>
        <p:spPr>
          <a:xfrm>
            <a:off x="1206440" y="2007218"/>
            <a:ext cx="66717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F7EBEB"/>
                </a:solidFill>
              </a:rPr>
              <a:t>CONTENT</a:t>
            </a:r>
            <a:endParaRPr lang="ko-KR" altLang="en-US" sz="800" b="1" dirty="0">
              <a:solidFill>
                <a:srgbClr val="F7EBEB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0005CCF-ADF2-2245-A3E3-D4BD2E581E9F}"/>
              </a:ext>
            </a:extLst>
          </p:cNvPr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3015F64-0391-4F4C-BF6E-4B2C72D939D1}"/>
              </a:ext>
            </a:extLst>
          </p:cNvPr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7092BB9-7663-F440-A145-AA41F071577A}"/>
              </a:ext>
            </a:extLst>
          </p:cNvPr>
          <p:cNvSpPr/>
          <p:nvPr/>
        </p:nvSpPr>
        <p:spPr>
          <a:xfrm>
            <a:off x="155682" y="2005570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BC95308-40F3-5E48-8704-FB8138CA47BD}"/>
              </a:ext>
            </a:extLst>
          </p:cNvPr>
          <p:cNvSpPr/>
          <p:nvPr/>
        </p:nvSpPr>
        <p:spPr>
          <a:xfrm>
            <a:off x="163324" y="1355391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5298E228-981F-0F41-A48E-3088383380E2}"/>
              </a:ext>
            </a:extLst>
          </p:cNvPr>
          <p:cNvSpPr/>
          <p:nvPr/>
        </p:nvSpPr>
        <p:spPr>
          <a:xfrm>
            <a:off x="413819" y="479329"/>
            <a:ext cx="148545" cy="148545"/>
          </a:xfrm>
          <a:prstGeom prst="ellipse">
            <a:avLst/>
          </a:prstGeom>
          <a:solidFill>
            <a:srgbClr val="F7EBE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34D53A1-23C1-944C-8B1A-7D13660F92B5}"/>
              </a:ext>
            </a:extLst>
          </p:cNvPr>
          <p:cNvSpPr/>
          <p:nvPr/>
        </p:nvSpPr>
        <p:spPr>
          <a:xfrm>
            <a:off x="163324" y="696697"/>
            <a:ext cx="59503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b="1" dirty="0">
                <a:solidFill>
                  <a:srgbClr val="F7EBEB"/>
                </a:solidFill>
              </a:rPr>
              <a:t>들어가며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B30DA35C-D6C3-A143-A0D7-EAB7533AD514}"/>
              </a:ext>
            </a:extLst>
          </p:cNvPr>
          <p:cNvSpPr/>
          <p:nvPr/>
        </p:nvSpPr>
        <p:spPr>
          <a:xfrm>
            <a:off x="413820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248F319-CB81-1641-94AD-0A6F3A3B6885}"/>
              </a:ext>
            </a:extLst>
          </p:cNvPr>
          <p:cNvSpPr/>
          <p:nvPr/>
        </p:nvSpPr>
        <p:spPr>
          <a:xfrm>
            <a:off x="163324" y="2659045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48DD7F34-C31C-EE4D-BBAC-86A4544AF69A}"/>
              </a:ext>
            </a:extLst>
          </p:cNvPr>
          <p:cNvSpPr/>
          <p:nvPr/>
        </p:nvSpPr>
        <p:spPr>
          <a:xfrm>
            <a:off x="413820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3018FB2-E245-DC40-9939-EB0B088D57D0}"/>
              </a:ext>
            </a:extLst>
          </p:cNvPr>
          <p:cNvSpPr/>
          <p:nvPr/>
        </p:nvSpPr>
        <p:spPr>
          <a:xfrm>
            <a:off x="163324" y="3310872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85D778B-4703-3540-8D37-4EF266EC34CD}"/>
              </a:ext>
            </a:extLst>
          </p:cNvPr>
          <p:cNvSpPr/>
          <p:nvPr/>
        </p:nvSpPr>
        <p:spPr>
          <a:xfrm>
            <a:off x="413820" y="373846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A2851FB-8248-BF44-9775-F9BA714536D1}"/>
              </a:ext>
            </a:extLst>
          </p:cNvPr>
          <p:cNvSpPr/>
          <p:nvPr/>
        </p:nvSpPr>
        <p:spPr>
          <a:xfrm>
            <a:off x="163324" y="3962699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1148767A-F798-F04C-BA9F-8FCB54634857}"/>
              </a:ext>
            </a:extLst>
          </p:cNvPr>
          <p:cNvSpPr/>
          <p:nvPr/>
        </p:nvSpPr>
        <p:spPr>
          <a:xfrm>
            <a:off x="413820" y="4390291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10EFADB-5D43-E841-B970-2A25F6920E5A}"/>
              </a:ext>
            </a:extLst>
          </p:cNvPr>
          <p:cNvSpPr/>
          <p:nvPr/>
        </p:nvSpPr>
        <p:spPr>
          <a:xfrm>
            <a:off x="163324" y="4614526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357BE34D-EBF4-5F4B-9AD2-2030CF084B41}"/>
              </a:ext>
            </a:extLst>
          </p:cNvPr>
          <p:cNvSpPr/>
          <p:nvPr/>
        </p:nvSpPr>
        <p:spPr>
          <a:xfrm>
            <a:off x="406179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2EA4D66-0FBE-5C4C-B3A5-3927EDD30D7C}"/>
              </a:ext>
            </a:extLst>
          </p:cNvPr>
          <p:cNvSpPr/>
          <p:nvPr/>
        </p:nvSpPr>
        <p:spPr>
          <a:xfrm>
            <a:off x="-15812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CD820E2C-BA0C-7141-BBC3-184BE864E88C}"/>
              </a:ext>
            </a:extLst>
          </p:cNvPr>
          <p:cNvSpPr/>
          <p:nvPr/>
        </p:nvSpPr>
        <p:spPr>
          <a:xfrm>
            <a:off x="398008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AF1721D-880E-8541-8B15-52072371A0FB}"/>
              </a:ext>
            </a:extLst>
          </p:cNvPr>
          <p:cNvSpPr/>
          <p:nvPr/>
        </p:nvSpPr>
        <p:spPr>
          <a:xfrm>
            <a:off x="185590" y="2005570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BD4A86C-2EA9-5B43-AB5C-66B942692930}"/>
              </a:ext>
            </a:extLst>
          </p:cNvPr>
          <p:cNvSpPr/>
          <p:nvPr/>
        </p:nvSpPr>
        <p:spPr>
          <a:xfrm>
            <a:off x="208472" y="1355391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12DCB0AB-084C-3C47-864E-41BD47DF9ABC}"/>
              </a:ext>
            </a:extLst>
          </p:cNvPr>
          <p:cNvSpPr/>
          <p:nvPr/>
        </p:nvSpPr>
        <p:spPr>
          <a:xfrm>
            <a:off x="398007" y="479329"/>
            <a:ext cx="148545" cy="148545"/>
          </a:xfrm>
          <a:prstGeom prst="ellipse">
            <a:avLst/>
          </a:prstGeom>
          <a:solidFill>
            <a:srgbClr val="87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B21CE8B1-4748-E748-A434-7166AD05BEE7}"/>
              </a:ext>
            </a:extLst>
          </p:cNvPr>
          <p:cNvSpPr/>
          <p:nvPr/>
        </p:nvSpPr>
        <p:spPr>
          <a:xfrm>
            <a:off x="398008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EA1E9C1-E4C6-C74F-9FB7-542680D49D8F}"/>
              </a:ext>
            </a:extLst>
          </p:cNvPr>
          <p:cNvSpPr/>
          <p:nvPr/>
        </p:nvSpPr>
        <p:spPr>
          <a:xfrm>
            <a:off x="208472" y="2659045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BBB98A09-3585-8141-AB50-C6E90083CE71}"/>
              </a:ext>
            </a:extLst>
          </p:cNvPr>
          <p:cNvSpPr/>
          <p:nvPr/>
        </p:nvSpPr>
        <p:spPr>
          <a:xfrm>
            <a:off x="398008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4603AD80-96A4-3149-9EED-F6954DAA0490}"/>
              </a:ext>
            </a:extLst>
          </p:cNvPr>
          <p:cNvSpPr/>
          <p:nvPr/>
        </p:nvSpPr>
        <p:spPr>
          <a:xfrm>
            <a:off x="390367" y="1782982"/>
            <a:ext cx="148545" cy="1485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64B8C0AF-7EA3-80A4-52F6-2635999AF7C1}"/>
              </a:ext>
            </a:extLst>
          </p:cNvPr>
          <p:cNvSpPr/>
          <p:nvPr/>
        </p:nvSpPr>
        <p:spPr>
          <a:xfrm>
            <a:off x="1345562" y="5920389"/>
            <a:ext cx="10846438" cy="45720"/>
          </a:xfrm>
          <a:prstGeom prst="roundRect">
            <a:avLst>
              <a:gd name="adj" fmla="val 0"/>
            </a:avLst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rgbClr val="888CA6"/>
              </a:solidFill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0FFA6E6B-453D-A28C-7FA4-9B259576CFAF}"/>
              </a:ext>
            </a:extLst>
          </p:cNvPr>
          <p:cNvSpPr/>
          <p:nvPr/>
        </p:nvSpPr>
        <p:spPr>
          <a:xfrm>
            <a:off x="394767" y="370165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A02CE55-E7FF-19A5-D02F-3900C68FBEA1}"/>
              </a:ext>
            </a:extLst>
          </p:cNvPr>
          <p:cNvSpPr/>
          <p:nvPr/>
        </p:nvSpPr>
        <p:spPr>
          <a:xfrm>
            <a:off x="1823894" y="937611"/>
            <a:ext cx="10182516" cy="1423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545871"/>
                </a:solidFill>
                <a:latin typeface="+mj-ea"/>
                <a:ea typeface="+mj-ea"/>
              </a:rPr>
              <a:t>Semantic-Discrepant(SD) Outlier Generation</a:t>
            </a:r>
          </a:p>
          <a:p>
            <a:pPr>
              <a:lnSpc>
                <a:spcPct val="150000"/>
              </a:lnSpc>
              <a:defRPr/>
            </a:pP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AutoNum type="arabicParenR"/>
              <a:defRPr/>
            </a:pP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4E6F0D7-EE31-852E-1D32-CB6FBA5A9CD2}"/>
              </a:ext>
            </a:extLst>
          </p:cNvPr>
          <p:cNvSpPr/>
          <p:nvPr/>
        </p:nvSpPr>
        <p:spPr>
          <a:xfrm>
            <a:off x="1400230" y="120684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FCD691-7845-BBDF-EAF3-B8CFA920C2EC}"/>
              </a:ext>
            </a:extLst>
          </p:cNvPr>
          <p:cNvSpPr txBox="1"/>
          <p:nvPr/>
        </p:nvSpPr>
        <p:spPr>
          <a:xfrm>
            <a:off x="5214165" y="352243"/>
            <a:ext cx="1723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kern="0" dirty="0">
                <a:solidFill>
                  <a:srgbClr val="545871"/>
                </a:solidFill>
                <a:latin typeface="+mj-ea"/>
                <a:ea typeface="+mj-ea"/>
              </a:rPr>
              <a:t>Method</a:t>
            </a:r>
            <a:endParaRPr kumimoji="1" lang="ko-Kore-KR" altLang="en-US" dirty="0"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762B731-9B4B-1793-6D70-922474D6E6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77"/>
          <a:stretch/>
        </p:blipFill>
        <p:spPr>
          <a:xfrm>
            <a:off x="1400230" y="1622611"/>
            <a:ext cx="10016567" cy="429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265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D4F2CC6-9364-0D49-B6EC-554E5A285C82}"/>
              </a:ext>
            </a:extLst>
          </p:cNvPr>
          <p:cNvSpPr/>
          <p:nvPr/>
        </p:nvSpPr>
        <p:spPr>
          <a:xfrm>
            <a:off x="1206440" y="2007218"/>
            <a:ext cx="66717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F7EBEB"/>
                </a:solidFill>
              </a:rPr>
              <a:t>CONTENT</a:t>
            </a:r>
            <a:endParaRPr lang="ko-KR" altLang="en-US" sz="800" b="1" dirty="0">
              <a:solidFill>
                <a:srgbClr val="F7EBEB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0005CCF-ADF2-2245-A3E3-D4BD2E581E9F}"/>
              </a:ext>
            </a:extLst>
          </p:cNvPr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3015F64-0391-4F4C-BF6E-4B2C72D939D1}"/>
              </a:ext>
            </a:extLst>
          </p:cNvPr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7092BB9-7663-F440-A145-AA41F071577A}"/>
              </a:ext>
            </a:extLst>
          </p:cNvPr>
          <p:cNvSpPr/>
          <p:nvPr/>
        </p:nvSpPr>
        <p:spPr>
          <a:xfrm>
            <a:off x="155682" y="2005570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BC95308-40F3-5E48-8704-FB8138CA47BD}"/>
              </a:ext>
            </a:extLst>
          </p:cNvPr>
          <p:cNvSpPr/>
          <p:nvPr/>
        </p:nvSpPr>
        <p:spPr>
          <a:xfrm>
            <a:off x="163324" y="1355391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5298E228-981F-0F41-A48E-3088383380E2}"/>
              </a:ext>
            </a:extLst>
          </p:cNvPr>
          <p:cNvSpPr/>
          <p:nvPr/>
        </p:nvSpPr>
        <p:spPr>
          <a:xfrm>
            <a:off x="413819" y="479329"/>
            <a:ext cx="148545" cy="148545"/>
          </a:xfrm>
          <a:prstGeom prst="ellipse">
            <a:avLst/>
          </a:prstGeom>
          <a:solidFill>
            <a:srgbClr val="F7EBE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34D53A1-23C1-944C-8B1A-7D13660F92B5}"/>
              </a:ext>
            </a:extLst>
          </p:cNvPr>
          <p:cNvSpPr/>
          <p:nvPr/>
        </p:nvSpPr>
        <p:spPr>
          <a:xfrm>
            <a:off x="163324" y="696697"/>
            <a:ext cx="59503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b="1" dirty="0">
                <a:solidFill>
                  <a:srgbClr val="F7EBEB"/>
                </a:solidFill>
              </a:rPr>
              <a:t>들어가며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B30DA35C-D6C3-A143-A0D7-EAB7533AD514}"/>
              </a:ext>
            </a:extLst>
          </p:cNvPr>
          <p:cNvSpPr/>
          <p:nvPr/>
        </p:nvSpPr>
        <p:spPr>
          <a:xfrm>
            <a:off x="413820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248F319-CB81-1641-94AD-0A6F3A3B6885}"/>
              </a:ext>
            </a:extLst>
          </p:cNvPr>
          <p:cNvSpPr/>
          <p:nvPr/>
        </p:nvSpPr>
        <p:spPr>
          <a:xfrm>
            <a:off x="163324" y="2659045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48DD7F34-C31C-EE4D-BBAC-86A4544AF69A}"/>
              </a:ext>
            </a:extLst>
          </p:cNvPr>
          <p:cNvSpPr/>
          <p:nvPr/>
        </p:nvSpPr>
        <p:spPr>
          <a:xfrm>
            <a:off x="413820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3018FB2-E245-DC40-9939-EB0B088D57D0}"/>
              </a:ext>
            </a:extLst>
          </p:cNvPr>
          <p:cNvSpPr/>
          <p:nvPr/>
        </p:nvSpPr>
        <p:spPr>
          <a:xfrm>
            <a:off x="163324" y="3310872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85D778B-4703-3540-8D37-4EF266EC34CD}"/>
              </a:ext>
            </a:extLst>
          </p:cNvPr>
          <p:cNvSpPr/>
          <p:nvPr/>
        </p:nvSpPr>
        <p:spPr>
          <a:xfrm>
            <a:off x="413820" y="373846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A2851FB-8248-BF44-9775-F9BA714536D1}"/>
              </a:ext>
            </a:extLst>
          </p:cNvPr>
          <p:cNvSpPr/>
          <p:nvPr/>
        </p:nvSpPr>
        <p:spPr>
          <a:xfrm>
            <a:off x="163324" y="3962699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1148767A-F798-F04C-BA9F-8FCB54634857}"/>
              </a:ext>
            </a:extLst>
          </p:cNvPr>
          <p:cNvSpPr/>
          <p:nvPr/>
        </p:nvSpPr>
        <p:spPr>
          <a:xfrm>
            <a:off x="413820" y="4390291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10EFADB-5D43-E841-B970-2A25F6920E5A}"/>
              </a:ext>
            </a:extLst>
          </p:cNvPr>
          <p:cNvSpPr/>
          <p:nvPr/>
        </p:nvSpPr>
        <p:spPr>
          <a:xfrm>
            <a:off x="163324" y="4614526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357BE34D-EBF4-5F4B-9AD2-2030CF084B41}"/>
              </a:ext>
            </a:extLst>
          </p:cNvPr>
          <p:cNvSpPr/>
          <p:nvPr/>
        </p:nvSpPr>
        <p:spPr>
          <a:xfrm>
            <a:off x="406179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2EA4D66-0FBE-5C4C-B3A5-3927EDD30D7C}"/>
              </a:ext>
            </a:extLst>
          </p:cNvPr>
          <p:cNvSpPr/>
          <p:nvPr/>
        </p:nvSpPr>
        <p:spPr>
          <a:xfrm>
            <a:off x="-15812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CD820E2C-BA0C-7141-BBC3-184BE864E88C}"/>
              </a:ext>
            </a:extLst>
          </p:cNvPr>
          <p:cNvSpPr/>
          <p:nvPr/>
        </p:nvSpPr>
        <p:spPr>
          <a:xfrm>
            <a:off x="398008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AF1721D-880E-8541-8B15-52072371A0FB}"/>
              </a:ext>
            </a:extLst>
          </p:cNvPr>
          <p:cNvSpPr/>
          <p:nvPr/>
        </p:nvSpPr>
        <p:spPr>
          <a:xfrm>
            <a:off x="185590" y="2005570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BD4A86C-2EA9-5B43-AB5C-66B942692930}"/>
              </a:ext>
            </a:extLst>
          </p:cNvPr>
          <p:cNvSpPr/>
          <p:nvPr/>
        </p:nvSpPr>
        <p:spPr>
          <a:xfrm>
            <a:off x="208472" y="1355391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12DCB0AB-084C-3C47-864E-41BD47DF9ABC}"/>
              </a:ext>
            </a:extLst>
          </p:cNvPr>
          <p:cNvSpPr/>
          <p:nvPr/>
        </p:nvSpPr>
        <p:spPr>
          <a:xfrm>
            <a:off x="398007" y="479329"/>
            <a:ext cx="148545" cy="148545"/>
          </a:xfrm>
          <a:prstGeom prst="ellipse">
            <a:avLst/>
          </a:prstGeom>
          <a:solidFill>
            <a:srgbClr val="87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B21CE8B1-4748-E748-A434-7166AD05BEE7}"/>
              </a:ext>
            </a:extLst>
          </p:cNvPr>
          <p:cNvSpPr/>
          <p:nvPr/>
        </p:nvSpPr>
        <p:spPr>
          <a:xfrm>
            <a:off x="398008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EA1E9C1-E4C6-C74F-9FB7-542680D49D8F}"/>
              </a:ext>
            </a:extLst>
          </p:cNvPr>
          <p:cNvSpPr/>
          <p:nvPr/>
        </p:nvSpPr>
        <p:spPr>
          <a:xfrm>
            <a:off x="208472" y="2659045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BBB98A09-3585-8141-AB50-C6E90083CE71}"/>
              </a:ext>
            </a:extLst>
          </p:cNvPr>
          <p:cNvSpPr/>
          <p:nvPr/>
        </p:nvSpPr>
        <p:spPr>
          <a:xfrm>
            <a:off x="398008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4603AD80-96A4-3149-9EED-F6954DAA0490}"/>
              </a:ext>
            </a:extLst>
          </p:cNvPr>
          <p:cNvSpPr/>
          <p:nvPr/>
        </p:nvSpPr>
        <p:spPr>
          <a:xfrm>
            <a:off x="390367" y="1782982"/>
            <a:ext cx="148545" cy="1485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64B8C0AF-7EA3-80A4-52F6-2635999AF7C1}"/>
              </a:ext>
            </a:extLst>
          </p:cNvPr>
          <p:cNvSpPr/>
          <p:nvPr/>
        </p:nvSpPr>
        <p:spPr>
          <a:xfrm>
            <a:off x="1345562" y="5920389"/>
            <a:ext cx="10846438" cy="45720"/>
          </a:xfrm>
          <a:prstGeom prst="roundRect">
            <a:avLst>
              <a:gd name="adj" fmla="val 0"/>
            </a:avLst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rgbClr val="888CA6"/>
              </a:solidFill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0FFA6E6B-453D-A28C-7FA4-9B259576CFAF}"/>
              </a:ext>
            </a:extLst>
          </p:cNvPr>
          <p:cNvSpPr/>
          <p:nvPr/>
        </p:nvSpPr>
        <p:spPr>
          <a:xfrm>
            <a:off x="394767" y="370165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A02CE55-E7FF-19A5-D02F-3900C68FBEA1}"/>
              </a:ext>
            </a:extLst>
          </p:cNvPr>
          <p:cNvSpPr/>
          <p:nvPr/>
        </p:nvSpPr>
        <p:spPr>
          <a:xfrm>
            <a:off x="1823894" y="937611"/>
            <a:ext cx="10182516" cy="3916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545871"/>
                </a:solidFill>
                <a:latin typeface="+mj-ea"/>
                <a:ea typeface="+mj-ea"/>
              </a:rPr>
              <a:t>OOD detection with Semantic-Discrepant Outlier</a:t>
            </a:r>
          </a:p>
          <a:p>
            <a:pPr>
              <a:lnSpc>
                <a:spcPct val="150000"/>
              </a:lnSpc>
              <a:defRPr/>
            </a:pP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</a:rPr>
              <a:t>1] Training with SD outlier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- OOD </a:t>
            </a:r>
            <a:r>
              <a:rPr lang="en-US" altLang="ko-KR" kern="0" dirty="0" err="1">
                <a:solidFill>
                  <a:srgbClr val="545871"/>
                </a:solidFill>
                <a:latin typeface="+mj-ea"/>
                <a:ea typeface="+mj-ea"/>
              </a:rPr>
              <a:t>detecter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 : multitask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learning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이용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, ID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데이터와 생성된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SD outlier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에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semantic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을 부여하여  구분하고 할 수 있는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loss function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정의</a:t>
            </a: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2] scoring with SD outlier</a:t>
            </a:r>
          </a:p>
          <a:p>
            <a:pPr marL="342900" indent="-342900">
              <a:lnSpc>
                <a:spcPct val="150000"/>
              </a:lnSpc>
              <a:buAutoNum type="arabicParenR"/>
              <a:defRPr/>
            </a:pP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4E6F0D7-EE31-852E-1D32-CB6FBA5A9CD2}"/>
              </a:ext>
            </a:extLst>
          </p:cNvPr>
          <p:cNvSpPr/>
          <p:nvPr/>
        </p:nvSpPr>
        <p:spPr>
          <a:xfrm>
            <a:off x="1400230" y="120684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FCD691-7845-BBDF-EAF3-B8CFA920C2EC}"/>
              </a:ext>
            </a:extLst>
          </p:cNvPr>
          <p:cNvSpPr txBox="1"/>
          <p:nvPr/>
        </p:nvSpPr>
        <p:spPr>
          <a:xfrm>
            <a:off x="5214165" y="352243"/>
            <a:ext cx="1723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kern="0" dirty="0">
                <a:solidFill>
                  <a:srgbClr val="545871"/>
                </a:solidFill>
                <a:latin typeface="+mj-ea"/>
                <a:ea typeface="+mj-ea"/>
              </a:rPr>
              <a:t>Method</a:t>
            </a:r>
            <a:endParaRPr kumimoji="1" lang="ko-Kore-KR" altLang="en-US" dirty="0">
              <a:latin typeface="+mj-ea"/>
              <a:ea typeface="+mj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2E7267F-2E67-CBC5-4335-82E3573BA0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871" b="13655"/>
          <a:stretch/>
        </p:blipFill>
        <p:spPr>
          <a:xfrm>
            <a:off x="1683279" y="3413506"/>
            <a:ext cx="8503395" cy="51820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3B9EAEE-6D5B-DC42-87FD-A7D73831D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5628" y="3413506"/>
            <a:ext cx="1737511" cy="51820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D9FF00C-3637-FA4A-BEDB-0E530D358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279" y="4479160"/>
            <a:ext cx="4808637" cy="63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287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D4F2CC6-9364-0D49-B6EC-554E5A285C82}"/>
              </a:ext>
            </a:extLst>
          </p:cNvPr>
          <p:cNvSpPr/>
          <p:nvPr/>
        </p:nvSpPr>
        <p:spPr>
          <a:xfrm>
            <a:off x="1206440" y="2007218"/>
            <a:ext cx="66717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F7EBEB"/>
                </a:solidFill>
              </a:rPr>
              <a:t>CONTENT</a:t>
            </a:r>
            <a:endParaRPr lang="ko-KR" altLang="en-US" sz="800" b="1" dirty="0">
              <a:solidFill>
                <a:srgbClr val="F7EBEB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0005CCF-ADF2-2245-A3E3-D4BD2E581E9F}"/>
              </a:ext>
            </a:extLst>
          </p:cNvPr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3015F64-0391-4F4C-BF6E-4B2C72D939D1}"/>
              </a:ext>
            </a:extLst>
          </p:cNvPr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7092BB9-7663-F440-A145-AA41F071577A}"/>
              </a:ext>
            </a:extLst>
          </p:cNvPr>
          <p:cNvSpPr/>
          <p:nvPr/>
        </p:nvSpPr>
        <p:spPr>
          <a:xfrm>
            <a:off x="155682" y="2005570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BC95308-40F3-5E48-8704-FB8138CA47BD}"/>
              </a:ext>
            </a:extLst>
          </p:cNvPr>
          <p:cNvSpPr/>
          <p:nvPr/>
        </p:nvSpPr>
        <p:spPr>
          <a:xfrm>
            <a:off x="163324" y="1355391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5298E228-981F-0F41-A48E-3088383380E2}"/>
              </a:ext>
            </a:extLst>
          </p:cNvPr>
          <p:cNvSpPr/>
          <p:nvPr/>
        </p:nvSpPr>
        <p:spPr>
          <a:xfrm>
            <a:off x="413819" y="479329"/>
            <a:ext cx="148545" cy="148545"/>
          </a:xfrm>
          <a:prstGeom prst="ellipse">
            <a:avLst/>
          </a:prstGeom>
          <a:solidFill>
            <a:srgbClr val="F7EBE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34D53A1-23C1-944C-8B1A-7D13660F92B5}"/>
              </a:ext>
            </a:extLst>
          </p:cNvPr>
          <p:cNvSpPr/>
          <p:nvPr/>
        </p:nvSpPr>
        <p:spPr>
          <a:xfrm>
            <a:off x="163324" y="696697"/>
            <a:ext cx="59503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b="1" dirty="0">
                <a:solidFill>
                  <a:srgbClr val="F7EBEB"/>
                </a:solidFill>
              </a:rPr>
              <a:t>들어가며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B30DA35C-D6C3-A143-A0D7-EAB7533AD514}"/>
              </a:ext>
            </a:extLst>
          </p:cNvPr>
          <p:cNvSpPr/>
          <p:nvPr/>
        </p:nvSpPr>
        <p:spPr>
          <a:xfrm>
            <a:off x="413820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248F319-CB81-1641-94AD-0A6F3A3B6885}"/>
              </a:ext>
            </a:extLst>
          </p:cNvPr>
          <p:cNvSpPr/>
          <p:nvPr/>
        </p:nvSpPr>
        <p:spPr>
          <a:xfrm>
            <a:off x="163324" y="2659045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48DD7F34-C31C-EE4D-BBAC-86A4544AF69A}"/>
              </a:ext>
            </a:extLst>
          </p:cNvPr>
          <p:cNvSpPr/>
          <p:nvPr/>
        </p:nvSpPr>
        <p:spPr>
          <a:xfrm>
            <a:off x="413820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3018FB2-E245-DC40-9939-EB0B088D57D0}"/>
              </a:ext>
            </a:extLst>
          </p:cNvPr>
          <p:cNvSpPr/>
          <p:nvPr/>
        </p:nvSpPr>
        <p:spPr>
          <a:xfrm>
            <a:off x="163324" y="3310872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85D778B-4703-3540-8D37-4EF266EC34CD}"/>
              </a:ext>
            </a:extLst>
          </p:cNvPr>
          <p:cNvSpPr/>
          <p:nvPr/>
        </p:nvSpPr>
        <p:spPr>
          <a:xfrm>
            <a:off x="413820" y="373846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A2851FB-8248-BF44-9775-F9BA714536D1}"/>
              </a:ext>
            </a:extLst>
          </p:cNvPr>
          <p:cNvSpPr/>
          <p:nvPr/>
        </p:nvSpPr>
        <p:spPr>
          <a:xfrm>
            <a:off x="163324" y="3962699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1148767A-F798-F04C-BA9F-8FCB54634857}"/>
              </a:ext>
            </a:extLst>
          </p:cNvPr>
          <p:cNvSpPr/>
          <p:nvPr/>
        </p:nvSpPr>
        <p:spPr>
          <a:xfrm>
            <a:off x="413820" y="4390291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10EFADB-5D43-E841-B970-2A25F6920E5A}"/>
              </a:ext>
            </a:extLst>
          </p:cNvPr>
          <p:cNvSpPr/>
          <p:nvPr/>
        </p:nvSpPr>
        <p:spPr>
          <a:xfrm>
            <a:off x="163324" y="4614526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357BE34D-EBF4-5F4B-9AD2-2030CF084B41}"/>
              </a:ext>
            </a:extLst>
          </p:cNvPr>
          <p:cNvSpPr/>
          <p:nvPr/>
        </p:nvSpPr>
        <p:spPr>
          <a:xfrm>
            <a:off x="406179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2EA4D66-0FBE-5C4C-B3A5-3927EDD30D7C}"/>
              </a:ext>
            </a:extLst>
          </p:cNvPr>
          <p:cNvSpPr/>
          <p:nvPr/>
        </p:nvSpPr>
        <p:spPr>
          <a:xfrm>
            <a:off x="-15812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CD820E2C-BA0C-7141-BBC3-184BE864E88C}"/>
              </a:ext>
            </a:extLst>
          </p:cNvPr>
          <p:cNvSpPr/>
          <p:nvPr/>
        </p:nvSpPr>
        <p:spPr>
          <a:xfrm>
            <a:off x="398008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AF1721D-880E-8541-8B15-52072371A0FB}"/>
              </a:ext>
            </a:extLst>
          </p:cNvPr>
          <p:cNvSpPr/>
          <p:nvPr/>
        </p:nvSpPr>
        <p:spPr>
          <a:xfrm>
            <a:off x="185590" y="2005570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BD4A86C-2EA9-5B43-AB5C-66B942692930}"/>
              </a:ext>
            </a:extLst>
          </p:cNvPr>
          <p:cNvSpPr/>
          <p:nvPr/>
        </p:nvSpPr>
        <p:spPr>
          <a:xfrm>
            <a:off x="208472" y="1355391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12DCB0AB-084C-3C47-864E-41BD47DF9ABC}"/>
              </a:ext>
            </a:extLst>
          </p:cNvPr>
          <p:cNvSpPr/>
          <p:nvPr/>
        </p:nvSpPr>
        <p:spPr>
          <a:xfrm>
            <a:off x="398007" y="479329"/>
            <a:ext cx="148545" cy="148545"/>
          </a:xfrm>
          <a:prstGeom prst="ellipse">
            <a:avLst/>
          </a:prstGeom>
          <a:solidFill>
            <a:srgbClr val="87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B21CE8B1-4748-E748-A434-7166AD05BEE7}"/>
              </a:ext>
            </a:extLst>
          </p:cNvPr>
          <p:cNvSpPr/>
          <p:nvPr/>
        </p:nvSpPr>
        <p:spPr>
          <a:xfrm>
            <a:off x="398008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EA1E9C1-E4C6-C74F-9FB7-542680D49D8F}"/>
              </a:ext>
            </a:extLst>
          </p:cNvPr>
          <p:cNvSpPr/>
          <p:nvPr/>
        </p:nvSpPr>
        <p:spPr>
          <a:xfrm>
            <a:off x="208472" y="2659045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BBB98A09-3585-8141-AB50-C6E90083CE71}"/>
              </a:ext>
            </a:extLst>
          </p:cNvPr>
          <p:cNvSpPr/>
          <p:nvPr/>
        </p:nvSpPr>
        <p:spPr>
          <a:xfrm>
            <a:off x="398008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4603AD80-96A4-3149-9EED-F6954DAA0490}"/>
              </a:ext>
            </a:extLst>
          </p:cNvPr>
          <p:cNvSpPr/>
          <p:nvPr/>
        </p:nvSpPr>
        <p:spPr>
          <a:xfrm>
            <a:off x="390367" y="1782982"/>
            <a:ext cx="148545" cy="1485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64B8C0AF-7EA3-80A4-52F6-2635999AF7C1}"/>
              </a:ext>
            </a:extLst>
          </p:cNvPr>
          <p:cNvSpPr/>
          <p:nvPr/>
        </p:nvSpPr>
        <p:spPr>
          <a:xfrm>
            <a:off x="1345562" y="5920389"/>
            <a:ext cx="10846438" cy="45720"/>
          </a:xfrm>
          <a:prstGeom prst="roundRect">
            <a:avLst>
              <a:gd name="adj" fmla="val 0"/>
            </a:avLst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rgbClr val="888CA6"/>
              </a:solidFill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0FFA6E6B-453D-A28C-7FA4-9B259576CFAF}"/>
              </a:ext>
            </a:extLst>
          </p:cNvPr>
          <p:cNvSpPr/>
          <p:nvPr/>
        </p:nvSpPr>
        <p:spPr>
          <a:xfrm>
            <a:off x="394767" y="370165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A02CE55-E7FF-19A5-D02F-3900C68FBEA1}"/>
              </a:ext>
            </a:extLst>
          </p:cNvPr>
          <p:cNvSpPr/>
          <p:nvPr/>
        </p:nvSpPr>
        <p:spPr>
          <a:xfrm>
            <a:off x="1823894" y="937611"/>
            <a:ext cx="10182516" cy="5578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545871"/>
                </a:solidFill>
                <a:latin typeface="+mj-ea"/>
                <a:ea typeface="+mj-ea"/>
              </a:rPr>
              <a:t>OOD detection with Semantic-Discrepant Outlier</a:t>
            </a:r>
          </a:p>
          <a:p>
            <a:pPr>
              <a:lnSpc>
                <a:spcPct val="150000"/>
              </a:lnSpc>
              <a:defRPr/>
            </a:pP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</a:rPr>
              <a:t>1] Training with SD outlier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OOD </a:t>
            </a:r>
            <a:r>
              <a:rPr lang="en-US" altLang="ko-KR" kern="0" dirty="0" err="1">
                <a:solidFill>
                  <a:srgbClr val="545871"/>
                </a:solidFill>
                <a:latin typeface="+mj-ea"/>
                <a:ea typeface="+mj-ea"/>
              </a:rPr>
              <a:t>detecter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 : ID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데이터와 생성된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SD outlier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에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semantic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을 </a:t>
            </a:r>
            <a:r>
              <a:rPr lang="el-GR" altLang="ko-KR" b="0" i="0" dirty="0">
                <a:solidFill>
                  <a:srgbClr val="333333"/>
                </a:solidFill>
                <a:effectLst/>
                <a:latin typeface="NotoSansR"/>
              </a:rPr>
              <a:t>λ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SansR"/>
              </a:rPr>
              <a:t>에 따라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부여하여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pseudo label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에 대한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classification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을 수행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loss function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정의</a:t>
            </a: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</a:rPr>
              <a:t>2] scoring with SD outlier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- K-</a:t>
            </a:r>
            <a:r>
              <a:rPr lang="en-US" altLang="ko-KR" kern="0" dirty="0" err="1">
                <a:solidFill>
                  <a:srgbClr val="545871"/>
                </a:solidFill>
                <a:latin typeface="+mj-ea"/>
                <a:ea typeface="+mj-ea"/>
              </a:rPr>
              <a:t>Nearset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 </a:t>
            </a:r>
            <a:r>
              <a:rPr lang="en-US" altLang="ko-KR" kern="0" dirty="0" err="1">
                <a:solidFill>
                  <a:srgbClr val="545871"/>
                </a:solidFill>
                <a:latin typeface="+mj-ea"/>
                <a:ea typeface="+mj-ea"/>
              </a:rPr>
              <a:t>Neighbour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에 기반하여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distance-based score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와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 voting-based score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로 구분하여 정의</a:t>
            </a: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4E6F0D7-EE31-852E-1D32-CB6FBA5A9CD2}"/>
              </a:ext>
            </a:extLst>
          </p:cNvPr>
          <p:cNvSpPr/>
          <p:nvPr/>
        </p:nvSpPr>
        <p:spPr>
          <a:xfrm>
            <a:off x="1400230" y="120684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FCD691-7845-BBDF-EAF3-B8CFA920C2EC}"/>
              </a:ext>
            </a:extLst>
          </p:cNvPr>
          <p:cNvSpPr txBox="1"/>
          <p:nvPr/>
        </p:nvSpPr>
        <p:spPr>
          <a:xfrm>
            <a:off x="5214165" y="352243"/>
            <a:ext cx="1723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kern="0" dirty="0">
                <a:solidFill>
                  <a:srgbClr val="545871"/>
                </a:solidFill>
                <a:latin typeface="+mj-ea"/>
                <a:ea typeface="+mj-ea"/>
              </a:rPr>
              <a:t>Method</a:t>
            </a:r>
            <a:endParaRPr kumimoji="1" lang="ko-Kore-KR" altLang="en-US" dirty="0">
              <a:latin typeface="+mj-ea"/>
              <a:ea typeface="+mj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2E7267F-2E67-CBC5-4335-82E3573BA0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871" b="13655"/>
          <a:stretch/>
        </p:blipFill>
        <p:spPr>
          <a:xfrm>
            <a:off x="1683279" y="3413506"/>
            <a:ext cx="8503395" cy="51820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3B9EAEE-6D5B-DC42-87FD-A7D73831D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5628" y="3413506"/>
            <a:ext cx="1737511" cy="51820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D9FF00C-3637-FA4A-BEDB-0E530D358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833" y="5122555"/>
            <a:ext cx="4808637" cy="63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439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D4F2CC6-9364-0D49-B6EC-554E5A285C82}"/>
              </a:ext>
            </a:extLst>
          </p:cNvPr>
          <p:cNvSpPr/>
          <p:nvPr/>
        </p:nvSpPr>
        <p:spPr>
          <a:xfrm>
            <a:off x="1206440" y="2007218"/>
            <a:ext cx="66717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F7EBEB"/>
                </a:solidFill>
              </a:rPr>
              <a:t>CONTENT</a:t>
            </a:r>
            <a:endParaRPr lang="ko-KR" altLang="en-US" sz="800" b="1" dirty="0">
              <a:solidFill>
                <a:srgbClr val="F7EBEB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0005CCF-ADF2-2245-A3E3-D4BD2E581E9F}"/>
              </a:ext>
            </a:extLst>
          </p:cNvPr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3015F64-0391-4F4C-BF6E-4B2C72D939D1}"/>
              </a:ext>
            </a:extLst>
          </p:cNvPr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7092BB9-7663-F440-A145-AA41F071577A}"/>
              </a:ext>
            </a:extLst>
          </p:cNvPr>
          <p:cNvSpPr/>
          <p:nvPr/>
        </p:nvSpPr>
        <p:spPr>
          <a:xfrm>
            <a:off x="155682" y="2005570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BC95308-40F3-5E48-8704-FB8138CA47BD}"/>
              </a:ext>
            </a:extLst>
          </p:cNvPr>
          <p:cNvSpPr/>
          <p:nvPr/>
        </p:nvSpPr>
        <p:spPr>
          <a:xfrm>
            <a:off x="163324" y="1355391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5298E228-981F-0F41-A48E-3088383380E2}"/>
              </a:ext>
            </a:extLst>
          </p:cNvPr>
          <p:cNvSpPr/>
          <p:nvPr/>
        </p:nvSpPr>
        <p:spPr>
          <a:xfrm>
            <a:off x="413819" y="479329"/>
            <a:ext cx="148545" cy="148545"/>
          </a:xfrm>
          <a:prstGeom prst="ellipse">
            <a:avLst/>
          </a:prstGeom>
          <a:solidFill>
            <a:srgbClr val="F7EBE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34D53A1-23C1-944C-8B1A-7D13660F92B5}"/>
              </a:ext>
            </a:extLst>
          </p:cNvPr>
          <p:cNvSpPr/>
          <p:nvPr/>
        </p:nvSpPr>
        <p:spPr>
          <a:xfrm>
            <a:off x="163324" y="696697"/>
            <a:ext cx="59503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b="1" dirty="0">
                <a:solidFill>
                  <a:srgbClr val="F7EBEB"/>
                </a:solidFill>
              </a:rPr>
              <a:t>들어가며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B30DA35C-D6C3-A143-A0D7-EAB7533AD514}"/>
              </a:ext>
            </a:extLst>
          </p:cNvPr>
          <p:cNvSpPr/>
          <p:nvPr/>
        </p:nvSpPr>
        <p:spPr>
          <a:xfrm>
            <a:off x="413820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248F319-CB81-1641-94AD-0A6F3A3B6885}"/>
              </a:ext>
            </a:extLst>
          </p:cNvPr>
          <p:cNvSpPr/>
          <p:nvPr/>
        </p:nvSpPr>
        <p:spPr>
          <a:xfrm>
            <a:off x="163324" y="2659045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48DD7F34-C31C-EE4D-BBAC-86A4544AF69A}"/>
              </a:ext>
            </a:extLst>
          </p:cNvPr>
          <p:cNvSpPr/>
          <p:nvPr/>
        </p:nvSpPr>
        <p:spPr>
          <a:xfrm>
            <a:off x="413820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3018FB2-E245-DC40-9939-EB0B088D57D0}"/>
              </a:ext>
            </a:extLst>
          </p:cNvPr>
          <p:cNvSpPr/>
          <p:nvPr/>
        </p:nvSpPr>
        <p:spPr>
          <a:xfrm>
            <a:off x="163324" y="3310872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85D778B-4703-3540-8D37-4EF266EC34CD}"/>
              </a:ext>
            </a:extLst>
          </p:cNvPr>
          <p:cNvSpPr/>
          <p:nvPr/>
        </p:nvSpPr>
        <p:spPr>
          <a:xfrm>
            <a:off x="413820" y="373846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A2851FB-8248-BF44-9775-F9BA714536D1}"/>
              </a:ext>
            </a:extLst>
          </p:cNvPr>
          <p:cNvSpPr/>
          <p:nvPr/>
        </p:nvSpPr>
        <p:spPr>
          <a:xfrm>
            <a:off x="163324" y="3962699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1148767A-F798-F04C-BA9F-8FCB54634857}"/>
              </a:ext>
            </a:extLst>
          </p:cNvPr>
          <p:cNvSpPr/>
          <p:nvPr/>
        </p:nvSpPr>
        <p:spPr>
          <a:xfrm>
            <a:off x="413820" y="4390291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10EFADB-5D43-E841-B970-2A25F6920E5A}"/>
              </a:ext>
            </a:extLst>
          </p:cNvPr>
          <p:cNvSpPr/>
          <p:nvPr/>
        </p:nvSpPr>
        <p:spPr>
          <a:xfrm>
            <a:off x="163324" y="4614526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357BE34D-EBF4-5F4B-9AD2-2030CF084B41}"/>
              </a:ext>
            </a:extLst>
          </p:cNvPr>
          <p:cNvSpPr/>
          <p:nvPr/>
        </p:nvSpPr>
        <p:spPr>
          <a:xfrm>
            <a:off x="406179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2EA4D66-0FBE-5C4C-B3A5-3927EDD30D7C}"/>
              </a:ext>
            </a:extLst>
          </p:cNvPr>
          <p:cNvSpPr/>
          <p:nvPr/>
        </p:nvSpPr>
        <p:spPr>
          <a:xfrm>
            <a:off x="-15812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CD820E2C-BA0C-7141-BBC3-184BE864E88C}"/>
              </a:ext>
            </a:extLst>
          </p:cNvPr>
          <p:cNvSpPr/>
          <p:nvPr/>
        </p:nvSpPr>
        <p:spPr>
          <a:xfrm>
            <a:off x="398008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AF1721D-880E-8541-8B15-52072371A0FB}"/>
              </a:ext>
            </a:extLst>
          </p:cNvPr>
          <p:cNvSpPr/>
          <p:nvPr/>
        </p:nvSpPr>
        <p:spPr>
          <a:xfrm>
            <a:off x="185590" y="2005570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BD4A86C-2EA9-5B43-AB5C-66B942692930}"/>
              </a:ext>
            </a:extLst>
          </p:cNvPr>
          <p:cNvSpPr/>
          <p:nvPr/>
        </p:nvSpPr>
        <p:spPr>
          <a:xfrm>
            <a:off x="208472" y="1355391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12DCB0AB-084C-3C47-864E-41BD47DF9ABC}"/>
              </a:ext>
            </a:extLst>
          </p:cNvPr>
          <p:cNvSpPr/>
          <p:nvPr/>
        </p:nvSpPr>
        <p:spPr>
          <a:xfrm>
            <a:off x="398007" y="479329"/>
            <a:ext cx="148545" cy="148545"/>
          </a:xfrm>
          <a:prstGeom prst="ellipse">
            <a:avLst/>
          </a:prstGeom>
          <a:solidFill>
            <a:srgbClr val="87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B21CE8B1-4748-E748-A434-7166AD05BEE7}"/>
              </a:ext>
            </a:extLst>
          </p:cNvPr>
          <p:cNvSpPr/>
          <p:nvPr/>
        </p:nvSpPr>
        <p:spPr>
          <a:xfrm>
            <a:off x="398008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EA1E9C1-E4C6-C74F-9FB7-542680D49D8F}"/>
              </a:ext>
            </a:extLst>
          </p:cNvPr>
          <p:cNvSpPr/>
          <p:nvPr/>
        </p:nvSpPr>
        <p:spPr>
          <a:xfrm>
            <a:off x="208472" y="2659045"/>
            <a:ext cx="20710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>
                <a:solidFill>
                  <a:srgbClr val="888CA6"/>
                </a:solidFill>
              </a:rPr>
              <a:t> 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BBB98A09-3585-8141-AB50-C6E90083CE71}"/>
              </a:ext>
            </a:extLst>
          </p:cNvPr>
          <p:cNvSpPr/>
          <p:nvPr/>
        </p:nvSpPr>
        <p:spPr>
          <a:xfrm>
            <a:off x="398008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4603AD80-96A4-3149-9EED-F6954DAA0490}"/>
              </a:ext>
            </a:extLst>
          </p:cNvPr>
          <p:cNvSpPr/>
          <p:nvPr/>
        </p:nvSpPr>
        <p:spPr>
          <a:xfrm>
            <a:off x="390367" y="1782982"/>
            <a:ext cx="148545" cy="1485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64B8C0AF-7EA3-80A4-52F6-2635999AF7C1}"/>
              </a:ext>
            </a:extLst>
          </p:cNvPr>
          <p:cNvSpPr/>
          <p:nvPr/>
        </p:nvSpPr>
        <p:spPr>
          <a:xfrm>
            <a:off x="1345562" y="5920389"/>
            <a:ext cx="10846438" cy="45720"/>
          </a:xfrm>
          <a:prstGeom prst="roundRect">
            <a:avLst>
              <a:gd name="adj" fmla="val 0"/>
            </a:avLst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rgbClr val="888CA6"/>
              </a:solidFill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0FFA6E6B-453D-A28C-7FA4-9B259576CFAF}"/>
              </a:ext>
            </a:extLst>
          </p:cNvPr>
          <p:cNvSpPr/>
          <p:nvPr/>
        </p:nvSpPr>
        <p:spPr>
          <a:xfrm>
            <a:off x="394767" y="370165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A02CE55-E7FF-19A5-D02F-3900C68FBEA1}"/>
              </a:ext>
            </a:extLst>
          </p:cNvPr>
          <p:cNvSpPr/>
          <p:nvPr/>
        </p:nvSpPr>
        <p:spPr>
          <a:xfrm>
            <a:off x="1823894" y="937611"/>
            <a:ext cx="9520395" cy="4332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545871"/>
                </a:solidFill>
                <a:latin typeface="+mj-ea"/>
                <a:ea typeface="+mj-ea"/>
              </a:rPr>
              <a:t>Experiment</a:t>
            </a:r>
            <a:r>
              <a:rPr lang="ko-KR" altLang="en-US" sz="2400" b="1" kern="0" dirty="0">
                <a:solidFill>
                  <a:srgbClr val="545871"/>
                </a:solidFill>
                <a:latin typeface="+mj-ea"/>
                <a:ea typeface="+mj-ea"/>
              </a:rPr>
              <a:t> </a:t>
            </a:r>
            <a:r>
              <a:rPr lang="en-US" altLang="ko-KR" sz="2400" b="1" kern="0" dirty="0">
                <a:solidFill>
                  <a:srgbClr val="545871"/>
                </a:solidFill>
                <a:latin typeface="+mj-ea"/>
                <a:ea typeface="+mj-ea"/>
              </a:rPr>
              <a:t>Setting</a:t>
            </a: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b="1" kern="0" dirty="0">
                <a:solidFill>
                  <a:srgbClr val="545871"/>
                </a:solidFill>
                <a:latin typeface="+mj-ea"/>
                <a:ea typeface="+mj-ea"/>
              </a:rPr>
              <a:t>Step 1 : Semantic-Aware Diffusion model training </a:t>
            </a:r>
          </a:p>
          <a:p>
            <a:pPr marL="342900" indent="-342900">
              <a:lnSpc>
                <a:spcPct val="150000"/>
              </a:lnSpc>
              <a:buAutoNum type="arabicParenR"/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SCAN clustering : 10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클래스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clustering acc. 87%</a:t>
            </a:r>
          </a:p>
          <a:p>
            <a:pPr marL="342900" indent="-342900">
              <a:lnSpc>
                <a:spcPct val="150000"/>
              </a:lnSpc>
              <a:buFontTx/>
              <a:buAutoNum type="arabicParenR"/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  <a:sym typeface="Wingdings" panose="05000000000000000000" pitchFamily="2" charset="2"/>
              </a:rPr>
              <a:t>CFG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  <a:sym typeface="Wingdings" panose="05000000000000000000" pitchFamily="2" charset="2"/>
              </a:rPr>
              <a:t>모델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  <a:sym typeface="Wingdings" panose="05000000000000000000" pitchFamily="2" charset="2"/>
              </a:rPr>
              <a:t>: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  <a:sym typeface="Wingdings" panose="05000000000000000000" pitchFamily="2" charset="2"/>
              </a:rPr>
              <a:t>diffusion timesteps S = 100,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  <a:sym typeface="Wingdings" panose="05000000000000000000" pitchFamily="2" charset="2"/>
              </a:rPr>
              <a:t>guidance weights w = 2.0 (SD outliers sampling)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  <a:sym typeface="Wingdings" panose="05000000000000000000" pitchFamily="2" charset="2"/>
              </a:rPr>
              <a:t>50000 sample </a:t>
            </a:r>
            <a:r>
              <a:rPr lang="en-US" altLang="ko-KR" kern="0" dirty="0" err="1">
                <a:solidFill>
                  <a:srgbClr val="545871"/>
                </a:solidFill>
                <a:latin typeface="+mj-ea"/>
                <a:ea typeface="+mj-ea"/>
                <a:sym typeface="Wingdings" panose="05000000000000000000" pitchFamily="2" charset="2"/>
              </a:rPr>
              <a:t>Frechet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  <a:sym typeface="Wingdings" panose="05000000000000000000" pitchFamily="2" charset="2"/>
              </a:rPr>
              <a:t> Inception Distance score : </a:t>
            </a: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Detection network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3) backbone feature extractor f : ViT-B16 trained with ImageNet (λ = 0.3 , α = 0.3)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kern="0" dirty="0" err="1">
                <a:solidFill>
                  <a:srgbClr val="545871"/>
                </a:solidFill>
                <a:latin typeface="+mj-ea"/>
                <a:ea typeface="+mj-ea"/>
              </a:rPr>
              <a:t>Evaluaion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 : AUROC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4E6F0D7-EE31-852E-1D32-CB6FBA5A9CD2}"/>
              </a:ext>
            </a:extLst>
          </p:cNvPr>
          <p:cNvSpPr/>
          <p:nvPr/>
        </p:nvSpPr>
        <p:spPr>
          <a:xfrm>
            <a:off x="1400230" y="120684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FCD691-7845-BBDF-EAF3-B8CFA920C2EC}"/>
              </a:ext>
            </a:extLst>
          </p:cNvPr>
          <p:cNvSpPr txBox="1"/>
          <p:nvPr/>
        </p:nvSpPr>
        <p:spPr>
          <a:xfrm>
            <a:off x="5214165" y="352243"/>
            <a:ext cx="1723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kern="0" dirty="0">
                <a:solidFill>
                  <a:srgbClr val="545871"/>
                </a:solidFill>
                <a:latin typeface="+mj-ea"/>
                <a:ea typeface="+mj-ea"/>
              </a:rPr>
              <a:t>Method</a:t>
            </a:r>
            <a:endParaRPr kumimoji="1" lang="ko-Kore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60960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63324" y="703564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F7EBEB"/>
                </a:solidFill>
              </a:rPr>
              <a:t>CONTENT</a:t>
            </a:r>
            <a:endParaRPr lang="ko-KR" altLang="en-US" sz="800" dirty="0">
              <a:solidFill>
                <a:srgbClr val="F7EBEB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63324" y="1355391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413820" y="1782983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63324" y="2007218"/>
            <a:ext cx="66717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888CA6"/>
                </a:solidFill>
              </a:rPr>
              <a:t>CONTENT</a:t>
            </a:r>
            <a:endParaRPr lang="ko-KR" altLang="en-US" sz="800" b="1" dirty="0">
              <a:solidFill>
                <a:srgbClr val="888CA6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413820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63324" y="2659045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413820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63324" y="3310872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413820" y="373846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63324" y="3962699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413820" y="4390291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63324" y="4614526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413820" y="479329"/>
            <a:ext cx="148545" cy="148545"/>
          </a:xfrm>
          <a:prstGeom prst="ellipse">
            <a:avLst/>
          </a:prstGeom>
          <a:solidFill>
            <a:srgbClr val="F7EBE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4E65FA9-67EE-414A-A16D-C4C8C7E87076}"/>
              </a:ext>
            </a:extLst>
          </p:cNvPr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707FA77-FC75-8940-972C-2FF959146E10}"/>
              </a:ext>
            </a:extLst>
          </p:cNvPr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415F976-1C33-474B-89F8-066A2D56A6DA}"/>
              </a:ext>
            </a:extLst>
          </p:cNvPr>
          <p:cNvSpPr/>
          <p:nvPr/>
        </p:nvSpPr>
        <p:spPr>
          <a:xfrm>
            <a:off x="413819" y="479329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2B6BAC4-FC3D-C240-9A50-C9C8BA75BAA2}"/>
              </a:ext>
            </a:extLst>
          </p:cNvPr>
          <p:cNvSpPr/>
          <p:nvPr/>
        </p:nvSpPr>
        <p:spPr>
          <a:xfrm>
            <a:off x="413820" y="3041165"/>
            <a:ext cx="148545" cy="135041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AD91FED-5325-864F-8BE8-BD8FD4975741}"/>
              </a:ext>
            </a:extLst>
          </p:cNvPr>
          <p:cNvSpPr/>
          <p:nvPr/>
        </p:nvSpPr>
        <p:spPr>
          <a:xfrm>
            <a:off x="395568" y="2409911"/>
            <a:ext cx="148545" cy="1485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F7EBEB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C7687153-6869-634C-8487-42E27E880615}"/>
              </a:ext>
            </a:extLst>
          </p:cNvPr>
          <p:cNvSpPr/>
          <p:nvPr/>
        </p:nvSpPr>
        <p:spPr>
          <a:xfrm>
            <a:off x="406179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72B131EB-AAA5-6F49-A2A7-14A37E980887}"/>
              </a:ext>
            </a:extLst>
          </p:cNvPr>
          <p:cNvSpPr/>
          <p:nvPr/>
        </p:nvSpPr>
        <p:spPr>
          <a:xfrm flipV="1">
            <a:off x="2189453" y="6302013"/>
            <a:ext cx="8518949" cy="45719"/>
          </a:xfrm>
          <a:prstGeom prst="roundRect">
            <a:avLst>
              <a:gd name="adj" fmla="val 0"/>
            </a:avLst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rgbClr val="888CA6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917D913-08B0-6BAF-9BA2-698B5EDBD038}"/>
              </a:ext>
            </a:extLst>
          </p:cNvPr>
          <p:cNvSpPr/>
          <p:nvPr/>
        </p:nvSpPr>
        <p:spPr>
          <a:xfrm>
            <a:off x="423341" y="371593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2AA8340-32AF-2288-BE91-1AD03F9CAD2D}"/>
              </a:ext>
            </a:extLst>
          </p:cNvPr>
          <p:cNvSpPr/>
          <p:nvPr/>
        </p:nvSpPr>
        <p:spPr>
          <a:xfrm>
            <a:off x="1206440" y="2007218"/>
            <a:ext cx="66717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F7EBEB"/>
                </a:solidFill>
              </a:rPr>
              <a:t>CONTENT</a:t>
            </a:r>
            <a:endParaRPr lang="ko-KR" altLang="en-US" sz="800" b="1" dirty="0">
              <a:solidFill>
                <a:srgbClr val="F7EBEB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B39028-A406-FF06-0E9A-EBE6D845C6BC}"/>
              </a:ext>
            </a:extLst>
          </p:cNvPr>
          <p:cNvSpPr/>
          <p:nvPr/>
        </p:nvSpPr>
        <p:spPr>
          <a:xfrm>
            <a:off x="1823894" y="937611"/>
            <a:ext cx="9520395" cy="574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545871"/>
                </a:solidFill>
                <a:latin typeface="+mj-ea"/>
                <a:ea typeface="+mj-ea"/>
              </a:rPr>
              <a:t>Quality Comparison of SD Outlier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C9596B0-FB55-540F-BD54-5D831B1474AB}"/>
              </a:ext>
            </a:extLst>
          </p:cNvPr>
          <p:cNvSpPr/>
          <p:nvPr/>
        </p:nvSpPr>
        <p:spPr>
          <a:xfrm>
            <a:off x="1400230" y="120684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454198-B303-1AF1-B549-9E1F90AFAD8F}"/>
              </a:ext>
            </a:extLst>
          </p:cNvPr>
          <p:cNvSpPr txBox="1"/>
          <p:nvPr/>
        </p:nvSpPr>
        <p:spPr>
          <a:xfrm>
            <a:off x="5214165" y="352243"/>
            <a:ext cx="13869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kern="0" dirty="0">
                <a:solidFill>
                  <a:srgbClr val="545871"/>
                </a:solidFill>
                <a:latin typeface="+mj-ea"/>
                <a:ea typeface="+mj-ea"/>
              </a:rPr>
              <a:t>Result</a:t>
            </a:r>
            <a:endParaRPr kumimoji="1" lang="ko-Kore-KR" altLang="en-US" dirty="0">
              <a:latin typeface="+mj-ea"/>
              <a:ea typeface="+mj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11FE651-E84A-D8E3-BE7E-6F884F9EC4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3511"/>
          <a:stretch/>
        </p:blipFill>
        <p:spPr>
          <a:xfrm>
            <a:off x="1873610" y="1761024"/>
            <a:ext cx="9059539" cy="402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901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63324" y="703564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F7EBEB"/>
                </a:solidFill>
              </a:rPr>
              <a:t>CONTENT</a:t>
            </a:r>
            <a:endParaRPr lang="ko-KR" altLang="en-US" sz="800" dirty="0">
              <a:solidFill>
                <a:srgbClr val="F7EBEB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63324" y="1355391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413820" y="1782983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63324" y="2007218"/>
            <a:ext cx="66717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888CA6"/>
                </a:solidFill>
              </a:rPr>
              <a:t>CONTENT</a:t>
            </a:r>
            <a:endParaRPr lang="ko-KR" altLang="en-US" sz="800" b="1" dirty="0">
              <a:solidFill>
                <a:srgbClr val="888CA6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413820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63324" y="2659045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413820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63324" y="3310872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413820" y="373846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63324" y="3962699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413820" y="4390291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63324" y="4614526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413820" y="479329"/>
            <a:ext cx="148545" cy="148545"/>
          </a:xfrm>
          <a:prstGeom prst="ellipse">
            <a:avLst/>
          </a:prstGeom>
          <a:solidFill>
            <a:srgbClr val="F7EBE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4E65FA9-67EE-414A-A16D-C4C8C7E87076}"/>
              </a:ext>
            </a:extLst>
          </p:cNvPr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707FA77-FC75-8940-972C-2FF959146E10}"/>
              </a:ext>
            </a:extLst>
          </p:cNvPr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415F976-1C33-474B-89F8-066A2D56A6DA}"/>
              </a:ext>
            </a:extLst>
          </p:cNvPr>
          <p:cNvSpPr/>
          <p:nvPr/>
        </p:nvSpPr>
        <p:spPr>
          <a:xfrm>
            <a:off x="413819" y="479329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2B6BAC4-FC3D-C240-9A50-C9C8BA75BAA2}"/>
              </a:ext>
            </a:extLst>
          </p:cNvPr>
          <p:cNvSpPr/>
          <p:nvPr/>
        </p:nvSpPr>
        <p:spPr>
          <a:xfrm>
            <a:off x="413820" y="3041165"/>
            <a:ext cx="148545" cy="135041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AD91FED-5325-864F-8BE8-BD8FD4975741}"/>
              </a:ext>
            </a:extLst>
          </p:cNvPr>
          <p:cNvSpPr/>
          <p:nvPr/>
        </p:nvSpPr>
        <p:spPr>
          <a:xfrm>
            <a:off x="395568" y="2409911"/>
            <a:ext cx="148545" cy="1485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F7EBEB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C7687153-6869-634C-8487-42E27E880615}"/>
              </a:ext>
            </a:extLst>
          </p:cNvPr>
          <p:cNvSpPr/>
          <p:nvPr/>
        </p:nvSpPr>
        <p:spPr>
          <a:xfrm>
            <a:off x="406179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72B131EB-AAA5-6F49-A2A7-14A37E980887}"/>
              </a:ext>
            </a:extLst>
          </p:cNvPr>
          <p:cNvSpPr/>
          <p:nvPr/>
        </p:nvSpPr>
        <p:spPr>
          <a:xfrm flipV="1">
            <a:off x="2189453" y="6302013"/>
            <a:ext cx="8518949" cy="45719"/>
          </a:xfrm>
          <a:prstGeom prst="roundRect">
            <a:avLst>
              <a:gd name="adj" fmla="val 0"/>
            </a:avLst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rgbClr val="888CA6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917D913-08B0-6BAF-9BA2-698B5EDBD038}"/>
              </a:ext>
            </a:extLst>
          </p:cNvPr>
          <p:cNvSpPr/>
          <p:nvPr/>
        </p:nvSpPr>
        <p:spPr>
          <a:xfrm>
            <a:off x="423341" y="371593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2AA8340-32AF-2288-BE91-1AD03F9CAD2D}"/>
              </a:ext>
            </a:extLst>
          </p:cNvPr>
          <p:cNvSpPr/>
          <p:nvPr/>
        </p:nvSpPr>
        <p:spPr>
          <a:xfrm>
            <a:off x="1206440" y="2007218"/>
            <a:ext cx="66717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F7EBEB"/>
                </a:solidFill>
              </a:rPr>
              <a:t>CONTENT</a:t>
            </a:r>
            <a:endParaRPr lang="ko-KR" altLang="en-US" sz="800" b="1" dirty="0">
              <a:solidFill>
                <a:srgbClr val="F7EBEB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B39028-A406-FF06-0E9A-EBE6D845C6BC}"/>
              </a:ext>
            </a:extLst>
          </p:cNvPr>
          <p:cNvSpPr/>
          <p:nvPr/>
        </p:nvSpPr>
        <p:spPr>
          <a:xfrm>
            <a:off x="1823894" y="937611"/>
            <a:ext cx="9520395" cy="574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545871"/>
                </a:solidFill>
                <a:latin typeface="+mj-ea"/>
                <a:ea typeface="+mj-ea"/>
              </a:rPr>
              <a:t>OOD Detection Performance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C9596B0-FB55-540F-BD54-5D831B1474AB}"/>
              </a:ext>
            </a:extLst>
          </p:cNvPr>
          <p:cNvSpPr/>
          <p:nvPr/>
        </p:nvSpPr>
        <p:spPr>
          <a:xfrm>
            <a:off x="1400230" y="120684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454198-B303-1AF1-B549-9E1F90AFAD8F}"/>
              </a:ext>
            </a:extLst>
          </p:cNvPr>
          <p:cNvSpPr txBox="1"/>
          <p:nvPr/>
        </p:nvSpPr>
        <p:spPr>
          <a:xfrm>
            <a:off x="5214165" y="352243"/>
            <a:ext cx="13869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kern="0" dirty="0">
                <a:solidFill>
                  <a:srgbClr val="545871"/>
                </a:solidFill>
                <a:latin typeface="+mj-ea"/>
                <a:ea typeface="+mj-ea"/>
              </a:rPr>
              <a:t>Result</a:t>
            </a:r>
            <a:endParaRPr kumimoji="1" lang="ko-Kore-KR" altLang="en-US" dirty="0">
              <a:latin typeface="+mj-ea"/>
              <a:ea typeface="+mj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030DB51-FB87-2844-C761-3374A9345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547" y="1748428"/>
            <a:ext cx="7744906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82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63324" y="703564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F7EBEB"/>
                </a:solidFill>
              </a:rPr>
              <a:t>CONTENT</a:t>
            </a:r>
            <a:endParaRPr lang="ko-KR" altLang="en-US" sz="800" dirty="0">
              <a:solidFill>
                <a:srgbClr val="F7EBEB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63324" y="1355391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413820" y="1782983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63324" y="2007218"/>
            <a:ext cx="66717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888CA6"/>
                </a:solidFill>
              </a:rPr>
              <a:t>CONTENT</a:t>
            </a:r>
            <a:endParaRPr lang="ko-KR" altLang="en-US" sz="800" b="1" dirty="0">
              <a:solidFill>
                <a:srgbClr val="888CA6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413820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63324" y="2659045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413820" y="3086637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63324" y="3310872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413820" y="373846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63324" y="3962699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413820" y="4390291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63324" y="4614526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413820" y="479329"/>
            <a:ext cx="148545" cy="148545"/>
          </a:xfrm>
          <a:prstGeom prst="ellipse">
            <a:avLst/>
          </a:prstGeom>
          <a:solidFill>
            <a:srgbClr val="F7EBE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4E65FA9-67EE-414A-A16D-C4C8C7E87076}"/>
              </a:ext>
            </a:extLst>
          </p:cNvPr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707FA77-FC75-8940-972C-2FF959146E10}"/>
              </a:ext>
            </a:extLst>
          </p:cNvPr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415F976-1C33-474B-89F8-066A2D56A6DA}"/>
              </a:ext>
            </a:extLst>
          </p:cNvPr>
          <p:cNvSpPr/>
          <p:nvPr/>
        </p:nvSpPr>
        <p:spPr>
          <a:xfrm>
            <a:off x="413819" y="479329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2B6BAC4-FC3D-C240-9A50-C9C8BA75BAA2}"/>
              </a:ext>
            </a:extLst>
          </p:cNvPr>
          <p:cNvSpPr/>
          <p:nvPr/>
        </p:nvSpPr>
        <p:spPr>
          <a:xfrm>
            <a:off x="413820" y="3041165"/>
            <a:ext cx="148545" cy="135041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AD91FED-5325-864F-8BE8-BD8FD4975741}"/>
              </a:ext>
            </a:extLst>
          </p:cNvPr>
          <p:cNvSpPr/>
          <p:nvPr/>
        </p:nvSpPr>
        <p:spPr>
          <a:xfrm>
            <a:off x="395568" y="2409911"/>
            <a:ext cx="148545" cy="1485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F7EBEB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C7687153-6869-634C-8487-42E27E880615}"/>
              </a:ext>
            </a:extLst>
          </p:cNvPr>
          <p:cNvSpPr/>
          <p:nvPr/>
        </p:nvSpPr>
        <p:spPr>
          <a:xfrm>
            <a:off x="406179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72B131EB-AAA5-6F49-A2A7-14A37E980887}"/>
              </a:ext>
            </a:extLst>
          </p:cNvPr>
          <p:cNvSpPr/>
          <p:nvPr/>
        </p:nvSpPr>
        <p:spPr>
          <a:xfrm flipV="1">
            <a:off x="2189453" y="6302013"/>
            <a:ext cx="8518949" cy="45719"/>
          </a:xfrm>
          <a:prstGeom prst="roundRect">
            <a:avLst>
              <a:gd name="adj" fmla="val 0"/>
            </a:avLst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rgbClr val="888CA6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917D913-08B0-6BAF-9BA2-698B5EDBD038}"/>
              </a:ext>
            </a:extLst>
          </p:cNvPr>
          <p:cNvSpPr/>
          <p:nvPr/>
        </p:nvSpPr>
        <p:spPr>
          <a:xfrm>
            <a:off x="423341" y="371593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2AA8340-32AF-2288-BE91-1AD03F9CAD2D}"/>
              </a:ext>
            </a:extLst>
          </p:cNvPr>
          <p:cNvSpPr/>
          <p:nvPr/>
        </p:nvSpPr>
        <p:spPr>
          <a:xfrm>
            <a:off x="1206440" y="2007218"/>
            <a:ext cx="66717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F7EBEB"/>
                </a:solidFill>
              </a:rPr>
              <a:t>CONTENT</a:t>
            </a:r>
            <a:endParaRPr lang="ko-KR" altLang="en-US" sz="800" b="1" dirty="0">
              <a:solidFill>
                <a:srgbClr val="F7EBEB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B39028-A406-FF06-0E9A-EBE6D845C6BC}"/>
              </a:ext>
            </a:extLst>
          </p:cNvPr>
          <p:cNvSpPr/>
          <p:nvPr/>
        </p:nvSpPr>
        <p:spPr>
          <a:xfrm>
            <a:off x="1840885" y="949939"/>
            <a:ext cx="9520395" cy="1423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kern="0" dirty="0">
                <a:solidFill>
                  <a:srgbClr val="545871"/>
                </a:solidFill>
                <a:latin typeface="+mj-ea"/>
                <a:ea typeface="+mj-ea"/>
              </a:rPr>
              <a:t>OOD Detection Performance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최적화된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timestep S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와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guidance weight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w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제시</a:t>
            </a: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 latinLnBrk="0">
              <a:lnSpc>
                <a:spcPct val="150000"/>
              </a:lnSpc>
              <a:defRPr/>
            </a:pP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C9596B0-FB55-540F-BD54-5D831B1474AB}"/>
              </a:ext>
            </a:extLst>
          </p:cNvPr>
          <p:cNvSpPr/>
          <p:nvPr/>
        </p:nvSpPr>
        <p:spPr>
          <a:xfrm>
            <a:off x="1400230" y="120684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454198-B303-1AF1-B549-9E1F90AFAD8F}"/>
              </a:ext>
            </a:extLst>
          </p:cNvPr>
          <p:cNvSpPr txBox="1"/>
          <p:nvPr/>
        </p:nvSpPr>
        <p:spPr>
          <a:xfrm>
            <a:off x="5214165" y="352243"/>
            <a:ext cx="13869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kern="0" dirty="0">
                <a:solidFill>
                  <a:srgbClr val="545871"/>
                </a:solidFill>
                <a:latin typeface="+mj-ea"/>
                <a:ea typeface="+mj-ea"/>
              </a:rPr>
              <a:t>Result</a:t>
            </a:r>
            <a:endParaRPr kumimoji="1" lang="ko-Kore-KR" altLang="en-US" dirty="0">
              <a:latin typeface="+mj-ea"/>
              <a:ea typeface="+mj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355C0E6-6B5C-6575-EE0F-2AD1B2DC5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25" y="2395393"/>
            <a:ext cx="8230749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159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직사각형 98"/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3" name="타원 102"/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163324" y="703564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163324" y="1355391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55" name="타원 154"/>
          <p:cNvSpPr/>
          <p:nvPr/>
        </p:nvSpPr>
        <p:spPr>
          <a:xfrm>
            <a:off x="413820" y="1782983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163324" y="2007218"/>
            <a:ext cx="66717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888CA6"/>
                </a:solidFill>
              </a:rPr>
              <a:t>CONTENT</a:t>
            </a:r>
            <a:endParaRPr lang="ko-KR" altLang="en-US" sz="800" b="1" dirty="0">
              <a:solidFill>
                <a:srgbClr val="888CA6"/>
              </a:solidFill>
            </a:endParaRPr>
          </a:p>
        </p:txBody>
      </p:sp>
      <p:sp>
        <p:nvSpPr>
          <p:cNvPr id="157" name="타원 156"/>
          <p:cNvSpPr/>
          <p:nvPr/>
        </p:nvSpPr>
        <p:spPr>
          <a:xfrm>
            <a:off x="413820" y="2434810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163324" y="2659045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59" name="타원 158"/>
          <p:cNvSpPr/>
          <p:nvPr/>
        </p:nvSpPr>
        <p:spPr>
          <a:xfrm>
            <a:off x="413820" y="3086637"/>
            <a:ext cx="148545" cy="148545"/>
          </a:xfrm>
          <a:prstGeom prst="ellipse">
            <a:avLst/>
          </a:prstGeom>
          <a:solidFill>
            <a:srgbClr val="F7EBE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163324" y="3310872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F7EBEB"/>
                </a:solidFill>
              </a:rPr>
              <a:t>CONTENT</a:t>
            </a:r>
            <a:endParaRPr lang="ko-KR" altLang="en-US" sz="800" dirty="0">
              <a:solidFill>
                <a:srgbClr val="F7EBEB"/>
              </a:solidFill>
            </a:endParaRPr>
          </a:p>
        </p:txBody>
      </p:sp>
      <p:sp>
        <p:nvSpPr>
          <p:cNvPr id="161" name="타원 160"/>
          <p:cNvSpPr/>
          <p:nvPr/>
        </p:nvSpPr>
        <p:spPr>
          <a:xfrm>
            <a:off x="413820" y="3738464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163324" y="3962699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63" name="타원 162"/>
          <p:cNvSpPr/>
          <p:nvPr/>
        </p:nvSpPr>
        <p:spPr>
          <a:xfrm>
            <a:off x="413820" y="4390291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163324" y="4614526"/>
            <a:ext cx="64953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rgbClr val="888CA6"/>
                </a:solidFill>
              </a:rPr>
              <a:t>CONTENT</a:t>
            </a:r>
            <a:endParaRPr lang="ko-KR" altLang="en-US" sz="800" dirty="0">
              <a:solidFill>
                <a:srgbClr val="888CA6"/>
              </a:solidFill>
            </a:endParaRPr>
          </a:p>
        </p:txBody>
      </p:sp>
      <p:sp>
        <p:nvSpPr>
          <p:cNvPr id="165" name="타원 164"/>
          <p:cNvSpPr/>
          <p:nvPr/>
        </p:nvSpPr>
        <p:spPr>
          <a:xfrm>
            <a:off x="413820" y="479329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1039A137-1D31-6942-A27F-B3129E2E96FD}"/>
              </a:ext>
            </a:extLst>
          </p:cNvPr>
          <p:cNvSpPr/>
          <p:nvPr/>
        </p:nvSpPr>
        <p:spPr>
          <a:xfrm>
            <a:off x="0" y="0"/>
            <a:ext cx="976184" cy="6858000"/>
          </a:xfrm>
          <a:prstGeom prst="rect">
            <a:avLst/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168" name="타원 167">
            <a:extLst>
              <a:ext uri="{FF2B5EF4-FFF2-40B4-BE49-F238E27FC236}">
                <a16:creationId xmlns:a16="http://schemas.microsoft.com/office/drawing/2014/main" id="{2A1729E8-7140-D343-B48C-15B741E81323}"/>
              </a:ext>
            </a:extLst>
          </p:cNvPr>
          <p:cNvSpPr/>
          <p:nvPr/>
        </p:nvSpPr>
        <p:spPr>
          <a:xfrm>
            <a:off x="413820" y="113115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9EE7D2CC-71C2-2745-B927-AC8C4F4EEDC5}"/>
              </a:ext>
            </a:extLst>
          </p:cNvPr>
          <p:cNvSpPr/>
          <p:nvPr/>
        </p:nvSpPr>
        <p:spPr>
          <a:xfrm>
            <a:off x="413819" y="479329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0C460022-409F-5541-AB59-97D739C0468F}"/>
              </a:ext>
            </a:extLst>
          </p:cNvPr>
          <p:cNvSpPr/>
          <p:nvPr/>
        </p:nvSpPr>
        <p:spPr>
          <a:xfrm>
            <a:off x="413820" y="3109368"/>
            <a:ext cx="148545" cy="14854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75" name="타원 174">
            <a:extLst>
              <a:ext uri="{FF2B5EF4-FFF2-40B4-BE49-F238E27FC236}">
                <a16:creationId xmlns:a16="http://schemas.microsoft.com/office/drawing/2014/main" id="{699C9EE4-DC06-334D-97DD-34515398BC9C}"/>
              </a:ext>
            </a:extLst>
          </p:cNvPr>
          <p:cNvSpPr/>
          <p:nvPr/>
        </p:nvSpPr>
        <p:spPr>
          <a:xfrm>
            <a:off x="413820" y="3761195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77" name="타원 176">
            <a:extLst>
              <a:ext uri="{FF2B5EF4-FFF2-40B4-BE49-F238E27FC236}">
                <a16:creationId xmlns:a16="http://schemas.microsoft.com/office/drawing/2014/main" id="{9260F5A8-402C-8F4F-9BBE-1A8491AA174F}"/>
              </a:ext>
            </a:extLst>
          </p:cNvPr>
          <p:cNvSpPr/>
          <p:nvPr/>
        </p:nvSpPr>
        <p:spPr>
          <a:xfrm>
            <a:off x="406179" y="1782982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78C6BFCA-593D-7F07-0C99-5F3C6C4CEF12}"/>
              </a:ext>
            </a:extLst>
          </p:cNvPr>
          <p:cNvSpPr/>
          <p:nvPr/>
        </p:nvSpPr>
        <p:spPr>
          <a:xfrm>
            <a:off x="976184" y="5508836"/>
            <a:ext cx="10846438" cy="45720"/>
          </a:xfrm>
          <a:prstGeom prst="roundRect">
            <a:avLst>
              <a:gd name="adj" fmla="val 0"/>
            </a:avLst>
          </a:prstGeom>
          <a:solidFill>
            <a:srgbClr val="545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rgbClr val="888CA6"/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86EB922-7BB8-A441-6C59-83A883324A0E}"/>
              </a:ext>
            </a:extLst>
          </p:cNvPr>
          <p:cNvSpPr/>
          <p:nvPr/>
        </p:nvSpPr>
        <p:spPr>
          <a:xfrm>
            <a:off x="401329" y="2474541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00AA5E8-3150-8D9E-4E89-61784A6E623C}"/>
              </a:ext>
            </a:extLst>
          </p:cNvPr>
          <p:cNvSpPr/>
          <p:nvPr/>
        </p:nvSpPr>
        <p:spPr>
          <a:xfrm>
            <a:off x="1206440" y="2007218"/>
            <a:ext cx="66717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rgbClr val="F7EBEB"/>
                </a:solidFill>
              </a:rPr>
              <a:t>CONTENT</a:t>
            </a:r>
            <a:endParaRPr lang="ko-KR" altLang="en-US" sz="800" b="1" dirty="0">
              <a:solidFill>
                <a:srgbClr val="F7EBEB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2DC942-FFA7-6056-5EFA-AF8B28E88D68}"/>
              </a:ext>
            </a:extLst>
          </p:cNvPr>
          <p:cNvSpPr/>
          <p:nvPr/>
        </p:nvSpPr>
        <p:spPr>
          <a:xfrm>
            <a:off x="1873610" y="1660648"/>
            <a:ext cx="9520395" cy="2116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간단한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Semantic-Discrepant Guidance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를 이용한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nuisance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 를 유지하며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semantic corruption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된 데이터셋 생성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실험 결과를 통해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,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효과적인 </a:t>
            </a: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OOD detection </a:t>
            </a:r>
            <a:r>
              <a:rPr lang="ko-KR" altLang="en-US" kern="0" dirty="0">
                <a:solidFill>
                  <a:srgbClr val="545871"/>
                </a:solidFill>
                <a:latin typeface="+mj-ea"/>
                <a:ea typeface="+mj-ea"/>
              </a:rPr>
              <a:t>성능 입증  </a:t>
            </a:r>
            <a:endParaRPr lang="en-US" altLang="ko-KR" kern="0" dirty="0">
              <a:solidFill>
                <a:srgbClr val="54587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kern="0" dirty="0">
                <a:solidFill>
                  <a:srgbClr val="545871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5A32D59-9E8A-A58C-9E12-EFDFFD9116F9}"/>
              </a:ext>
            </a:extLst>
          </p:cNvPr>
          <p:cNvSpPr/>
          <p:nvPr/>
        </p:nvSpPr>
        <p:spPr>
          <a:xfrm>
            <a:off x="1579375" y="185184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E95A5-3EEA-5838-0B7E-33965E284BFA}"/>
              </a:ext>
            </a:extLst>
          </p:cNvPr>
          <p:cNvSpPr txBox="1"/>
          <p:nvPr/>
        </p:nvSpPr>
        <p:spPr>
          <a:xfrm>
            <a:off x="5214165" y="352243"/>
            <a:ext cx="24144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en-US" sz="3200" b="1" kern="0" dirty="0">
                <a:solidFill>
                  <a:srgbClr val="545871"/>
                </a:solidFill>
                <a:latin typeface="+mj-ea"/>
                <a:ea typeface="+mj-ea"/>
              </a:rPr>
              <a:t>Conclusion</a:t>
            </a:r>
            <a:endParaRPr kumimoji="1" lang="ko-Kore-KR" altLang="en-US" dirty="0">
              <a:latin typeface="+mj-ea"/>
              <a:ea typeface="+mj-ea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74AA1C6-7B4F-C0CD-F9B1-F73DF4C2DB7B}"/>
              </a:ext>
            </a:extLst>
          </p:cNvPr>
          <p:cNvSpPr/>
          <p:nvPr/>
        </p:nvSpPr>
        <p:spPr>
          <a:xfrm>
            <a:off x="1523898" y="3086636"/>
            <a:ext cx="148545" cy="148545"/>
          </a:xfrm>
          <a:prstGeom prst="ellipse">
            <a:avLst/>
          </a:prstGeom>
          <a:solidFill>
            <a:srgbClr val="888CA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rgbClr val="54587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792AFC-510D-A2D6-228F-989D506975D6}"/>
              </a:ext>
            </a:extLst>
          </p:cNvPr>
          <p:cNvSpPr txBox="1"/>
          <p:nvPr/>
        </p:nvSpPr>
        <p:spPr>
          <a:xfrm>
            <a:off x="1523898" y="4184736"/>
            <a:ext cx="9889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- Semantic-Discrepant (SD) outliers on CIFAR-10 : </a:t>
            </a:r>
            <a:r>
              <a:rPr kumimoji="1" lang="en-US" altLang="ko-KR" dirty="0">
                <a:hlinkClick r:id="rId2"/>
              </a:rPr>
              <a:t>https://zenodo.org/records/8394847</a:t>
            </a:r>
            <a:r>
              <a:rPr kumimoji="1" lang="en-US" altLang="ko-KR" dirty="0"/>
              <a:t> </a:t>
            </a:r>
            <a:endParaRPr kumimoji="1" lang="en-US" altLang="ko-Kore-KR" dirty="0"/>
          </a:p>
        </p:txBody>
      </p:sp>
    </p:spTree>
    <p:extLst>
      <p:ext uri="{BB962C8B-B14F-4D97-AF65-F5344CB8AC3E}">
        <p14:creationId xmlns:p14="http://schemas.microsoft.com/office/powerpoint/2010/main" val="2449597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8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03AD5BD4-0D98-4306-AD39-B06A516B230D}"/>
              </a:ext>
            </a:extLst>
          </p:cNvPr>
          <p:cNvSpPr/>
          <p:nvPr/>
        </p:nvSpPr>
        <p:spPr>
          <a:xfrm>
            <a:off x="4387067" y="2563225"/>
            <a:ext cx="4075746" cy="1203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5400" b="1" kern="0" dirty="0">
                <a:solidFill>
                  <a:schemeClr val="bg1"/>
                </a:solidFill>
              </a:rPr>
              <a:t>감사합니다</a:t>
            </a:r>
            <a:endParaRPr lang="en-US" altLang="ko-KR" sz="5400" b="1" kern="0" dirty="0">
              <a:solidFill>
                <a:schemeClr val="bg1"/>
              </a:solidFill>
            </a:endParaRPr>
          </a:p>
        </p:txBody>
      </p:sp>
      <p:sp>
        <p:nvSpPr>
          <p:cNvPr id="2" name="포인트가 4개인 별 1">
            <a:extLst>
              <a:ext uri="{FF2B5EF4-FFF2-40B4-BE49-F238E27FC236}">
                <a16:creationId xmlns:a16="http://schemas.microsoft.com/office/drawing/2014/main" id="{4DEE0488-28B8-9A48-A8F2-EF8F1F2E3781}"/>
              </a:ext>
            </a:extLst>
          </p:cNvPr>
          <p:cNvSpPr/>
          <p:nvPr/>
        </p:nvSpPr>
        <p:spPr>
          <a:xfrm rot="20621689">
            <a:off x="2944369" y="2187048"/>
            <a:ext cx="603504" cy="568728"/>
          </a:xfrm>
          <a:prstGeom prst="star4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포인트가 4개인 별 4">
            <a:extLst>
              <a:ext uri="{FF2B5EF4-FFF2-40B4-BE49-F238E27FC236}">
                <a16:creationId xmlns:a16="http://schemas.microsoft.com/office/drawing/2014/main" id="{7D6F10AF-A663-0E47-A44A-AD6E402A98C5}"/>
              </a:ext>
            </a:extLst>
          </p:cNvPr>
          <p:cNvSpPr/>
          <p:nvPr/>
        </p:nvSpPr>
        <p:spPr>
          <a:xfrm>
            <a:off x="10186620" y="3036136"/>
            <a:ext cx="603504" cy="568728"/>
          </a:xfrm>
          <a:prstGeom prst="star4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" name="포인트가 4개인 별 2">
            <a:extLst>
              <a:ext uri="{FF2B5EF4-FFF2-40B4-BE49-F238E27FC236}">
                <a16:creationId xmlns:a16="http://schemas.microsoft.com/office/drawing/2014/main" id="{395A9729-F0A2-AB49-8992-1EA2836F5967}"/>
              </a:ext>
            </a:extLst>
          </p:cNvPr>
          <p:cNvSpPr/>
          <p:nvPr/>
        </p:nvSpPr>
        <p:spPr>
          <a:xfrm rot="20159389">
            <a:off x="2363143" y="3691582"/>
            <a:ext cx="438912" cy="352044"/>
          </a:xfrm>
          <a:prstGeom prst="star4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" name="포인트가 4개인 별 3">
            <a:extLst>
              <a:ext uri="{FF2B5EF4-FFF2-40B4-BE49-F238E27FC236}">
                <a16:creationId xmlns:a16="http://schemas.microsoft.com/office/drawing/2014/main" id="{DCF29C3C-7E81-DC4A-A570-703B72ABB2AD}"/>
              </a:ext>
            </a:extLst>
          </p:cNvPr>
          <p:cNvSpPr/>
          <p:nvPr/>
        </p:nvSpPr>
        <p:spPr>
          <a:xfrm rot="1314505">
            <a:off x="9600387" y="4418323"/>
            <a:ext cx="347371" cy="395827"/>
          </a:xfrm>
          <a:prstGeom prst="star4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" name="포인트가 4개인 별 8">
            <a:extLst>
              <a:ext uri="{FF2B5EF4-FFF2-40B4-BE49-F238E27FC236}">
                <a16:creationId xmlns:a16="http://schemas.microsoft.com/office/drawing/2014/main" id="{0DBDEDCD-ECED-4A47-9352-CB45A500E2F2}"/>
              </a:ext>
            </a:extLst>
          </p:cNvPr>
          <p:cNvSpPr/>
          <p:nvPr/>
        </p:nvSpPr>
        <p:spPr>
          <a:xfrm rot="1314505">
            <a:off x="8921199" y="2606332"/>
            <a:ext cx="347371" cy="395827"/>
          </a:xfrm>
          <a:prstGeom prst="star4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" name="포인트가 4개인 별 9">
            <a:extLst>
              <a:ext uri="{FF2B5EF4-FFF2-40B4-BE49-F238E27FC236}">
                <a16:creationId xmlns:a16="http://schemas.microsoft.com/office/drawing/2014/main" id="{3C81439A-B3B1-B144-AEAC-47BCD2384353}"/>
              </a:ext>
            </a:extLst>
          </p:cNvPr>
          <p:cNvSpPr/>
          <p:nvPr/>
        </p:nvSpPr>
        <p:spPr>
          <a:xfrm rot="20714544">
            <a:off x="9828662" y="1916116"/>
            <a:ext cx="347371" cy="395827"/>
          </a:xfrm>
          <a:prstGeom prst="star4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포인트가 4개인 별 10">
            <a:extLst>
              <a:ext uri="{FF2B5EF4-FFF2-40B4-BE49-F238E27FC236}">
                <a16:creationId xmlns:a16="http://schemas.microsoft.com/office/drawing/2014/main" id="{171C102B-11A2-C142-9675-638F33C14915}"/>
              </a:ext>
            </a:extLst>
          </p:cNvPr>
          <p:cNvSpPr/>
          <p:nvPr/>
        </p:nvSpPr>
        <p:spPr>
          <a:xfrm rot="20714544">
            <a:off x="1974313" y="2388102"/>
            <a:ext cx="347371" cy="395827"/>
          </a:xfrm>
          <a:prstGeom prst="star4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F4DABDA-42BA-4047-ACFA-947CC28D9237}"/>
              </a:ext>
            </a:extLst>
          </p:cNvPr>
          <p:cNvSpPr/>
          <p:nvPr/>
        </p:nvSpPr>
        <p:spPr>
          <a:xfrm>
            <a:off x="8866609" y="2111742"/>
            <a:ext cx="45719" cy="5029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FF4B93F-CC5F-9643-8B1E-4A604AED54A1}"/>
              </a:ext>
            </a:extLst>
          </p:cNvPr>
          <p:cNvSpPr/>
          <p:nvPr/>
        </p:nvSpPr>
        <p:spPr>
          <a:xfrm>
            <a:off x="10992627" y="3629846"/>
            <a:ext cx="45719" cy="50292"/>
          </a:xfrm>
          <a:prstGeom prst="ellipse">
            <a:avLst/>
          </a:prstGeom>
          <a:solidFill>
            <a:srgbClr val="F9EB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6AEDB4D-6C17-BD40-BEEC-8D00BB2B5F62}"/>
              </a:ext>
            </a:extLst>
          </p:cNvPr>
          <p:cNvSpPr/>
          <p:nvPr/>
        </p:nvSpPr>
        <p:spPr>
          <a:xfrm>
            <a:off x="2361786" y="2111742"/>
            <a:ext cx="45719" cy="5029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10606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1009</Words>
  <Application>Microsoft Office PowerPoint</Application>
  <PresentationFormat>와이드스크린</PresentationFormat>
  <Paragraphs>284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NotoSansR</vt:lpstr>
      <vt:lpstr>맑은 고딕</vt:lpstr>
      <vt:lpstr>Arial</vt:lpstr>
      <vt:lpstr>Calibri</vt:lpstr>
      <vt:lpstr>Calibri Light</vt:lpstr>
      <vt:lpstr>Helvetica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김윤영</dc:creator>
  <cp:lastModifiedBy>김윤하</cp:lastModifiedBy>
  <cp:revision>21</cp:revision>
  <dcterms:created xsi:type="dcterms:W3CDTF">2023-05-20T12:45:36Z</dcterms:created>
  <dcterms:modified xsi:type="dcterms:W3CDTF">2024-03-31T12:00:52Z</dcterms:modified>
</cp:coreProperties>
</file>