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26"/>
  </p:notesMasterIdLst>
  <p:handoutMasterIdLst>
    <p:handoutMasterId r:id="rId27"/>
  </p:handoutMasterIdLst>
  <p:sldIdLst>
    <p:sldId id="934" r:id="rId2"/>
    <p:sldId id="1357" r:id="rId3"/>
    <p:sldId id="1356" r:id="rId4"/>
    <p:sldId id="1354" r:id="rId5"/>
    <p:sldId id="1377" r:id="rId6"/>
    <p:sldId id="1359" r:id="rId7"/>
    <p:sldId id="1361" r:id="rId8"/>
    <p:sldId id="1362" r:id="rId9"/>
    <p:sldId id="1364" r:id="rId10"/>
    <p:sldId id="1365" r:id="rId11"/>
    <p:sldId id="1366" r:id="rId12"/>
    <p:sldId id="1385" r:id="rId13"/>
    <p:sldId id="256" r:id="rId14"/>
    <p:sldId id="1368" r:id="rId15"/>
    <p:sldId id="260" r:id="rId16"/>
    <p:sldId id="1367" r:id="rId17"/>
    <p:sldId id="1370" r:id="rId18"/>
    <p:sldId id="1386" r:id="rId19"/>
    <p:sldId id="1387" r:id="rId20"/>
    <p:sldId id="1375" r:id="rId21"/>
    <p:sldId id="1371" r:id="rId22"/>
    <p:sldId id="1381" r:id="rId23"/>
    <p:sldId id="1383" r:id="rId24"/>
    <p:sldId id="1388" r:id="rId25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병현" initials="김병" lastIdx="5" clrIdx="0">
    <p:extLst>
      <p:ext uri="{19B8F6BF-5375-455C-9EA6-DF929625EA0E}">
        <p15:presenceInfo xmlns:p15="http://schemas.microsoft.com/office/powerpoint/2012/main" userId="d16d414d36b17138" providerId="Windows Live"/>
      </p:ext>
    </p:extLst>
  </p:cmAuthor>
  <p:cmAuthor id="2" name="김병현" initials="김" lastIdx="1" clrIdx="1">
    <p:extLst>
      <p:ext uri="{19B8F6BF-5375-455C-9EA6-DF929625EA0E}">
        <p15:presenceInfo xmlns:p15="http://schemas.microsoft.com/office/powerpoint/2012/main" userId="김병현" providerId="None"/>
      </p:ext>
    </p:extLst>
  </p:cmAuthor>
  <p:cmAuthor id="3" name="kimbh.mail@gmail.com" initials="k" lastIdx="14" clrIdx="2">
    <p:extLst>
      <p:ext uri="{19B8F6BF-5375-455C-9EA6-DF929625EA0E}">
        <p15:presenceInfo xmlns:p15="http://schemas.microsoft.com/office/powerpoint/2012/main" userId="610d71c0dab983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726"/>
    <a:srgbClr val="FF9900"/>
    <a:srgbClr val="FF5050"/>
    <a:srgbClr val="68BC36"/>
    <a:srgbClr val="0433FF"/>
    <a:srgbClr val="0000FF"/>
    <a:srgbClr val="66FF33"/>
    <a:srgbClr val="E9EDF4"/>
    <a:srgbClr val="55759C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4" autoAdjust="0"/>
    <p:restoredTop sz="88688" autoAdjust="0"/>
  </p:normalViewPr>
  <p:slideViewPr>
    <p:cSldViewPr snapToObjects="1">
      <p:cViewPr varScale="1">
        <p:scale>
          <a:sx n="144" d="100"/>
          <a:sy n="144" d="100"/>
        </p:scale>
        <p:origin x="154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2021-02-28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2021-02-28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, </a:t>
            </a:r>
            <a:r>
              <a:rPr lang="ko-KR" altLang="en-US" dirty="0"/>
              <a:t>오늘 발표를 맡은 김병현입니다</a:t>
            </a:r>
            <a:r>
              <a:rPr lang="en-US" altLang="ko-KR" dirty="0"/>
              <a:t>. </a:t>
            </a:r>
            <a:r>
              <a:rPr lang="ko-KR" altLang="en-US" dirty="0"/>
              <a:t>오늘 논문은 서울대 연구팀이  </a:t>
            </a:r>
            <a:r>
              <a:rPr lang="en-US" altLang="ko-KR" dirty="0"/>
              <a:t>ACCV 2020</a:t>
            </a:r>
            <a:r>
              <a:rPr lang="ko-KR" altLang="en-US" dirty="0"/>
              <a:t>에서 발표한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Patch-level Support vector data description for anomaly detection and segmentation</a:t>
            </a:r>
            <a:r>
              <a:rPr lang="ko-KR" altLang="en-US" dirty="0"/>
              <a:t>입니다</a:t>
            </a:r>
            <a:r>
              <a:rPr lang="en-US" altLang="ko-KR" dirty="0"/>
              <a:t>.  </a:t>
            </a:r>
            <a:r>
              <a:rPr lang="ko-KR" altLang="en-US" dirty="0"/>
              <a:t>발표에 이미지처리팀의 박동훈</a:t>
            </a:r>
            <a:r>
              <a:rPr lang="en-US" altLang="ko-KR" dirty="0"/>
              <a:t>, </a:t>
            </a:r>
            <a:r>
              <a:rPr lang="ko-KR" altLang="en-US" dirty="0"/>
              <a:t>안종식</a:t>
            </a:r>
            <a:r>
              <a:rPr lang="en-US" altLang="ko-KR" dirty="0"/>
              <a:t>, </a:t>
            </a:r>
            <a:r>
              <a:rPr lang="ko-KR" altLang="en-US" dirty="0"/>
              <a:t>홍은기</a:t>
            </a:r>
            <a:r>
              <a:rPr lang="en-US" altLang="ko-KR" dirty="0"/>
              <a:t>, </a:t>
            </a:r>
            <a:r>
              <a:rPr lang="ko-KR" altLang="en-US" dirty="0"/>
              <a:t>허다운님께서 많은 도움을 주셨습니다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48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논문의 제목을 크게 </a:t>
            </a:r>
            <a:r>
              <a:rPr lang="en-US" altLang="ko-KR" dirty="0"/>
              <a:t>4</a:t>
            </a:r>
            <a:r>
              <a:rPr lang="ko-KR" altLang="en-US" dirty="0"/>
              <a:t>단계로 나눠봤습니다</a:t>
            </a:r>
            <a:r>
              <a:rPr lang="en-US" altLang="ko-KR" dirty="0"/>
              <a:t>. </a:t>
            </a:r>
            <a:r>
              <a:rPr lang="ko-KR" altLang="en-US" dirty="0"/>
              <a:t>제가 나타낸 텍스트에는 아래부터 </a:t>
            </a:r>
            <a:r>
              <a:rPr lang="en-US" altLang="ko-KR" dirty="0"/>
              <a:t>Anomaly Detection and Segmentation, Support Vector Data Description, Deep Learning, </a:t>
            </a:r>
            <a:r>
              <a:rPr lang="ko-KR" altLang="en-US" dirty="0"/>
              <a:t>그리고 </a:t>
            </a:r>
            <a:r>
              <a:rPr lang="en-US" altLang="ko-KR" dirty="0"/>
              <a:t>patch-level</a:t>
            </a:r>
            <a:r>
              <a:rPr lang="ko-KR" altLang="en-US" dirty="0"/>
              <a:t>으로 단어들이 나열되어 있는데요</a:t>
            </a:r>
            <a:r>
              <a:rPr lang="en-US" altLang="ko-KR" dirty="0"/>
              <a:t>. </a:t>
            </a:r>
            <a:r>
              <a:rPr lang="ko-KR" altLang="en-US" dirty="0"/>
              <a:t>논문에서는 </a:t>
            </a:r>
            <a:r>
              <a:rPr lang="en-US" altLang="ko-KR" dirty="0"/>
              <a:t>Deep </a:t>
            </a:r>
            <a:r>
              <a:rPr lang="ko-KR" altLang="en-US" dirty="0"/>
              <a:t>이라는 단어를 사용하지는 않았지만</a:t>
            </a:r>
            <a:r>
              <a:rPr lang="en-US" altLang="ko-KR" dirty="0"/>
              <a:t>, </a:t>
            </a:r>
            <a:r>
              <a:rPr lang="ko-KR" altLang="en-US" dirty="0"/>
              <a:t>논문에서 </a:t>
            </a:r>
            <a:r>
              <a:rPr lang="en-US" altLang="ko-KR" dirty="0"/>
              <a:t>deep learning</a:t>
            </a:r>
            <a:r>
              <a:rPr lang="ko-KR" altLang="en-US" dirty="0"/>
              <a:t>이 사용되기 때문에 제가 설명을 위하여 추가하였습니다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en-US" altLang="ko-KR" dirty="0"/>
              <a:t>Support Vector Data Description</a:t>
            </a:r>
            <a:r>
              <a:rPr lang="ko-KR" altLang="en-US" dirty="0"/>
              <a:t>은 뒤에서는 편의상 </a:t>
            </a:r>
            <a:r>
              <a:rPr lang="en-US" altLang="ko-KR" dirty="0"/>
              <a:t>SVDD</a:t>
            </a:r>
            <a:r>
              <a:rPr lang="ko-KR" altLang="en-US" dirty="0"/>
              <a:t>로 불릴 예정입니다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73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 순서는 텍스트의 아래부터 위로 진행할 예정입니다</a:t>
            </a:r>
            <a:r>
              <a:rPr lang="en-US" altLang="ko-KR" dirty="0"/>
              <a:t>. </a:t>
            </a:r>
            <a:r>
              <a:rPr lang="ko-KR" altLang="en-US" dirty="0"/>
              <a:t>빨간 점선 아래부분의 선수지식을 차례로 설명드린 이후에 본 논문에서 </a:t>
            </a:r>
            <a:r>
              <a:rPr lang="en-US" altLang="ko-KR" dirty="0"/>
              <a:t>Patch level</a:t>
            </a:r>
            <a:r>
              <a:rPr lang="ko-KR" altLang="en-US" dirty="0"/>
              <a:t>의 </a:t>
            </a:r>
            <a:r>
              <a:rPr lang="en-US" altLang="ko-KR" dirty="0"/>
              <a:t>Deep SVDD</a:t>
            </a:r>
            <a:r>
              <a:rPr lang="ko-KR" altLang="en-US" dirty="0"/>
              <a:t>를 어떻게 </a:t>
            </a:r>
            <a:r>
              <a:rPr lang="en-US" altLang="ko-KR" dirty="0"/>
              <a:t>Anomaly</a:t>
            </a:r>
            <a:r>
              <a:rPr lang="ko-KR" altLang="en-US" dirty="0"/>
              <a:t> </a:t>
            </a:r>
            <a:r>
              <a:rPr lang="en-US" altLang="ko-KR" dirty="0"/>
              <a:t>detection</a:t>
            </a:r>
            <a:r>
              <a:rPr lang="ko-KR" altLang="en-US" dirty="0"/>
              <a:t>과 </a:t>
            </a:r>
            <a:r>
              <a:rPr lang="en-US" altLang="ko-KR" dirty="0"/>
              <a:t>segmentation</a:t>
            </a:r>
            <a:r>
              <a:rPr lang="ko-KR" altLang="en-US" dirty="0"/>
              <a:t>에 적용하였는지 설명드리겠습니다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338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그럼 먼저 가볍게 </a:t>
            </a:r>
            <a:r>
              <a:rPr lang="en-US" altLang="ko-KR" dirty="0"/>
              <a:t>Anomaly detection</a:t>
            </a:r>
            <a:r>
              <a:rPr lang="ko-KR" altLang="en-US" dirty="0"/>
              <a:t>에 대해서 설명드리겠습니다</a:t>
            </a:r>
            <a:r>
              <a:rPr lang="en-US" altLang="ko-KR" dirty="0"/>
              <a:t>. </a:t>
            </a:r>
            <a:r>
              <a:rPr lang="ko-KR" altLang="en-US" dirty="0"/>
              <a:t>저희가 </a:t>
            </a:r>
            <a:r>
              <a:rPr lang="ko-KR" altLang="en-US"/>
              <a:t>지난번에도 고형권님께서도 </a:t>
            </a:r>
            <a:r>
              <a:rPr lang="en-US" altLang="ko-KR" dirty="0"/>
              <a:t>anomaly detection </a:t>
            </a:r>
            <a:r>
              <a:rPr lang="ko-KR" altLang="en-US" dirty="0"/>
              <a:t>에 관한 논문 </a:t>
            </a:r>
            <a:r>
              <a:rPr lang="ko-KR" altLang="en-US"/>
              <a:t>리뷰를 진행해주셨는데요</a:t>
            </a:r>
            <a:r>
              <a:rPr lang="en-US" altLang="ko-KR" dirty="0"/>
              <a:t>. </a:t>
            </a:r>
            <a:r>
              <a:rPr lang="ko-KR" altLang="en-US" dirty="0"/>
              <a:t>다시 한번 설명드리면 </a:t>
            </a:r>
            <a:r>
              <a:rPr lang="en-US" altLang="ko-KR" dirty="0"/>
              <a:t>anomaly detection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ko-KR" altLang="en-US" dirty="0"/>
              <a:t>주어진 데이터셋에서 비정상 데이터를 찾는 문제입니다</a:t>
            </a:r>
            <a:r>
              <a:rPr lang="en-US" altLang="ko-KR"/>
              <a:t>. </a:t>
            </a:r>
            <a:r>
              <a:rPr lang="ko-KR" altLang="en-US"/>
              <a:t>특히 비전 문제에서는 시각적으로 확인되는 이상치들을 탐지하는 것을 목표로 하게됩니다</a:t>
            </a:r>
            <a:r>
              <a:rPr lang="en-US" altLang="ko-KR"/>
              <a:t>. </a:t>
            </a:r>
            <a:r>
              <a:rPr lang="ko-KR" altLang="en-US"/>
              <a:t>여기 실생활 예제로 부탄가스 제조 공정을 가져왔습니다</a:t>
            </a:r>
            <a:r>
              <a:rPr lang="en-US" altLang="ko-KR"/>
              <a:t>. </a:t>
            </a:r>
            <a:r>
              <a:rPr lang="ko-KR" altLang="en-US"/>
              <a:t>부탄가스 공정에서 부탄가스통을 물에 넣고 레일을 지나가게 할 때</a:t>
            </a:r>
            <a:r>
              <a:rPr lang="en-US" altLang="ko-KR"/>
              <a:t>, </a:t>
            </a:r>
            <a:r>
              <a:rPr lang="ko-KR" altLang="en-US"/>
              <a:t>만약 가스가 새고 있으면</a:t>
            </a:r>
            <a:r>
              <a:rPr lang="en-US" altLang="ko-KR"/>
              <a:t>, </a:t>
            </a:r>
            <a:r>
              <a:rPr lang="ko-KR" altLang="en-US"/>
              <a:t>거품이 눈으로 확인될 것이고</a:t>
            </a:r>
            <a:r>
              <a:rPr lang="en-US" altLang="ko-KR"/>
              <a:t>, </a:t>
            </a:r>
            <a:r>
              <a:rPr lang="ko-KR" altLang="en-US"/>
              <a:t>이를 이상치로 판단하게 됩니다</a:t>
            </a:r>
            <a:r>
              <a:rPr lang="en-US" altLang="ko-KR"/>
              <a:t>. </a:t>
            </a:r>
            <a:r>
              <a:rPr lang="ko-KR" altLang="en-US"/>
              <a:t>물론 이 예제에서는 작업자가 직접 </a:t>
            </a:r>
            <a:r>
              <a:rPr lang="en-US" altLang="ko-KR"/>
              <a:t>anomaly detection</a:t>
            </a:r>
            <a:r>
              <a:rPr lang="ko-KR" altLang="en-US"/>
              <a:t>을 수행하는데</a:t>
            </a:r>
            <a:r>
              <a:rPr lang="en-US" altLang="ko-KR"/>
              <a:t>, </a:t>
            </a:r>
            <a:r>
              <a:rPr lang="ko-KR" altLang="en-US"/>
              <a:t>많은 연구진들이 이러한 과정을 자동화하기 위한 연구를 진행하고 있습니다</a:t>
            </a:r>
            <a:r>
              <a:rPr lang="en-US" altLang="ko-KR"/>
              <a:t>.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309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논문에서는 산업 및 일상 생활에서 만날 수 있는 물체들로 구성된 </a:t>
            </a:r>
            <a:r>
              <a:rPr lang="en-US" altLang="ko-KR" dirty="0" err="1"/>
              <a:t>MVTec</a:t>
            </a:r>
            <a:r>
              <a:rPr lang="en-US" altLang="ko-KR" dirty="0"/>
              <a:t> anomaly</a:t>
            </a:r>
            <a:r>
              <a:rPr lang="ko-KR" altLang="en-US" dirty="0"/>
              <a:t> </a:t>
            </a:r>
            <a:r>
              <a:rPr lang="en-US" altLang="ko-KR" dirty="0"/>
              <a:t>detection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  <a:r>
              <a:rPr lang="ko-KR" altLang="en-US" dirty="0"/>
              <a:t>을 사용합니다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MVTEC</a:t>
            </a:r>
            <a:r>
              <a:rPr lang="ko-KR" altLang="en-US" dirty="0"/>
              <a:t>은 회사 이름입니다</a:t>
            </a:r>
            <a:r>
              <a:rPr lang="en-US" altLang="ko-KR" dirty="0"/>
              <a:t>. </a:t>
            </a:r>
            <a:r>
              <a:rPr lang="ko-KR" altLang="en-US" dirty="0"/>
              <a:t>데이터셋의 특징은 정상 데이터만을 이용하여 학습 데이터를 구성했다는데 있을 것 같습니다</a:t>
            </a:r>
            <a:r>
              <a:rPr lang="en-US" altLang="ko-KR" dirty="0"/>
              <a:t>. </a:t>
            </a:r>
            <a:r>
              <a:rPr lang="ko-KR" altLang="en-US" dirty="0"/>
              <a:t>그래서 그림에 첫번째 줄에 나타나있는 정상 데이터셋 만을 이용해서 학습을 진행하게 됩니다</a:t>
            </a:r>
            <a:r>
              <a:rPr lang="en-US" altLang="ko-KR" dirty="0"/>
              <a:t>. </a:t>
            </a:r>
            <a:r>
              <a:rPr lang="ko-KR" altLang="en-US" dirty="0"/>
              <a:t>테스트는 크게 </a:t>
            </a:r>
            <a:r>
              <a:rPr lang="en-US" altLang="ko-KR" dirty="0"/>
              <a:t>Detection </a:t>
            </a:r>
            <a:r>
              <a:rPr lang="ko-KR" altLang="en-US" dirty="0"/>
              <a:t>과 </a:t>
            </a:r>
            <a:r>
              <a:rPr lang="en-US" altLang="ko-KR" dirty="0"/>
              <a:t>Segmentation</a:t>
            </a:r>
            <a:r>
              <a:rPr lang="ko-KR" altLang="en-US" dirty="0"/>
              <a:t>으로 나눠지는데요</a:t>
            </a:r>
            <a:r>
              <a:rPr lang="en-US" altLang="ko-KR" dirty="0"/>
              <a:t>. Detection</a:t>
            </a:r>
            <a:r>
              <a:rPr lang="ko-KR" altLang="en-US" dirty="0"/>
              <a:t>은 주어진 이미지가 이상치를 포함하는지 아닌지를 판정하고</a:t>
            </a:r>
            <a:r>
              <a:rPr lang="en-US" altLang="ko-KR" dirty="0"/>
              <a:t>, Segmentation</a:t>
            </a:r>
            <a:r>
              <a:rPr lang="ko-KR" altLang="en-US" dirty="0"/>
              <a:t>은 그 이상치의 위치를 픽셀단위로 판정하는 테스크입니다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003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이러한 이상치 문제를 풀기 위해서 사용되었던 </a:t>
            </a:r>
            <a:r>
              <a:rPr lang="en-US" altLang="ko-KR" dirty="0"/>
              <a:t>Deep SVDD</a:t>
            </a:r>
            <a:r>
              <a:rPr lang="ko-KR" altLang="en-US" dirty="0"/>
              <a:t>가 어떤 과정을 통하여 발전하여 왔는지 설명드리겠습니다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SVDD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40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36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67FCD5CC-8BB5-48A4-826B-B5EB90FC3B1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3"/>
          <a:stretch/>
        </p:blipFill>
        <p:spPr bwMode="auto">
          <a:xfrm>
            <a:off x="6579609" y="6932"/>
            <a:ext cx="694227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B49957-6D59-40F7-8C0A-7668FBE36560}"/>
              </a:ext>
            </a:extLst>
          </p:cNvPr>
          <p:cNvSpPr/>
          <p:nvPr userDrawn="1"/>
        </p:nvSpPr>
        <p:spPr>
          <a:xfrm>
            <a:off x="7273836" y="6932"/>
            <a:ext cx="2180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딥</a:t>
            </a:r>
            <a:r>
              <a:rPr lang="ko-KR" altLang="en-US" sz="1400"/>
              <a:t>러닝 </a:t>
            </a:r>
            <a:r>
              <a:rPr lang="ko-KR" altLang="en-US" sz="1400" b="1"/>
              <a:t>논</a:t>
            </a:r>
            <a:r>
              <a:rPr lang="ko-KR" altLang="en-US" sz="1400"/>
              <a:t>문 </a:t>
            </a:r>
            <a:r>
              <a:rPr lang="ko-KR" altLang="en-US" sz="1400" b="1"/>
              <a:t>읽</a:t>
            </a:r>
            <a:r>
              <a:rPr lang="ko-KR" altLang="en-US" sz="1400"/>
              <a:t>기모임</a:t>
            </a:r>
            <a:endParaRPr lang="en-US" altLang="ko-KR" sz="1400"/>
          </a:p>
          <a:p>
            <a:r>
              <a:rPr lang="ko-KR" altLang="en-US" sz="1400"/>
              <a:t>이미지처리팀</a:t>
            </a:r>
          </a:p>
        </p:txBody>
      </p: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6B330DEA-5F47-47F8-A1DD-6648A15A33B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3"/>
          <a:stretch/>
        </p:blipFill>
        <p:spPr bwMode="auto">
          <a:xfrm>
            <a:off x="68495" y="6165304"/>
            <a:ext cx="808159" cy="6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E2F6574-C5D8-49D2-B995-9AB5DFAB4F9D}"/>
              </a:ext>
            </a:extLst>
          </p:cNvPr>
          <p:cNvSpPr/>
          <p:nvPr userDrawn="1"/>
        </p:nvSpPr>
        <p:spPr>
          <a:xfrm>
            <a:off x="876364" y="6093306"/>
            <a:ext cx="89960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/>
              <a:t>딥</a:t>
            </a:r>
            <a:r>
              <a:rPr lang="ko-KR" altLang="en-US" sz="1400"/>
              <a:t>러닝</a:t>
            </a:r>
            <a:endParaRPr lang="en-US" altLang="ko-KR" sz="1400"/>
          </a:p>
          <a:p>
            <a:r>
              <a:rPr lang="ko-KR" altLang="en-US" sz="1400" b="1"/>
              <a:t>논</a:t>
            </a:r>
            <a:r>
              <a:rPr lang="ko-KR" altLang="en-US" sz="1400"/>
              <a:t>문</a:t>
            </a:r>
            <a:br>
              <a:rPr lang="en-US" altLang="ko-KR" sz="1400"/>
            </a:br>
            <a:r>
              <a:rPr lang="ko-KR" altLang="en-US" sz="1400" b="1"/>
              <a:t>읽</a:t>
            </a:r>
            <a:r>
              <a:rPr lang="ko-KR" altLang="en-US" sz="1400"/>
              <a:t>기모임</a:t>
            </a:r>
          </a:p>
        </p:txBody>
      </p:sp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B2B19319-5BD3-4455-9A5F-DB0097C1245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3"/>
          <a:stretch/>
        </p:blipFill>
        <p:spPr bwMode="auto">
          <a:xfrm>
            <a:off x="68495" y="6165304"/>
            <a:ext cx="808159" cy="6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C3B7C4-7EF7-458A-9701-BFB152B441E7}"/>
              </a:ext>
            </a:extLst>
          </p:cNvPr>
          <p:cNvSpPr/>
          <p:nvPr userDrawn="1"/>
        </p:nvSpPr>
        <p:spPr>
          <a:xfrm>
            <a:off x="876364" y="6093306"/>
            <a:ext cx="89960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/>
              <a:t>딥</a:t>
            </a:r>
            <a:r>
              <a:rPr lang="ko-KR" altLang="en-US" sz="1400"/>
              <a:t>러닝</a:t>
            </a:r>
            <a:endParaRPr lang="en-US" altLang="ko-KR" sz="1400"/>
          </a:p>
          <a:p>
            <a:r>
              <a:rPr lang="ko-KR" altLang="en-US" sz="1400" b="1"/>
              <a:t>논</a:t>
            </a:r>
            <a:r>
              <a:rPr lang="ko-KR" altLang="en-US" sz="1400"/>
              <a:t>문</a:t>
            </a:r>
            <a:br>
              <a:rPr lang="en-US" altLang="ko-KR" sz="1400"/>
            </a:br>
            <a:r>
              <a:rPr lang="ko-KR" altLang="en-US" sz="1400" b="1"/>
              <a:t>읽</a:t>
            </a:r>
            <a:r>
              <a:rPr lang="ko-KR" altLang="en-US" sz="1400"/>
              <a:t>기모임</a:t>
            </a:r>
          </a:p>
        </p:txBody>
      </p: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7" name="직선 연결선 16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70A2F6-EAB3-44E6-8B8B-768391494A4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3"/>
          <a:stretch/>
        </p:blipFill>
        <p:spPr bwMode="auto">
          <a:xfrm>
            <a:off x="68495" y="6165304"/>
            <a:ext cx="808159" cy="6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24C18F-A1F3-4AE1-9C51-6517B129A083}"/>
              </a:ext>
            </a:extLst>
          </p:cNvPr>
          <p:cNvSpPr/>
          <p:nvPr userDrawn="1"/>
        </p:nvSpPr>
        <p:spPr>
          <a:xfrm>
            <a:off x="876364" y="6093306"/>
            <a:ext cx="89960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/>
              <a:t>딥</a:t>
            </a:r>
            <a:r>
              <a:rPr lang="ko-KR" altLang="en-US" sz="1400"/>
              <a:t>러닝</a:t>
            </a:r>
            <a:endParaRPr lang="en-US" altLang="ko-KR" sz="1400"/>
          </a:p>
          <a:p>
            <a:r>
              <a:rPr lang="ko-KR" altLang="en-US" sz="1400" b="1"/>
              <a:t>논</a:t>
            </a:r>
            <a:r>
              <a:rPr lang="ko-KR" altLang="en-US" sz="1400"/>
              <a:t>문</a:t>
            </a:r>
            <a:br>
              <a:rPr lang="en-US" altLang="ko-KR" sz="1400"/>
            </a:br>
            <a:r>
              <a:rPr lang="ko-KR" altLang="en-US" sz="1400" b="1"/>
              <a:t>읽</a:t>
            </a:r>
            <a:r>
              <a:rPr lang="ko-KR" altLang="en-US" sz="1400"/>
              <a:t>기모임</a:t>
            </a:r>
          </a:p>
        </p:txBody>
      </p: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gi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dirty="0"/>
              <a:t>Patch SVDD : Path-level Support Vector Data Description for Anomaly Detection and Segmentation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>
          <a:xfrm>
            <a:off x="2138928" y="4249377"/>
            <a:ext cx="6715172" cy="207170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cs typeface="Arial Unicode MS" panose="020B0604020202020204" pitchFamily="50" charset="-127"/>
              </a:rPr>
              <a:t>Authors : </a:t>
            </a:r>
            <a:r>
              <a:rPr lang="en-US" altLang="ko-KR" sz="2400" dirty="0" err="1"/>
              <a:t>Jihun</a:t>
            </a:r>
            <a:r>
              <a:rPr lang="en-US" altLang="ko-KR" sz="2400" dirty="0"/>
              <a:t> Yi and </a:t>
            </a:r>
            <a:r>
              <a:rPr lang="en-US" altLang="ko-KR" sz="2400" dirty="0" err="1"/>
              <a:t>Sungroh</a:t>
            </a:r>
            <a:r>
              <a:rPr lang="en-US" altLang="ko-KR" sz="2400" dirty="0"/>
              <a:t> Yoon,</a:t>
            </a:r>
          </a:p>
          <a:p>
            <a:r>
              <a:rPr lang="en-US" altLang="ko-KR" sz="2400" b="1" dirty="0"/>
              <a:t>Seoul National University</a:t>
            </a:r>
            <a:endParaRPr lang="en-US" altLang="ko-KR" sz="2400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09808" y="1206699"/>
            <a:ext cx="4248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Feb/28/2021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57380-9633-4D16-8C87-EE09CF5A7B49}"/>
              </a:ext>
            </a:extLst>
          </p:cNvPr>
          <p:cNvSpPr/>
          <p:nvPr/>
        </p:nvSpPr>
        <p:spPr>
          <a:xfrm>
            <a:off x="7443136" y="1568700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ACCV 2020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F1B73-6F80-40B5-BD56-BB264787B0A1}"/>
              </a:ext>
            </a:extLst>
          </p:cNvPr>
          <p:cNvSpPr/>
          <p:nvPr/>
        </p:nvSpPr>
        <p:spPr>
          <a:xfrm>
            <a:off x="5250661" y="536921"/>
            <a:ext cx="39208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cs typeface="Arial Unicode MS" panose="020B0604020202020204" pitchFamily="50" charset="-127"/>
              </a:rPr>
              <a:t>김병현 박동훈 안종식</a:t>
            </a:r>
            <a:r>
              <a:rPr lang="en-US" altLang="ko-KR" b="1">
                <a:cs typeface="Arial Unicode MS" panose="020B0604020202020204" pitchFamily="50" charset="-127"/>
              </a:rPr>
              <a:t> </a:t>
            </a:r>
            <a:r>
              <a:rPr lang="ko-KR" altLang="en-US" b="1">
                <a:cs typeface="Arial Unicode MS" panose="020B0604020202020204" pitchFamily="50" charset="-127"/>
              </a:rPr>
              <a:t>홍은기</a:t>
            </a:r>
            <a:r>
              <a:rPr lang="en-US" altLang="ko-KR" b="1">
                <a:cs typeface="Arial Unicode MS" panose="020B0604020202020204" pitchFamily="50" charset="-127"/>
              </a:rPr>
              <a:t> </a:t>
            </a:r>
            <a:r>
              <a:rPr lang="ko-KR" altLang="en-US" b="1">
                <a:cs typeface="Arial Unicode MS" panose="020B0604020202020204" pitchFamily="50" charset="-127"/>
              </a:rPr>
              <a:t>허다운</a:t>
            </a:r>
            <a:endParaRPr lang="en-US" altLang="ko-KR" b="1"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686E-48CD-449C-A2F5-801A720D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Contents of Patch SVDD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FACE2-F82E-4C23-A278-84B3D604D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FD534-B250-4F34-9BA9-C7DBCD5D2158}"/>
              </a:ext>
            </a:extLst>
          </p:cNvPr>
          <p:cNvSpPr/>
          <p:nvPr/>
        </p:nvSpPr>
        <p:spPr>
          <a:xfrm>
            <a:off x="377534" y="1536174"/>
            <a:ext cx="838893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>
                <a:effectLst>
                  <a:glow rad="63500">
                    <a:srgbClr val="FF0000">
                      <a:alpha val="40000"/>
                    </a:srgbClr>
                  </a:glow>
                </a:effectLst>
                <a:latin typeface="+mj-ea"/>
                <a:ea typeface="+mj-ea"/>
              </a:rPr>
              <a:t>Patch-level</a:t>
            </a:r>
          </a:p>
          <a:p>
            <a:pPr algn="ctr"/>
            <a:r>
              <a:rPr lang="en-US" altLang="ko-KR" sz="3600" dirty="0"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+mj-ea"/>
                <a:ea typeface="+mj-ea"/>
              </a:rPr>
              <a:t>(Deep Learning)</a:t>
            </a:r>
            <a:br>
              <a:rPr lang="en-US" altLang="ko-KR" sz="3600" dirty="0"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+mj-ea"/>
                <a:ea typeface="+mj-ea"/>
              </a:rPr>
            </a:br>
            <a:r>
              <a:rPr lang="en-US" altLang="ko-KR" sz="3600" dirty="0">
                <a:effectLst>
                  <a:glow rad="127000">
                    <a:srgbClr val="FFFF00"/>
                  </a:glow>
                </a:effectLst>
                <a:latin typeface="+mj-ea"/>
                <a:ea typeface="+mj-ea"/>
              </a:rPr>
              <a:t> </a:t>
            </a:r>
            <a:r>
              <a:rPr lang="en-US" altLang="ko-KR" sz="3600" dirty="0">
                <a:effectLst>
                  <a:glow rad="127000">
                    <a:srgbClr val="92D050"/>
                  </a:glow>
                </a:effectLst>
                <a:latin typeface="+mj-ea"/>
                <a:ea typeface="+mj-ea"/>
              </a:rPr>
              <a:t>Support Vector </a:t>
            </a:r>
          </a:p>
          <a:p>
            <a:pPr algn="ctr"/>
            <a:r>
              <a:rPr lang="en-US" altLang="ko-KR" sz="3600" dirty="0">
                <a:effectLst>
                  <a:glow rad="127000">
                    <a:srgbClr val="92D050"/>
                  </a:glow>
                </a:effectLst>
                <a:latin typeface="+mj-ea"/>
                <a:ea typeface="+mj-ea"/>
              </a:rPr>
              <a:t>Data Description (SVDD) </a:t>
            </a:r>
          </a:p>
          <a:p>
            <a:pPr algn="ctr"/>
            <a:r>
              <a:rPr lang="en-US" altLang="ko-KR" sz="3600" dirty="0">
                <a:latin typeface="+mj-ea"/>
                <a:ea typeface="+mj-ea"/>
              </a:rPr>
              <a:t>for </a:t>
            </a:r>
            <a:r>
              <a:rPr lang="en-US" altLang="ko-KR" sz="3600" dirty="0">
                <a:effectLst>
                  <a:glow rad="88900">
                    <a:schemeClr val="accent5">
                      <a:satMod val="175000"/>
                      <a:alpha val="40000"/>
                    </a:schemeClr>
                  </a:glow>
                </a:effectLst>
                <a:latin typeface="+mj-ea"/>
                <a:ea typeface="+mj-ea"/>
              </a:rPr>
              <a:t>Anomaly Detection and Segmentation</a:t>
            </a:r>
            <a:endParaRPr lang="ko-KR" altLang="en-US" sz="3600" dirty="0">
              <a:effectLst>
                <a:glow rad="88900">
                  <a:schemeClr val="accent5">
                    <a:satMod val="175000"/>
                    <a:alpha val="40000"/>
                  </a:schemeClr>
                </a:glo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868708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686E-48CD-449C-A2F5-801A720D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Contents of Patch SVDD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FACE2-F82E-4C23-A278-84B3D604D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FD534-B250-4F34-9BA9-C7DBCD5D2158}"/>
              </a:ext>
            </a:extLst>
          </p:cNvPr>
          <p:cNvSpPr/>
          <p:nvPr/>
        </p:nvSpPr>
        <p:spPr>
          <a:xfrm>
            <a:off x="377534" y="1536174"/>
            <a:ext cx="838893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Patch-level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01600">
                    <a:srgbClr val="F79646">
                      <a:satMod val="175000"/>
                      <a:alpha val="40000"/>
                    </a:srgb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lang="en-US" altLang="ko-KR" sz="3600" dirty="0"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+mj-ea"/>
                <a:ea typeface="+mj-ea"/>
              </a:rPr>
              <a:t>Deep Learning</a:t>
            </a: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01600">
                    <a:srgbClr val="F79646">
                      <a:satMod val="175000"/>
                      <a:alpha val="40000"/>
                    </a:srgb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b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01600">
                    <a:srgbClr val="F79646">
                      <a:satMod val="175000"/>
                      <a:alpha val="40000"/>
                    </a:srgb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92D050"/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Support Vector 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92D050"/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Description (SVDD) 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 </a:t>
            </a: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88900">
                    <a:srgbClr val="4BACC6">
                      <a:satMod val="175000"/>
                      <a:alpha val="40000"/>
                    </a:srgbClr>
                  </a:glo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Anomaly Detection and Segmentation</a:t>
            </a:r>
            <a:endParaRPr kumimoji="1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88900">
                  <a:srgbClr val="4BACC6">
                    <a:satMod val="175000"/>
                    <a:alpha val="40000"/>
                  </a:srgbClr>
                </a:glo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23ACE0-5C72-49A2-A4E5-56A6FA81209D}"/>
              </a:ext>
            </a:extLst>
          </p:cNvPr>
          <p:cNvCxnSpPr/>
          <p:nvPr/>
        </p:nvCxnSpPr>
        <p:spPr>
          <a:xfrm>
            <a:off x="71500" y="2276872"/>
            <a:ext cx="9072500" cy="0"/>
          </a:xfrm>
          <a:prstGeom prst="line">
            <a:avLst/>
          </a:prstGeom>
          <a:ln w="22225">
            <a:solidFill>
              <a:srgbClr val="FF5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B11F71-58EA-4C69-80F8-D65B6CEEBFE0}"/>
              </a:ext>
            </a:extLst>
          </p:cNvPr>
          <p:cNvSpPr txBox="1"/>
          <p:nvPr/>
        </p:nvSpPr>
        <p:spPr>
          <a:xfrm>
            <a:off x="251353" y="1727282"/>
            <a:ext cx="2232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Contribution</a:t>
            </a:r>
            <a:endParaRPr lang="ko-KR" altLang="en-US" sz="2800" dirty="0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62EBF-033C-42D3-B443-3183B7896C61}"/>
              </a:ext>
            </a:extLst>
          </p:cNvPr>
          <p:cNvSpPr txBox="1"/>
          <p:nvPr/>
        </p:nvSpPr>
        <p:spPr>
          <a:xfrm>
            <a:off x="251353" y="2407019"/>
            <a:ext cx="2232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Prerequisite</a:t>
            </a:r>
            <a:endParaRPr lang="ko-KR" altLang="en-US" sz="2800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BB48C9-61DD-4AFB-8D7E-D20D8872921D}"/>
              </a:ext>
            </a:extLst>
          </p:cNvPr>
          <p:cNvCxnSpPr/>
          <p:nvPr/>
        </p:nvCxnSpPr>
        <p:spPr>
          <a:xfrm flipV="1">
            <a:off x="7668344" y="1748741"/>
            <a:ext cx="0" cy="340987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9D2D0-867C-4E9E-8DC6-8D735D04C274}"/>
              </a:ext>
            </a:extLst>
          </p:cNvPr>
          <p:cNvSpPr txBox="1"/>
          <p:nvPr/>
        </p:nvSpPr>
        <p:spPr>
          <a:xfrm rot="5400000">
            <a:off x="6858171" y="3235225"/>
            <a:ext cx="2232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발표순서</a:t>
            </a:r>
            <a:endParaRPr lang="ko-KR" altLang="en-US" sz="2800" dirty="0"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980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50F397-1E21-40E7-AA36-1145B4A4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What is Anomaly Detection </a:t>
            </a:r>
            <a:endParaRPr lang="ko-KR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581E5-5DCE-4F3C-B53E-40B000F13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2773AF-0950-42E3-8253-DE2921F0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Anomaly</a:t>
            </a:r>
            <a:r>
              <a:rPr lang="ko-KR" altLang="en-US" sz="2000" dirty="0"/>
              <a:t> </a:t>
            </a:r>
            <a:r>
              <a:rPr lang="en-US" altLang="ko-KR" sz="2000" dirty="0"/>
              <a:t>Detection</a:t>
            </a:r>
          </a:p>
          <a:p>
            <a:pPr lvl="1"/>
            <a:r>
              <a:rPr lang="ko-KR" altLang="en-US" sz="1600" dirty="0"/>
              <a:t>주어진 정상 데이터를 이용하여 비정상 데이터를 찾는 문제 </a:t>
            </a:r>
            <a:endParaRPr lang="en-US" altLang="ko-KR" sz="1600" dirty="0"/>
          </a:p>
          <a:p>
            <a:r>
              <a:rPr lang="ko-KR" altLang="en-US" sz="2000" dirty="0"/>
              <a:t>이상치 탐지 실생활 예제 </a:t>
            </a:r>
            <a:endParaRPr lang="en-US" altLang="ko-KR" sz="2000" dirty="0"/>
          </a:p>
          <a:p>
            <a:pPr lvl="1"/>
            <a:r>
              <a:rPr lang="ko-KR" altLang="en-US" sz="1600"/>
              <a:t>가스가 새는 부탄가스 검수 </a:t>
            </a:r>
            <a:endParaRPr lang="ko-KR" alt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4D7919-7753-43FA-90B2-0AC78409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08" y="2816932"/>
            <a:ext cx="5976664" cy="33401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218DC1-B4D8-49CB-8A38-541C64425209}"/>
              </a:ext>
            </a:extLst>
          </p:cNvPr>
          <p:cNvSpPr/>
          <p:nvPr/>
        </p:nvSpPr>
        <p:spPr>
          <a:xfrm>
            <a:off x="3086013" y="6604084"/>
            <a:ext cx="514857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/>
              <a:t>https://www.youtube.com/watch?v=jK6IRm9Jfjo&amp;ab_channel=SBSSTORY</a:t>
            </a:r>
          </a:p>
        </p:txBody>
      </p:sp>
    </p:spTree>
    <p:extLst>
      <p:ext uri="{BB962C8B-B14F-4D97-AF65-F5344CB8AC3E}">
        <p14:creationId xmlns:p14="http://schemas.microsoft.com/office/powerpoint/2010/main" val="295352622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5C06-C24F-4340-8007-160F81DF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MVTec</a:t>
            </a:r>
            <a:r>
              <a:rPr lang="en-US" altLang="ko-KR" dirty="0"/>
              <a:t> Anomaly Dataset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1466-6AA6-4AEF-A07B-34B37232A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 Description</a:t>
            </a:r>
          </a:p>
          <a:p>
            <a:pPr lvl="1"/>
            <a:r>
              <a:rPr lang="en-US" altLang="ko-KR" sz="1600" b="0" dirty="0"/>
              <a:t>Training Dataset only includes </a:t>
            </a:r>
            <a:r>
              <a:rPr lang="en-US" altLang="ko-KR" sz="1600" b="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NORMAL DATASET</a:t>
            </a:r>
            <a:r>
              <a:rPr lang="en-US" altLang="ko-KR" sz="1600" b="0" dirty="0"/>
              <a:t> </a:t>
            </a:r>
          </a:p>
          <a:p>
            <a:pPr lvl="1"/>
            <a:r>
              <a:rPr lang="en-US" altLang="ko-KR" sz="1600" b="0" dirty="0"/>
              <a:t>Test Tasks</a:t>
            </a:r>
          </a:p>
          <a:p>
            <a:pPr lvl="2"/>
            <a:r>
              <a:rPr lang="en-US" altLang="ko-KR" sz="1600" b="1" dirty="0"/>
              <a:t>Detection vs Segmentation</a:t>
            </a:r>
          </a:p>
          <a:p>
            <a:pPr lvl="1"/>
            <a:r>
              <a:rPr lang="en-US" altLang="ko-KR" sz="1600" b="0" dirty="0"/>
              <a:t>Object classes</a:t>
            </a:r>
          </a:p>
          <a:p>
            <a:pPr lvl="2"/>
            <a:r>
              <a:rPr lang="en-US" altLang="ko-KR" sz="1400" dirty="0"/>
              <a:t>Bottle, Cable, Capsule, Carpet, Grid, Hazelnut, Leather, Metal Nut, Pill, Screw, Tile, Toothbrush, Transistor, Wood, Zipper</a:t>
            </a:r>
            <a:endParaRPr lang="ko-KR" alt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FC11C-547D-42B6-AC0F-AB91049227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pic>
        <p:nvPicPr>
          <p:cNvPr id="2050" name="Picture 2" descr="Some images with good and bad examples">
            <a:extLst>
              <a:ext uri="{FF2B5EF4-FFF2-40B4-BE49-F238E27FC236}">
                <a16:creationId xmlns:a16="http://schemas.microsoft.com/office/drawing/2014/main" id="{BCAF8B4C-AA58-449F-93AC-0481FB9A6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05" y="3451817"/>
            <a:ext cx="5475922" cy="278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E6FFBF-0AA4-4D1C-86AE-023D244B75B3}"/>
              </a:ext>
            </a:extLst>
          </p:cNvPr>
          <p:cNvSpPr/>
          <p:nvPr/>
        </p:nvSpPr>
        <p:spPr>
          <a:xfrm>
            <a:off x="2483768" y="6228020"/>
            <a:ext cx="4445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cap="all" dirty="0">
                <a:solidFill>
                  <a:srgbClr val="062D64"/>
                </a:solidFill>
                <a:latin typeface="futura-pt-bold"/>
              </a:rPr>
              <a:t>MVTEC ANOMALY DETECTION DATASET</a:t>
            </a:r>
            <a:endParaRPr lang="en-US" altLang="ko-KR" b="1" i="0" cap="all" dirty="0">
              <a:solidFill>
                <a:srgbClr val="062D64"/>
              </a:solidFill>
              <a:effectLst/>
              <a:latin typeface="futura-pt-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C2D7D4-60A6-4387-91AA-D68EF8CB961D}"/>
              </a:ext>
            </a:extLst>
          </p:cNvPr>
          <p:cNvSpPr/>
          <p:nvPr/>
        </p:nvSpPr>
        <p:spPr>
          <a:xfrm>
            <a:off x="4569159" y="655469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https://www.mvtec.com/company/research/datasets/mvtec-ad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A55FC-6D29-4D36-9D4F-181B31E7F749}"/>
              </a:ext>
            </a:extLst>
          </p:cNvPr>
          <p:cNvSpPr/>
          <p:nvPr/>
        </p:nvSpPr>
        <p:spPr>
          <a:xfrm>
            <a:off x="7461768" y="3645024"/>
            <a:ext cx="1140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NORMAL</a:t>
            </a:r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C09276-086B-4341-82B9-18A9E62F7980}"/>
              </a:ext>
            </a:extLst>
          </p:cNvPr>
          <p:cNvSpPr/>
          <p:nvPr/>
        </p:nvSpPr>
        <p:spPr>
          <a:xfrm>
            <a:off x="7461768" y="4429065"/>
            <a:ext cx="11047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Task 1.</a:t>
            </a:r>
          </a:p>
          <a:p>
            <a:r>
              <a:rPr lang="en-US" altLang="ko-KR" sz="160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Anomaly</a:t>
            </a:r>
            <a:endParaRPr lang="en-US" altLang="ko-KR" sz="16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altLang="ko-KR" sz="16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Detection</a:t>
            </a:r>
            <a:endParaRPr lang="ko-KR" altLang="en-US" sz="16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DB9A85-346A-4417-B663-4F5D39AEED2C}"/>
              </a:ext>
            </a:extLst>
          </p:cNvPr>
          <p:cNvSpPr/>
          <p:nvPr/>
        </p:nvSpPr>
        <p:spPr>
          <a:xfrm>
            <a:off x="7461768" y="5511788"/>
            <a:ext cx="15055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Task 2.</a:t>
            </a:r>
          </a:p>
          <a:p>
            <a:r>
              <a:rPr lang="en-US" altLang="ko-KR" sz="160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Anomaly</a:t>
            </a:r>
            <a:endParaRPr lang="en-US" altLang="ko-KR" sz="16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altLang="ko-KR" sz="16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Segmentation</a:t>
            </a:r>
            <a:endParaRPr lang="ko-KR" altLang="en-US" sz="1600" dirty="0"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37371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BE42-35C3-4E65-9AF7-DA76DF68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Support</a:t>
            </a:r>
            <a:r>
              <a:rPr lang="ko-KR" altLang="en-US"/>
              <a:t> </a:t>
            </a:r>
            <a:r>
              <a:rPr lang="en-US" altLang="ko-KR"/>
              <a:t>Data</a:t>
            </a:r>
            <a:r>
              <a:rPr lang="ko-KR" altLang="en-US"/>
              <a:t> </a:t>
            </a:r>
            <a:r>
              <a:rPr lang="en-US" altLang="ko-KR"/>
              <a:t>Description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CEE3C-4E85-4DD3-A728-CCFB739AA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694" y="1147127"/>
            <a:ext cx="4551478" cy="478535"/>
          </a:xfrm>
        </p:spPr>
        <p:txBody>
          <a:bodyPr/>
          <a:lstStyle/>
          <a:p>
            <a:r>
              <a:rPr lang="en-US" altLang="ko-KR" dirty="0"/>
              <a:t>Support Vector </a:t>
            </a:r>
            <a:br>
              <a:rPr lang="en-US" altLang="ko-KR" dirty="0"/>
            </a:br>
            <a:r>
              <a:rPr lang="en-US" altLang="ko-KR" dirty="0"/>
              <a:t>Data Description (SVDD)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3D194-24AA-40C6-A2FC-40C08BCC6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F583B-EA8D-45F7-B8DC-C0D1CBD8F6C6}"/>
              </a:ext>
            </a:extLst>
          </p:cNvPr>
          <p:cNvSpPr txBox="1">
            <a:spLocks/>
          </p:cNvSpPr>
          <p:nvPr/>
        </p:nvSpPr>
        <p:spPr bwMode="auto">
          <a:xfrm>
            <a:off x="178563" y="1140932"/>
            <a:ext cx="4213417" cy="478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2438" indent="-452438" algn="l" rtl="0" eaLnBrk="0" fontAlgn="base" latinLnBrk="1" hangingPunct="0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kern="120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 algn="l" rtl="0" eaLnBrk="0" fontAlgn="base" latinLnBrk="1" hangingPunct="0">
              <a:spcBef>
                <a:spcPts val="800"/>
              </a:spcBef>
              <a:spcAft>
                <a:spcPct val="0"/>
              </a:spcAft>
              <a:buFontTx/>
              <a:buBlip>
                <a:blip r:embed="rId3"/>
              </a:buBlip>
              <a:defRPr sz="20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 algn="l" rtl="0" eaLnBrk="0" fontAlgn="base" latinLnBrk="1" hangingPunct="0">
              <a:spcBef>
                <a:spcPts val="700"/>
              </a:spcBef>
              <a:spcAft>
                <a:spcPct val="0"/>
              </a:spcAft>
              <a:buFont typeface="Arial" charset="0"/>
              <a:buChar char="•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ts val="600"/>
              </a:spcBef>
              <a:spcAft>
                <a:spcPct val="0"/>
              </a:spcAft>
              <a:buFont typeface="Arial" charset="0"/>
              <a:buChar char="–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ts val="500"/>
              </a:spcBef>
              <a:spcAft>
                <a:spcPct val="0"/>
              </a:spcAft>
              <a:buFont typeface="Arial" charset="0"/>
              <a:buChar char="»"/>
              <a:defRPr sz="16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/>
              <a:t>Support Vector Machine </a:t>
            </a:r>
            <a:endParaRPr kumimoji="0" lang="ko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3216C-9CCC-4293-AB56-ADF9739CB0A5}"/>
              </a:ext>
            </a:extLst>
          </p:cNvPr>
          <p:cNvSpPr/>
          <p:nvPr/>
        </p:nvSpPr>
        <p:spPr>
          <a:xfrm>
            <a:off x="1665933" y="6636684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/>
              <a:t>https://en.wikipedia.org/wiki/Support-vector_machine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3818D-A0B9-476E-8EF8-A75C40235F73}"/>
              </a:ext>
            </a:extLst>
          </p:cNvPr>
          <p:cNvSpPr txBox="1"/>
          <p:nvPr/>
        </p:nvSpPr>
        <p:spPr>
          <a:xfrm>
            <a:off x="1649750" y="6527038"/>
            <a:ext cx="4773369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25" dirty="0"/>
              <a:t>http://dsba.korea.ac.kr/seminar/?pageid=1&amp;mod=document&amp;keyword=anomaly&amp;uid=1327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157D9CA-7900-4B33-AC88-04271BBE5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87" y="2047276"/>
            <a:ext cx="2289280" cy="222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B30856-5D5D-4EED-9619-1BFE26AFDA75}"/>
              </a:ext>
            </a:extLst>
          </p:cNvPr>
          <p:cNvCxnSpPr>
            <a:cxnSpLocks/>
          </p:cNvCxnSpPr>
          <p:nvPr/>
        </p:nvCxnSpPr>
        <p:spPr>
          <a:xfrm flipV="1">
            <a:off x="4664511" y="2132856"/>
            <a:ext cx="0" cy="2003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16A290-A640-4B07-9958-74BEC40071B7}"/>
              </a:ext>
            </a:extLst>
          </p:cNvPr>
          <p:cNvCxnSpPr>
            <a:cxnSpLocks/>
          </p:cNvCxnSpPr>
          <p:nvPr/>
        </p:nvCxnSpPr>
        <p:spPr>
          <a:xfrm>
            <a:off x="4485337" y="3933667"/>
            <a:ext cx="1964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74404C8-D51A-4247-B764-9BF623254F86}"/>
              </a:ext>
            </a:extLst>
          </p:cNvPr>
          <p:cNvSpPr/>
          <p:nvPr/>
        </p:nvSpPr>
        <p:spPr>
          <a:xfrm>
            <a:off x="4896036" y="281693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7B007D-DBC6-4F37-8B69-1E77206E7B75}"/>
              </a:ext>
            </a:extLst>
          </p:cNvPr>
          <p:cNvSpPr/>
          <p:nvPr/>
        </p:nvSpPr>
        <p:spPr>
          <a:xfrm>
            <a:off x="5070846" y="312840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339382-BB00-4279-8A87-4105CEA97004}"/>
              </a:ext>
            </a:extLst>
          </p:cNvPr>
          <p:cNvSpPr/>
          <p:nvPr/>
        </p:nvSpPr>
        <p:spPr>
          <a:xfrm>
            <a:off x="5142854" y="325964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29B2ED-895C-4C6D-A64F-58CD02A96688}"/>
              </a:ext>
            </a:extLst>
          </p:cNvPr>
          <p:cNvSpPr/>
          <p:nvPr/>
        </p:nvSpPr>
        <p:spPr>
          <a:xfrm>
            <a:off x="5195166" y="344650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B06AE3D-906D-4DFA-AC27-284287BE9AA9}"/>
              </a:ext>
            </a:extLst>
          </p:cNvPr>
          <p:cNvSpPr/>
          <p:nvPr/>
        </p:nvSpPr>
        <p:spPr>
          <a:xfrm>
            <a:off x="5307372" y="330339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F54391-D7AB-4818-86F9-10191AC8456C}"/>
              </a:ext>
            </a:extLst>
          </p:cNvPr>
          <p:cNvSpPr/>
          <p:nvPr/>
        </p:nvSpPr>
        <p:spPr>
          <a:xfrm>
            <a:off x="5323680" y="350644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1FF16A2-94AE-43E7-B5A0-246580AA22D2}"/>
              </a:ext>
            </a:extLst>
          </p:cNvPr>
          <p:cNvSpPr/>
          <p:nvPr/>
        </p:nvSpPr>
        <p:spPr>
          <a:xfrm>
            <a:off x="5461849" y="344310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704D68-C1B6-4646-A2C9-AECBF5835B37}"/>
              </a:ext>
            </a:extLst>
          </p:cNvPr>
          <p:cNvSpPr/>
          <p:nvPr/>
        </p:nvSpPr>
        <p:spPr>
          <a:xfrm>
            <a:off x="5540276" y="352552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E1F04B-E6BB-4D28-8CD4-ABC621251351}"/>
              </a:ext>
            </a:extLst>
          </p:cNvPr>
          <p:cNvSpPr/>
          <p:nvPr/>
        </p:nvSpPr>
        <p:spPr>
          <a:xfrm>
            <a:off x="5644545" y="340255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BA90E0-AE3D-4C38-A689-CA0349E87CDD}"/>
              </a:ext>
            </a:extLst>
          </p:cNvPr>
          <p:cNvSpPr/>
          <p:nvPr/>
        </p:nvSpPr>
        <p:spPr>
          <a:xfrm>
            <a:off x="5791250" y="348250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B9BBF93-ECA0-4E80-8B76-A594F70626AE}"/>
              </a:ext>
            </a:extLst>
          </p:cNvPr>
          <p:cNvSpPr/>
          <p:nvPr/>
        </p:nvSpPr>
        <p:spPr>
          <a:xfrm>
            <a:off x="5911228" y="336757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D59A5A-333F-4829-BA15-7EC114B37DD7}"/>
              </a:ext>
            </a:extLst>
          </p:cNvPr>
          <p:cNvSpPr/>
          <p:nvPr/>
        </p:nvSpPr>
        <p:spPr>
          <a:xfrm>
            <a:off x="6054856" y="343855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187417-7AA7-4E78-AAEB-AE7CBAE054EB}"/>
              </a:ext>
            </a:extLst>
          </p:cNvPr>
          <p:cNvSpPr/>
          <p:nvPr/>
        </p:nvSpPr>
        <p:spPr>
          <a:xfrm>
            <a:off x="6059241" y="326710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184AB2-1036-4086-BA99-A9BF0AF7A7BE}"/>
              </a:ext>
            </a:extLst>
          </p:cNvPr>
          <p:cNvSpPr/>
          <p:nvPr/>
        </p:nvSpPr>
        <p:spPr>
          <a:xfrm>
            <a:off x="5923053" y="353953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A174958-F0EA-4D73-9454-D95ADEB36D35}"/>
              </a:ext>
            </a:extLst>
          </p:cNvPr>
          <p:cNvSpPr/>
          <p:nvPr/>
        </p:nvSpPr>
        <p:spPr>
          <a:xfrm>
            <a:off x="5731665" y="360596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610EFE9-0B17-4CAD-9803-2C771F1A3252}"/>
              </a:ext>
            </a:extLst>
          </p:cNvPr>
          <p:cNvSpPr/>
          <p:nvPr/>
        </p:nvSpPr>
        <p:spPr>
          <a:xfrm>
            <a:off x="5572818" y="367378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89712E-E4A8-42E2-8A04-61CC39D3D0DD}"/>
              </a:ext>
            </a:extLst>
          </p:cNvPr>
          <p:cNvSpPr/>
          <p:nvPr/>
        </p:nvSpPr>
        <p:spPr>
          <a:xfrm>
            <a:off x="5395688" y="363948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5B4366-92C2-49D1-AE26-3B11865DC2F8}"/>
              </a:ext>
            </a:extLst>
          </p:cNvPr>
          <p:cNvSpPr/>
          <p:nvPr/>
        </p:nvSpPr>
        <p:spPr>
          <a:xfrm>
            <a:off x="5225379" y="363283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9D5F6B-A237-425F-A1F7-6578E02D8A70}"/>
              </a:ext>
            </a:extLst>
          </p:cNvPr>
          <p:cNvSpPr/>
          <p:nvPr/>
        </p:nvSpPr>
        <p:spPr>
          <a:xfrm>
            <a:off x="5005879" y="346753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A2C15D4-0B51-4ABE-A9F9-C66FBFC30076}"/>
              </a:ext>
            </a:extLst>
          </p:cNvPr>
          <p:cNvSpPr/>
          <p:nvPr/>
        </p:nvSpPr>
        <p:spPr>
          <a:xfrm>
            <a:off x="5044911" y="338326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682568A-42BD-4188-BDF0-5995FA97F7C5}"/>
              </a:ext>
            </a:extLst>
          </p:cNvPr>
          <p:cNvSpPr/>
          <p:nvPr/>
        </p:nvSpPr>
        <p:spPr>
          <a:xfrm>
            <a:off x="4872937" y="333054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2E1B6EE-588A-47D5-868A-F8251F1ACD53}"/>
              </a:ext>
            </a:extLst>
          </p:cNvPr>
          <p:cNvSpPr/>
          <p:nvPr/>
        </p:nvSpPr>
        <p:spPr>
          <a:xfrm>
            <a:off x="4944945" y="324246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2FE4FC-03C5-4B37-ABCE-9C18EB01331E}"/>
              </a:ext>
            </a:extLst>
          </p:cNvPr>
          <p:cNvSpPr/>
          <p:nvPr/>
        </p:nvSpPr>
        <p:spPr>
          <a:xfrm>
            <a:off x="4800929" y="316139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F146AB1-1F75-4DB7-AD88-45C3E8926D19}"/>
              </a:ext>
            </a:extLst>
          </p:cNvPr>
          <p:cNvSpPr/>
          <p:nvPr/>
        </p:nvSpPr>
        <p:spPr>
          <a:xfrm>
            <a:off x="4933871" y="307653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02227F4-6020-47A6-86EB-3D8B005D04A3}"/>
              </a:ext>
            </a:extLst>
          </p:cNvPr>
          <p:cNvSpPr/>
          <p:nvPr/>
        </p:nvSpPr>
        <p:spPr>
          <a:xfrm>
            <a:off x="5016953" y="295453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5112C68-CE9E-44D6-B6F6-502A412CBD85}"/>
              </a:ext>
            </a:extLst>
          </p:cNvPr>
          <p:cNvSpPr/>
          <p:nvPr/>
        </p:nvSpPr>
        <p:spPr>
          <a:xfrm>
            <a:off x="4872937" y="298261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0B79952-1A0A-4474-85D7-C10871D49DDF}"/>
              </a:ext>
            </a:extLst>
          </p:cNvPr>
          <p:cNvSpPr/>
          <p:nvPr/>
        </p:nvSpPr>
        <p:spPr>
          <a:xfrm>
            <a:off x="4793408" y="3745763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F7D2ECD-5B77-4299-9787-E9A65FB400C6}"/>
              </a:ext>
            </a:extLst>
          </p:cNvPr>
          <p:cNvSpPr/>
          <p:nvPr/>
        </p:nvSpPr>
        <p:spPr>
          <a:xfrm>
            <a:off x="8228633" y="2488991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173B582-F310-49F3-897F-7E2A161F1FD9}"/>
              </a:ext>
            </a:extLst>
          </p:cNvPr>
          <p:cNvSpPr/>
          <p:nvPr/>
        </p:nvSpPr>
        <p:spPr>
          <a:xfrm>
            <a:off x="8573019" y="2407331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4A0D23-B50C-464F-B1CF-E847F176FE3A}"/>
              </a:ext>
            </a:extLst>
          </p:cNvPr>
          <p:cNvSpPr/>
          <p:nvPr/>
        </p:nvSpPr>
        <p:spPr>
          <a:xfrm>
            <a:off x="7976031" y="2250959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E13A950-B1D5-41A6-9F73-1B11B5F76C02}"/>
              </a:ext>
            </a:extLst>
          </p:cNvPr>
          <p:cNvSpPr/>
          <p:nvPr/>
        </p:nvSpPr>
        <p:spPr>
          <a:xfrm>
            <a:off x="7687282" y="2380809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AF73F-F50C-4AED-BCFD-CF8A5648482B}"/>
                  </a:ext>
                </a:extLst>
              </p:cNvPr>
              <p:cNvSpPr txBox="1"/>
              <p:nvPr/>
            </p:nvSpPr>
            <p:spPr>
              <a:xfrm>
                <a:off x="4394925" y="2112663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AF73F-F50C-4AED-BCFD-CF8A56484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925" y="2112663"/>
                <a:ext cx="248593" cy="246221"/>
              </a:xfrm>
              <a:prstGeom prst="rect">
                <a:avLst/>
              </a:prstGeom>
              <a:blipFill>
                <a:blip r:embed="rId5"/>
                <a:stretch>
                  <a:fillRect l="-12195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4F4BF2-56B3-471A-9AD6-6592F8AAF1A5}"/>
                  </a:ext>
                </a:extLst>
              </p:cNvPr>
              <p:cNvSpPr txBox="1"/>
              <p:nvPr/>
            </p:nvSpPr>
            <p:spPr>
              <a:xfrm>
                <a:off x="6198857" y="3889944"/>
                <a:ext cx="2438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4F4BF2-56B3-471A-9AD6-6592F8AAF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857" y="3889944"/>
                <a:ext cx="243849" cy="246221"/>
              </a:xfrm>
              <a:prstGeom prst="rect">
                <a:avLst/>
              </a:prstGeom>
              <a:blipFill>
                <a:blip r:embed="rId6"/>
                <a:stretch>
                  <a:fillRect l="-12500" r="-7500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02E47891-6D89-42B5-B40C-58D31F9B02D6}"/>
              </a:ext>
            </a:extLst>
          </p:cNvPr>
          <p:cNvSpPr/>
          <p:nvPr/>
        </p:nvSpPr>
        <p:spPr>
          <a:xfrm>
            <a:off x="7615274" y="266116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9728EE6-CC1F-4893-B35D-936C5F644305}"/>
              </a:ext>
            </a:extLst>
          </p:cNvPr>
          <p:cNvSpPr/>
          <p:nvPr/>
        </p:nvSpPr>
        <p:spPr>
          <a:xfrm>
            <a:off x="7790084" y="297263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E3DCFE-F347-4C9A-B65E-C73D8CA4531A}"/>
              </a:ext>
            </a:extLst>
          </p:cNvPr>
          <p:cNvSpPr/>
          <p:nvPr/>
        </p:nvSpPr>
        <p:spPr>
          <a:xfrm>
            <a:off x="7862092" y="310387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49D4017-8A72-4724-B70E-C9881B4176B8}"/>
              </a:ext>
            </a:extLst>
          </p:cNvPr>
          <p:cNvSpPr/>
          <p:nvPr/>
        </p:nvSpPr>
        <p:spPr>
          <a:xfrm>
            <a:off x="7914404" y="329073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7131658-8C91-4C8A-BD0E-0375FC718AE1}"/>
              </a:ext>
            </a:extLst>
          </p:cNvPr>
          <p:cNvSpPr/>
          <p:nvPr/>
        </p:nvSpPr>
        <p:spPr>
          <a:xfrm>
            <a:off x="8026610" y="314763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65BB09F-6F0B-4605-AE36-67E42C65CA54}"/>
              </a:ext>
            </a:extLst>
          </p:cNvPr>
          <p:cNvSpPr/>
          <p:nvPr/>
        </p:nvSpPr>
        <p:spPr>
          <a:xfrm>
            <a:off x="8042918" y="335067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EB5E9EB-BE1A-4C3A-B787-E083FF8DF835}"/>
              </a:ext>
            </a:extLst>
          </p:cNvPr>
          <p:cNvSpPr/>
          <p:nvPr/>
        </p:nvSpPr>
        <p:spPr>
          <a:xfrm>
            <a:off x="8181087" y="328734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A3092F1-99CF-47BF-8AC0-F1C5A15D4019}"/>
              </a:ext>
            </a:extLst>
          </p:cNvPr>
          <p:cNvSpPr/>
          <p:nvPr/>
        </p:nvSpPr>
        <p:spPr>
          <a:xfrm>
            <a:off x="8259514" y="336976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06B8ED9-1C65-4D68-BEF2-79EE0F0FE2D6}"/>
              </a:ext>
            </a:extLst>
          </p:cNvPr>
          <p:cNvSpPr/>
          <p:nvPr/>
        </p:nvSpPr>
        <p:spPr>
          <a:xfrm>
            <a:off x="7856264" y="294100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C709DAE-D471-4CD5-8F6D-6C9E61E64F54}"/>
              </a:ext>
            </a:extLst>
          </p:cNvPr>
          <p:cNvSpPr/>
          <p:nvPr/>
        </p:nvSpPr>
        <p:spPr>
          <a:xfrm>
            <a:off x="8002969" y="302095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F2E3DCD-F884-4EC0-9492-E9FA513D50B1}"/>
              </a:ext>
            </a:extLst>
          </p:cNvPr>
          <p:cNvSpPr/>
          <p:nvPr/>
        </p:nvSpPr>
        <p:spPr>
          <a:xfrm>
            <a:off x="8122947" y="290602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C112309-3A7C-4099-95D4-4922B952ABBA}"/>
              </a:ext>
            </a:extLst>
          </p:cNvPr>
          <p:cNvSpPr/>
          <p:nvPr/>
        </p:nvSpPr>
        <p:spPr>
          <a:xfrm>
            <a:off x="8266575" y="297700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B578E2-1BA3-40D5-928A-E55CBAA71EEA}"/>
              </a:ext>
            </a:extLst>
          </p:cNvPr>
          <p:cNvSpPr/>
          <p:nvPr/>
        </p:nvSpPr>
        <p:spPr>
          <a:xfrm>
            <a:off x="8270960" y="280555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85E0B35-8970-4108-BE42-094C82F0E933}"/>
              </a:ext>
            </a:extLst>
          </p:cNvPr>
          <p:cNvSpPr/>
          <p:nvPr/>
        </p:nvSpPr>
        <p:spPr>
          <a:xfrm>
            <a:off x="8134772" y="307798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C4CE884-57EB-4BA8-AFA1-DF95A6148895}"/>
              </a:ext>
            </a:extLst>
          </p:cNvPr>
          <p:cNvSpPr/>
          <p:nvPr/>
        </p:nvSpPr>
        <p:spPr>
          <a:xfrm>
            <a:off x="7943384" y="314441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9BE39EF-29B8-44C7-9250-E9ADEE587706}"/>
              </a:ext>
            </a:extLst>
          </p:cNvPr>
          <p:cNvSpPr/>
          <p:nvPr/>
        </p:nvSpPr>
        <p:spPr>
          <a:xfrm>
            <a:off x="7784537" y="321223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FEBDEBD-06BE-4D4C-BB3A-0B14CE9EFBB3}"/>
              </a:ext>
            </a:extLst>
          </p:cNvPr>
          <p:cNvSpPr/>
          <p:nvPr/>
        </p:nvSpPr>
        <p:spPr>
          <a:xfrm>
            <a:off x="8114926" y="348372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D0DEC38-E542-45D0-BF0E-6E757CFDB6B1}"/>
              </a:ext>
            </a:extLst>
          </p:cNvPr>
          <p:cNvSpPr/>
          <p:nvPr/>
        </p:nvSpPr>
        <p:spPr>
          <a:xfrm>
            <a:off x="7944617" y="347706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24B6AD1-DE96-45AB-AF68-239CA70029CC}"/>
              </a:ext>
            </a:extLst>
          </p:cNvPr>
          <p:cNvSpPr/>
          <p:nvPr/>
        </p:nvSpPr>
        <p:spPr>
          <a:xfrm>
            <a:off x="7725117" y="331176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A272F84-1AD9-439F-9B96-6734235AE514}"/>
              </a:ext>
            </a:extLst>
          </p:cNvPr>
          <p:cNvSpPr/>
          <p:nvPr/>
        </p:nvSpPr>
        <p:spPr>
          <a:xfrm>
            <a:off x="7764149" y="322749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10F2C9F-75BE-461D-81B8-8D75DA770AFD}"/>
              </a:ext>
            </a:extLst>
          </p:cNvPr>
          <p:cNvSpPr/>
          <p:nvPr/>
        </p:nvSpPr>
        <p:spPr>
          <a:xfrm>
            <a:off x="7592175" y="317477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AA772FD-3B53-47D8-94F8-84C1C6720CB5}"/>
              </a:ext>
            </a:extLst>
          </p:cNvPr>
          <p:cNvSpPr/>
          <p:nvPr/>
        </p:nvSpPr>
        <p:spPr>
          <a:xfrm>
            <a:off x="7664183" y="308669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0E3C740-53F1-4473-9EA6-05BB4FA5B9D5}"/>
              </a:ext>
            </a:extLst>
          </p:cNvPr>
          <p:cNvSpPr/>
          <p:nvPr/>
        </p:nvSpPr>
        <p:spPr>
          <a:xfrm>
            <a:off x="7520167" y="300562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80489B5-034A-4B4C-952D-4FAA3E8A73CD}"/>
              </a:ext>
            </a:extLst>
          </p:cNvPr>
          <p:cNvSpPr/>
          <p:nvPr/>
        </p:nvSpPr>
        <p:spPr>
          <a:xfrm>
            <a:off x="7653109" y="292076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4A3647-C7B4-43A1-9E73-043948058D08}"/>
              </a:ext>
            </a:extLst>
          </p:cNvPr>
          <p:cNvSpPr/>
          <p:nvPr/>
        </p:nvSpPr>
        <p:spPr>
          <a:xfrm>
            <a:off x="7736191" y="279876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CB758BD-53F2-4284-A12F-518A4670D725}"/>
              </a:ext>
            </a:extLst>
          </p:cNvPr>
          <p:cNvSpPr/>
          <p:nvPr/>
        </p:nvSpPr>
        <p:spPr>
          <a:xfrm>
            <a:off x="7592175" y="282684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C292321-F2C5-496A-A89D-06D5CE2BD374}"/>
              </a:ext>
            </a:extLst>
          </p:cNvPr>
          <p:cNvSpPr/>
          <p:nvPr/>
        </p:nvSpPr>
        <p:spPr>
          <a:xfrm>
            <a:off x="8505339" y="3711497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021BB11-EDD0-4D63-8FEF-125ED73581AB}"/>
              </a:ext>
            </a:extLst>
          </p:cNvPr>
          <p:cNvCxnSpPr>
            <a:cxnSpLocks/>
          </p:cNvCxnSpPr>
          <p:nvPr/>
        </p:nvCxnSpPr>
        <p:spPr>
          <a:xfrm flipV="1">
            <a:off x="7186819" y="2173122"/>
            <a:ext cx="0" cy="2003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609709A-8B49-4DA9-95FD-92FB0ACFF58D}"/>
              </a:ext>
            </a:extLst>
          </p:cNvPr>
          <p:cNvCxnSpPr>
            <a:cxnSpLocks/>
          </p:cNvCxnSpPr>
          <p:nvPr/>
        </p:nvCxnSpPr>
        <p:spPr>
          <a:xfrm>
            <a:off x="7007645" y="3973933"/>
            <a:ext cx="1964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02FF14F-EEE8-40FD-93AF-DEF596B03A2B}"/>
                  </a:ext>
                </a:extLst>
              </p:cNvPr>
              <p:cNvSpPr txBox="1"/>
              <p:nvPr/>
            </p:nvSpPr>
            <p:spPr>
              <a:xfrm>
                <a:off x="6917233" y="2152929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02FF14F-EEE8-40FD-93AF-DEF596B0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233" y="2152929"/>
                <a:ext cx="248593" cy="246221"/>
              </a:xfrm>
              <a:prstGeom prst="rect">
                <a:avLst/>
              </a:prstGeom>
              <a:blipFill>
                <a:blip r:embed="rId7"/>
                <a:stretch>
                  <a:fillRect l="-12500" r="-10000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17A7B61-C314-4063-89DF-40999ABE6BBE}"/>
                  </a:ext>
                </a:extLst>
              </p:cNvPr>
              <p:cNvSpPr txBox="1"/>
              <p:nvPr/>
            </p:nvSpPr>
            <p:spPr>
              <a:xfrm>
                <a:off x="8721165" y="3930210"/>
                <a:ext cx="2438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17A7B61-C314-4063-89DF-40999ABE6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165" y="3930210"/>
                <a:ext cx="243849" cy="246221"/>
              </a:xfrm>
              <a:prstGeom prst="rect">
                <a:avLst/>
              </a:prstGeom>
              <a:blipFill>
                <a:blip r:embed="rId8"/>
                <a:stretch>
                  <a:fillRect l="-125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Oval 93">
            <a:extLst>
              <a:ext uri="{FF2B5EF4-FFF2-40B4-BE49-F238E27FC236}">
                <a16:creationId xmlns:a16="http://schemas.microsoft.com/office/drawing/2014/main" id="{72A1D5F3-C1AE-4993-8710-3333F31F8E3B}"/>
              </a:ext>
            </a:extLst>
          </p:cNvPr>
          <p:cNvSpPr/>
          <p:nvPr/>
        </p:nvSpPr>
        <p:spPr>
          <a:xfrm>
            <a:off x="5658970" y="2747769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78E27AD-D182-49A8-8329-CA7B5E99A439}"/>
              </a:ext>
            </a:extLst>
          </p:cNvPr>
          <p:cNvSpPr/>
          <p:nvPr/>
        </p:nvSpPr>
        <p:spPr>
          <a:xfrm>
            <a:off x="6003356" y="2666109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88DC4D9-A2DB-477D-9316-5A56224E9224}"/>
              </a:ext>
            </a:extLst>
          </p:cNvPr>
          <p:cNvSpPr/>
          <p:nvPr/>
        </p:nvSpPr>
        <p:spPr>
          <a:xfrm>
            <a:off x="5808535" y="2403938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F8FFE4E-5CEF-4432-AAED-BA689DA80CD9}"/>
              </a:ext>
            </a:extLst>
          </p:cNvPr>
          <p:cNvSpPr/>
          <p:nvPr/>
        </p:nvSpPr>
        <p:spPr>
          <a:xfrm>
            <a:off x="5519786" y="2533788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1AF2E616-9A0B-4B29-95C3-221C6C501246}"/>
              </a:ext>
            </a:extLst>
          </p:cNvPr>
          <p:cNvSpPr/>
          <p:nvPr/>
        </p:nvSpPr>
        <p:spPr>
          <a:xfrm>
            <a:off x="7871796" y="3092965"/>
            <a:ext cx="212846" cy="212846"/>
          </a:xfrm>
          <a:prstGeom prst="mathMultiply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4E2E7BE-EE1E-4896-8B3F-C16120B863F6}"/>
              </a:ext>
            </a:extLst>
          </p:cNvPr>
          <p:cNvCxnSpPr>
            <a:cxnSpLocks/>
            <a:endCxn id="99" idx="6"/>
          </p:cNvCxnSpPr>
          <p:nvPr/>
        </p:nvCxnSpPr>
        <p:spPr>
          <a:xfrm flipV="1">
            <a:off x="8002969" y="3168415"/>
            <a:ext cx="631128" cy="2355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A0B12AC5-1B56-45AC-B440-F892C45B3601}"/>
              </a:ext>
            </a:extLst>
          </p:cNvPr>
          <p:cNvSpPr/>
          <p:nvPr/>
        </p:nvSpPr>
        <p:spPr>
          <a:xfrm>
            <a:off x="7371840" y="2537286"/>
            <a:ext cx="1262257" cy="12622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2C94EA1-4D73-40D3-AF59-69F1D1C59480}"/>
              </a:ext>
            </a:extLst>
          </p:cNvPr>
          <p:cNvSpPr/>
          <p:nvPr/>
        </p:nvSpPr>
        <p:spPr>
          <a:xfrm>
            <a:off x="4312802" y="4442437"/>
            <a:ext cx="47733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/>
          </a:p>
          <a:p>
            <a:pPr algn="ctr"/>
            <a:r>
              <a:rPr lang="ko-KR" altLang="en-US"/>
              <a:t>정상 데이터를 둘러싸는 가장 작은 구를 찾고</a:t>
            </a:r>
            <a:r>
              <a:rPr lang="en-US" altLang="ko-KR"/>
              <a:t>, </a:t>
            </a:r>
          </a:p>
          <a:p>
            <a:pPr algn="ctr"/>
            <a:r>
              <a:rPr lang="ko-KR" altLang="en-US"/>
              <a:t>경계면을 기반으로 이상 탐지를 함</a:t>
            </a:r>
            <a:endParaRPr lang="ko-KR" altLang="en-US" dirty="0"/>
          </a:p>
        </p:txBody>
      </p: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452BC482-636E-46DF-B002-D2AFBCAD55E5}"/>
              </a:ext>
            </a:extLst>
          </p:cNvPr>
          <p:cNvSpPr/>
          <p:nvPr/>
        </p:nvSpPr>
        <p:spPr>
          <a:xfrm>
            <a:off x="6244212" y="2973593"/>
            <a:ext cx="880781" cy="186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19C49D-4654-45A5-B853-528C398C1B0F}"/>
              </a:ext>
            </a:extLst>
          </p:cNvPr>
          <p:cNvSpPr txBox="1"/>
          <p:nvPr/>
        </p:nvSpPr>
        <p:spPr>
          <a:xfrm>
            <a:off x="6204220" y="2440787"/>
            <a:ext cx="1000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Mapping </a:t>
            </a:r>
            <a:b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function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6D96C2-3584-4EDA-B6B0-D979EAEF0B98}"/>
              </a:ext>
            </a:extLst>
          </p:cNvPr>
          <p:cNvSpPr/>
          <p:nvPr/>
        </p:nvSpPr>
        <p:spPr>
          <a:xfrm>
            <a:off x="296132" y="4503847"/>
            <a:ext cx="37055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데이터셋 사이를 가로지르는 </a:t>
            </a:r>
            <a:endParaRPr lang="en-US" altLang="ko-KR"/>
          </a:p>
          <a:p>
            <a:pPr algn="ctr"/>
            <a:r>
              <a:rPr lang="en-US" altLang="ko-KR"/>
              <a:t>Hyperplane </a:t>
            </a:r>
            <a:r>
              <a:rPr lang="ko-KR" altLang="en-US"/>
              <a:t>중 </a:t>
            </a:r>
            <a:r>
              <a:rPr lang="en-US" altLang="ko-KR"/>
              <a:t>margin</a:t>
            </a:r>
            <a:r>
              <a:rPr lang="ko-KR" altLang="en-US"/>
              <a:t>을 </a:t>
            </a:r>
            <a:endParaRPr lang="en-US" altLang="ko-KR"/>
          </a:p>
          <a:p>
            <a:pPr algn="ctr"/>
            <a:r>
              <a:rPr lang="ko-KR" altLang="en-US"/>
              <a:t>가장 크게 가지는</a:t>
            </a:r>
            <a:r>
              <a:rPr lang="en-US" altLang="ko-KR"/>
              <a:t> w</a:t>
            </a:r>
            <a:r>
              <a:rPr lang="ko-KR" altLang="en-US"/>
              <a:t>를 구함  </a:t>
            </a:r>
            <a:endParaRPr lang="en-US" altLang="ko-KR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F79DD6B-A047-4319-ADB0-51920D179EC0}"/>
              </a:ext>
            </a:extLst>
          </p:cNvPr>
          <p:cNvSpPr txBox="1"/>
          <p:nvPr/>
        </p:nvSpPr>
        <p:spPr>
          <a:xfrm rot="2716673">
            <a:off x="2706810" y="2220074"/>
            <a:ext cx="957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Margin 1</a:t>
            </a:r>
            <a:endParaRPr lang="ko-KR" altLang="en-US" sz="1600" dirty="0"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ED7644A-08C0-42B8-B443-D1EC9A7E2D60}"/>
              </a:ext>
            </a:extLst>
          </p:cNvPr>
          <p:cNvCxnSpPr/>
          <p:nvPr/>
        </p:nvCxnSpPr>
        <p:spPr>
          <a:xfrm>
            <a:off x="2751272" y="2272282"/>
            <a:ext cx="398966" cy="3888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ACA4B21-8EE5-44D8-8053-65AFFC0A9CFA}"/>
              </a:ext>
            </a:extLst>
          </p:cNvPr>
          <p:cNvCxnSpPr>
            <a:cxnSpLocks/>
          </p:cNvCxnSpPr>
          <p:nvPr/>
        </p:nvCxnSpPr>
        <p:spPr>
          <a:xfrm flipH="1">
            <a:off x="1932593" y="1902484"/>
            <a:ext cx="579508" cy="25124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2C40546-81DE-43AA-9655-3B3AAEE47851}"/>
              </a:ext>
            </a:extLst>
          </p:cNvPr>
          <p:cNvCxnSpPr/>
          <p:nvPr/>
        </p:nvCxnSpPr>
        <p:spPr>
          <a:xfrm flipH="1">
            <a:off x="1740041" y="1772816"/>
            <a:ext cx="648072" cy="266962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BF6BEE4-1094-4BD3-8D09-A0F6EB3AF437}"/>
              </a:ext>
            </a:extLst>
          </p:cNvPr>
          <p:cNvCxnSpPr/>
          <p:nvPr/>
        </p:nvCxnSpPr>
        <p:spPr>
          <a:xfrm flipH="1">
            <a:off x="2078098" y="1841074"/>
            <a:ext cx="648072" cy="266962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119DDA7-ADC9-46B0-ABB5-9A09E26A14E6}"/>
              </a:ext>
            </a:extLst>
          </p:cNvPr>
          <p:cNvCxnSpPr>
            <a:cxnSpLocks/>
          </p:cNvCxnSpPr>
          <p:nvPr/>
        </p:nvCxnSpPr>
        <p:spPr>
          <a:xfrm>
            <a:off x="1835696" y="4053320"/>
            <a:ext cx="313231" cy="828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C67CC7C-ADEF-46FB-BE99-EF897016D7BD}"/>
              </a:ext>
            </a:extLst>
          </p:cNvPr>
          <p:cNvSpPr txBox="1"/>
          <p:nvPr/>
        </p:nvSpPr>
        <p:spPr>
          <a:xfrm rot="1033668">
            <a:off x="1484968" y="4105910"/>
            <a:ext cx="957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Margin 2</a:t>
            </a:r>
            <a:endParaRPr lang="ko-KR" altLang="en-US" sz="1600" dirty="0"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D62379E0-F430-4496-A275-465BFD92DE3D}"/>
              </a:ext>
            </a:extLst>
          </p:cNvPr>
          <p:cNvSpPr/>
          <p:nvPr/>
        </p:nvSpPr>
        <p:spPr>
          <a:xfrm>
            <a:off x="3361459" y="2100106"/>
            <a:ext cx="379091" cy="38888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0023094-6B22-42CD-8221-D2FFC48DCD77}"/>
              </a:ext>
            </a:extLst>
          </p:cNvPr>
          <p:cNvSpPr txBox="1"/>
          <p:nvPr/>
        </p:nvSpPr>
        <p:spPr>
          <a:xfrm>
            <a:off x="4379001" y="3016456"/>
            <a:ext cx="204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2. </a:t>
            </a:r>
            <a:r>
              <a:rPr lang="ko-KR" altLang="en-US" sz="1600"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비선형 분류기 필요 </a:t>
            </a:r>
            <a:endParaRPr lang="ko-KR" altLang="en-US" sz="1600" dirty="0"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EC2D041-A7C3-4A49-B2D0-7EDB3732C8EF}"/>
              </a:ext>
            </a:extLst>
          </p:cNvPr>
          <p:cNvSpPr/>
          <p:nvPr/>
        </p:nvSpPr>
        <p:spPr>
          <a:xfrm>
            <a:off x="5132181" y="3824783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A4BC61F-46D0-4B38-8275-C1F3F8D755CE}"/>
              </a:ext>
            </a:extLst>
          </p:cNvPr>
          <p:cNvSpPr txBox="1"/>
          <p:nvPr/>
        </p:nvSpPr>
        <p:spPr>
          <a:xfrm>
            <a:off x="4739301" y="2063798"/>
            <a:ext cx="1866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Class imbalance</a:t>
            </a:r>
            <a:endParaRPr lang="ko-KR" altLang="en-US" sz="1600" dirty="0"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85166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22FA-941B-4861-B441-C65102D2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 SVDD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3323B-DE00-41EF-93E6-C900A7105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7CF214-602D-4888-962E-F1F6B194326E}"/>
              </a:ext>
            </a:extLst>
          </p:cNvPr>
          <p:cNvSpPr txBox="1">
            <a:spLocks/>
          </p:cNvSpPr>
          <p:nvPr/>
        </p:nvSpPr>
        <p:spPr bwMode="auto">
          <a:xfrm>
            <a:off x="195857" y="1088740"/>
            <a:ext cx="8786874" cy="452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2438" indent="-452438" algn="l" rtl="0" eaLnBrk="0" fontAlgn="base" latinLnBrk="1" hangingPunct="0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kern="120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 algn="l" rtl="0" eaLnBrk="0" fontAlgn="base" latinLnBrk="1" hangingPunct="0">
              <a:spcBef>
                <a:spcPts val="800"/>
              </a:spcBef>
              <a:spcAft>
                <a:spcPct val="0"/>
              </a:spcAft>
              <a:buFontTx/>
              <a:buBlip>
                <a:blip r:embed="rId3"/>
              </a:buBlip>
              <a:defRPr sz="20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 algn="l" rtl="0" eaLnBrk="0" fontAlgn="base" latinLnBrk="1" hangingPunct="0">
              <a:spcBef>
                <a:spcPts val="700"/>
              </a:spcBef>
              <a:spcAft>
                <a:spcPct val="0"/>
              </a:spcAft>
              <a:buFont typeface="Arial" charset="0"/>
              <a:buChar char="•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ts val="600"/>
              </a:spcBef>
              <a:spcAft>
                <a:spcPct val="0"/>
              </a:spcAft>
              <a:buFont typeface="Arial" charset="0"/>
              <a:buChar char="–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ts val="500"/>
              </a:spcBef>
              <a:spcAft>
                <a:spcPct val="0"/>
              </a:spcAft>
              <a:buFont typeface="Arial" charset="0"/>
              <a:buChar char="»"/>
              <a:defRPr sz="16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dirty="0"/>
              <a:t>Deep</a:t>
            </a:r>
            <a:r>
              <a:rPr kumimoji="0" lang="ko-KR" altLang="en-US" dirty="0"/>
              <a:t> </a:t>
            </a:r>
            <a:r>
              <a:rPr kumimoji="0" lang="en-US" altLang="ko-KR" dirty="0"/>
              <a:t>SVDD (Deep Neural Network as Kernel Function)</a:t>
            </a:r>
            <a:endParaRPr kumimoji="0" lang="ko-KR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3C595A-2958-43F6-B0B9-659F600FDA7B}"/>
              </a:ext>
            </a:extLst>
          </p:cNvPr>
          <p:cNvGrpSpPr/>
          <p:nvPr/>
        </p:nvGrpSpPr>
        <p:grpSpPr>
          <a:xfrm>
            <a:off x="1044392" y="4348858"/>
            <a:ext cx="2790297" cy="1771655"/>
            <a:chOff x="361695" y="4105108"/>
            <a:chExt cx="3544434" cy="2250482"/>
          </a:xfrm>
        </p:grpSpPr>
        <p:pic>
          <p:nvPicPr>
            <p:cNvPr id="16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BB87754E-94C4-42DC-8B43-7D317FFFCB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94" t="11212" r="39987" b="64862"/>
            <a:stretch/>
          </p:blipFill>
          <p:spPr bwMode="auto">
            <a:xfrm>
              <a:off x="1676349" y="4105108"/>
              <a:ext cx="1620180" cy="1640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6A378164-2BF3-472E-9198-7C6F621315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94" t="11212" r="39987" b="64862"/>
            <a:stretch/>
          </p:blipFill>
          <p:spPr bwMode="auto">
            <a:xfrm>
              <a:off x="1828749" y="4257508"/>
              <a:ext cx="1620180" cy="1640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F85C2F44-F15E-404B-BE65-F737578DA2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94" t="11212" r="39987" b="64862"/>
            <a:stretch/>
          </p:blipFill>
          <p:spPr bwMode="auto">
            <a:xfrm>
              <a:off x="1981149" y="4409908"/>
              <a:ext cx="1620180" cy="1640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33033C4E-57FD-407E-BFA7-A4F21DAB48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94" t="11212" r="39987" b="64862"/>
            <a:stretch/>
          </p:blipFill>
          <p:spPr bwMode="auto">
            <a:xfrm>
              <a:off x="2133549" y="4562308"/>
              <a:ext cx="1620180" cy="1640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E2660554-09CA-4F5E-BDBB-E2D234704C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94" t="11212" r="39987" b="64862"/>
            <a:stretch/>
          </p:blipFill>
          <p:spPr bwMode="auto">
            <a:xfrm>
              <a:off x="2285949" y="4714708"/>
              <a:ext cx="1620180" cy="1640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5D2B6E-2073-449F-8E61-828A8B8BD4D6}"/>
                </a:ext>
              </a:extLst>
            </p:cNvPr>
            <p:cNvSpPr/>
            <p:nvPr/>
          </p:nvSpPr>
          <p:spPr>
            <a:xfrm>
              <a:off x="361695" y="4324368"/>
              <a:ext cx="1140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NORMAL</a:t>
              </a:r>
              <a:endParaRPr lang="ko-KR" alt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B286BD-1F93-48B5-A2D7-95003CC108B3}"/>
              </a:ext>
            </a:extLst>
          </p:cNvPr>
          <p:cNvGrpSpPr/>
          <p:nvPr/>
        </p:nvGrpSpPr>
        <p:grpSpPr>
          <a:xfrm>
            <a:off x="4666087" y="4460019"/>
            <a:ext cx="3516923" cy="1634457"/>
            <a:chOff x="3941946" y="3898833"/>
            <a:chExt cx="5015690" cy="2330994"/>
          </a:xfrm>
        </p:grpSpPr>
        <p:pic>
          <p:nvPicPr>
            <p:cNvPr id="22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1693536D-5F68-4151-8B9D-F8AA51E27F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3" t="38417" r="67279" b="36880"/>
            <a:stretch/>
          </p:blipFill>
          <p:spPr bwMode="auto">
            <a:xfrm>
              <a:off x="7337456" y="4256292"/>
              <a:ext cx="1620180" cy="1694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E3C3D890-17C6-4062-9A33-2D2DCCB1F9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39" t="39314" r="39443" b="35983"/>
            <a:stretch/>
          </p:blipFill>
          <p:spPr bwMode="auto">
            <a:xfrm>
              <a:off x="6435889" y="4535671"/>
              <a:ext cx="1620180" cy="1694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How to Develop a CNN for MNIST Handwritten Digit Classification">
              <a:extLst>
                <a:ext uri="{FF2B5EF4-FFF2-40B4-BE49-F238E27FC236}">
                  <a16:creationId xmlns:a16="http://schemas.microsoft.com/office/drawing/2014/main" id="{ED8745BE-EA8B-479D-9829-475AF52B66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49" t="8926" r="65951" b="61150"/>
            <a:stretch/>
          </p:blipFill>
          <p:spPr bwMode="auto">
            <a:xfrm>
              <a:off x="4611183" y="4140703"/>
              <a:ext cx="2304257" cy="2052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D85618-421E-4F47-97B5-96323E949E96}"/>
                </a:ext>
              </a:extLst>
            </p:cNvPr>
            <p:cNvSpPr/>
            <p:nvPr/>
          </p:nvSpPr>
          <p:spPr>
            <a:xfrm>
              <a:off x="3941946" y="3898833"/>
              <a:ext cx="10038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effectLst>
                    <a:glow rad="101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Anomaly</a:t>
              </a:r>
              <a:endParaRPr lang="ko-KR" altLang="en-US" sz="16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5B8375F-B4C1-450E-9654-2DC709EF5F29}"/>
              </a:ext>
            </a:extLst>
          </p:cNvPr>
          <p:cNvSpPr txBox="1"/>
          <p:nvPr/>
        </p:nvSpPr>
        <p:spPr>
          <a:xfrm>
            <a:off x="2039223" y="6542105"/>
            <a:ext cx="50655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http://data.bit.uni-bonn.de/publications/ICML2018.pdf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1CDFD6-77FD-4099-A7C2-B01DC22131C9}"/>
              </a:ext>
            </a:extLst>
          </p:cNvPr>
          <p:cNvCxnSpPr>
            <a:cxnSpLocks/>
          </p:cNvCxnSpPr>
          <p:nvPr/>
        </p:nvCxnSpPr>
        <p:spPr>
          <a:xfrm flipV="1">
            <a:off x="1666216" y="1985693"/>
            <a:ext cx="0" cy="2003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5BB225-D6BF-4886-9E1E-5025E4F36899}"/>
              </a:ext>
            </a:extLst>
          </p:cNvPr>
          <p:cNvCxnSpPr>
            <a:cxnSpLocks/>
          </p:cNvCxnSpPr>
          <p:nvPr/>
        </p:nvCxnSpPr>
        <p:spPr>
          <a:xfrm>
            <a:off x="1487042" y="3786504"/>
            <a:ext cx="1964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F2C1D2A-FD2A-457A-8973-6DC172AA9C16}"/>
              </a:ext>
            </a:extLst>
          </p:cNvPr>
          <p:cNvSpPr/>
          <p:nvPr/>
        </p:nvSpPr>
        <p:spPr>
          <a:xfrm>
            <a:off x="1897741" y="266976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5542CC-3F8E-4E7B-8A79-8D8D5DEF2C56}"/>
              </a:ext>
            </a:extLst>
          </p:cNvPr>
          <p:cNvSpPr/>
          <p:nvPr/>
        </p:nvSpPr>
        <p:spPr>
          <a:xfrm>
            <a:off x="2072551" y="298123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C2C954-9BB8-4F46-BA51-6343422D2F64}"/>
              </a:ext>
            </a:extLst>
          </p:cNvPr>
          <p:cNvSpPr/>
          <p:nvPr/>
        </p:nvSpPr>
        <p:spPr>
          <a:xfrm>
            <a:off x="2144559" y="311247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9DD6EF-E6CA-423D-BEEF-7844E8E2643C}"/>
              </a:ext>
            </a:extLst>
          </p:cNvPr>
          <p:cNvSpPr/>
          <p:nvPr/>
        </p:nvSpPr>
        <p:spPr>
          <a:xfrm>
            <a:off x="2196871" y="329934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D1B664-F9CD-46C5-88F3-841AD394AEB5}"/>
              </a:ext>
            </a:extLst>
          </p:cNvPr>
          <p:cNvSpPr/>
          <p:nvPr/>
        </p:nvSpPr>
        <p:spPr>
          <a:xfrm>
            <a:off x="2309077" y="315623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1C2643C-407D-4BC8-8286-4BEE7EDAEC70}"/>
              </a:ext>
            </a:extLst>
          </p:cNvPr>
          <p:cNvSpPr/>
          <p:nvPr/>
        </p:nvSpPr>
        <p:spPr>
          <a:xfrm>
            <a:off x="2325385" y="335928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536E48C-13BD-4A56-BD91-D2137172E0E2}"/>
              </a:ext>
            </a:extLst>
          </p:cNvPr>
          <p:cNvSpPr/>
          <p:nvPr/>
        </p:nvSpPr>
        <p:spPr>
          <a:xfrm>
            <a:off x="2463554" y="329594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446CF53-18A8-492C-8E12-C2184006A3C2}"/>
              </a:ext>
            </a:extLst>
          </p:cNvPr>
          <p:cNvSpPr/>
          <p:nvPr/>
        </p:nvSpPr>
        <p:spPr>
          <a:xfrm>
            <a:off x="2541981" y="337836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8335DF-00E9-44E2-B52F-0F1CF099C88D}"/>
              </a:ext>
            </a:extLst>
          </p:cNvPr>
          <p:cNvSpPr/>
          <p:nvPr/>
        </p:nvSpPr>
        <p:spPr>
          <a:xfrm>
            <a:off x="2646250" y="325538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9BEF00-BB23-477A-A880-7763186AD71F}"/>
              </a:ext>
            </a:extLst>
          </p:cNvPr>
          <p:cNvSpPr/>
          <p:nvPr/>
        </p:nvSpPr>
        <p:spPr>
          <a:xfrm>
            <a:off x="2792955" y="333534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A87242B-2CA8-40A8-B357-66E9FE52188C}"/>
              </a:ext>
            </a:extLst>
          </p:cNvPr>
          <p:cNvSpPr/>
          <p:nvPr/>
        </p:nvSpPr>
        <p:spPr>
          <a:xfrm>
            <a:off x="2912933" y="322041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00B9E2-6E4E-42F0-A4BC-651C1DAACCCA}"/>
              </a:ext>
            </a:extLst>
          </p:cNvPr>
          <p:cNvSpPr/>
          <p:nvPr/>
        </p:nvSpPr>
        <p:spPr>
          <a:xfrm>
            <a:off x="3056561" y="329139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EB00F9A-68BA-4C50-96DD-99A603895B7E}"/>
              </a:ext>
            </a:extLst>
          </p:cNvPr>
          <p:cNvSpPr/>
          <p:nvPr/>
        </p:nvSpPr>
        <p:spPr>
          <a:xfrm>
            <a:off x="3060946" y="311993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6F1FAEB-593A-4EA9-8CBD-1D6CB8EC522E}"/>
              </a:ext>
            </a:extLst>
          </p:cNvPr>
          <p:cNvSpPr/>
          <p:nvPr/>
        </p:nvSpPr>
        <p:spPr>
          <a:xfrm>
            <a:off x="2924758" y="339237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BDA537-29C7-4731-8609-268540BDDAB3}"/>
              </a:ext>
            </a:extLst>
          </p:cNvPr>
          <p:cNvSpPr/>
          <p:nvPr/>
        </p:nvSpPr>
        <p:spPr>
          <a:xfrm>
            <a:off x="2733370" y="345880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CCCCF23-0D41-4D57-9A41-93C8DF0885F3}"/>
              </a:ext>
            </a:extLst>
          </p:cNvPr>
          <p:cNvSpPr/>
          <p:nvPr/>
        </p:nvSpPr>
        <p:spPr>
          <a:xfrm>
            <a:off x="2574523" y="352662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04E4BE-C02C-4589-8AF1-7E3D1B49FBE6}"/>
              </a:ext>
            </a:extLst>
          </p:cNvPr>
          <p:cNvSpPr/>
          <p:nvPr/>
        </p:nvSpPr>
        <p:spPr>
          <a:xfrm>
            <a:off x="2397393" y="349232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C9593FB-C4A1-4534-987E-4D19329C7E41}"/>
              </a:ext>
            </a:extLst>
          </p:cNvPr>
          <p:cNvSpPr/>
          <p:nvPr/>
        </p:nvSpPr>
        <p:spPr>
          <a:xfrm>
            <a:off x="2227084" y="348567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7F374-B33A-4AF8-A283-3ADC754742D2}"/>
              </a:ext>
            </a:extLst>
          </p:cNvPr>
          <p:cNvSpPr/>
          <p:nvPr/>
        </p:nvSpPr>
        <p:spPr>
          <a:xfrm>
            <a:off x="2007584" y="332036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FAF206B-4CFB-4EC3-8770-71E63DDB042F}"/>
              </a:ext>
            </a:extLst>
          </p:cNvPr>
          <p:cNvSpPr/>
          <p:nvPr/>
        </p:nvSpPr>
        <p:spPr>
          <a:xfrm>
            <a:off x="2046616" y="323610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D42D9D5-4801-48C5-A49D-4AF667625038}"/>
              </a:ext>
            </a:extLst>
          </p:cNvPr>
          <p:cNvSpPr/>
          <p:nvPr/>
        </p:nvSpPr>
        <p:spPr>
          <a:xfrm>
            <a:off x="1874642" y="318337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0A2839D-9AF3-4432-AAA6-B52C47B3DE8B}"/>
              </a:ext>
            </a:extLst>
          </p:cNvPr>
          <p:cNvSpPr/>
          <p:nvPr/>
        </p:nvSpPr>
        <p:spPr>
          <a:xfrm>
            <a:off x="1946650" y="309530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418253E-8041-4F42-ADAB-D942F03DA7E4}"/>
              </a:ext>
            </a:extLst>
          </p:cNvPr>
          <p:cNvSpPr/>
          <p:nvPr/>
        </p:nvSpPr>
        <p:spPr>
          <a:xfrm>
            <a:off x="1802634" y="301423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3A1C6CB-6F62-4BD2-929C-5EA9668ED345}"/>
              </a:ext>
            </a:extLst>
          </p:cNvPr>
          <p:cNvSpPr/>
          <p:nvPr/>
        </p:nvSpPr>
        <p:spPr>
          <a:xfrm>
            <a:off x="1935576" y="292937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D7E9A5B-ECB0-4B0B-8754-7CEA23FCDB19}"/>
              </a:ext>
            </a:extLst>
          </p:cNvPr>
          <p:cNvSpPr/>
          <p:nvPr/>
        </p:nvSpPr>
        <p:spPr>
          <a:xfrm>
            <a:off x="2018658" y="280737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914BD4F-5D9B-49CA-81C0-962D3F0253E9}"/>
              </a:ext>
            </a:extLst>
          </p:cNvPr>
          <p:cNvSpPr/>
          <p:nvPr/>
        </p:nvSpPr>
        <p:spPr>
          <a:xfrm>
            <a:off x="1874642" y="283544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43E4250-CF79-48A7-B00E-D2D7DFE013A5}"/>
              </a:ext>
            </a:extLst>
          </p:cNvPr>
          <p:cNvSpPr/>
          <p:nvPr/>
        </p:nvSpPr>
        <p:spPr>
          <a:xfrm>
            <a:off x="1795113" y="3598600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04A763F-77F5-4AE1-BFCB-DF390DAB5FE3}"/>
              </a:ext>
            </a:extLst>
          </p:cNvPr>
          <p:cNvSpPr/>
          <p:nvPr/>
        </p:nvSpPr>
        <p:spPr>
          <a:xfrm>
            <a:off x="7324042" y="2317048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52D488E-2330-43FE-9353-D2ADD5BC0009}"/>
              </a:ext>
            </a:extLst>
          </p:cNvPr>
          <p:cNvSpPr/>
          <p:nvPr/>
        </p:nvSpPr>
        <p:spPr>
          <a:xfrm>
            <a:off x="7668428" y="2235388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8A55FE1-AC2D-41EE-B990-493B4ADD1C11}"/>
              </a:ext>
            </a:extLst>
          </p:cNvPr>
          <p:cNvSpPr/>
          <p:nvPr/>
        </p:nvSpPr>
        <p:spPr>
          <a:xfrm>
            <a:off x="7071440" y="2079016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4EB4DAF-DC0B-4F93-9719-5E257662697B}"/>
              </a:ext>
            </a:extLst>
          </p:cNvPr>
          <p:cNvSpPr/>
          <p:nvPr/>
        </p:nvSpPr>
        <p:spPr>
          <a:xfrm>
            <a:off x="6782691" y="2208866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DDF8C4-D003-4083-8F63-6F4F2F4FF8F6}"/>
                  </a:ext>
                </a:extLst>
              </p:cNvPr>
              <p:cNvSpPr txBox="1"/>
              <p:nvPr/>
            </p:nvSpPr>
            <p:spPr>
              <a:xfrm>
                <a:off x="1396630" y="1965500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DDF8C4-D003-4083-8F63-6F4F2F4F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30" y="1965500"/>
                <a:ext cx="248593" cy="246221"/>
              </a:xfrm>
              <a:prstGeom prst="rect">
                <a:avLst/>
              </a:prstGeom>
              <a:blipFill>
                <a:blip r:embed="rId5"/>
                <a:stretch>
                  <a:fillRect l="-9756" r="-7317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32B9346-C067-4DA0-B5AA-F268DB4E0564}"/>
                  </a:ext>
                </a:extLst>
              </p:cNvPr>
              <p:cNvSpPr txBox="1"/>
              <p:nvPr/>
            </p:nvSpPr>
            <p:spPr>
              <a:xfrm>
                <a:off x="3200562" y="3742781"/>
                <a:ext cx="2438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32B9346-C067-4DA0-B5AA-F268DB4E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562" y="3742781"/>
                <a:ext cx="243849" cy="246221"/>
              </a:xfrm>
              <a:prstGeom prst="rect">
                <a:avLst/>
              </a:prstGeom>
              <a:blipFill>
                <a:blip r:embed="rId6"/>
                <a:stretch>
                  <a:fillRect l="-1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A963ACE0-6141-4A63-B440-8F6038D3B0A5}"/>
              </a:ext>
            </a:extLst>
          </p:cNvPr>
          <p:cNvSpPr/>
          <p:nvPr/>
        </p:nvSpPr>
        <p:spPr>
          <a:xfrm>
            <a:off x="6710683" y="248922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172B242-54E1-4C6F-B886-EAC6C6C51177}"/>
              </a:ext>
            </a:extLst>
          </p:cNvPr>
          <p:cNvSpPr/>
          <p:nvPr/>
        </p:nvSpPr>
        <p:spPr>
          <a:xfrm>
            <a:off x="6885493" y="280069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8040691-93E8-44DC-80C1-43D81D91A6CF}"/>
              </a:ext>
            </a:extLst>
          </p:cNvPr>
          <p:cNvSpPr/>
          <p:nvPr/>
        </p:nvSpPr>
        <p:spPr>
          <a:xfrm>
            <a:off x="6957501" y="293193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1D068F6-A7E3-46B3-8852-503156D52718}"/>
              </a:ext>
            </a:extLst>
          </p:cNvPr>
          <p:cNvSpPr/>
          <p:nvPr/>
        </p:nvSpPr>
        <p:spPr>
          <a:xfrm>
            <a:off x="7009813" y="311879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E7E5559-3F17-4E64-B2D3-06F7491A657E}"/>
              </a:ext>
            </a:extLst>
          </p:cNvPr>
          <p:cNvSpPr/>
          <p:nvPr/>
        </p:nvSpPr>
        <p:spPr>
          <a:xfrm>
            <a:off x="7122019" y="2975688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5F48C4B-6600-4D60-8917-644760DA1E49}"/>
              </a:ext>
            </a:extLst>
          </p:cNvPr>
          <p:cNvSpPr/>
          <p:nvPr/>
        </p:nvSpPr>
        <p:spPr>
          <a:xfrm>
            <a:off x="7138327" y="317873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F3C92BC-6BA0-4A84-842E-311F4ACFC86C}"/>
              </a:ext>
            </a:extLst>
          </p:cNvPr>
          <p:cNvSpPr/>
          <p:nvPr/>
        </p:nvSpPr>
        <p:spPr>
          <a:xfrm>
            <a:off x="7276496" y="3115399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7FD0266-4B6F-4044-9D19-CB0FBDF2B913}"/>
              </a:ext>
            </a:extLst>
          </p:cNvPr>
          <p:cNvSpPr/>
          <p:nvPr/>
        </p:nvSpPr>
        <p:spPr>
          <a:xfrm>
            <a:off x="7354923" y="319781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10A5A05-ACC4-4246-AC3C-989180B0CA9C}"/>
              </a:ext>
            </a:extLst>
          </p:cNvPr>
          <p:cNvSpPr/>
          <p:nvPr/>
        </p:nvSpPr>
        <p:spPr>
          <a:xfrm>
            <a:off x="6951673" y="276905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E34C7E6-F658-4306-945F-62B5B005D54A}"/>
              </a:ext>
            </a:extLst>
          </p:cNvPr>
          <p:cNvSpPr/>
          <p:nvPr/>
        </p:nvSpPr>
        <p:spPr>
          <a:xfrm>
            <a:off x="7098378" y="284901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FA9A71D-8F73-4204-A5C1-FDEF79D0D375}"/>
              </a:ext>
            </a:extLst>
          </p:cNvPr>
          <p:cNvSpPr/>
          <p:nvPr/>
        </p:nvSpPr>
        <p:spPr>
          <a:xfrm>
            <a:off x="7218356" y="273408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DE564B9-338F-4A45-95CC-0177297DA956}"/>
              </a:ext>
            </a:extLst>
          </p:cNvPr>
          <p:cNvSpPr/>
          <p:nvPr/>
        </p:nvSpPr>
        <p:spPr>
          <a:xfrm>
            <a:off x="7361984" y="280506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DBD170D-6756-4C2F-BF64-C678CE53BED1}"/>
              </a:ext>
            </a:extLst>
          </p:cNvPr>
          <p:cNvSpPr/>
          <p:nvPr/>
        </p:nvSpPr>
        <p:spPr>
          <a:xfrm>
            <a:off x="7366369" y="2633607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D5E1B43-51C0-4250-A8F7-BBC7387A08B4}"/>
              </a:ext>
            </a:extLst>
          </p:cNvPr>
          <p:cNvSpPr/>
          <p:nvPr/>
        </p:nvSpPr>
        <p:spPr>
          <a:xfrm>
            <a:off x="7230181" y="290604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AEC48EE-EEE3-4626-B813-79D0701A44C1}"/>
              </a:ext>
            </a:extLst>
          </p:cNvPr>
          <p:cNvSpPr/>
          <p:nvPr/>
        </p:nvSpPr>
        <p:spPr>
          <a:xfrm>
            <a:off x="7038793" y="2972470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7CF0898-8E1E-42A3-AC32-4AA92DF1E71F}"/>
              </a:ext>
            </a:extLst>
          </p:cNvPr>
          <p:cNvSpPr/>
          <p:nvPr/>
        </p:nvSpPr>
        <p:spPr>
          <a:xfrm>
            <a:off x="6879946" y="304029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02ECF7A-C330-455F-8D8B-0E020C88A450}"/>
              </a:ext>
            </a:extLst>
          </p:cNvPr>
          <p:cNvSpPr/>
          <p:nvPr/>
        </p:nvSpPr>
        <p:spPr>
          <a:xfrm>
            <a:off x="7210335" y="3311781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D04542-03EC-4C3F-A0AF-49E9F73808F9}"/>
              </a:ext>
            </a:extLst>
          </p:cNvPr>
          <p:cNvSpPr/>
          <p:nvPr/>
        </p:nvSpPr>
        <p:spPr>
          <a:xfrm>
            <a:off x="7040026" y="330512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37F5196-2E1E-414A-B1EE-BC29241CE645}"/>
              </a:ext>
            </a:extLst>
          </p:cNvPr>
          <p:cNvSpPr/>
          <p:nvPr/>
        </p:nvSpPr>
        <p:spPr>
          <a:xfrm>
            <a:off x="6820526" y="3139823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A446E79-DB8E-406F-BB1C-EA96D846E8BE}"/>
              </a:ext>
            </a:extLst>
          </p:cNvPr>
          <p:cNvSpPr/>
          <p:nvPr/>
        </p:nvSpPr>
        <p:spPr>
          <a:xfrm>
            <a:off x="6859558" y="305555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BA8247F-4C52-469F-A1AF-D46BCD3DC84D}"/>
              </a:ext>
            </a:extLst>
          </p:cNvPr>
          <p:cNvSpPr/>
          <p:nvPr/>
        </p:nvSpPr>
        <p:spPr>
          <a:xfrm>
            <a:off x="6687584" y="3002834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B345F04-F1CC-426D-A905-3B917BF2AC82}"/>
              </a:ext>
            </a:extLst>
          </p:cNvPr>
          <p:cNvSpPr/>
          <p:nvPr/>
        </p:nvSpPr>
        <p:spPr>
          <a:xfrm>
            <a:off x="6759592" y="2914756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7199911-1E25-47FB-9328-8557B3FC57D4}"/>
              </a:ext>
            </a:extLst>
          </p:cNvPr>
          <p:cNvSpPr/>
          <p:nvPr/>
        </p:nvSpPr>
        <p:spPr>
          <a:xfrm>
            <a:off x="6615576" y="283368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596FB2A-009F-4CC5-B200-862934173A7C}"/>
              </a:ext>
            </a:extLst>
          </p:cNvPr>
          <p:cNvSpPr/>
          <p:nvPr/>
        </p:nvSpPr>
        <p:spPr>
          <a:xfrm>
            <a:off x="6748518" y="274882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44CEF17-7858-4BC8-B76B-C26D9BFB5A83}"/>
              </a:ext>
            </a:extLst>
          </p:cNvPr>
          <p:cNvSpPr/>
          <p:nvPr/>
        </p:nvSpPr>
        <p:spPr>
          <a:xfrm>
            <a:off x="6831600" y="2626825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224420B-0DFC-4EB6-AE5B-BE77AB552161}"/>
              </a:ext>
            </a:extLst>
          </p:cNvPr>
          <p:cNvSpPr/>
          <p:nvPr/>
        </p:nvSpPr>
        <p:spPr>
          <a:xfrm>
            <a:off x="6687584" y="2654902"/>
            <a:ext cx="72008" cy="72008"/>
          </a:xfrm>
          <a:prstGeom prst="ellipse">
            <a:avLst/>
          </a:prstGeom>
          <a:solidFill>
            <a:srgbClr val="0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6B81F94-CCE2-44B4-9EDA-E947917618FD}"/>
              </a:ext>
            </a:extLst>
          </p:cNvPr>
          <p:cNvSpPr/>
          <p:nvPr/>
        </p:nvSpPr>
        <p:spPr>
          <a:xfrm>
            <a:off x="7600748" y="3539554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6CEE359-6A14-4479-91EB-E44C476B8C25}"/>
              </a:ext>
            </a:extLst>
          </p:cNvPr>
          <p:cNvCxnSpPr>
            <a:cxnSpLocks/>
          </p:cNvCxnSpPr>
          <p:nvPr/>
        </p:nvCxnSpPr>
        <p:spPr>
          <a:xfrm flipV="1">
            <a:off x="6282228" y="2001179"/>
            <a:ext cx="0" cy="2003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012E297-A90F-4676-817A-27A732EC43F8}"/>
              </a:ext>
            </a:extLst>
          </p:cNvPr>
          <p:cNvCxnSpPr>
            <a:cxnSpLocks/>
          </p:cNvCxnSpPr>
          <p:nvPr/>
        </p:nvCxnSpPr>
        <p:spPr>
          <a:xfrm>
            <a:off x="6103054" y="3801990"/>
            <a:ext cx="1964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160C09F-CB8E-4657-AED1-3353D3D0FD17}"/>
                  </a:ext>
                </a:extLst>
              </p:cNvPr>
              <p:cNvSpPr txBox="1"/>
              <p:nvPr/>
            </p:nvSpPr>
            <p:spPr>
              <a:xfrm>
                <a:off x="6012642" y="1980986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160C09F-CB8E-4657-AED1-3353D3D0F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642" y="1980986"/>
                <a:ext cx="248593" cy="246221"/>
              </a:xfrm>
              <a:prstGeom prst="rect">
                <a:avLst/>
              </a:prstGeom>
              <a:blipFill>
                <a:blip r:embed="rId7"/>
                <a:stretch>
                  <a:fillRect l="-9756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440ECCF-EC50-4586-854F-B31CCCB67145}"/>
                  </a:ext>
                </a:extLst>
              </p:cNvPr>
              <p:cNvSpPr txBox="1"/>
              <p:nvPr/>
            </p:nvSpPr>
            <p:spPr>
              <a:xfrm>
                <a:off x="7816574" y="3758267"/>
                <a:ext cx="2438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08서울남산체 B" panose="02020603020101020101" pitchFamily="18" charset="-127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440ECCF-EC50-4586-854F-B31CCCB67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574" y="3758267"/>
                <a:ext cx="243849" cy="246221"/>
              </a:xfrm>
              <a:prstGeom prst="rect">
                <a:avLst/>
              </a:prstGeom>
              <a:blipFill>
                <a:blip r:embed="rId8"/>
                <a:stretch>
                  <a:fillRect l="-1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Oval 91">
            <a:extLst>
              <a:ext uri="{FF2B5EF4-FFF2-40B4-BE49-F238E27FC236}">
                <a16:creationId xmlns:a16="http://schemas.microsoft.com/office/drawing/2014/main" id="{EFF6ACD5-ADD7-4099-8633-29CB323D93EB}"/>
              </a:ext>
            </a:extLst>
          </p:cNvPr>
          <p:cNvSpPr/>
          <p:nvPr/>
        </p:nvSpPr>
        <p:spPr>
          <a:xfrm>
            <a:off x="2660675" y="2600606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50991F3-DD4F-414A-A812-9B088BB3496E}"/>
              </a:ext>
            </a:extLst>
          </p:cNvPr>
          <p:cNvSpPr/>
          <p:nvPr/>
        </p:nvSpPr>
        <p:spPr>
          <a:xfrm>
            <a:off x="3005061" y="2518946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F677673-585C-40D8-9173-A581FE36926A}"/>
              </a:ext>
            </a:extLst>
          </p:cNvPr>
          <p:cNvSpPr/>
          <p:nvPr/>
        </p:nvSpPr>
        <p:spPr>
          <a:xfrm>
            <a:off x="2810240" y="2256775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6BB048E-45B8-42DB-97B6-6EC4C1288C63}"/>
              </a:ext>
            </a:extLst>
          </p:cNvPr>
          <p:cNvSpPr/>
          <p:nvPr/>
        </p:nvSpPr>
        <p:spPr>
          <a:xfrm>
            <a:off x="2521491" y="2386625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Multiplication Sign 95">
            <a:extLst>
              <a:ext uri="{FF2B5EF4-FFF2-40B4-BE49-F238E27FC236}">
                <a16:creationId xmlns:a16="http://schemas.microsoft.com/office/drawing/2014/main" id="{23D909F1-67BE-4E7C-A277-24752E3435A8}"/>
              </a:ext>
            </a:extLst>
          </p:cNvPr>
          <p:cNvSpPr/>
          <p:nvPr/>
        </p:nvSpPr>
        <p:spPr>
          <a:xfrm>
            <a:off x="6967205" y="2921022"/>
            <a:ext cx="212846" cy="212846"/>
          </a:xfrm>
          <a:prstGeom prst="mathMultiply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AC86F7B-32C4-443C-9B52-5DDC7288EF58}"/>
              </a:ext>
            </a:extLst>
          </p:cNvPr>
          <p:cNvCxnSpPr>
            <a:cxnSpLocks/>
            <a:endCxn id="98" idx="6"/>
          </p:cNvCxnSpPr>
          <p:nvPr/>
        </p:nvCxnSpPr>
        <p:spPr>
          <a:xfrm flipV="1">
            <a:off x="7098378" y="2996472"/>
            <a:ext cx="631128" cy="2355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F966EB62-2E41-4666-B3BC-BD80FDBAEC61}"/>
              </a:ext>
            </a:extLst>
          </p:cNvPr>
          <p:cNvSpPr/>
          <p:nvPr/>
        </p:nvSpPr>
        <p:spPr>
          <a:xfrm>
            <a:off x="6467249" y="2365343"/>
            <a:ext cx="1262257" cy="12622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76B3EE52-CAC0-47B2-9C72-166BDE820E98}"/>
              </a:ext>
            </a:extLst>
          </p:cNvPr>
          <p:cNvSpPr/>
          <p:nvPr/>
        </p:nvSpPr>
        <p:spPr>
          <a:xfrm>
            <a:off x="4157654" y="2191430"/>
            <a:ext cx="880781" cy="186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E9FE02-3F31-4870-979E-E7BEA95161FC}"/>
              </a:ext>
            </a:extLst>
          </p:cNvPr>
          <p:cNvSpPr txBox="1"/>
          <p:nvPr/>
        </p:nvSpPr>
        <p:spPr>
          <a:xfrm>
            <a:off x="4117662" y="1658624"/>
            <a:ext cx="1000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Mapping </a:t>
            </a:r>
            <a:b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function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A76A15F-2872-4533-9E3B-EE3AC6B4D87D}"/>
              </a:ext>
            </a:extLst>
          </p:cNvPr>
          <p:cNvSpPr/>
          <p:nvPr/>
        </p:nvSpPr>
        <p:spPr>
          <a:xfrm>
            <a:off x="2133886" y="3677620"/>
            <a:ext cx="72008" cy="72008"/>
          </a:xfrm>
          <a:prstGeom prst="ellipse">
            <a:avLst/>
          </a:prstGeom>
          <a:solidFill>
            <a:srgbClr val="68B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22049-A837-419F-B97B-1B130028AE50}"/>
              </a:ext>
            </a:extLst>
          </p:cNvPr>
          <p:cNvSpPr/>
          <p:nvPr/>
        </p:nvSpPr>
        <p:spPr>
          <a:xfrm>
            <a:off x="1840255" y="630838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https://thedatascientist.com/what-deep-learning-is-and-isnt/</a:t>
            </a:r>
          </a:p>
        </p:txBody>
      </p:sp>
      <p:pic>
        <p:nvPicPr>
          <p:cNvPr id="2050" name="Picture 2" descr="simple neural network vs deep learning">
            <a:extLst>
              <a:ext uri="{FF2B5EF4-FFF2-40B4-BE49-F238E27FC236}">
                <a16:creationId xmlns:a16="http://schemas.microsoft.com/office/drawing/2014/main" id="{B20DD872-4C42-44EA-8427-C50D53FC4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27" t="-8312" b="8312"/>
          <a:stretch/>
        </p:blipFill>
        <p:spPr bwMode="auto">
          <a:xfrm>
            <a:off x="3504964" y="2370603"/>
            <a:ext cx="2322246" cy="14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FB25F6-E7BD-4E95-BCF8-37548BF5101E}"/>
              </a:ext>
            </a:extLst>
          </p:cNvPr>
          <p:cNvCxnSpPr/>
          <p:nvPr/>
        </p:nvCxnSpPr>
        <p:spPr>
          <a:xfrm flipV="1">
            <a:off x="3005061" y="3152993"/>
            <a:ext cx="3754531" cy="1856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A72562C-13D5-4D78-9F9C-C2C0A04E1C92}"/>
              </a:ext>
            </a:extLst>
          </p:cNvPr>
          <p:cNvCxnSpPr>
            <a:cxnSpLocks/>
            <a:endCxn id="87" idx="4"/>
          </p:cNvCxnSpPr>
          <p:nvPr/>
        </p:nvCxnSpPr>
        <p:spPr>
          <a:xfrm flipV="1">
            <a:off x="6831600" y="3611562"/>
            <a:ext cx="805152" cy="967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43191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9D3-0E59-4D7C-847F-05E92F09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8153-BCED-4447-AC92-E99D74A6A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84DE-D227-4DB3-9B88-2D588B3F67EE}"/>
              </a:ext>
            </a:extLst>
          </p:cNvPr>
          <p:cNvSpPr txBox="1"/>
          <p:nvPr/>
        </p:nvSpPr>
        <p:spPr>
          <a:xfrm>
            <a:off x="1475656" y="2240868"/>
            <a:ext cx="637270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Q &amp; A </a:t>
            </a:r>
            <a:endParaRPr lang="ko-KR" altLang="en-US" sz="8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68245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74C7-3006-4795-AD74-534FCA7F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Patch SVDD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7E638-6645-47B9-B1E8-C0E17B539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pic>
        <p:nvPicPr>
          <p:cNvPr id="8" name="Picture 2" descr="Image result for mvtec dataset">
            <a:extLst>
              <a:ext uri="{FF2B5EF4-FFF2-40B4-BE49-F238E27FC236}">
                <a16:creationId xmlns:a16="http://schemas.microsoft.com/office/drawing/2014/main" id="{FC19B874-BEB8-4A24-BAFE-3ACE1F885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5" t="-121" r="66554" b="66758"/>
          <a:stretch/>
        </p:blipFill>
        <p:spPr bwMode="auto">
          <a:xfrm>
            <a:off x="719576" y="3717062"/>
            <a:ext cx="1548166" cy="155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173B88-1D43-4AA9-B074-0B32CF5FDA2F}"/>
              </a:ext>
            </a:extLst>
          </p:cNvPr>
          <p:cNvCxnSpPr/>
          <p:nvPr/>
        </p:nvCxnSpPr>
        <p:spPr>
          <a:xfrm>
            <a:off x="636777" y="3762769"/>
            <a:ext cx="0" cy="14644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3CA3FB-73E5-437E-BE0D-C83259914A2F}"/>
              </a:ext>
            </a:extLst>
          </p:cNvPr>
          <p:cNvSpPr txBox="1"/>
          <p:nvPr/>
        </p:nvSpPr>
        <p:spPr>
          <a:xfrm>
            <a:off x="1166652" y="5360836"/>
            <a:ext cx="651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256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6A902-6A44-498A-B614-7FBD09D6AEA5}"/>
              </a:ext>
            </a:extLst>
          </p:cNvPr>
          <p:cNvSpPr txBox="1"/>
          <p:nvPr/>
        </p:nvSpPr>
        <p:spPr>
          <a:xfrm rot="16200000">
            <a:off x="199835" y="4212002"/>
            <a:ext cx="596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256</a:t>
            </a:r>
            <a:endParaRPr lang="ko-KR" alt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5F91-CBBC-47B8-8906-CF2B906F0B49}"/>
              </a:ext>
            </a:extLst>
          </p:cNvPr>
          <p:cNvSpPr/>
          <p:nvPr/>
        </p:nvSpPr>
        <p:spPr>
          <a:xfrm>
            <a:off x="1690838" y="4030921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C38E12-EDA8-4257-B4CC-EC872336AC7E}"/>
              </a:ext>
            </a:extLst>
          </p:cNvPr>
          <p:cNvCxnSpPr>
            <a:cxnSpLocks/>
          </p:cNvCxnSpPr>
          <p:nvPr/>
        </p:nvCxnSpPr>
        <p:spPr>
          <a:xfrm flipH="1">
            <a:off x="771005" y="5307801"/>
            <a:ext cx="14644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43190B0-D560-4AC9-9437-99F2E68B98C3}"/>
              </a:ext>
            </a:extLst>
          </p:cNvPr>
          <p:cNvSpPr/>
          <p:nvPr/>
        </p:nvSpPr>
        <p:spPr>
          <a:xfrm>
            <a:off x="1601854" y="4121010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C74E45-6CC5-4182-AAFC-411024D3B8EB}"/>
              </a:ext>
            </a:extLst>
          </p:cNvPr>
          <p:cNvSpPr/>
          <p:nvPr/>
        </p:nvSpPr>
        <p:spPr>
          <a:xfrm>
            <a:off x="1016993" y="4181333"/>
            <a:ext cx="366416" cy="363474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58876-451D-4413-A8DB-280B1A9A64B3}"/>
              </a:ext>
            </a:extLst>
          </p:cNvPr>
          <p:cNvSpPr/>
          <p:nvPr/>
        </p:nvSpPr>
        <p:spPr>
          <a:xfrm>
            <a:off x="1002705" y="3803571"/>
            <a:ext cx="366416" cy="363474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effectLst>
                  <a:glow rad="25400">
                    <a:schemeClr val="bg1"/>
                  </a:glow>
                </a:effectLst>
              </a:rPr>
              <a:t>1</a:t>
            </a:r>
            <a:endParaRPr lang="ko-KR" altLang="en-US" sz="1400">
              <a:solidFill>
                <a:schemeClr val="tx1"/>
              </a:solidFill>
              <a:effectLst>
                <a:glow rad="25400">
                  <a:schemeClr val="bg1"/>
                </a:glo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195BE-A4F7-4C77-BFB6-3E963BB9CA89}"/>
              </a:ext>
            </a:extLst>
          </p:cNvPr>
          <p:cNvSpPr/>
          <p:nvPr/>
        </p:nvSpPr>
        <p:spPr>
          <a:xfrm>
            <a:off x="1046755" y="4750993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92A113-52FB-4DBA-9BC0-A9E7CA95330F}"/>
              </a:ext>
            </a:extLst>
          </p:cNvPr>
          <p:cNvSpPr/>
          <p:nvPr/>
        </p:nvSpPr>
        <p:spPr>
          <a:xfrm>
            <a:off x="1103905" y="4867788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E484FA-2A6D-4BC4-A97F-5B4C88491E11}"/>
              </a:ext>
            </a:extLst>
          </p:cNvPr>
          <p:cNvSpPr/>
          <p:nvPr/>
        </p:nvSpPr>
        <p:spPr>
          <a:xfrm>
            <a:off x="1763916" y="4722110"/>
            <a:ext cx="185166" cy="185166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000CAD-EFAD-4A1F-BC78-B6D06FAF139A}"/>
              </a:ext>
            </a:extLst>
          </p:cNvPr>
          <p:cNvSpPr/>
          <p:nvPr/>
        </p:nvSpPr>
        <p:spPr>
          <a:xfrm>
            <a:off x="1773441" y="4925859"/>
            <a:ext cx="185166" cy="185166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effectLst>
                  <a:glow rad="25400">
                    <a:schemeClr val="bg1"/>
                  </a:glow>
                </a:effectLst>
              </a:rPr>
              <a:t>6</a:t>
            </a:r>
            <a:endParaRPr lang="ko-KR" altLang="en-US" sz="1400" dirty="0">
              <a:solidFill>
                <a:schemeClr val="tx1"/>
              </a:solidFill>
              <a:effectLst>
                <a:glow rad="25400">
                  <a:schemeClr val="bg1"/>
                </a:glow>
              </a:effectLst>
            </a:endParaRPr>
          </a:p>
        </p:txBody>
      </p:sp>
      <p:sp>
        <p:nvSpPr>
          <p:cNvPr id="50" name="Flowchart: Process 49">
            <a:extLst>
              <a:ext uri="{FF2B5EF4-FFF2-40B4-BE49-F238E27FC236}">
                <a16:creationId xmlns:a16="http://schemas.microsoft.com/office/drawing/2014/main" id="{08ED13AC-9242-4B3A-8ADD-9D3B52E0DFAA}"/>
              </a:ext>
            </a:extLst>
          </p:cNvPr>
          <p:cNvSpPr/>
          <p:nvPr/>
        </p:nvSpPr>
        <p:spPr>
          <a:xfrm>
            <a:off x="2985856" y="3811237"/>
            <a:ext cx="2497562" cy="10927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Hierarchical encoder</a:t>
            </a:r>
            <a:endParaRPr lang="ko-KR" alt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CB9D73-C972-474E-B764-5CF442EFB15E}"/>
              </a:ext>
            </a:extLst>
          </p:cNvPr>
          <p:cNvSpPr/>
          <p:nvPr/>
        </p:nvSpPr>
        <p:spPr>
          <a:xfrm>
            <a:off x="4234637" y="5503969"/>
            <a:ext cx="1362447" cy="918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Position</a:t>
            </a:r>
            <a:r>
              <a:rPr lang="ko-KR" altLang="en-US" sz="1600"/>
              <a:t> </a:t>
            </a:r>
            <a:r>
              <a:rPr lang="en-US" altLang="ko-KR" sz="1600"/>
              <a:t>Classifier</a:t>
            </a:r>
            <a:endParaRPr lang="ko-KR" altLang="en-US" sz="1600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48F250D9-04CF-49BA-8FDC-D4DEB6FA69B7}"/>
              </a:ext>
            </a:extLst>
          </p:cNvPr>
          <p:cNvSpPr/>
          <p:nvPr/>
        </p:nvSpPr>
        <p:spPr>
          <a:xfrm>
            <a:off x="2371915" y="4283470"/>
            <a:ext cx="452871" cy="224319"/>
          </a:xfrm>
          <a:prstGeom prst="rightArrow">
            <a:avLst/>
          </a:prstGeom>
          <a:solidFill>
            <a:srgbClr val="FF99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C8ED11A7-06E8-4B0D-97A7-EA8B3E2C1D66}"/>
              </a:ext>
            </a:extLst>
          </p:cNvPr>
          <p:cNvSpPr/>
          <p:nvPr/>
        </p:nvSpPr>
        <p:spPr>
          <a:xfrm rot="5400000">
            <a:off x="4712301" y="5116083"/>
            <a:ext cx="452871" cy="224319"/>
          </a:xfrm>
          <a:prstGeom prst="rightArrow">
            <a:avLst/>
          </a:prstGeom>
          <a:solidFill>
            <a:srgbClr val="FF99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E07003C6-74B6-47BD-83E1-78E8C03B9547}"/>
              </a:ext>
            </a:extLst>
          </p:cNvPr>
          <p:cNvSpPr/>
          <p:nvPr/>
        </p:nvSpPr>
        <p:spPr>
          <a:xfrm>
            <a:off x="5597083" y="4192871"/>
            <a:ext cx="452871" cy="224319"/>
          </a:xfrm>
          <a:prstGeom prst="rightArrow">
            <a:avLst/>
          </a:prstGeom>
          <a:solidFill>
            <a:srgbClr val="FF99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4D007958-9F51-4537-B37F-85B421E4E15A}"/>
              </a:ext>
            </a:extLst>
          </p:cNvPr>
          <p:cNvSpPr/>
          <p:nvPr/>
        </p:nvSpPr>
        <p:spPr>
          <a:xfrm>
            <a:off x="5654675" y="5830814"/>
            <a:ext cx="452871" cy="224319"/>
          </a:xfrm>
          <a:prstGeom prst="rightArrow">
            <a:avLst/>
          </a:prstGeom>
          <a:solidFill>
            <a:srgbClr val="FF99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643A1B7-06E9-41CA-9A77-A3202781B8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5810"/>
          <a:stretch/>
        </p:blipFill>
        <p:spPr>
          <a:xfrm>
            <a:off x="6059335" y="3963128"/>
            <a:ext cx="754882" cy="724426"/>
          </a:xfrm>
          <a:prstGeom prst="rect">
            <a:avLst/>
          </a:prstGeom>
        </p:spPr>
      </p:pic>
      <p:pic>
        <p:nvPicPr>
          <p:cNvPr id="58" name="Picture 8">
            <a:extLst>
              <a:ext uri="{FF2B5EF4-FFF2-40B4-BE49-F238E27FC236}">
                <a16:creationId xmlns:a16="http://schemas.microsoft.com/office/drawing/2014/main" id="{8C13A37E-93D7-4A39-80D2-3DF5EDDA3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167"/>
          <a:stretch/>
        </p:blipFill>
        <p:spPr bwMode="auto">
          <a:xfrm>
            <a:off x="6127536" y="5670032"/>
            <a:ext cx="754882" cy="58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>
            <a:extLst>
              <a:ext uri="{FF2B5EF4-FFF2-40B4-BE49-F238E27FC236}">
                <a16:creationId xmlns:a16="http://schemas.microsoft.com/office/drawing/2014/main" id="{D259FC23-CF00-4662-94B7-2C357E8CA8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22"/>
          <a:stretch/>
        </p:blipFill>
        <p:spPr bwMode="auto">
          <a:xfrm>
            <a:off x="7076690" y="4896603"/>
            <a:ext cx="1296144" cy="57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ight Brace 61">
            <a:extLst>
              <a:ext uri="{FF2B5EF4-FFF2-40B4-BE49-F238E27FC236}">
                <a16:creationId xmlns:a16="http://schemas.microsoft.com/office/drawing/2014/main" id="{02890A9A-0851-4B7F-87D0-1FB56EED15A4}"/>
              </a:ext>
            </a:extLst>
          </p:cNvPr>
          <p:cNvSpPr/>
          <p:nvPr/>
        </p:nvSpPr>
        <p:spPr>
          <a:xfrm>
            <a:off x="6801331" y="4363767"/>
            <a:ext cx="275359" cy="163794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AB397EB-027D-4396-A28A-C57A5740A3BB}"/>
                  </a:ext>
                </a:extLst>
              </p:cNvPr>
              <p:cNvSpPr txBox="1"/>
              <p:nvPr/>
            </p:nvSpPr>
            <p:spPr>
              <a:xfrm>
                <a:off x="7014693" y="4507789"/>
                <a:ext cx="421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AB397EB-027D-4396-A28A-C57A5740A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693" y="4507789"/>
                <a:ext cx="42104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48F4C83A-81C8-4857-99A1-C17F449035AF}"/>
              </a:ext>
            </a:extLst>
          </p:cNvPr>
          <p:cNvSpPr/>
          <p:nvPr/>
        </p:nvSpPr>
        <p:spPr>
          <a:xfrm>
            <a:off x="143508" y="3537012"/>
            <a:ext cx="8748972" cy="2952328"/>
          </a:xfrm>
          <a:prstGeom prst="rect">
            <a:avLst/>
          </a:prstGeom>
          <a:noFill/>
          <a:ln>
            <a:solidFill>
              <a:srgbClr val="FF5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9C6860-571B-4EA5-99D3-AC0CE94168E9}"/>
              </a:ext>
            </a:extLst>
          </p:cNvPr>
          <p:cNvSpPr txBox="1"/>
          <p:nvPr/>
        </p:nvSpPr>
        <p:spPr>
          <a:xfrm>
            <a:off x="7850777" y="3526269"/>
            <a:ext cx="1044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Training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AE7B46-5116-4CAE-8883-0ACF8248F9B4}"/>
              </a:ext>
            </a:extLst>
          </p:cNvPr>
          <p:cNvSpPr/>
          <p:nvPr/>
        </p:nvSpPr>
        <p:spPr>
          <a:xfrm>
            <a:off x="1339913" y="2212829"/>
            <a:ext cx="1401635" cy="813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Normal Dataset</a:t>
            </a:r>
            <a:endParaRPr lang="en-US" altLang="ko-KR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670C8DA-8E49-478B-8435-62645A0663FC}"/>
              </a:ext>
            </a:extLst>
          </p:cNvPr>
          <p:cNvSpPr/>
          <p:nvPr/>
        </p:nvSpPr>
        <p:spPr>
          <a:xfrm>
            <a:off x="1002705" y="1141256"/>
            <a:ext cx="6521624" cy="2316276"/>
          </a:xfrm>
          <a:prstGeom prst="rect">
            <a:avLst/>
          </a:pr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DAB3B1-C7C8-484B-B233-A9F42E8C4E4E}"/>
              </a:ext>
            </a:extLst>
          </p:cNvPr>
          <p:cNvSpPr txBox="1"/>
          <p:nvPr/>
        </p:nvSpPr>
        <p:spPr>
          <a:xfrm>
            <a:off x="6882418" y="1199001"/>
            <a:ext cx="1044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Test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9CCFDCD5-40D9-461F-966B-ED8D808543FC}"/>
              </a:ext>
            </a:extLst>
          </p:cNvPr>
          <p:cNvSpPr/>
          <p:nvPr/>
        </p:nvSpPr>
        <p:spPr>
          <a:xfrm rot="16200000">
            <a:off x="2829879" y="3172902"/>
            <a:ext cx="898727" cy="224319"/>
          </a:xfrm>
          <a:prstGeom prst="rightArrow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ABA526CB-E160-4453-BBEA-D6991629B4D5}"/>
              </a:ext>
            </a:extLst>
          </p:cNvPr>
          <p:cNvSpPr/>
          <p:nvPr/>
        </p:nvSpPr>
        <p:spPr>
          <a:xfrm>
            <a:off x="2832178" y="2513540"/>
            <a:ext cx="969583" cy="224319"/>
          </a:xfrm>
          <a:prstGeom prst="rightArrow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FCD0744-7EE0-4C01-BD42-CB417D619802}"/>
              </a:ext>
            </a:extLst>
          </p:cNvPr>
          <p:cNvSpPr/>
          <p:nvPr/>
        </p:nvSpPr>
        <p:spPr>
          <a:xfrm>
            <a:off x="3862077" y="2213625"/>
            <a:ext cx="1401635" cy="813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Normal</a:t>
            </a:r>
            <a:r>
              <a:rPr lang="ko-KR" altLang="en-US"/>
              <a:t> </a:t>
            </a:r>
            <a:r>
              <a:rPr lang="en-US" altLang="ko-KR"/>
              <a:t>Feature</a:t>
            </a:r>
            <a:r>
              <a:rPr lang="ko-KR" altLang="en-US"/>
              <a:t> </a:t>
            </a:r>
            <a:r>
              <a:rPr lang="en-US" altLang="ko-KR"/>
              <a:t>Map</a:t>
            </a:r>
            <a:endParaRPr lang="en-US" altLang="ko-KR" dirty="0"/>
          </a:p>
        </p:txBody>
      </p:sp>
      <p:sp>
        <p:nvSpPr>
          <p:cNvPr id="74" name="Arrow: Left-Right 73">
            <a:extLst>
              <a:ext uri="{FF2B5EF4-FFF2-40B4-BE49-F238E27FC236}">
                <a16:creationId xmlns:a16="http://schemas.microsoft.com/office/drawing/2014/main" id="{17B788F0-0D73-4588-B9A4-E7565EE77204}"/>
              </a:ext>
            </a:extLst>
          </p:cNvPr>
          <p:cNvSpPr/>
          <p:nvPr/>
        </p:nvSpPr>
        <p:spPr>
          <a:xfrm>
            <a:off x="5424049" y="2443417"/>
            <a:ext cx="667105" cy="323601"/>
          </a:xfrm>
          <a:prstGeom prst="leftRightArrow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5" name="Picture 2" descr="Image result for mvtec dataset">
            <a:extLst>
              <a:ext uri="{FF2B5EF4-FFF2-40B4-BE49-F238E27FC236}">
                <a16:creationId xmlns:a16="http://schemas.microsoft.com/office/drawing/2014/main" id="{EA6E0CD4-16C4-42AD-BB48-D92B55222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7" t="34356" r="66442" b="32281"/>
          <a:stretch/>
        </p:blipFill>
        <p:spPr bwMode="auto">
          <a:xfrm>
            <a:off x="6267412" y="2228833"/>
            <a:ext cx="1093609" cy="109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544E8CF-BA04-4EE3-84A3-F193C39ECF4F}"/>
              </a:ext>
            </a:extLst>
          </p:cNvPr>
          <p:cNvSpPr txBox="1"/>
          <p:nvPr/>
        </p:nvSpPr>
        <p:spPr>
          <a:xfrm>
            <a:off x="5264244" y="2789109"/>
            <a:ext cx="97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비교</a:t>
            </a:r>
            <a:endParaRPr lang="en-US" altLang="ko-KR" sz="120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  <a:p>
            <a:pPr algn="ctr"/>
            <a:r>
              <a:rPr lang="en-US" altLang="ko-KR" sz="12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(Nearest Neigbor)</a:t>
            </a:r>
            <a:endParaRPr lang="ko-KR" altLang="en-US" sz="12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7" name="Arrow: Up 76">
            <a:extLst>
              <a:ext uri="{FF2B5EF4-FFF2-40B4-BE49-F238E27FC236}">
                <a16:creationId xmlns:a16="http://schemas.microsoft.com/office/drawing/2014/main" id="{1E2AF440-EB34-4A00-A192-EBD42F9005CC}"/>
              </a:ext>
            </a:extLst>
          </p:cNvPr>
          <p:cNvSpPr/>
          <p:nvPr/>
        </p:nvSpPr>
        <p:spPr>
          <a:xfrm>
            <a:off x="5654675" y="2119816"/>
            <a:ext cx="213469" cy="32360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2E7130E-0F32-42DF-BF26-54F1DB870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458" y="1276057"/>
            <a:ext cx="798282" cy="81085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AB660621-86B5-4C29-A777-92546DC64C08}"/>
              </a:ext>
            </a:extLst>
          </p:cNvPr>
          <p:cNvSpPr txBox="1"/>
          <p:nvPr/>
        </p:nvSpPr>
        <p:spPr>
          <a:xfrm>
            <a:off x="5286327" y="1520788"/>
            <a:ext cx="1074381" cy="567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Anomaly map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80" name="Picture 6">
            <a:extLst>
              <a:ext uri="{FF2B5EF4-FFF2-40B4-BE49-F238E27FC236}">
                <a16:creationId xmlns:a16="http://schemas.microsoft.com/office/drawing/2014/main" id="{0EF0EA9F-15F0-4AC8-8CE6-F4E6E879F8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85" t="4777" r="2581" b="-4777"/>
          <a:stretch/>
        </p:blipFill>
        <p:spPr bwMode="auto">
          <a:xfrm>
            <a:off x="7075963" y="5303540"/>
            <a:ext cx="1746720" cy="48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4152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83A4-FD04-4B5D-81A5-B2E325D7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Methods (Training)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1E348-EDE0-4CF7-843F-3D8BDA61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Patch-wise Deep SVDD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F6B22-C710-44AB-B49A-0E2AF1B2A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2F1D8-0014-4E41-BC91-DE0C3E02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6" y="1988840"/>
            <a:ext cx="7524328" cy="3105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6CF08-7A0F-4608-83DA-0A5EEC000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891972"/>
            <a:ext cx="3402124" cy="9164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B5DE85-6F39-4FC4-89AE-2324C0C6B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228" y="5035169"/>
            <a:ext cx="3888432" cy="76256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0A2FFC-5D48-42FE-8ADD-5FE69FE5E049}"/>
              </a:ext>
            </a:extLst>
          </p:cNvPr>
          <p:cNvCxnSpPr>
            <a:cxnSpLocks/>
          </p:cNvCxnSpPr>
          <p:nvPr/>
        </p:nvCxnSpPr>
        <p:spPr>
          <a:xfrm>
            <a:off x="4607719" y="4891972"/>
            <a:ext cx="0" cy="1182517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Image result for mvtec dataset">
            <a:extLst>
              <a:ext uri="{FF2B5EF4-FFF2-40B4-BE49-F238E27FC236}">
                <a16:creationId xmlns:a16="http://schemas.microsoft.com/office/drawing/2014/main" id="{D240CE23-DF55-4AF1-BF24-37152D738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5" t="-121" r="66554" b="66758"/>
          <a:stretch/>
        </p:blipFill>
        <p:spPr bwMode="auto">
          <a:xfrm>
            <a:off x="822452" y="2165083"/>
            <a:ext cx="1548166" cy="155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mvtec dataset">
            <a:extLst>
              <a:ext uri="{FF2B5EF4-FFF2-40B4-BE49-F238E27FC236}">
                <a16:creationId xmlns:a16="http://schemas.microsoft.com/office/drawing/2014/main" id="{510DB28A-3B7B-434B-9C44-B68ED2BA8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5" t="-121" r="66554" b="66758"/>
          <a:stretch/>
        </p:blipFill>
        <p:spPr bwMode="auto">
          <a:xfrm>
            <a:off x="4716016" y="2159251"/>
            <a:ext cx="1548166" cy="155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A6F2381-BCD8-4B3B-8DED-4BD536F6B40B}"/>
              </a:ext>
            </a:extLst>
          </p:cNvPr>
          <p:cNvSpPr/>
          <p:nvPr/>
        </p:nvSpPr>
        <p:spPr>
          <a:xfrm>
            <a:off x="5495811" y="2492937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2B6EF5-B9FE-4AC0-A8D1-B30C04853A1B}"/>
              </a:ext>
            </a:extLst>
          </p:cNvPr>
          <p:cNvSpPr/>
          <p:nvPr/>
        </p:nvSpPr>
        <p:spPr>
          <a:xfrm>
            <a:off x="5406827" y="2583026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4B9024-BC9E-4DFD-8C08-ECAA026547A8}"/>
              </a:ext>
            </a:extLst>
          </p:cNvPr>
          <p:cNvSpPr/>
          <p:nvPr/>
        </p:nvSpPr>
        <p:spPr>
          <a:xfrm>
            <a:off x="4915182" y="3149840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884BAF-9534-4799-B033-D5F7D849F693}"/>
              </a:ext>
            </a:extLst>
          </p:cNvPr>
          <p:cNvSpPr/>
          <p:nvPr/>
        </p:nvSpPr>
        <p:spPr>
          <a:xfrm>
            <a:off x="4972332" y="3266635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DD4E48-C4B4-4DEA-8DCA-A6114F99CAA7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5862227" y="2674674"/>
            <a:ext cx="401955" cy="106254"/>
          </a:xfrm>
          <a:prstGeom prst="line">
            <a:avLst/>
          </a:prstGeom>
          <a:ln w="19050">
            <a:solidFill>
              <a:srgbClr val="F15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9710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D659-8449-4110-BCEF-CF19844C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Methods (Training)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E14D-0F15-4E7D-AE7D-2E127E3D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Self-supervised learning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EBAF8-DFEA-438A-A082-F4EAE62DE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5A51B0C8-F55D-450F-B549-76202D3E1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633315"/>
            <a:ext cx="5364596" cy="57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9B557F5-240E-4879-AE33-6F06A2A5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42" y="1861567"/>
            <a:ext cx="7057116" cy="346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2484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CF23-7349-4346-A289-6309E839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Methods (Training)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5C3A-CF55-4FD4-84CA-ECB1AE1A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Hierarchical encoder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B2A1E-2AA5-4A62-85F9-D397A971A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29FC3-36AD-4CBA-8804-44BD0E1D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8" y="2000929"/>
            <a:ext cx="8496436" cy="359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7275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vtec dataset">
            <a:extLst>
              <a:ext uri="{FF2B5EF4-FFF2-40B4-BE49-F238E27FC236}">
                <a16:creationId xmlns:a16="http://schemas.microsoft.com/office/drawing/2014/main" id="{FB6AEAA3-E59B-4ABC-B629-F6590F5B6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9" t="34963" r="66876" b="33555"/>
          <a:stretch/>
        </p:blipFill>
        <p:spPr bwMode="auto">
          <a:xfrm>
            <a:off x="725742" y="2352675"/>
            <a:ext cx="1464470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B35C02-4711-49E2-BD3F-E13060588636}"/>
              </a:ext>
            </a:extLst>
          </p:cNvPr>
          <p:cNvCxnSpPr/>
          <p:nvPr/>
        </p:nvCxnSpPr>
        <p:spPr>
          <a:xfrm>
            <a:off x="591515" y="2352675"/>
            <a:ext cx="0" cy="14644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4DFA79-7A7B-4EEB-8CC7-1579761267ED}"/>
              </a:ext>
            </a:extLst>
          </p:cNvPr>
          <p:cNvSpPr txBox="1"/>
          <p:nvPr/>
        </p:nvSpPr>
        <p:spPr>
          <a:xfrm>
            <a:off x="1094076" y="3933939"/>
            <a:ext cx="766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256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B1257-609B-4449-8BD3-B40956C9B19C}"/>
              </a:ext>
            </a:extLst>
          </p:cNvPr>
          <p:cNvSpPr txBox="1"/>
          <p:nvPr/>
        </p:nvSpPr>
        <p:spPr>
          <a:xfrm rot="16200000">
            <a:off x="98848" y="2715404"/>
            <a:ext cx="70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256</a:t>
            </a:r>
            <a:endParaRPr lang="ko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C2C11-A965-438F-A8E8-3F3E6861A7C3}"/>
              </a:ext>
            </a:extLst>
          </p:cNvPr>
          <p:cNvSpPr/>
          <p:nvPr/>
        </p:nvSpPr>
        <p:spPr>
          <a:xfrm>
            <a:off x="1645576" y="2620827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48C249-DB09-4A25-A9EF-C5C9822830F0}"/>
              </a:ext>
            </a:extLst>
          </p:cNvPr>
          <p:cNvCxnSpPr>
            <a:cxnSpLocks/>
          </p:cNvCxnSpPr>
          <p:nvPr/>
        </p:nvCxnSpPr>
        <p:spPr>
          <a:xfrm flipH="1">
            <a:off x="725743" y="3897707"/>
            <a:ext cx="14644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F903249-33D9-474C-BB3C-5F2888821D2D}"/>
              </a:ext>
            </a:extLst>
          </p:cNvPr>
          <p:cNvSpPr/>
          <p:nvPr/>
        </p:nvSpPr>
        <p:spPr>
          <a:xfrm>
            <a:off x="1556592" y="2710916"/>
            <a:ext cx="366416" cy="363474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5C804-0940-4A26-8153-1FD6875DEC27}"/>
              </a:ext>
            </a:extLst>
          </p:cNvPr>
          <p:cNvSpPr/>
          <p:nvPr/>
        </p:nvSpPr>
        <p:spPr>
          <a:xfrm>
            <a:off x="971731" y="2771239"/>
            <a:ext cx="366416" cy="363474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A0F9A6-A81D-481B-8D66-B1DED56C4B4F}"/>
              </a:ext>
            </a:extLst>
          </p:cNvPr>
          <p:cNvSpPr/>
          <p:nvPr/>
        </p:nvSpPr>
        <p:spPr>
          <a:xfrm>
            <a:off x="957443" y="2393477"/>
            <a:ext cx="366416" cy="363474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effectLst>
                  <a:glow rad="25400">
                    <a:schemeClr val="bg1"/>
                  </a:glow>
                </a:effectLst>
              </a:rPr>
              <a:t>1</a:t>
            </a:r>
            <a:endParaRPr lang="ko-KR" altLang="en-US">
              <a:solidFill>
                <a:schemeClr val="tx1"/>
              </a:solidFill>
              <a:effectLst>
                <a:glow rad="25400">
                  <a:schemeClr val="bg1"/>
                </a:glo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686487-2861-46D8-8539-AEDE535C2285}"/>
              </a:ext>
            </a:extLst>
          </p:cNvPr>
          <p:cNvSpPr/>
          <p:nvPr/>
        </p:nvSpPr>
        <p:spPr>
          <a:xfrm>
            <a:off x="1001493" y="3340899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F16B66-F136-4D26-B0CD-146636AB4D6A}"/>
              </a:ext>
            </a:extLst>
          </p:cNvPr>
          <p:cNvSpPr/>
          <p:nvPr/>
        </p:nvSpPr>
        <p:spPr>
          <a:xfrm>
            <a:off x="1058643" y="3457694"/>
            <a:ext cx="185166" cy="185166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AC9C07-F2E9-4395-9A03-23BADBD50A08}"/>
              </a:ext>
            </a:extLst>
          </p:cNvPr>
          <p:cNvSpPr/>
          <p:nvPr/>
        </p:nvSpPr>
        <p:spPr>
          <a:xfrm>
            <a:off x="1718654" y="3312016"/>
            <a:ext cx="185166" cy="185166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BE10C-5CB1-4503-ACAC-247048B0576C}"/>
              </a:ext>
            </a:extLst>
          </p:cNvPr>
          <p:cNvSpPr/>
          <p:nvPr/>
        </p:nvSpPr>
        <p:spPr>
          <a:xfrm>
            <a:off x="1728179" y="3515765"/>
            <a:ext cx="185166" cy="185166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effectLst>
                  <a:glow rad="25400">
                    <a:schemeClr val="bg1"/>
                  </a:glow>
                </a:effectLst>
              </a:rPr>
              <a:t>6</a:t>
            </a:r>
            <a:endParaRPr lang="ko-KR" altLang="en-US" dirty="0">
              <a:solidFill>
                <a:schemeClr val="tx1"/>
              </a:solidFill>
              <a:effectLst>
                <a:glow rad="25400"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AAE6FC-8B95-4A10-A19D-28C88D092EB0}"/>
              </a:ext>
            </a:extLst>
          </p:cNvPr>
          <p:cNvSpPr/>
          <p:nvPr/>
        </p:nvSpPr>
        <p:spPr>
          <a:xfrm>
            <a:off x="4553230" y="4400350"/>
            <a:ext cx="1199829" cy="792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Position</a:t>
            </a:r>
            <a:r>
              <a:rPr lang="ko-KR" altLang="en-US" sz="1600" dirty="0"/>
              <a:t> </a:t>
            </a:r>
            <a:r>
              <a:rPr lang="en-US" altLang="ko-KR" sz="1600" dirty="0"/>
              <a:t>Classifier</a:t>
            </a:r>
            <a:br>
              <a:rPr lang="en-US" altLang="ko-KR" sz="1600" dirty="0"/>
            </a:br>
            <a:r>
              <a:rPr lang="en-US" altLang="ko-KR" sz="1600" dirty="0"/>
              <a:t>(32)</a:t>
            </a:r>
            <a:endParaRPr lang="ko-KR" altLang="en-US" sz="1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8352DA-F383-4B9C-BB8C-DF597BFDF18B}"/>
              </a:ext>
            </a:extLst>
          </p:cNvPr>
          <p:cNvSpPr/>
          <p:nvPr/>
        </p:nvSpPr>
        <p:spPr>
          <a:xfrm>
            <a:off x="5080670" y="3432250"/>
            <a:ext cx="1138609" cy="800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Position</a:t>
            </a:r>
            <a:r>
              <a:rPr lang="ko-KR" altLang="en-US" sz="1600" dirty="0"/>
              <a:t> </a:t>
            </a:r>
            <a:r>
              <a:rPr lang="en-US" altLang="ko-KR" sz="1600" dirty="0"/>
              <a:t>Classifier</a:t>
            </a:r>
            <a:br>
              <a:rPr lang="en-US" altLang="ko-KR" sz="1600" dirty="0"/>
            </a:br>
            <a:r>
              <a:rPr lang="en-US" altLang="ko-KR" sz="1600" dirty="0"/>
              <a:t>(64)</a:t>
            </a:r>
            <a:endParaRPr lang="ko-KR" altLang="en-US" sz="16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CC2492-E8D7-4443-83DB-F59BC108C042}"/>
              </a:ext>
            </a:extLst>
          </p:cNvPr>
          <p:cNvCxnSpPr>
            <a:stCxn id="19" idx="3"/>
          </p:cNvCxnSpPr>
          <p:nvPr/>
        </p:nvCxnSpPr>
        <p:spPr>
          <a:xfrm flipV="1">
            <a:off x="1338146" y="2938295"/>
            <a:ext cx="1647714" cy="146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DB78E65-80FA-4DC3-8150-77D074AC00CB}"/>
              </a:ext>
            </a:extLst>
          </p:cNvPr>
          <p:cNvCxnSpPr>
            <a:cxnSpLocks/>
          </p:cNvCxnSpPr>
          <p:nvPr/>
        </p:nvCxnSpPr>
        <p:spPr>
          <a:xfrm>
            <a:off x="2011991" y="2710916"/>
            <a:ext cx="97386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E4C9E386-86E5-48B9-BDB2-28617406ADCD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243810" y="2996052"/>
            <a:ext cx="3395372" cy="554225"/>
          </a:xfrm>
          <a:prstGeom prst="bentConnector3">
            <a:avLst>
              <a:gd name="adj1" fmla="val 93524"/>
            </a:avLst>
          </a:prstGeom>
          <a:ln>
            <a:solidFill>
              <a:srgbClr val="C0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11EEF1E1-4506-4A4D-AEB1-F628D0FEBAC9}"/>
              </a:ext>
            </a:extLst>
          </p:cNvPr>
          <p:cNvCxnSpPr>
            <a:cxnSpLocks/>
          </p:cNvCxnSpPr>
          <p:nvPr/>
        </p:nvCxnSpPr>
        <p:spPr>
          <a:xfrm flipV="1">
            <a:off x="1905848" y="3109650"/>
            <a:ext cx="2733333" cy="302983"/>
          </a:xfrm>
          <a:prstGeom prst="bentConnector3">
            <a:avLst>
              <a:gd name="adj1" fmla="val 93381"/>
            </a:avLst>
          </a:prstGeom>
          <a:ln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9159CA5-0964-4489-9006-5C30C50FE692}"/>
              </a:ext>
            </a:extLst>
          </p:cNvPr>
          <p:cNvCxnSpPr>
            <a:cxnSpLocks/>
          </p:cNvCxnSpPr>
          <p:nvPr/>
        </p:nvCxnSpPr>
        <p:spPr>
          <a:xfrm>
            <a:off x="4915528" y="3192995"/>
            <a:ext cx="4678" cy="1134388"/>
          </a:xfrm>
          <a:prstGeom prst="straightConnector1">
            <a:avLst/>
          </a:prstGeom>
          <a:ln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EB0D9A5-B028-469B-B4E0-2CD2D2841876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6219279" y="3832559"/>
            <a:ext cx="3713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F025D28-9CA8-4351-A2D1-A46F2BAB9138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5753059" y="4781248"/>
            <a:ext cx="565495" cy="15484"/>
          </a:xfrm>
          <a:prstGeom prst="straightConnector1">
            <a:avLst/>
          </a:prstGeom>
          <a:ln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eft Brace 119">
            <a:extLst>
              <a:ext uri="{FF2B5EF4-FFF2-40B4-BE49-F238E27FC236}">
                <a16:creationId xmlns:a16="http://schemas.microsoft.com/office/drawing/2014/main" id="{573A7A71-DF37-48D0-BD35-525192F11285}"/>
              </a:ext>
            </a:extLst>
          </p:cNvPr>
          <p:cNvSpPr/>
          <p:nvPr/>
        </p:nvSpPr>
        <p:spPr>
          <a:xfrm rot="10800000">
            <a:off x="7582805" y="2609644"/>
            <a:ext cx="358543" cy="379074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Left Brace 122">
            <a:extLst>
              <a:ext uri="{FF2B5EF4-FFF2-40B4-BE49-F238E27FC236}">
                <a16:creationId xmlns:a16="http://schemas.microsoft.com/office/drawing/2014/main" id="{F167D0CF-054D-4684-B6C8-0684806BFD48}"/>
              </a:ext>
            </a:extLst>
          </p:cNvPr>
          <p:cNvSpPr/>
          <p:nvPr/>
        </p:nvSpPr>
        <p:spPr>
          <a:xfrm rot="10800000">
            <a:off x="7653945" y="3763782"/>
            <a:ext cx="296901" cy="1114574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76B08C7-8B15-43BC-8689-13947CCC826A}"/>
                  </a:ext>
                </a:extLst>
              </p:cNvPr>
              <p:cNvSpPr txBox="1"/>
              <p:nvPr/>
            </p:nvSpPr>
            <p:spPr>
              <a:xfrm>
                <a:off x="7856910" y="2495394"/>
                <a:ext cx="421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76B08C7-8B15-43BC-8689-13947CCC8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910" y="2495394"/>
                <a:ext cx="421040" cy="369332"/>
              </a:xfrm>
              <a:prstGeom prst="rect">
                <a:avLst/>
              </a:prstGeom>
              <a:blipFill>
                <a:blip r:embed="rId3"/>
                <a:stretch>
                  <a:fillRect r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Left Brace 124">
            <a:extLst>
              <a:ext uri="{FF2B5EF4-FFF2-40B4-BE49-F238E27FC236}">
                <a16:creationId xmlns:a16="http://schemas.microsoft.com/office/drawing/2014/main" id="{C610366C-BE21-499E-8BB7-7EDD61C0304C}"/>
              </a:ext>
            </a:extLst>
          </p:cNvPr>
          <p:cNvSpPr/>
          <p:nvPr/>
        </p:nvSpPr>
        <p:spPr>
          <a:xfrm rot="10800000">
            <a:off x="7856911" y="2799699"/>
            <a:ext cx="358541" cy="1527684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A5317-E6C1-4F22-9CF8-908F55715F53}"/>
              </a:ext>
            </a:extLst>
          </p:cNvPr>
          <p:cNvSpPr txBox="1"/>
          <p:nvPr/>
        </p:nvSpPr>
        <p:spPr>
          <a:xfrm>
            <a:off x="34667" y="1606824"/>
            <a:ext cx="2858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Each patch is randomly selected</a:t>
            </a:r>
            <a:endParaRPr lang="ko-KR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F867E0-2E6E-41A7-B5FE-F30CA572240C}"/>
              </a:ext>
            </a:extLst>
          </p:cNvPr>
          <p:cNvGrpSpPr/>
          <p:nvPr/>
        </p:nvGrpSpPr>
        <p:grpSpPr>
          <a:xfrm>
            <a:off x="2882901" y="1844416"/>
            <a:ext cx="3422381" cy="1582976"/>
            <a:chOff x="3843868" y="1316221"/>
            <a:chExt cx="4563174" cy="211063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8DEF48D-B5C5-48C0-B718-1EE1A934432F}"/>
                </a:ext>
              </a:extLst>
            </p:cNvPr>
            <p:cNvSpPr/>
            <p:nvPr/>
          </p:nvSpPr>
          <p:spPr>
            <a:xfrm>
              <a:off x="3981147" y="2067236"/>
              <a:ext cx="1828800" cy="10663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Deep Encoder</a:t>
              </a:r>
              <a:endParaRPr lang="ko-KR" alt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D564EE7-79AC-4C00-90A7-CD2119A8A1D7}"/>
                </a:ext>
              </a:extLst>
            </p:cNvPr>
            <p:cNvSpPr/>
            <p:nvPr/>
          </p:nvSpPr>
          <p:spPr>
            <a:xfrm>
              <a:off x="6185575" y="2067236"/>
              <a:ext cx="1828800" cy="10663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Hierarchical </a:t>
              </a:r>
              <a:br>
                <a:rPr lang="en-US" altLang="ko-KR"/>
              </a:br>
              <a:r>
                <a:rPr lang="en-US" altLang="ko-KR"/>
                <a:t>Head</a:t>
              </a:r>
              <a:endParaRPr lang="ko-KR" altLang="en-US" dirty="0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E834810-73BA-4E48-A0B8-13EB69054B22}"/>
                </a:ext>
              </a:extLst>
            </p:cNvPr>
            <p:cNvCxnSpPr>
              <a:cxnSpLocks/>
            </p:cNvCxnSpPr>
            <p:nvPr/>
          </p:nvCxnSpPr>
          <p:spPr>
            <a:xfrm>
              <a:off x="5809947" y="2649460"/>
              <a:ext cx="375628" cy="109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5EC4BCC-1F9A-466B-9F10-47FE4672532E}"/>
                </a:ext>
              </a:extLst>
            </p:cNvPr>
            <p:cNvCxnSpPr>
              <a:cxnSpLocks/>
            </p:cNvCxnSpPr>
            <p:nvPr/>
          </p:nvCxnSpPr>
          <p:spPr>
            <a:xfrm>
              <a:off x="5809947" y="2443651"/>
              <a:ext cx="375628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7826D81-DE0B-4419-AAAF-6657B108B323}"/>
                </a:ext>
              </a:extLst>
            </p:cNvPr>
            <p:cNvCxnSpPr>
              <a:cxnSpLocks/>
            </p:cNvCxnSpPr>
            <p:nvPr/>
          </p:nvCxnSpPr>
          <p:spPr>
            <a:xfrm>
              <a:off x="8014375" y="2436202"/>
              <a:ext cx="375628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3C942338-2012-4B54-B2B7-FDFD1562E4A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414" y="2836068"/>
              <a:ext cx="375628" cy="0"/>
            </a:xfrm>
            <a:prstGeom prst="straightConnector1">
              <a:avLst/>
            </a:prstGeom>
            <a:ln>
              <a:solidFill>
                <a:srgbClr val="C00000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D608B769-11A0-4BA7-BE42-E56DDBD7F0A2}"/>
                </a:ext>
              </a:extLst>
            </p:cNvPr>
            <p:cNvCxnSpPr>
              <a:cxnSpLocks/>
            </p:cNvCxnSpPr>
            <p:nvPr/>
          </p:nvCxnSpPr>
          <p:spPr>
            <a:xfrm>
              <a:off x="7435800" y="3119470"/>
              <a:ext cx="0" cy="307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839F323-FA3E-44E0-8CD1-01DA8650B9A1}"/>
                </a:ext>
              </a:extLst>
            </p:cNvPr>
            <p:cNvSpPr/>
            <p:nvPr/>
          </p:nvSpPr>
          <p:spPr>
            <a:xfrm>
              <a:off x="3843868" y="1896557"/>
              <a:ext cx="4376348" cy="141333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B1BA89-7040-4C52-B790-1B8735BFD71F}"/>
                </a:ext>
              </a:extLst>
            </p:cNvPr>
            <p:cNvSpPr txBox="1"/>
            <p:nvPr/>
          </p:nvSpPr>
          <p:spPr>
            <a:xfrm>
              <a:off x="4279923" y="1316221"/>
              <a:ext cx="3811302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/>
                <a:t>Hierarchical</a:t>
              </a:r>
              <a:r>
                <a:rPr lang="ko-KR" altLang="en-US"/>
                <a:t> </a:t>
              </a:r>
              <a:r>
                <a:rPr lang="en-US" altLang="ko-KR" dirty="0"/>
                <a:t>Encoder</a:t>
              </a:r>
              <a:endParaRPr lang="ko-KR" altLang="en-US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97C0B35-928D-49B4-89B2-1998085F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Methods (Training)</a:t>
            </a:r>
            <a:endParaRPr lang="ko-KR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5154EEA-BDE5-4D13-AD77-1D7723CF5C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643" r="75810" b="36224"/>
          <a:stretch/>
        </p:blipFill>
        <p:spPr>
          <a:xfrm>
            <a:off x="6278492" y="2565151"/>
            <a:ext cx="754882" cy="211048"/>
          </a:xfrm>
          <a:prstGeom prst="rect">
            <a:avLst/>
          </a:prstGeom>
        </p:spPr>
      </p:pic>
      <p:pic>
        <p:nvPicPr>
          <p:cNvPr id="57" name="Picture 8">
            <a:extLst>
              <a:ext uri="{FF2B5EF4-FFF2-40B4-BE49-F238E27FC236}">
                <a16:creationId xmlns:a16="http://schemas.microsoft.com/office/drawing/2014/main" id="{8FCE48E5-7F70-4833-8DE2-D264EA07B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1" r="86167" b="21731"/>
          <a:stretch/>
        </p:blipFill>
        <p:spPr bwMode="auto">
          <a:xfrm>
            <a:off x="6292503" y="4694204"/>
            <a:ext cx="754882" cy="29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>
            <a:extLst>
              <a:ext uri="{FF2B5EF4-FFF2-40B4-BE49-F238E27FC236}">
                <a16:creationId xmlns:a16="http://schemas.microsoft.com/office/drawing/2014/main" id="{8B5E04EF-7686-491A-B054-D6CC7F399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91" r="63022" b="31626"/>
          <a:stretch/>
        </p:blipFill>
        <p:spPr bwMode="auto">
          <a:xfrm>
            <a:off x="7653945" y="3385883"/>
            <a:ext cx="1296144" cy="23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67115C7-E9CE-46DF-A495-40E831EFE7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643" r="75810" b="36224"/>
          <a:stretch/>
        </p:blipFill>
        <p:spPr>
          <a:xfrm>
            <a:off x="6315975" y="2900070"/>
            <a:ext cx="754882" cy="211048"/>
          </a:xfrm>
          <a:prstGeom prst="rect">
            <a:avLst/>
          </a:prstGeom>
        </p:spPr>
      </p:pic>
      <p:pic>
        <p:nvPicPr>
          <p:cNvPr id="61" name="Picture 8">
            <a:extLst>
              <a:ext uri="{FF2B5EF4-FFF2-40B4-BE49-F238E27FC236}">
                <a16:creationId xmlns:a16="http://schemas.microsoft.com/office/drawing/2014/main" id="{519C8609-F090-4EAF-B558-F7D791D0D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1" r="86167" b="21731"/>
          <a:stretch/>
        </p:blipFill>
        <p:spPr bwMode="auto">
          <a:xfrm>
            <a:off x="6513859" y="3700931"/>
            <a:ext cx="754882" cy="29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792F6DE-ED73-4680-A955-1E8965A68312}"/>
              </a:ext>
            </a:extLst>
          </p:cNvPr>
          <p:cNvSpPr/>
          <p:nvPr/>
        </p:nvSpPr>
        <p:spPr>
          <a:xfrm>
            <a:off x="7056570" y="2483260"/>
            <a:ext cx="5757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/>
              <a:t>(64)</a:t>
            </a:r>
            <a:endParaRPr lang="ko-KR" altLang="en-US" sz="16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EEE906-4E73-48AF-AC88-8FE02E6E1BF7}"/>
              </a:ext>
            </a:extLst>
          </p:cNvPr>
          <p:cNvSpPr/>
          <p:nvPr/>
        </p:nvSpPr>
        <p:spPr>
          <a:xfrm>
            <a:off x="7023718" y="2826917"/>
            <a:ext cx="5757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/>
              <a:t>(32)</a:t>
            </a:r>
            <a:endParaRPr lang="ko-KR" altLang="en-US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4AA403-E689-4875-BC73-0A211B634B27}"/>
              </a:ext>
            </a:extLst>
          </p:cNvPr>
          <p:cNvSpPr/>
          <p:nvPr/>
        </p:nvSpPr>
        <p:spPr>
          <a:xfrm>
            <a:off x="7122741" y="3663282"/>
            <a:ext cx="5757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/>
              <a:t>(64)</a:t>
            </a:r>
            <a:endParaRPr lang="ko-KR" altLang="en-US" sz="16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1744822-D64D-408F-8F34-B66E52529D21}"/>
              </a:ext>
            </a:extLst>
          </p:cNvPr>
          <p:cNvSpPr/>
          <p:nvPr/>
        </p:nvSpPr>
        <p:spPr>
          <a:xfrm>
            <a:off x="6938817" y="4646626"/>
            <a:ext cx="5757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/>
              <a:t>(32)</a:t>
            </a:r>
            <a:endParaRPr lang="ko-KR" altLang="en-US" sz="160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1681194F-B867-4B2F-9142-1F40F9627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/>
              <a:t>Training Stage Summary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4252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9D3-0E59-4D7C-847F-05E92F09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8153-BCED-4447-AC92-E99D74A6A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84DE-D227-4DB3-9B88-2D588B3F67EE}"/>
              </a:ext>
            </a:extLst>
          </p:cNvPr>
          <p:cNvSpPr txBox="1"/>
          <p:nvPr/>
        </p:nvSpPr>
        <p:spPr>
          <a:xfrm>
            <a:off x="1475656" y="2240868"/>
            <a:ext cx="637270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Q &amp; A </a:t>
            </a:r>
            <a:endParaRPr lang="ko-KR" altLang="en-US" sz="8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0040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9C42-2972-45F1-AB23-78C96327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Methods (Testing)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A299B-32C4-4954-BBB9-AFB0A53F1D40}"/>
              </a:ext>
            </a:extLst>
          </p:cNvPr>
          <p:cNvSpPr/>
          <p:nvPr/>
        </p:nvSpPr>
        <p:spPr>
          <a:xfrm>
            <a:off x="401780" y="2247637"/>
            <a:ext cx="1111450" cy="712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Normal dataset</a:t>
            </a:r>
            <a:endParaRPr lang="en-US" altLang="ko-KR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04DB3F-264D-4059-BC0A-499251594C9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405142" y="2604083"/>
            <a:ext cx="799007" cy="92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EF97A08-1E8C-43F4-B89C-5CC079EF9B08}"/>
              </a:ext>
            </a:extLst>
          </p:cNvPr>
          <p:cNvSpPr/>
          <p:nvPr/>
        </p:nvSpPr>
        <p:spPr>
          <a:xfrm>
            <a:off x="2204149" y="3140968"/>
            <a:ext cx="1111450" cy="776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Hierarchical encoder</a:t>
            </a:r>
            <a:endParaRPr lang="ko-KR" altLang="en-US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D820A1-03BA-48D0-B88C-9FC04E4F9C00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315599" y="2604083"/>
            <a:ext cx="528620" cy="92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E8410D7-1950-4CEE-8D03-010D6D90F2DE}"/>
              </a:ext>
            </a:extLst>
          </p:cNvPr>
          <p:cNvSpPr/>
          <p:nvPr/>
        </p:nvSpPr>
        <p:spPr>
          <a:xfrm>
            <a:off x="3844219" y="2247637"/>
            <a:ext cx="1111450" cy="712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Normal </a:t>
            </a:r>
            <a:r>
              <a:rPr lang="en-US" altLang="ko-KR" sz="1400"/>
              <a:t>dataset feature map</a:t>
            </a:r>
            <a:endParaRPr lang="ko-KR" altLang="en-US" sz="1400" dirty="0"/>
          </a:p>
        </p:txBody>
      </p:sp>
      <p:pic>
        <p:nvPicPr>
          <p:cNvPr id="15" name="Picture 2" descr="Image result for mvtec dataset">
            <a:extLst>
              <a:ext uri="{FF2B5EF4-FFF2-40B4-BE49-F238E27FC236}">
                <a16:creationId xmlns:a16="http://schemas.microsoft.com/office/drawing/2014/main" id="{1DA92859-AB01-4EEA-BA1F-42FE67506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4" t="34412" r="66411" b="34321"/>
          <a:stretch/>
        </p:blipFill>
        <p:spPr bwMode="auto">
          <a:xfrm>
            <a:off x="367498" y="3572088"/>
            <a:ext cx="1229082" cy="122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C83EAB-7FB6-43B1-BC83-601E5BF674C1}"/>
              </a:ext>
            </a:extLst>
          </p:cNvPr>
          <p:cNvSpPr/>
          <p:nvPr/>
        </p:nvSpPr>
        <p:spPr>
          <a:xfrm>
            <a:off x="446158" y="3685077"/>
            <a:ext cx="199711" cy="199711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37D00-6CC4-42FC-ACF6-7E9CE179067B}"/>
              </a:ext>
            </a:extLst>
          </p:cNvPr>
          <p:cNvSpPr/>
          <p:nvPr/>
        </p:nvSpPr>
        <p:spPr>
          <a:xfrm>
            <a:off x="507798" y="3811045"/>
            <a:ext cx="199711" cy="199711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1EE36-61BD-4C6C-9AE2-951E3418293C}"/>
              </a:ext>
            </a:extLst>
          </p:cNvPr>
          <p:cNvCxnSpPr>
            <a:cxnSpLocks/>
          </p:cNvCxnSpPr>
          <p:nvPr/>
        </p:nvCxnSpPr>
        <p:spPr>
          <a:xfrm>
            <a:off x="837635" y="3811045"/>
            <a:ext cx="501664" cy="0"/>
          </a:xfrm>
          <a:prstGeom prst="straightConnector1">
            <a:avLst/>
          </a:prstGeom>
          <a:noFill/>
          <a:ln>
            <a:solidFill>
              <a:srgbClr val="C00000"/>
            </a:solidFill>
            <a:tailEnd type="triangle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3BE7EF-D8DA-4CB3-8FE5-F05BF5655F00}"/>
              </a:ext>
            </a:extLst>
          </p:cNvPr>
          <p:cNvSpPr txBox="1"/>
          <p:nvPr/>
        </p:nvSpPr>
        <p:spPr>
          <a:xfrm>
            <a:off x="657849" y="3554126"/>
            <a:ext cx="861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Stride S</a:t>
            </a:r>
            <a:endParaRPr lang="ko-KR" altLang="en-US" sz="1400" dirty="0">
              <a:effectLst>
                <a:glow rad="25400">
                  <a:schemeClr val="bg1"/>
                </a:glo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429C527-9254-430E-860B-EA2C74FE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324" y="2544519"/>
            <a:ext cx="921457" cy="93596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C985BA-0997-47D7-9573-DF9E0336E8AB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1596580" y="3529311"/>
            <a:ext cx="607569" cy="65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8B3FB3C-3E87-4DBD-AECD-87D085B0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324" y="3711655"/>
            <a:ext cx="921457" cy="93596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022D54E-90AF-4FF9-9ED8-8D95BC198BFB}"/>
              </a:ext>
            </a:extLst>
          </p:cNvPr>
          <p:cNvSpPr txBox="1"/>
          <p:nvPr/>
        </p:nvSpPr>
        <p:spPr>
          <a:xfrm>
            <a:off x="5809362" y="2502942"/>
            <a:ext cx="460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32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208AC4-5401-4EBA-89B3-561ACB8F5895}"/>
              </a:ext>
            </a:extLst>
          </p:cNvPr>
          <p:cNvSpPr txBox="1"/>
          <p:nvPr/>
        </p:nvSpPr>
        <p:spPr>
          <a:xfrm>
            <a:off x="5786950" y="3734832"/>
            <a:ext cx="460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64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6B6868-2F72-4A08-9E9A-6350AA246538}"/>
                  </a:ext>
                </a:extLst>
              </p:cNvPr>
              <p:cNvSpPr txBox="1"/>
              <p:nvPr/>
            </p:nvSpPr>
            <p:spPr>
              <a:xfrm>
                <a:off x="5917209" y="3452651"/>
                <a:ext cx="7313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6B6868-2F72-4A08-9E9A-6350AA246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209" y="3452651"/>
                <a:ext cx="73135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F1685B15-B3F1-4FF1-A602-10B7D455E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83" y="3144408"/>
            <a:ext cx="921457" cy="935968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5BF241-C577-47E6-B023-D71E0BD5D169}"/>
              </a:ext>
            </a:extLst>
          </p:cNvPr>
          <p:cNvCxnSpPr>
            <a:endCxn id="41" idx="1"/>
          </p:cNvCxnSpPr>
          <p:nvPr/>
        </p:nvCxnSpPr>
        <p:spPr>
          <a:xfrm>
            <a:off x="6484696" y="3612392"/>
            <a:ext cx="4619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B0CDDE6-7E90-454C-B029-DCFDCBD9DA96}"/>
              </a:ext>
            </a:extLst>
          </p:cNvPr>
          <p:cNvSpPr txBox="1"/>
          <p:nvPr/>
        </p:nvSpPr>
        <p:spPr>
          <a:xfrm>
            <a:off x="6889817" y="3098618"/>
            <a:ext cx="986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Anomaly seg</a:t>
            </a:r>
            <a:endParaRPr lang="ko-KR" altLang="en-US" sz="14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1C67CC-88BC-4E0D-9D07-2F3D144C0694}"/>
              </a:ext>
            </a:extLst>
          </p:cNvPr>
          <p:cNvCxnSpPr/>
          <p:nvPr/>
        </p:nvCxnSpPr>
        <p:spPr>
          <a:xfrm>
            <a:off x="7827408" y="3672887"/>
            <a:ext cx="4619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9133BA5-22CF-4E57-AD59-4A6127C04806}"/>
              </a:ext>
            </a:extLst>
          </p:cNvPr>
          <p:cNvSpPr txBox="1"/>
          <p:nvPr/>
        </p:nvSpPr>
        <p:spPr>
          <a:xfrm>
            <a:off x="8168358" y="3400976"/>
            <a:ext cx="973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Normal or anomaly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7D8ACA-F0D5-4FE1-A332-CFC0982C5E0C}"/>
              </a:ext>
            </a:extLst>
          </p:cNvPr>
          <p:cNvSpPr txBox="1"/>
          <p:nvPr/>
        </p:nvSpPr>
        <p:spPr>
          <a:xfrm rot="5400000">
            <a:off x="7509705" y="3302977"/>
            <a:ext cx="986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max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C5BB8B-9A3F-4EA9-B5A3-3C1E6F0AB113}"/>
              </a:ext>
            </a:extLst>
          </p:cNvPr>
          <p:cNvSpPr txBox="1"/>
          <p:nvPr/>
        </p:nvSpPr>
        <p:spPr>
          <a:xfrm>
            <a:off x="562151" y="4810770"/>
            <a:ext cx="861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effectLst>
                  <a:glow rad="25400">
                    <a:schemeClr val="bg1"/>
                  </a:glow>
                </a:effectLst>
              </a:rPr>
              <a:t>Test image</a:t>
            </a:r>
            <a:endParaRPr lang="ko-KR" altLang="en-US" sz="1400" dirty="0">
              <a:effectLst>
                <a:glow rad="25400">
                  <a:schemeClr val="bg1"/>
                </a:glo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EE9188-F5A3-40C4-B71D-BA56FE57AA45}"/>
              </a:ext>
            </a:extLst>
          </p:cNvPr>
          <p:cNvSpPr/>
          <p:nvPr/>
        </p:nvSpPr>
        <p:spPr>
          <a:xfrm>
            <a:off x="3835232" y="3990048"/>
            <a:ext cx="1111450" cy="712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Test image</a:t>
            </a:r>
            <a:br>
              <a:rPr lang="en-US" altLang="ko-KR" sz="1400"/>
            </a:br>
            <a:r>
              <a:rPr lang="en-US" altLang="ko-KR" sz="1400"/>
              <a:t>feature map</a:t>
            </a:r>
            <a:endParaRPr lang="ko-KR" altLang="en-US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90D5B6-C0F5-451D-ABBD-A84DF35B382B}"/>
              </a:ext>
            </a:extLst>
          </p:cNvPr>
          <p:cNvCxnSpPr>
            <a:cxnSpLocks/>
            <a:stCxn id="7" idx="3"/>
            <a:endCxn id="43" idx="1"/>
          </p:cNvCxnSpPr>
          <p:nvPr/>
        </p:nvCxnSpPr>
        <p:spPr>
          <a:xfrm>
            <a:off x="3315599" y="3529311"/>
            <a:ext cx="519633" cy="817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rrow: Left-Right 51">
            <a:extLst>
              <a:ext uri="{FF2B5EF4-FFF2-40B4-BE49-F238E27FC236}">
                <a16:creationId xmlns:a16="http://schemas.microsoft.com/office/drawing/2014/main" id="{E13D7FD2-32D5-4528-B962-FDA5725624DE}"/>
              </a:ext>
            </a:extLst>
          </p:cNvPr>
          <p:cNvSpPr/>
          <p:nvPr/>
        </p:nvSpPr>
        <p:spPr>
          <a:xfrm rot="16200000">
            <a:off x="3938133" y="3333424"/>
            <a:ext cx="989644" cy="323601"/>
          </a:xfrm>
          <a:prstGeom prst="leftRightArrow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39D8FB-CA48-4A6C-861D-2C8B1D8F71AA}"/>
              </a:ext>
            </a:extLst>
          </p:cNvPr>
          <p:cNvSpPr txBox="1"/>
          <p:nvPr/>
        </p:nvSpPr>
        <p:spPr>
          <a:xfrm>
            <a:off x="4325076" y="3198898"/>
            <a:ext cx="97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비교</a:t>
            </a:r>
            <a:endParaRPr lang="en-US" altLang="ko-KR" sz="120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  <a:p>
            <a:pPr algn="ctr"/>
            <a:r>
              <a:rPr lang="en-US" altLang="ko-KR" sz="12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(Nearest Neigbor)</a:t>
            </a:r>
            <a:endParaRPr lang="ko-KR" altLang="en-US" sz="12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969EC76-EBCD-4CDC-BFDF-69AD1C1E217F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064814" y="3012503"/>
            <a:ext cx="723510" cy="304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282A7B38-7543-4D3D-8AF9-53E84417A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470142"/>
          </a:xfrm>
        </p:spPr>
        <p:txBody>
          <a:bodyPr/>
          <a:lstStyle/>
          <a:p>
            <a:r>
              <a:rPr lang="en-US" altLang="ko-KR"/>
              <a:t>Generating Anomaly Maps</a:t>
            </a:r>
            <a:endParaRPr lang="ko-KR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B60959-D779-4B16-A4DD-85025E02FAC4}"/>
              </a:ext>
            </a:extLst>
          </p:cNvPr>
          <p:cNvSpPr/>
          <p:nvPr/>
        </p:nvSpPr>
        <p:spPr>
          <a:xfrm>
            <a:off x="2372935" y="6540094"/>
            <a:ext cx="32480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/>
              <a:t>https://github.com/yahoojapan/NGT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C4CC68-89F1-429D-B375-623B28E5D8A2}"/>
              </a:ext>
            </a:extLst>
          </p:cNvPr>
          <p:cNvSpPr/>
          <p:nvPr/>
        </p:nvSpPr>
        <p:spPr>
          <a:xfrm>
            <a:off x="4567526" y="623327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1200">
                <a:solidFill>
                  <a:srgbClr val="24292E"/>
                </a:solidFill>
                <a:latin typeface="-apple-system"/>
              </a:rPr>
              <a:t>Neighborhood Graph and Tree for Indexing High-dimensional Data</a:t>
            </a:r>
            <a:endParaRPr lang="ko-KR" altLang="en-US" sz="120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CDFCD5-089B-4E4C-93D9-0294E99FB34C}"/>
              </a:ext>
            </a:extLst>
          </p:cNvPr>
          <p:cNvCxnSpPr>
            <a:cxnSpLocks/>
          </p:cNvCxnSpPr>
          <p:nvPr/>
        </p:nvCxnSpPr>
        <p:spPr>
          <a:xfrm>
            <a:off x="5099139" y="3708014"/>
            <a:ext cx="652055" cy="327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9C81941-9159-4186-B4FB-E7EFBCDDE06D}"/>
              </a:ext>
            </a:extLst>
          </p:cNvPr>
          <p:cNvSpPr txBox="1"/>
          <p:nvPr/>
        </p:nvSpPr>
        <p:spPr>
          <a:xfrm>
            <a:off x="5099139" y="3950353"/>
            <a:ext cx="687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NGT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5FB34D-0191-419C-9467-BFB31545A6BC}"/>
              </a:ext>
            </a:extLst>
          </p:cNvPr>
          <p:cNvSpPr txBox="1"/>
          <p:nvPr/>
        </p:nvSpPr>
        <p:spPr>
          <a:xfrm>
            <a:off x="4950982" y="2744924"/>
            <a:ext cx="915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K-d tree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EBE3C7-281A-43D6-9F21-A231114BBD09}"/>
              </a:ext>
            </a:extLst>
          </p:cNvPr>
          <p:cNvSpPr txBox="1"/>
          <p:nvPr/>
        </p:nvSpPr>
        <p:spPr>
          <a:xfrm>
            <a:off x="5059938" y="3368709"/>
            <a:ext cx="91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L2 distance</a:t>
            </a:r>
            <a:endParaRPr lang="ko-KR" altLang="en-US" sz="12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8FDE11-512D-478C-B41A-8A095FE74EB4}"/>
              </a:ext>
            </a:extLst>
          </p:cNvPr>
          <p:cNvSpPr txBox="1"/>
          <p:nvPr/>
        </p:nvSpPr>
        <p:spPr>
          <a:xfrm>
            <a:off x="5976156" y="3681028"/>
            <a:ext cx="1567726" cy="313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Element-wise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9538284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DBDF-88E0-4E79-815E-82B3FAE0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Result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1FD71-53E8-4E41-85CF-8EC021338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80096-DC60-4F6D-8732-332381A4B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Anomaly maps segmented by Patch SVDD</a:t>
            </a:r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96629D5-B142-4116-BE33-A6791769C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313"/>
          <a:stretch/>
        </p:blipFill>
        <p:spPr bwMode="auto">
          <a:xfrm>
            <a:off x="1977280" y="1592797"/>
            <a:ext cx="5189439" cy="495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31406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A2BD-99DF-49F0-A76C-DCC66B9E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B377-D37A-4EB8-B346-B55C99334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Anomaly Detection and segmentation result on</a:t>
            </a:r>
            <a:br>
              <a:rPr lang="en-US" altLang="ko-KR" dirty="0"/>
            </a:br>
            <a:r>
              <a:rPr lang="en-US" altLang="ko-KR" dirty="0" err="1"/>
              <a:t>MVTec</a:t>
            </a:r>
            <a:r>
              <a:rPr lang="en-US" altLang="ko-KR" dirty="0"/>
              <a:t> AD dataset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52CCA-D45F-4C5B-A4AD-976A8D561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5E9BB82-35F1-4771-ABB0-536DC0C3C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93" y="2528900"/>
            <a:ext cx="7165413" cy="278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482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9D3-0E59-4D7C-847F-05E92F09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8153-BCED-4447-AC92-E99D74A6A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84DE-D227-4DB3-9B88-2D588B3F67EE}"/>
              </a:ext>
            </a:extLst>
          </p:cNvPr>
          <p:cNvSpPr txBox="1"/>
          <p:nvPr/>
        </p:nvSpPr>
        <p:spPr>
          <a:xfrm>
            <a:off x="1475656" y="2240868"/>
            <a:ext cx="637270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Q &amp; A </a:t>
            </a:r>
            <a:endParaRPr lang="ko-KR" altLang="en-US" sz="8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4033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0151-2667-448C-9A74-22434A03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Detailed</a:t>
            </a:r>
            <a:r>
              <a:rPr lang="ko-KR" altLang="en-US"/>
              <a:t> </a:t>
            </a:r>
            <a:r>
              <a:rPr lang="en-US" altLang="ko-KR"/>
              <a:t>Analysis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2C5A0-DA5D-494D-92D0-BDA2E1BA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/>
              <a:t>Patch – level Anomaly Detection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/>
              <a:t>Self-supervised learning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/>
              <a:t>Hieracial Encoder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/>
              <a:t>Hyperparameter</a:t>
            </a:r>
          </a:p>
          <a:p>
            <a:pPr marL="457200" indent="-457200">
              <a:buFont typeface="+mj-lt"/>
              <a:buAutoNum type="arabicPeriod"/>
            </a:pP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DDDC0-FC46-4737-91D3-11EEDDB03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068368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B99A-8B3E-4BEE-9D04-EE931562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/>
              <a:t>Patch – level Anomaly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CE9F-F2BD-4A6B-BFA7-C3214F32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effectLst/>
              </a:rPr>
              <a:t>Random Encoder</a:t>
            </a:r>
          </a:p>
          <a:p>
            <a:pPr lvl="1"/>
            <a:r>
              <a:rPr lang="en-US" altLang="ko-KR" sz="1600">
                <a:effectLst/>
              </a:rPr>
              <a:t>Patch</a:t>
            </a:r>
            <a:r>
              <a:rPr lang="ko-KR" altLang="en-US" sz="1600">
                <a:effectLst/>
              </a:rPr>
              <a:t> 단위로 이미지를 분할하였을 때 </a:t>
            </a:r>
            <a:r>
              <a:rPr lang="en-US" altLang="ko-KR" sz="1600">
                <a:effectLst/>
              </a:rPr>
              <a:t>Intra-class varia</a:t>
            </a:r>
            <a:r>
              <a:rPr lang="en-US" altLang="ko-KR" sz="1600"/>
              <a:t>tio</a:t>
            </a:r>
            <a:r>
              <a:rPr lang="ko-KR" altLang="en-US" sz="1600"/>
              <a:t>이 높아져서 </a:t>
            </a:r>
            <a:r>
              <a:rPr lang="en-US" altLang="ko-KR" sz="1600"/>
              <a:t>Random Encoder </a:t>
            </a:r>
            <a:r>
              <a:rPr lang="ko-KR" altLang="en-US" sz="1600"/>
              <a:t>혹은 </a:t>
            </a:r>
            <a:r>
              <a:rPr lang="en-US" altLang="ko-KR" sz="1600"/>
              <a:t>Raw Patch</a:t>
            </a:r>
            <a:r>
              <a:rPr lang="ko-KR" altLang="en-US" sz="1600"/>
              <a:t>만 이용하여도 비교적 높은 성능 달성 가능 </a:t>
            </a:r>
            <a:endParaRPr lang="en-US" altLang="ko-KR" sz="1600">
              <a:effectLst/>
            </a:endParaRPr>
          </a:p>
          <a:p>
            <a:pPr lvl="1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8E08-EA0D-4877-B1DC-B3817161D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CC4C50B-0880-4456-ACC2-1BEF5A8419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" t="-67" r="476" b="46265"/>
          <a:stretch/>
        </p:blipFill>
        <p:spPr bwMode="auto">
          <a:xfrm>
            <a:off x="1459050" y="3786393"/>
            <a:ext cx="6585369" cy="262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13946DB4-7E38-4B48-9211-5A10A487A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200" y="2471765"/>
            <a:ext cx="5328592" cy="119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52E9B-D2A1-47CD-9DB2-4D1D4430BC27}"/>
              </a:ext>
            </a:extLst>
          </p:cNvPr>
          <p:cNvSpPr/>
          <p:nvPr/>
        </p:nvSpPr>
        <p:spPr>
          <a:xfrm>
            <a:off x="1907704" y="2564904"/>
            <a:ext cx="176419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BE8ED-F3D4-40B1-B6BE-D2D4E290012C}"/>
              </a:ext>
            </a:extLst>
          </p:cNvPr>
          <p:cNvSpPr txBox="1"/>
          <p:nvPr/>
        </p:nvSpPr>
        <p:spPr>
          <a:xfrm>
            <a:off x="1736685" y="3027824"/>
            <a:ext cx="205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인코더</a:t>
            </a: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통과 후 </a:t>
            </a:r>
            <a:b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Feature map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B558C-3F53-4E93-A9B1-94DBF024C3E9}"/>
              </a:ext>
            </a:extLst>
          </p:cNvPr>
          <p:cNvSpPr/>
          <p:nvPr/>
        </p:nvSpPr>
        <p:spPr>
          <a:xfrm>
            <a:off x="3916223" y="3273495"/>
            <a:ext cx="171019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C526E-6923-4985-B067-A92A7AFFC9CB}"/>
              </a:ext>
            </a:extLst>
          </p:cNvPr>
          <p:cNvSpPr txBox="1"/>
          <p:nvPr/>
        </p:nvSpPr>
        <p:spPr>
          <a:xfrm>
            <a:off x="5311378" y="3247616"/>
            <a:ext cx="205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인코더</a:t>
            </a: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통과 전 </a:t>
            </a:r>
            <a:b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이미지의 </a:t>
            </a:r>
            <a:r>
              <a:rPr lang="en-US" altLang="ko-KR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patch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76980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9E58-CE4A-4711-9C17-EF087F6A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/>
              <a:t>Patch – level Anomaly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BECE-5B07-4F34-B85D-0C4264554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t-SNE visualization (</a:t>
            </a:r>
            <a:r>
              <a:rPr lang="ko-KR" altLang="en-US" sz="2000"/>
              <a:t>고차원 데이터를 저차원으로 표현</a:t>
            </a:r>
            <a:r>
              <a:rPr lang="en-US" altLang="ko-KR" sz="2000"/>
              <a:t>)</a:t>
            </a:r>
          </a:p>
          <a:p>
            <a:pPr lvl="1"/>
            <a:r>
              <a:rPr lang="en-US" altLang="ko-KR" sz="1800"/>
              <a:t>Object</a:t>
            </a:r>
            <a:r>
              <a:rPr lang="ko-KR" altLang="en-US" sz="1800"/>
              <a:t> </a:t>
            </a:r>
            <a:r>
              <a:rPr lang="en-US" altLang="ko-KR" sz="1800"/>
              <a:t>(</a:t>
            </a:r>
            <a:r>
              <a:rPr lang="ko-KR" altLang="en-US" sz="1800"/>
              <a:t>전선</a:t>
            </a:r>
            <a:r>
              <a:rPr lang="en-US" altLang="ko-KR" sz="1800"/>
              <a:t>, </a:t>
            </a:r>
            <a:r>
              <a:rPr lang="ko-KR" altLang="en-US" sz="1800"/>
              <a:t>칫솔 등</a:t>
            </a:r>
            <a:r>
              <a:rPr lang="en-US" altLang="ko-KR" sz="1800"/>
              <a:t>, </a:t>
            </a:r>
            <a:r>
              <a:rPr lang="ko-KR" altLang="en-US" sz="1800"/>
              <a:t>특징이 다양함</a:t>
            </a:r>
            <a:r>
              <a:rPr lang="en-US" altLang="ko-KR" sz="1800"/>
              <a:t>) </a:t>
            </a:r>
            <a:br>
              <a:rPr lang="en-US" altLang="ko-KR" sz="1800"/>
            </a:br>
            <a:r>
              <a:rPr lang="en-US" altLang="ko-KR" sz="1800"/>
              <a:t>Texture (</a:t>
            </a:r>
            <a:r>
              <a:rPr lang="ko-KR" altLang="en-US" sz="1800"/>
              <a:t>가죽</a:t>
            </a:r>
            <a:r>
              <a:rPr lang="en-US" altLang="ko-KR" sz="1800"/>
              <a:t>, </a:t>
            </a:r>
            <a:r>
              <a:rPr lang="ko-KR" altLang="en-US" sz="1800"/>
              <a:t>천 등</a:t>
            </a:r>
            <a:r>
              <a:rPr lang="en-US" altLang="ko-KR" sz="1800"/>
              <a:t>, </a:t>
            </a:r>
            <a:r>
              <a:rPr lang="ko-KR" altLang="en-US" sz="1800"/>
              <a:t>특징이 균일함</a:t>
            </a:r>
            <a:r>
              <a:rPr lang="en-US" altLang="ko-KR" sz="1800"/>
              <a:t>) </a:t>
            </a:r>
          </a:p>
          <a:p>
            <a:pPr lvl="1"/>
            <a:r>
              <a:rPr lang="en-US" altLang="ko-KR" sz="1800"/>
              <a:t>Object</a:t>
            </a:r>
            <a:r>
              <a:rPr lang="ko-KR" altLang="en-US" sz="1800"/>
              <a:t>는 </a:t>
            </a:r>
            <a:r>
              <a:rPr lang="en-US" altLang="ko-KR" sz="1800"/>
              <a:t>Patch </a:t>
            </a:r>
            <a:r>
              <a:rPr lang="ko-KR" altLang="en-US" sz="1800"/>
              <a:t>별로 다양한 특징 분포</a:t>
            </a:r>
            <a:r>
              <a:rPr lang="en-US" altLang="ko-KR" sz="1800"/>
              <a:t>, Texture</a:t>
            </a:r>
            <a:r>
              <a:rPr lang="ko-KR" altLang="en-US" sz="1800"/>
              <a:t>는 비교적 균일한 특징 분포</a:t>
            </a:r>
            <a:endParaRPr lang="en-US" altLang="ko-KR" sz="1800"/>
          </a:p>
          <a:p>
            <a:endParaRPr lang="ko-KR" alt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B87B1-C175-4E11-BD68-821F97064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FA085F7-DDCF-47B1-AFE6-7E5ED7AD1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662" y="2636912"/>
            <a:ext cx="6084676" cy="354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0CCD6F-3754-40B0-8CF8-B3FCC30DBDF5}"/>
              </a:ext>
            </a:extLst>
          </p:cNvPr>
          <p:cNvSpPr txBox="1"/>
          <p:nvPr/>
        </p:nvSpPr>
        <p:spPr>
          <a:xfrm>
            <a:off x="3770103" y="2636912"/>
            <a:ext cx="1548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좌표를 색상 및 크기로 표현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61676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29C2-E3C3-43A4-BF13-7881DFF8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Self-supervised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88A15-D26B-4845-A45A-6C2693603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Effect of self-supervised learning</a:t>
            </a:r>
          </a:p>
          <a:p>
            <a:pPr lvl="1"/>
            <a:r>
              <a:rPr lang="en-US" altLang="ko-KR" dirty="0"/>
              <a:t>Ablation Study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FED48-CABB-42D8-973B-DF01F611A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5DCF8-3C02-4768-88BD-8D9C868F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253028"/>
            <a:ext cx="2558237" cy="21759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9A263-DC36-42F1-85C3-710E594E1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3" y="2456892"/>
            <a:ext cx="5628950" cy="2716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083D0-0D8A-47DE-8D86-F4AEFC841C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17"/>
          <a:stretch/>
        </p:blipFill>
        <p:spPr>
          <a:xfrm>
            <a:off x="6482194" y="4049506"/>
            <a:ext cx="1906199" cy="2461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FCAA28-E61F-4C23-9F5B-BB6ADA669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80" t="4777" r="4136" b="25223"/>
          <a:stretch/>
        </p:blipFill>
        <p:spPr bwMode="auto">
          <a:xfrm>
            <a:off x="6721295" y="3749896"/>
            <a:ext cx="1516039" cy="34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86316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88EA-2668-44DE-9ED9-2DBEE70E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Hieracial Encoder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E8CCB-BC65-49DE-80CC-A5850D5C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>
                <a:solidFill>
                  <a:srgbClr val="37352F"/>
                </a:solidFill>
                <a:effectLst/>
                <a:latin typeface="-apple-system"/>
              </a:rPr>
              <a:t>Hierarchical Encoding</a:t>
            </a:r>
            <a:endParaRPr lang="en-US" altLang="ko-KR" b="0" dirty="0">
              <a:solidFill>
                <a:srgbClr val="37352F"/>
              </a:solidFill>
              <a:latin typeface="-apple-system"/>
            </a:endParaRPr>
          </a:p>
          <a:p>
            <a:pPr lvl="1"/>
            <a:endParaRPr lang="en-US" altLang="ko-KR" b="0" dirty="0">
              <a:solidFill>
                <a:srgbClr val="37352F"/>
              </a:solidFill>
              <a:latin typeface="-apple-system"/>
            </a:endParaRPr>
          </a:p>
          <a:p>
            <a:pPr lvl="1"/>
            <a:endParaRPr lang="en-US" altLang="ko-KR" b="0" dirty="0">
              <a:solidFill>
                <a:srgbClr val="37352F"/>
              </a:solidFill>
              <a:latin typeface="-apple-system"/>
            </a:endParaRPr>
          </a:p>
          <a:p>
            <a:pPr marL="457200" lvl="1" indent="0">
              <a:buNone/>
            </a:pPr>
            <a:endParaRPr lang="en-US" altLang="ko-KR" b="0" dirty="0">
              <a:solidFill>
                <a:srgbClr val="37352F"/>
              </a:solidFill>
              <a:latin typeface="-apple-system"/>
            </a:endParaRPr>
          </a:p>
          <a:p>
            <a:pPr lvl="1"/>
            <a:endParaRPr lang="en-US" altLang="ko-KR" b="0" dirty="0">
              <a:solidFill>
                <a:srgbClr val="37352F"/>
              </a:solidFill>
              <a:latin typeface="-apple-system"/>
            </a:endParaRP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898A5-A477-4AD1-BBD7-16FCE8401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28B1ADC-F190-44B3-870B-553DF5D0C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3335"/>
          <a:stretch/>
        </p:blipFill>
        <p:spPr bwMode="auto">
          <a:xfrm>
            <a:off x="328081" y="2597085"/>
            <a:ext cx="5288035" cy="214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963F6-A85F-4CF8-AD65-ECE6BC63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307" y="2688890"/>
            <a:ext cx="3359876" cy="272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2952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9D3-0E59-4D7C-847F-05E92F09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8153-BCED-4447-AC92-E99D74A6A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84DE-D227-4DB3-9B88-2D588B3F67EE}"/>
              </a:ext>
            </a:extLst>
          </p:cNvPr>
          <p:cNvSpPr txBox="1"/>
          <p:nvPr/>
        </p:nvSpPr>
        <p:spPr>
          <a:xfrm>
            <a:off x="1475656" y="2240868"/>
            <a:ext cx="637270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Q &amp; A </a:t>
            </a:r>
            <a:endParaRPr lang="ko-KR" altLang="en-US" sz="8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4131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61337</TotalTime>
  <Words>1018</Words>
  <Application>Microsoft Office PowerPoint</Application>
  <PresentationFormat>On-screen Show (4:3)</PresentationFormat>
  <Paragraphs>204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-apple-system</vt:lpstr>
      <vt:lpstr>futura-pt-bold</vt:lpstr>
      <vt:lpstr>굴림</vt:lpstr>
      <vt:lpstr>맑은 고딕</vt:lpstr>
      <vt:lpstr>Arial</vt:lpstr>
      <vt:lpstr>Calibri</vt:lpstr>
      <vt:lpstr>Cambria Math</vt:lpstr>
      <vt:lpstr>Wingdings</vt:lpstr>
      <vt:lpstr>Office 테마</vt:lpstr>
      <vt:lpstr>Patch SVDD : Path-level Support Vector Data Description for Anomaly Detection and Segmentation</vt:lpstr>
      <vt:lpstr>Contents of Patch SVDD</vt:lpstr>
      <vt:lpstr>Contents of Patch SVDD</vt:lpstr>
      <vt:lpstr>What is Anomaly Detection </vt:lpstr>
      <vt:lpstr>MVTec Anomaly Dataset</vt:lpstr>
      <vt:lpstr>Support Data Description </vt:lpstr>
      <vt:lpstr>Deep SVDD </vt:lpstr>
      <vt:lpstr>Q &amp; A </vt:lpstr>
      <vt:lpstr>Patch SVDD </vt:lpstr>
      <vt:lpstr>Methods (Training)</vt:lpstr>
      <vt:lpstr>Methods (Training)</vt:lpstr>
      <vt:lpstr>Methods (Training)</vt:lpstr>
      <vt:lpstr>Methods (Training)</vt:lpstr>
      <vt:lpstr>Q &amp; A </vt:lpstr>
      <vt:lpstr>Methods (Testing)</vt:lpstr>
      <vt:lpstr>Result</vt:lpstr>
      <vt:lpstr>Result</vt:lpstr>
      <vt:lpstr>Q &amp; A </vt:lpstr>
      <vt:lpstr>Detailed Analysis</vt:lpstr>
      <vt:lpstr>Patch – level Anomaly Detection </vt:lpstr>
      <vt:lpstr>Patch – level Anomaly Detection </vt:lpstr>
      <vt:lpstr>2. Self-supervised learning </vt:lpstr>
      <vt:lpstr>3. Hieracial Encoder </vt:lpstr>
      <vt:lpstr>Q &amp; A 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김병현</cp:lastModifiedBy>
  <cp:revision>3106</cp:revision>
  <cp:lastPrinted>2016-03-04T01:44:28Z</cp:lastPrinted>
  <dcterms:created xsi:type="dcterms:W3CDTF">2008-03-01T21:32:25Z</dcterms:created>
  <dcterms:modified xsi:type="dcterms:W3CDTF">2021-02-28T11:10:19Z</dcterms:modified>
</cp:coreProperties>
</file>