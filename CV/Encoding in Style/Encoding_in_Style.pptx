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93" r:id="rId5"/>
    <p:sldId id="276" r:id="rId6"/>
    <p:sldId id="296" r:id="rId7"/>
    <p:sldId id="297" r:id="rId8"/>
    <p:sldId id="277" r:id="rId9"/>
    <p:sldId id="295" r:id="rId10"/>
    <p:sldId id="281" r:id="rId11"/>
    <p:sldId id="300" r:id="rId12"/>
    <p:sldId id="298" r:id="rId13"/>
    <p:sldId id="278" r:id="rId14"/>
    <p:sldId id="282" r:id="rId15"/>
    <p:sldId id="299" r:id="rId16"/>
    <p:sldId id="279" r:id="rId17"/>
    <p:sldId id="301" r:id="rId18"/>
    <p:sldId id="280" r:id="rId19"/>
    <p:sldId id="284" r:id="rId20"/>
    <p:sldId id="285" r:id="rId21"/>
    <p:sldId id="286" r:id="rId22"/>
    <p:sldId id="289" r:id="rId23"/>
    <p:sldId id="288" r:id="rId24"/>
    <p:sldId id="291" r:id="rId25"/>
    <p:sldId id="292" r:id="rId26"/>
    <p:sldId id="266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4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1C37"/>
    <a:srgbClr val="E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0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102" y="114"/>
      </p:cViewPr>
      <p:guideLst>
        <p:guide orient="horz" pos="304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8C993879-7E91-4CB2-885E-42EAAF77BD4B}" type="datetimeFigureOut">
              <a:rPr lang="ko-KR" altLang="en-US" smtClean="0"/>
              <a:pPr/>
              <a:t>2021-11-21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44232CAA-9FA9-43E7-B720-151F4ECE5B9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440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232CAA-9FA9-43E7-B720-151F4ECE5B9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790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232CAA-9FA9-43E7-B720-151F4ECE5B9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4931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232CAA-9FA9-43E7-B720-151F4ECE5B9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8270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232CAA-9FA9-43E7-B720-151F4ECE5B9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805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232CAA-9FA9-43E7-B720-151F4ECE5B9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194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232CAA-9FA9-43E7-B720-151F4ECE5B9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6251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232CAA-9FA9-43E7-B720-151F4ECE5B9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11242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232CAA-9FA9-43E7-B720-151F4ECE5B9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6839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232CAA-9FA9-43E7-B720-151F4ECE5B9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3584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232CAA-9FA9-43E7-B720-151F4ECE5B9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6559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232CAA-9FA9-43E7-B720-151F4ECE5B9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3999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232CAA-9FA9-43E7-B720-151F4ECE5B9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5688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232CAA-9FA9-43E7-B720-151F4ECE5B9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10404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232CAA-9FA9-43E7-B720-151F4ECE5B9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5116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232CAA-9FA9-43E7-B720-151F4ECE5B9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84714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232CAA-9FA9-43E7-B720-151F4ECE5B9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7633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232CAA-9FA9-43E7-B720-151F4ECE5B9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55973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232CAA-9FA9-43E7-B720-151F4ECE5B9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29502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232CAA-9FA9-43E7-B720-151F4ECE5B9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4493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232CAA-9FA9-43E7-B720-151F4ECE5B9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0156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232CAA-9FA9-43E7-B720-151F4ECE5B9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7130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232CAA-9FA9-43E7-B720-151F4ECE5B9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3256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232CAA-9FA9-43E7-B720-151F4ECE5B9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9029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232CAA-9FA9-43E7-B720-151F4ECE5B9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3106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9CA1C-2F2D-448B-8460-22612614257D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888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1F6E-0830-4096-A3B1-160FA5868F75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282404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CF95610-67CD-4BE2-A8CE-A86B9937DD0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4777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EDAAF-56B5-4110-9AAF-E309B9DFBBFC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798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AF625-EBE3-4712-9A2A-E53C5C120D59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8911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5B82-5C08-452A-930F-4117D392E036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586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BA0DF-F4F8-4250-9057-E4FC6D3648D0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067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DC8A-09DD-468D-A503-E62AD8EE2F77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783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08287-5505-4A21-8132-D27F58B69320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074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42C26-C489-40D1-AF59-07DDD57D7018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3600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1C279-6E78-40AD-A8E1-5AA31DA4FD8F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456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49B65-003D-48DD-B012-0054F376AB64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580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F71ADCB0-7E21-4B17-953A-3F9455571A08}" type="datetime1">
              <a:rPr lang="ko-KR" altLang="en-US" smtClean="0"/>
              <a:pPr/>
              <a:t>2021-11-21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8CF95610-67CD-4BE2-A8CE-A86B9937DD0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8554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Encoding in Style: a </a:t>
            </a:r>
            <a:r>
              <a:rPr lang="en-US" altLang="ko-KR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StyleGAN</a:t>
            </a:r>
            <a:r>
              <a:rPr lang="en-US" altLang="ko-KR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Encoder for Image-to-Image Translation</a:t>
            </a:r>
            <a:endParaRPr lang="ko-KR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5125790" y="5524921"/>
            <a:ext cx="6238965" cy="872098"/>
          </a:xfrm>
        </p:spPr>
        <p:txBody>
          <a:bodyPr>
            <a:normAutofit/>
          </a:bodyPr>
          <a:lstStyle/>
          <a:p>
            <a:pPr algn="r"/>
            <a:r>
              <a:rPr lang="en-US" altLang="ko-KR" sz="1400" dirty="0" smtClean="0"/>
              <a:t>2021. 11. 21</a:t>
            </a:r>
          </a:p>
          <a:p>
            <a:pPr algn="r"/>
            <a:r>
              <a:rPr lang="ko-KR" altLang="en-US" sz="1600" dirty="0" smtClean="0"/>
              <a:t>김준철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고형권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김상현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전선영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조경진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허다운</a:t>
            </a:r>
            <a:endParaRPr lang="en-US" altLang="ko-KR" sz="1600" dirty="0" smtClean="0"/>
          </a:p>
        </p:txBody>
      </p:sp>
      <p:sp>
        <p:nvSpPr>
          <p:cNvPr id="5" name="직사각형 4"/>
          <p:cNvSpPr/>
          <p:nvPr/>
        </p:nvSpPr>
        <p:spPr>
          <a:xfrm>
            <a:off x="913921" y="3512330"/>
            <a:ext cx="10388252" cy="45719"/>
          </a:xfrm>
          <a:prstGeom prst="rect">
            <a:avLst/>
          </a:prstGeom>
          <a:solidFill>
            <a:srgbClr val="A61C37"/>
          </a:solidFill>
          <a:ln>
            <a:solidFill>
              <a:srgbClr val="A61C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0013" y="3661081"/>
            <a:ext cx="10284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i="1" dirty="0" err="1"/>
              <a:t>Elad</a:t>
            </a:r>
            <a:r>
              <a:rPr lang="en-US" altLang="ko-KR" sz="1400" b="1" i="1" dirty="0"/>
              <a:t> Richardson, Yuval </a:t>
            </a:r>
            <a:r>
              <a:rPr lang="en-US" altLang="ko-KR" sz="1400" b="1" i="1" dirty="0" err="1"/>
              <a:t>Alaluf</a:t>
            </a:r>
            <a:r>
              <a:rPr lang="en-US" altLang="ko-KR" sz="1400" b="1" i="1" dirty="0"/>
              <a:t>, Or </a:t>
            </a:r>
            <a:r>
              <a:rPr lang="en-US" altLang="ko-KR" sz="1400" b="1" i="1" dirty="0" err="1"/>
              <a:t>Patashnik</a:t>
            </a:r>
            <a:r>
              <a:rPr lang="en-US" altLang="ko-KR" sz="1400" b="1" i="1" dirty="0"/>
              <a:t>, </a:t>
            </a:r>
            <a:r>
              <a:rPr lang="en-US" altLang="ko-KR" sz="1400" b="1" i="1" dirty="0" err="1"/>
              <a:t>Yotam</a:t>
            </a:r>
            <a:r>
              <a:rPr lang="en-US" altLang="ko-KR" sz="1400" b="1" i="1" dirty="0"/>
              <a:t> </a:t>
            </a:r>
            <a:r>
              <a:rPr lang="en-US" altLang="ko-KR" sz="1400" b="1" i="1" dirty="0" err="1"/>
              <a:t>Nitzan</a:t>
            </a:r>
            <a:r>
              <a:rPr lang="en-US" altLang="ko-KR" sz="1400" b="1" i="1" dirty="0"/>
              <a:t>, </a:t>
            </a:r>
            <a:r>
              <a:rPr lang="en-US" altLang="ko-KR" sz="1400" b="1" i="1" dirty="0" err="1"/>
              <a:t>Yaniv</a:t>
            </a:r>
            <a:r>
              <a:rPr lang="en-US" altLang="ko-KR" sz="1400" b="1" i="1" dirty="0"/>
              <a:t> Azar, </a:t>
            </a:r>
            <a:r>
              <a:rPr lang="en-US" altLang="ko-KR" sz="1400" b="1" i="1" dirty="0" err="1"/>
              <a:t>Stav</a:t>
            </a:r>
            <a:r>
              <a:rPr lang="en-US" altLang="ko-KR" sz="1400" b="1" i="1" dirty="0"/>
              <a:t> Shapiro, Daniel </a:t>
            </a:r>
            <a:r>
              <a:rPr lang="en-US" altLang="ko-KR" sz="1400" b="1" i="1" dirty="0" smtClean="0"/>
              <a:t>Cohen-Or</a:t>
            </a:r>
            <a:endParaRPr lang="en-US" altLang="ko-KR" sz="1400" dirty="0"/>
          </a:p>
          <a:p>
            <a:pPr algn="r"/>
            <a:r>
              <a:rPr lang="en-US" altLang="ko-KR" sz="1400" dirty="0" smtClean="0"/>
              <a:t> </a:t>
            </a:r>
            <a:r>
              <a:rPr lang="en-US" altLang="ko-KR" sz="1400" dirty="0"/>
              <a:t>Proceedings of the IEEE/CVF Conference on Computer Vision and Pattern Recognition (CVPR), 2021</a:t>
            </a:r>
            <a:endParaRPr lang="ko-KR" alt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876346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292336" y="6402325"/>
            <a:ext cx="2743200" cy="365125"/>
          </a:xfrm>
        </p:spPr>
        <p:txBody>
          <a:bodyPr/>
          <a:lstStyle/>
          <a:p>
            <a:fld id="{8CF95610-67CD-4BE2-A8CE-A86B9937DD03}" type="slidenum">
              <a:rPr lang="ko-KR" alt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fld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798688" y="1376423"/>
            <a:ext cx="677135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 Background</a:t>
            </a:r>
          </a:p>
          <a:p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 Introduction</a:t>
            </a:r>
          </a:p>
          <a:p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 Related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Work</a:t>
            </a:r>
          </a:p>
          <a:p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pSp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Framework</a:t>
            </a:r>
          </a:p>
          <a:p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 Applications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and Experiments</a:t>
            </a:r>
          </a:p>
          <a:p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 Discussion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 Conclusion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374737" y="348782"/>
            <a:ext cx="9730609" cy="57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700" b="1" dirty="0" smtClean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Contents</a:t>
            </a:r>
            <a:endParaRPr lang="ko-KR" altLang="en-US" sz="1800" b="1" dirty="0">
              <a:solidFill>
                <a:srgbClr val="C00000"/>
              </a:solidFill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7590AF7-624B-48F1-B81A-46F26EDF8850}"/>
              </a:ext>
            </a:extLst>
          </p:cNvPr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>
            <a:solidFill>
              <a:srgbClr val="A61C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0752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6" name="제목 1"/>
          <p:cNvSpPr txBox="1">
            <a:spLocks/>
          </p:cNvSpPr>
          <p:nvPr/>
        </p:nvSpPr>
        <p:spPr>
          <a:xfrm>
            <a:off x="374737" y="348782"/>
            <a:ext cx="9730609" cy="57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700" b="1" dirty="0" smtClean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Background </a:t>
            </a:r>
            <a:r>
              <a:rPr lang="en-US" altLang="ko-KR" sz="1800" b="1" dirty="0" err="1" smtClean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StyleGAN</a:t>
            </a:r>
            <a:endParaRPr lang="ko-KR" altLang="en-US" sz="1800" b="1" dirty="0">
              <a:solidFill>
                <a:srgbClr val="C00000"/>
              </a:solidFill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590AF7-624B-48F1-B81A-46F26EDF8850}"/>
              </a:ext>
            </a:extLst>
          </p:cNvPr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>
            <a:solidFill>
              <a:srgbClr val="A61C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192" y="1393405"/>
            <a:ext cx="3948830" cy="430626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1182" y="1394141"/>
            <a:ext cx="2649310" cy="4306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7085" y="5822083"/>
            <a:ext cx="257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StyleGAN</a:t>
            </a:r>
            <a:endParaRPr lang="ko-KR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03490" y="5843712"/>
            <a:ext cx="1400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StyleGAN2</a:t>
            </a:r>
            <a:endParaRPr lang="ko-KR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790" y="1394140"/>
            <a:ext cx="2701242" cy="43055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5589" y="1525078"/>
            <a:ext cx="453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G</a:t>
            </a:r>
            <a:endParaRPr lang="ko-KR" altLang="en-US" b="1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939113" y="5227986"/>
            <a:ext cx="453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D</a:t>
            </a:r>
            <a:endParaRPr lang="ko-KR" altLang="en-US" b="1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655805" y="5843712"/>
            <a:ext cx="1754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PGGAN</a:t>
            </a:r>
            <a:endParaRPr lang="ko-KR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213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/>
          <p:nvPr/>
        </p:nvSpPr>
        <p:spPr>
          <a:xfrm>
            <a:off x="6400800" y="3947722"/>
            <a:ext cx="5228823" cy="159047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6400799" y="1799617"/>
            <a:ext cx="5228823" cy="119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6" name="제목 1"/>
          <p:cNvSpPr txBox="1">
            <a:spLocks/>
          </p:cNvSpPr>
          <p:nvPr/>
        </p:nvSpPr>
        <p:spPr>
          <a:xfrm>
            <a:off x="374737" y="348782"/>
            <a:ext cx="9730609" cy="57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700" b="1" dirty="0" smtClean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Background </a:t>
            </a:r>
            <a:r>
              <a:rPr lang="en-US" altLang="ko-KR" sz="1800" b="1" dirty="0" smtClean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W </a:t>
            </a:r>
            <a:r>
              <a:rPr lang="en-US" altLang="ko-KR" sz="1800" b="1" dirty="0" err="1" smtClean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W</a:t>
            </a:r>
            <a:r>
              <a:rPr lang="en-US" altLang="ko-KR" sz="1800" b="1" dirty="0" smtClean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+ space</a:t>
            </a:r>
            <a:endParaRPr lang="ko-KR" altLang="en-US" sz="1800" b="1" dirty="0">
              <a:solidFill>
                <a:srgbClr val="C00000"/>
              </a:solidFill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590AF7-624B-48F1-B81A-46F26EDF8850}"/>
              </a:ext>
            </a:extLst>
          </p:cNvPr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>
            <a:solidFill>
              <a:srgbClr val="A61C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799" y="1886279"/>
            <a:ext cx="52288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 smtClean="0"/>
              <a:t>W space : 512 dimension</a:t>
            </a:r>
          </a:p>
          <a:p>
            <a:endParaRPr lang="en-US" altLang="ko-KR" dirty="0"/>
          </a:p>
          <a:p>
            <a:r>
              <a:rPr lang="en-US" altLang="ko-KR" dirty="0" smtClean="0"/>
              <a:t> Latent </a:t>
            </a:r>
            <a:r>
              <a:rPr lang="en-US" altLang="ko-KR" b="1" dirty="0" smtClean="0"/>
              <a:t>z</a:t>
            </a:r>
            <a:r>
              <a:rPr lang="en-US" altLang="ko-KR" dirty="0" smtClean="0"/>
              <a:t> vector </a:t>
            </a:r>
            <a:r>
              <a:rPr lang="ko-KR" altLang="en-US" dirty="0" smtClean="0"/>
              <a:t>로부터 만들어지는 하나의 벡터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799" y="4097458"/>
            <a:ext cx="504865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 smtClean="0"/>
              <a:t>W+ space : 18 x 512 dimension</a:t>
            </a:r>
          </a:p>
          <a:p>
            <a:endParaRPr lang="en-US" altLang="ko-KR" dirty="0"/>
          </a:p>
          <a:p>
            <a:r>
              <a:rPr lang="en-US" altLang="ko-KR" dirty="0" smtClean="0"/>
              <a:t> Generator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Style</a:t>
            </a:r>
            <a:r>
              <a:rPr lang="ko-KR" altLang="en-US" dirty="0" smtClean="0"/>
              <a:t>로 적용되기 전에</a:t>
            </a:r>
            <a:endParaRPr lang="en-US" altLang="ko-KR" dirty="0" smtClean="0"/>
          </a:p>
          <a:p>
            <a:r>
              <a:rPr lang="ko-KR" altLang="en-US" dirty="0" smtClean="0"/>
              <a:t> </a:t>
            </a:r>
            <a:r>
              <a:rPr lang="en-US" altLang="ko-KR" dirty="0" smtClean="0"/>
              <a:t>Affine layer</a:t>
            </a:r>
            <a:r>
              <a:rPr lang="ko-KR" altLang="en-US" dirty="0" smtClean="0"/>
              <a:t>를 지나 가공된 벡터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412" y="1341822"/>
            <a:ext cx="4420217" cy="482032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3394952" y="1429966"/>
            <a:ext cx="2305457" cy="4640094"/>
          </a:xfrm>
          <a:prstGeom prst="rect">
            <a:avLst/>
          </a:prstGeom>
          <a:solidFill>
            <a:schemeClr val="bg1">
              <a:alpha val="89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Synthesis network</a:t>
            </a:r>
            <a:endParaRPr lang="ko-KR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527243" y="5612860"/>
            <a:ext cx="1118681" cy="6809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632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6" name="제목 1"/>
          <p:cNvSpPr txBox="1">
            <a:spLocks/>
          </p:cNvSpPr>
          <p:nvPr/>
        </p:nvSpPr>
        <p:spPr>
          <a:xfrm>
            <a:off x="374737" y="348782"/>
            <a:ext cx="9730609" cy="57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700" b="1" dirty="0" smtClean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Introduction  </a:t>
            </a:r>
            <a:r>
              <a:rPr lang="en-US" altLang="ko-KR" sz="1800" b="1" dirty="0" smtClean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Structure</a:t>
            </a:r>
            <a:endParaRPr lang="ko-KR" altLang="en-US" sz="2800" b="1" dirty="0">
              <a:solidFill>
                <a:srgbClr val="C00000"/>
              </a:solidFill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590AF7-624B-48F1-B81A-46F26EDF8850}"/>
              </a:ext>
            </a:extLst>
          </p:cNvPr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>
            <a:solidFill>
              <a:srgbClr val="A61C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2101" y="1064341"/>
            <a:ext cx="105477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 smtClean="0"/>
          </a:p>
          <a:p>
            <a:r>
              <a:rPr lang="en-US" altLang="ko-KR" dirty="0" smtClean="0"/>
              <a:t>1. Novel encoder architecture ( Image to w+ space directly )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2. Encoder architecture ( Feature Pyramid Network )</a:t>
            </a:r>
          </a:p>
          <a:p>
            <a:endParaRPr lang="en-US" altLang="ko-KR" dirty="0"/>
          </a:p>
          <a:p>
            <a:r>
              <a:rPr lang="en-US" altLang="ko-KR" dirty="0" smtClean="0"/>
              <a:t>3. Fixed pre-trained </a:t>
            </a:r>
            <a:r>
              <a:rPr lang="en-US" altLang="ko-KR" dirty="0" err="1" smtClean="0"/>
              <a:t>StyleGAN</a:t>
            </a:r>
            <a:endParaRPr lang="en-US" altLang="ko-KR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159" y="3159240"/>
            <a:ext cx="9099679" cy="312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393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16" name="제목 1"/>
          <p:cNvSpPr txBox="1">
            <a:spLocks/>
          </p:cNvSpPr>
          <p:nvPr/>
        </p:nvSpPr>
        <p:spPr>
          <a:xfrm>
            <a:off x="374737" y="348782"/>
            <a:ext cx="9730609" cy="57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700" b="1" dirty="0" smtClean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Introduction  </a:t>
            </a:r>
            <a:r>
              <a:rPr lang="en-US" altLang="ko-KR" sz="1800" b="1" dirty="0" smtClean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Previous Problem</a:t>
            </a:r>
            <a:endParaRPr lang="ko-KR" altLang="en-US" sz="2800" b="1" dirty="0">
              <a:solidFill>
                <a:srgbClr val="C00000"/>
              </a:solidFill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590AF7-624B-48F1-B81A-46F26EDF8850}"/>
              </a:ext>
            </a:extLst>
          </p:cNvPr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>
            <a:solidFill>
              <a:srgbClr val="A61C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1010" y="1139238"/>
            <a:ext cx="10447433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000" dirty="0"/>
          </a:p>
          <a:p>
            <a:pPr marL="342900" indent="-342900">
              <a:buAutoNum type="arabicPeriod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nput must be </a:t>
            </a:r>
            <a:r>
              <a:rPr lang="en-US" altLang="ko-KR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invertable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sz="2000" dirty="0" smtClean="0"/>
          </a:p>
          <a:p>
            <a:r>
              <a:rPr lang="en-US" altLang="ko-KR" sz="2000" dirty="0" smtClean="0"/>
              <a:t>   </a:t>
            </a:r>
            <a:r>
              <a:rPr lang="en-US" altLang="ko-KR" sz="2000" dirty="0"/>
              <a:t> </a:t>
            </a:r>
            <a:r>
              <a:rPr lang="en-US" altLang="ko-KR" sz="2000" dirty="0" smtClean="0"/>
              <a:t>  Latent code</a:t>
            </a:r>
            <a:r>
              <a:rPr lang="ko-KR" altLang="en-US" sz="2000" dirty="0" smtClean="0"/>
              <a:t>가 존재하지 않는 </a:t>
            </a:r>
            <a:r>
              <a:rPr lang="en-US" altLang="ko-KR" sz="2000" dirty="0" smtClean="0"/>
              <a:t>Feature</a:t>
            </a:r>
            <a:r>
              <a:rPr lang="ko-KR" altLang="en-US" sz="2000" dirty="0" smtClean="0"/>
              <a:t>도 변환 할 수 있는 모델</a:t>
            </a:r>
            <a:endParaRPr lang="en-US" altLang="ko-KR" sz="2000" dirty="0" smtClean="0"/>
          </a:p>
          <a:p>
            <a:endParaRPr lang="en-US" altLang="ko-KR" sz="2000" dirty="0"/>
          </a:p>
          <a:p>
            <a:r>
              <a:rPr lang="en-US" altLang="ko-KR" sz="2000" dirty="0" smtClean="0"/>
              <a:t>2. </a:t>
            </a: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Previous models can solve only a single problem</a:t>
            </a:r>
          </a:p>
          <a:p>
            <a:endParaRPr lang="en-US" altLang="ko-KR" sz="2000" dirty="0" smtClean="0"/>
          </a:p>
          <a:p>
            <a:r>
              <a:rPr lang="en-US" altLang="ko-KR" sz="2000" dirty="0"/>
              <a:t> </a:t>
            </a:r>
            <a:r>
              <a:rPr lang="en-US" altLang="ko-KR" sz="2000" dirty="0" smtClean="0"/>
              <a:t>  </a:t>
            </a:r>
            <a:r>
              <a:rPr lang="en-US" altLang="ko-KR" sz="2000" dirty="0"/>
              <a:t> </a:t>
            </a:r>
            <a:r>
              <a:rPr lang="en-US" altLang="ko-KR" sz="2000" dirty="0" smtClean="0"/>
              <a:t>  Pix2pix</a:t>
            </a:r>
            <a:r>
              <a:rPr lang="ko-KR" altLang="en-US" sz="2000" dirty="0" smtClean="0"/>
              <a:t>의 정신을 이어받</a:t>
            </a:r>
            <a:r>
              <a:rPr lang="ko-KR" altLang="en-US" sz="2000" dirty="0"/>
              <a:t>은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Generic Framework</a:t>
            </a:r>
          </a:p>
          <a:p>
            <a:endParaRPr lang="en-US" altLang="ko-KR" sz="2000" dirty="0"/>
          </a:p>
          <a:p>
            <a:r>
              <a:rPr lang="en-US" altLang="ko-KR" sz="2000" dirty="0" smtClean="0"/>
              <a:t>3. </a:t>
            </a: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Adversary discriminator needs to be trained</a:t>
            </a:r>
          </a:p>
          <a:p>
            <a:endParaRPr lang="en-US" altLang="ko-KR" sz="2000" dirty="0" smtClean="0"/>
          </a:p>
          <a:p>
            <a:r>
              <a:rPr lang="en-US" altLang="ko-KR" sz="2000" dirty="0"/>
              <a:t> </a:t>
            </a:r>
            <a:r>
              <a:rPr lang="en-US" altLang="ko-KR" sz="2000" dirty="0" smtClean="0"/>
              <a:t>  </a:t>
            </a:r>
            <a:r>
              <a:rPr lang="en-US" altLang="ko-KR" sz="2000" dirty="0"/>
              <a:t> </a:t>
            </a:r>
            <a:r>
              <a:rPr lang="en-US" altLang="ko-KR" sz="2000" dirty="0" smtClean="0"/>
              <a:t>  </a:t>
            </a:r>
            <a:r>
              <a:rPr lang="ko-KR" altLang="en-US" sz="2000" dirty="0" smtClean="0"/>
              <a:t>학습에 </a:t>
            </a:r>
            <a:r>
              <a:rPr lang="en-US" altLang="ko-KR" sz="2000" dirty="0" smtClean="0"/>
              <a:t>Discriminator</a:t>
            </a:r>
            <a:r>
              <a:rPr lang="ko-KR" altLang="en-US" sz="2000" dirty="0" smtClean="0"/>
              <a:t>가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필요하지 않은 모델</a:t>
            </a:r>
            <a:endParaRPr lang="en-US" altLang="ko-KR" sz="2000" dirty="0" smtClean="0"/>
          </a:p>
          <a:p>
            <a:endParaRPr lang="en-US" altLang="ko-KR" sz="2000" dirty="0" smtClean="0"/>
          </a:p>
          <a:p>
            <a:r>
              <a:rPr lang="en-US" altLang="ko-KR" sz="2000" dirty="0" smtClean="0"/>
              <a:t>4. Explicitly feed the generator with residual feature maps – locality bias</a:t>
            </a:r>
          </a:p>
          <a:p>
            <a:endParaRPr lang="en-US" altLang="ko-KR" sz="2000" dirty="0" smtClean="0"/>
          </a:p>
          <a:p>
            <a:r>
              <a:rPr lang="en-US" altLang="ko-KR" sz="2000" dirty="0"/>
              <a:t> </a:t>
            </a:r>
            <a:r>
              <a:rPr lang="en-US" altLang="ko-KR" sz="2000" dirty="0" smtClean="0"/>
              <a:t>  </a:t>
            </a:r>
            <a:r>
              <a:rPr lang="en-US" altLang="ko-KR" sz="2000" dirty="0"/>
              <a:t> 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Style vector</a:t>
            </a:r>
            <a:r>
              <a:rPr lang="ko-KR" altLang="en-US" sz="2000" dirty="0" smtClean="0"/>
              <a:t>를 보내는 것으로 </a:t>
            </a:r>
            <a:r>
              <a:rPr lang="en-US" altLang="ko-KR" sz="2000" dirty="0" smtClean="0"/>
              <a:t>locality bias </a:t>
            </a:r>
            <a:r>
              <a:rPr lang="ko-KR" altLang="en-US" sz="2000" dirty="0" smtClean="0"/>
              <a:t>완화</a:t>
            </a:r>
            <a:endParaRPr lang="en-US" altLang="ko-KR" sz="2000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8794" y="1241304"/>
            <a:ext cx="2678366" cy="1573540"/>
          </a:xfrm>
          <a:prstGeom prst="rect">
            <a:avLst/>
          </a:prstGeom>
        </p:spPr>
      </p:pic>
      <p:sp>
        <p:nvSpPr>
          <p:cNvPr id="4" name="오른쪽 화살표 3"/>
          <p:cNvSpPr/>
          <p:nvPr/>
        </p:nvSpPr>
        <p:spPr>
          <a:xfrm>
            <a:off x="897924" y="2174789"/>
            <a:ext cx="280086" cy="170936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오른쪽 화살표 8"/>
          <p:cNvSpPr/>
          <p:nvPr/>
        </p:nvSpPr>
        <p:spPr>
          <a:xfrm>
            <a:off x="897924" y="3379572"/>
            <a:ext cx="280086" cy="170936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오른쪽 화살표 9"/>
          <p:cNvSpPr/>
          <p:nvPr/>
        </p:nvSpPr>
        <p:spPr>
          <a:xfrm>
            <a:off x="897924" y="4591104"/>
            <a:ext cx="280086" cy="170936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오른쪽 화살표 10"/>
          <p:cNvSpPr/>
          <p:nvPr/>
        </p:nvSpPr>
        <p:spPr>
          <a:xfrm>
            <a:off x="897924" y="5844745"/>
            <a:ext cx="280086" cy="170936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118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ite wall paint with black li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9748"/>
            <a:ext cx="12191999" cy="684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2367711" y="941547"/>
            <a:ext cx="3461343" cy="5743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 smtClean="0">
                <a:latin typeface="Arial Black" panose="020B0A04020102020204" pitchFamily="34" charset="0"/>
                <a:ea typeface="나눔바른고딕" panose="020B0603020101020101" pitchFamily="50" charset="-127"/>
              </a:rPr>
              <a:t>Related Work</a:t>
            </a:r>
            <a:endParaRPr lang="ko-KR" altLang="en-US" sz="3200" b="1" dirty="0">
              <a:latin typeface="Arial Black" panose="020B0A040201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67711" y="2059417"/>
            <a:ext cx="840081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/>
              <a:t>01</a:t>
            </a:r>
            <a:r>
              <a:rPr lang="en-US" altLang="ko-KR" sz="6600" b="1" dirty="0" smtClean="0"/>
              <a:t>  </a:t>
            </a:r>
            <a:r>
              <a:rPr lang="en-US" altLang="ko-KR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GAN Inversion   </a:t>
            </a:r>
            <a:r>
              <a:rPr lang="en-US" altLang="ko-KR" sz="6600" b="1" dirty="0"/>
              <a:t>	</a:t>
            </a:r>
            <a:endParaRPr lang="ko-KR" altLang="en-US" sz="66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2367711" y="3208169"/>
            <a:ext cx="945139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/>
              <a:t>02</a:t>
            </a:r>
            <a:r>
              <a:rPr lang="en-US" altLang="ko-KR" sz="6600" b="1" dirty="0" smtClean="0"/>
              <a:t>  </a:t>
            </a:r>
            <a:r>
              <a:rPr lang="en-US" altLang="ko-KR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Latent Space Manipulation</a:t>
            </a:r>
            <a:r>
              <a:rPr lang="en-US" altLang="ko-KR" sz="6600" b="1" dirty="0"/>
              <a:t>	</a:t>
            </a:r>
            <a:endParaRPr lang="ko-KR" altLang="en-US" sz="66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2367711" y="4302315"/>
            <a:ext cx="896501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/>
              <a:t>03</a:t>
            </a:r>
            <a:r>
              <a:rPr lang="en-US" altLang="ko-KR" sz="6600" b="1" dirty="0" smtClean="0"/>
              <a:t>  </a:t>
            </a:r>
            <a:r>
              <a:rPr lang="en-US" altLang="ko-KR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Image-to-Image</a:t>
            </a:r>
            <a:r>
              <a:rPr lang="en-US" altLang="ko-KR" sz="66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ko-KR" altLang="en-US" sz="6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367711" y="1515874"/>
            <a:ext cx="3461343" cy="45719"/>
          </a:xfrm>
          <a:prstGeom prst="rect">
            <a:avLst/>
          </a:prstGeom>
          <a:solidFill>
            <a:srgbClr val="A61C37"/>
          </a:solidFill>
          <a:ln>
            <a:solidFill>
              <a:srgbClr val="A61C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0524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692992" y="1234228"/>
            <a:ext cx="7303144" cy="64498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GAN Inversion</a:t>
            </a:r>
            <a:endParaRPr lang="ko-KR" altLang="en-US" sz="1600" b="1" dirty="0">
              <a:solidFill>
                <a:srgbClr val="C00000"/>
              </a:solidFill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입력 이미지를 토대로 </a:t>
            </a:r>
            <a:r>
              <a:rPr lang="en-US" altLang="ko-KR" dirty="0">
                <a:solidFill>
                  <a:schemeClr val="tx1"/>
                </a:solidFill>
              </a:rPr>
              <a:t>GAN Model</a:t>
            </a:r>
            <a:r>
              <a:rPr lang="ko-KR" altLang="en-US" dirty="0">
                <a:solidFill>
                  <a:schemeClr val="tx1"/>
                </a:solidFill>
              </a:rPr>
              <a:t>이 유사한 이미지를 </a:t>
            </a:r>
            <a:r>
              <a:rPr lang="ko-KR" altLang="en-US" dirty="0" smtClean="0">
                <a:solidFill>
                  <a:schemeClr val="tx1"/>
                </a:solidFill>
              </a:rPr>
              <a:t>재생성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16" name="제목 1"/>
          <p:cNvSpPr txBox="1">
            <a:spLocks/>
          </p:cNvSpPr>
          <p:nvPr/>
        </p:nvSpPr>
        <p:spPr>
          <a:xfrm>
            <a:off x="374737" y="348782"/>
            <a:ext cx="9730609" cy="57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700" b="1" dirty="0" smtClean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Related Work  </a:t>
            </a:r>
            <a:r>
              <a:rPr lang="en-US" altLang="ko-KR" sz="1800" b="1" dirty="0" smtClean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GAN Inversion</a:t>
            </a:r>
            <a:endParaRPr lang="ko-KR" altLang="en-US" sz="1800" b="1" dirty="0">
              <a:solidFill>
                <a:srgbClr val="C00000"/>
              </a:solidFill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590AF7-624B-48F1-B81A-46F26EDF8850}"/>
              </a:ext>
            </a:extLst>
          </p:cNvPr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>
            <a:solidFill>
              <a:srgbClr val="A61C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95972" y="1966278"/>
            <a:ext cx="969614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Previous Work</a:t>
            </a:r>
          </a:p>
          <a:p>
            <a:endParaRPr lang="en-US" altLang="ko-KR" dirty="0"/>
          </a:p>
          <a:p>
            <a:r>
              <a:rPr lang="en-US" altLang="ko-KR" dirty="0" smtClean="0"/>
              <a:t> 1. Latent vector optimization for a single image 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2. Image-to-Latent space</a:t>
            </a:r>
            <a:r>
              <a:rPr lang="ko-KR" altLang="en-US" dirty="0" smtClean="0"/>
              <a:t> </a:t>
            </a:r>
            <a:r>
              <a:rPr lang="en-US" altLang="ko-KR" dirty="0"/>
              <a:t>m</a:t>
            </a:r>
            <a:r>
              <a:rPr lang="en-US" altLang="ko-KR" dirty="0" smtClean="0"/>
              <a:t>apping</a:t>
            </a:r>
          </a:p>
          <a:p>
            <a:endParaRPr lang="en-US" altLang="ko-KR" dirty="0"/>
          </a:p>
          <a:p>
            <a:r>
              <a:rPr lang="ko-KR" altLang="en-US" dirty="0" smtClean="0"/>
              <a:t>위</a:t>
            </a:r>
            <a:r>
              <a:rPr lang="ko-KR" altLang="en-US" dirty="0"/>
              <a:t>의</a:t>
            </a:r>
            <a:r>
              <a:rPr lang="ko-KR" altLang="en-US" dirty="0" smtClean="0"/>
              <a:t> 방법은 성능은 좋지만 시간이 오래 걸리는 문제가 있다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r>
              <a:rPr lang="ko-KR" altLang="en-US" dirty="0" smtClean="0"/>
              <a:t>이미지를 효율적으로 </a:t>
            </a:r>
            <a:r>
              <a:rPr lang="en-US" altLang="ko-KR" dirty="0" smtClean="0"/>
              <a:t>W+ vector </a:t>
            </a:r>
            <a:r>
              <a:rPr lang="ko-KR" altLang="en-US" dirty="0" smtClean="0"/>
              <a:t>로 변환시키는 모델</a:t>
            </a:r>
            <a:endParaRPr lang="en-US" altLang="ko-KR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0775" y="2114104"/>
            <a:ext cx="3855124" cy="21207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9962" y="4426695"/>
            <a:ext cx="4885937" cy="18430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1407531" y="4835235"/>
            <a:ext cx="35505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추가적인 최적화가 없는 모델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Discriminator </a:t>
            </a:r>
            <a:r>
              <a:rPr lang="ko-KR" altLang="en-US" dirty="0" smtClean="0"/>
              <a:t>없는 학습</a:t>
            </a: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 smtClean="0"/>
          </a:p>
        </p:txBody>
      </p:sp>
      <p:sp>
        <p:nvSpPr>
          <p:cNvPr id="10" name="오른쪽 화살표 9"/>
          <p:cNvSpPr/>
          <p:nvPr/>
        </p:nvSpPr>
        <p:spPr>
          <a:xfrm>
            <a:off x="808798" y="4303805"/>
            <a:ext cx="280086" cy="170936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921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/>
        </p:nvSpPr>
        <p:spPr>
          <a:xfrm>
            <a:off x="741408" y="3735431"/>
            <a:ext cx="6252519" cy="3073140"/>
          </a:xfrm>
          <a:prstGeom prst="roundRect">
            <a:avLst>
              <a:gd name="adj" fmla="val 111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7667466" y="4562973"/>
            <a:ext cx="3822355" cy="1367489"/>
          </a:xfrm>
          <a:prstGeom prst="roundRect">
            <a:avLst>
              <a:gd name="adj" fmla="val 3774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16" name="제목 1"/>
          <p:cNvSpPr txBox="1">
            <a:spLocks/>
          </p:cNvSpPr>
          <p:nvPr/>
        </p:nvSpPr>
        <p:spPr>
          <a:xfrm>
            <a:off x="374737" y="348782"/>
            <a:ext cx="9730609" cy="57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700" b="1" dirty="0" smtClean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Related Work </a:t>
            </a:r>
            <a:r>
              <a:rPr lang="en-US" altLang="ko-KR" sz="1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Latent Space manipulation </a:t>
            </a:r>
            <a:endParaRPr lang="ko-KR" altLang="en-US" sz="2700" b="1" dirty="0">
              <a:solidFill>
                <a:srgbClr val="C00000"/>
              </a:solidFill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590AF7-624B-48F1-B81A-46F26EDF8850}"/>
              </a:ext>
            </a:extLst>
          </p:cNvPr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>
            <a:solidFill>
              <a:srgbClr val="A61C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93214" y="1959141"/>
            <a:ext cx="104248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Previous Work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1. Search Linear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irections Attributes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2. Train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emantic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ace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dits with Pre-trained Model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ko-KR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3. Search latent space</a:t>
            </a:r>
            <a:r>
              <a:rPr lang="ko-KR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with image transformation(zoom, rotate)</a:t>
            </a:r>
          </a:p>
          <a:p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 4. PCA of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an intermediate activation </a:t>
            </a:r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space in un-supervised manner</a:t>
            </a:r>
          </a:p>
          <a:p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 5. Editing by changing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atent space</a:t>
            </a:r>
          </a:p>
          <a:p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789" y="3768383"/>
            <a:ext cx="4674997" cy="27345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21906" y="6478256"/>
            <a:ext cx="30155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Image Editing</a:t>
            </a:r>
            <a:endParaRPr lang="ko-KR" altLang="en-US" sz="16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8160488" y="4885736"/>
            <a:ext cx="3543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“invert </a:t>
            </a:r>
            <a:r>
              <a:rPr lang="en-US" altLang="ko-KR" b="1" dirty="0"/>
              <a:t>first, edit later</a:t>
            </a:r>
            <a:r>
              <a:rPr lang="en-US" altLang="ko-KR" b="1" dirty="0" smtClean="0"/>
              <a:t>”</a:t>
            </a:r>
            <a:endParaRPr lang="en-US" altLang="ko-KR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713225" y="5267913"/>
            <a:ext cx="2718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한번에 해결 하자</a:t>
            </a:r>
          </a:p>
        </p:txBody>
      </p:sp>
      <p:sp>
        <p:nvSpPr>
          <p:cNvPr id="11" name="모서리가 둥근 직사각형 10"/>
          <p:cNvSpPr/>
          <p:nvPr/>
        </p:nvSpPr>
        <p:spPr>
          <a:xfrm>
            <a:off x="692992" y="1234228"/>
            <a:ext cx="7303144" cy="64498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Latent Space </a:t>
            </a:r>
            <a:r>
              <a:rPr lang="en-US" altLang="ko-KR" sz="16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manipulation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 : </a:t>
            </a:r>
            <a:r>
              <a:rPr lang="en-US" altLang="ko-KR" dirty="0" smtClean="0">
                <a:solidFill>
                  <a:schemeClr val="tx1"/>
                </a:solidFill>
              </a:rPr>
              <a:t>Latent Space</a:t>
            </a:r>
            <a:r>
              <a:rPr lang="ko-KR" altLang="en-US" dirty="0">
                <a:solidFill>
                  <a:schemeClr val="tx1"/>
                </a:solidFill>
              </a:rPr>
              <a:t>를</a:t>
            </a:r>
            <a:r>
              <a:rPr lang="ko-KR" altLang="en-US" dirty="0" smtClean="0">
                <a:solidFill>
                  <a:schemeClr val="tx1"/>
                </a:solidFill>
              </a:rPr>
              <a:t> 활용하여 이미지를 수정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48" y="4644994"/>
            <a:ext cx="333422" cy="1190791"/>
          </a:xfrm>
          <a:prstGeom prst="rect">
            <a:avLst/>
          </a:prstGeom>
        </p:spPr>
      </p:pic>
      <p:cxnSp>
        <p:nvCxnSpPr>
          <p:cNvPr id="12" name="직선 연결선 11"/>
          <p:cNvCxnSpPr/>
          <p:nvPr/>
        </p:nvCxnSpPr>
        <p:spPr>
          <a:xfrm flipV="1">
            <a:off x="1293343" y="4797810"/>
            <a:ext cx="1351005" cy="3091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1301580" y="5687496"/>
            <a:ext cx="1153298" cy="2286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5893" y="5993185"/>
            <a:ext cx="15487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Latent space</a:t>
            </a:r>
            <a:endParaRPr lang="ko-KR" altLang="en-US" sz="1100" dirty="0" smtClean="0"/>
          </a:p>
        </p:txBody>
      </p:sp>
      <p:sp>
        <p:nvSpPr>
          <p:cNvPr id="19" name="오른쪽 화살표 18"/>
          <p:cNvSpPr/>
          <p:nvPr/>
        </p:nvSpPr>
        <p:spPr>
          <a:xfrm>
            <a:off x="8388339" y="5381596"/>
            <a:ext cx="201763" cy="141966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0532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6" name="제목 1"/>
          <p:cNvSpPr txBox="1">
            <a:spLocks/>
          </p:cNvSpPr>
          <p:nvPr/>
        </p:nvSpPr>
        <p:spPr>
          <a:xfrm>
            <a:off x="374737" y="348782"/>
            <a:ext cx="9730609" cy="57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700" b="1" dirty="0" smtClean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Related Work  </a:t>
            </a:r>
            <a:r>
              <a:rPr lang="en-US" altLang="ko-KR" sz="1800" b="1" dirty="0" smtClean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Image-to-image</a:t>
            </a:r>
            <a:endParaRPr lang="ko-KR" altLang="en-US" sz="1800" b="1" dirty="0">
              <a:solidFill>
                <a:srgbClr val="C00000"/>
              </a:solidFill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590AF7-624B-48F1-B81A-46F26EDF8850}"/>
              </a:ext>
            </a:extLst>
          </p:cNvPr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>
            <a:solidFill>
              <a:srgbClr val="A61C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92992" y="1962692"/>
            <a:ext cx="101356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Previous Work : </a:t>
            </a:r>
            <a:r>
              <a:rPr lang="ko-KR" altLang="en-US" dirty="0" smtClean="0"/>
              <a:t>각 </a:t>
            </a:r>
            <a:r>
              <a:rPr lang="en-US" altLang="ko-KR" dirty="0" smtClean="0"/>
              <a:t>Domain </a:t>
            </a:r>
            <a:r>
              <a:rPr lang="ko-KR" altLang="en-US" dirty="0" smtClean="0"/>
              <a:t>변환에 새로운 모델을 개발해야 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       하나의 모델로 여러가지 </a:t>
            </a:r>
            <a:r>
              <a:rPr lang="en-US" altLang="ko-KR" dirty="0" smtClean="0"/>
              <a:t>Task</a:t>
            </a:r>
            <a:r>
              <a:rPr lang="ko-KR" altLang="en-US" dirty="0" smtClean="0"/>
              <a:t>를 해결 할 수 있다</a:t>
            </a:r>
            <a:r>
              <a:rPr lang="en-US" altLang="ko-KR" dirty="0" smtClean="0"/>
              <a:t>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320" y="2747229"/>
            <a:ext cx="7341360" cy="3714603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692992" y="1234228"/>
            <a:ext cx="7303144" cy="64498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Image-to-image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 : </a:t>
            </a:r>
            <a:r>
              <a:rPr lang="ko-KR" altLang="en-US" dirty="0" smtClean="0">
                <a:solidFill>
                  <a:schemeClr val="tx1"/>
                </a:solidFill>
              </a:rPr>
              <a:t>이미지의 </a:t>
            </a:r>
            <a:r>
              <a:rPr lang="en-US" altLang="ko-KR" dirty="0" smtClean="0">
                <a:solidFill>
                  <a:schemeClr val="tx1"/>
                </a:solidFill>
              </a:rPr>
              <a:t>Domain</a:t>
            </a:r>
            <a:r>
              <a:rPr lang="ko-KR" altLang="en-US" dirty="0" smtClean="0">
                <a:solidFill>
                  <a:schemeClr val="tx1"/>
                </a:solidFill>
              </a:rPr>
              <a:t>간의 변환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9" name="오른쪽 화살표 8"/>
          <p:cNvSpPr/>
          <p:nvPr/>
        </p:nvSpPr>
        <p:spPr>
          <a:xfrm>
            <a:off x="998845" y="2364468"/>
            <a:ext cx="278020" cy="156309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218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374737" y="372161"/>
            <a:ext cx="9730609" cy="57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1" name="Picture 2" descr="white wall paint with black l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9748"/>
            <a:ext cx="12191999" cy="684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직사각형 11"/>
          <p:cNvSpPr/>
          <p:nvPr/>
        </p:nvSpPr>
        <p:spPr>
          <a:xfrm flipV="1">
            <a:off x="4614428" y="3575150"/>
            <a:ext cx="2921591" cy="45719"/>
          </a:xfrm>
          <a:prstGeom prst="rect">
            <a:avLst/>
          </a:prstGeom>
          <a:solidFill>
            <a:srgbClr val="A61C37"/>
          </a:solidFill>
          <a:ln>
            <a:solidFill>
              <a:srgbClr val="A61C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제목 1"/>
          <p:cNvSpPr txBox="1">
            <a:spLocks/>
          </p:cNvSpPr>
          <p:nvPr/>
        </p:nvSpPr>
        <p:spPr>
          <a:xfrm>
            <a:off x="5179590" y="2891186"/>
            <a:ext cx="3425444" cy="5743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 smtClean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Q &amp; A</a:t>
            </a:r>
            <a:endParaRPr lang="ko-KR" altLang="en-US" b="1" dirty="0"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01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ite wall paint with black li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9748"/>
            <a:ext cx="12191999" cy="684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2367710" y="883041"/>
            <a:ext cx="9730609" cy="5743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b="1" dirty="0" err="1" smtClean="0">
                <a:latin typeface="Arial Black" panose="020B0A04020102020204" pitchFamily="34" charset="0"/>
                <a:ea typeface="나눔바른고딕" panose="020B0603020101020101" pitchFamily="50" charset="-127"/>
              </a:rPr>
              <a:t>pSp</a:t>
            </a:r>
            <a:r>
              <a:rPr lang="en-US" altLang="ko-KR" sz="3600" b="1" dirty="0" smtClean="0">
                <a:latin typeface="Arial Black" panose="020B0A04020102020204" pitchFamily="34" charset="0"/>
                <a:ea typeface="나눔바른고딕" panose="020B0603020101020101" pitchFamily="50" charset="-127"/>
              </a:rPr>
              <a:t> Framework</a:t>
            </a:r>
            <a:endParaRPr lang="ko-KR" altLang="en-US" sz="3600" b="1" dirty="0">
              <a:latin typeface="Arial Black" panose="020B0A040201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67711" y="2098114"/>
            <a:ext cx="840081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 smtClean="0"/>
              <a:t>01</a:t>
            </a:r>
            <a:r>
              <a:rPr lang="en-US" altLang="ko-KR" sz="6600" b="1" dirty="0" smtClean="0"/>
              <a:t>  </a:t>
            </a:r>
            <a:r>
              <a:rPr lang="en-US" altLang="ko-KR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r>
              <a:rPr lang="en-US" altLang="ko-KR" sz="6600" b="1" dirty="0"/>
              <a:t>	</a:t>
            </a:r>
            <a:endParaRPr lang="ko-KR" altLang="en-US" sz="66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2367711" y="3208169"/>
            <a:ext cx="945139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 smtClean="0"/>
              <a:t>02</a:t>
            </a:r>
            <a:r>
              <a:rPr lang="en-US" altLang="ko-KR" sz="6600" b="1" dirty="0" smtClean="0"/>
              <a:t>  </a:t>
            </a:r>
            <a:r>
              <a:rPr lang="en-US" altLang="ko-KR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Loss Function</a:t>
            </a:r>
            <a:r>
              <a:rPr lang="en-US" altLang="ko-KR" sz="6600" b="1" dirty="0"/>
              <a:t>	</a:t>
            </a:r>
            <a:endParaRPr lang="ko-KR" altLang="en-US" sz="66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2367711" y="4302315"/>
            <a:ext cx="896501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 smtClean="0"/>
              <a:t>03</a:t>
            </a:r>
            <a:r>
              <a:rPr lang="en-US" altLang="ko-KR" sz="6600" b="1" dirty="0" smtClean="0"/>
              <a:t>  </a:t>
            </a:r>
            <a:r>
              <a:rPr lang="en-US" altLang="ko-KR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Benefits of </a:t>
            </a:r>
            <a:r>
              <a:rPr lang="en-US" altLang="ko-KR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StyleGAN</a:t>
            </a:r>
            <a:r>
              <a:rPr lang="en-US" altLang="ko-KR" sz="66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ko-KR" altLang="en-US" sz="6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437278" y="1523653"/>
            <a:ext cx="4795737" cy="45719"/>
          </a:xfrm>
          <a:prstGeom prst="rect">
            <a:avLst/>
          </a:prstGeom>
          <a:solidFill>
            <a:srgbClr val="A61C37"/>
          </a:solidFill>
          <a:ln>
            <a:solidFill>
              <a:srgbClr val="A61C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029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16" name="제목 1"/>
          <p:cNvSpPr txBox="1">
            <a:spLocks/>
          </p:cNvSpPr>
          <p:nvPr/>
        </p:nvSpPr>
        <p:spPr>
          <a:xfrm>
            <a:off x="374737" y="348782"/>
            <a:ext cx="9730609" cy="57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700" b="1" dirty="0" smtClean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The </a:t>
            </a:r>
            <a:r>
              <a:rPr lang="en-US" altLang="ko-KR" sz="2700" b="1" dirty="0" err="1" smtClean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pSp</a:t>
            </a:r>
            <a:r>
              <a:rPr lang="en-US" altLang="ko-KR" sz="2700" b="1" dirty="0" smtClean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 Framework  </a:t>
            </a:r>
            <a:r>
              <a:rPr lang="en-US" altLang="ko-KR" sz="1800" b="1" dirty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A</a:t>
            </a:r>
            <a:r>
              <a:rPr lang="en-US" altLang="ko-KR" sz="1800" b="1" dirty="0" smtClean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rchitecture</a:t>
            </a:r>
            <a:endParaRPr lang="ko-KR" altLang="en-US" sz="2700" b="1" dirty="0">
              <a:solidFill>
                <a:srgbClr val="C00000"/>
              </a:solidFill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590AF7-624B-48F1-B81A-46F26EDF8850}"/>
              </a:ext>
            </a:extLst>
          </p:cNvPr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>
            <a:solidFill>
              <a:srgbClr val="A61C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64" y="1122310"/>
            <a:ext cx="10907647" cy="36295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5945" y="5356789"/>
            <a:ext cx="105836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Encoder</a:t>
            </a:r>
            <a:r>
              <a:rPr lang="ko-KR" altLang="en-US" dirty="0" smtClean="0"/>
              <a:t>의 마지막 </a:t>
            </a:r>
            <a:r>
              <a:rPr lang="en-US" altLang="ko-KR" dirty="0" smtClean="0"/>
              <a:t>Feature Map</a:t>
            </a:r>
            <a:r>
              <a:rPr lang="ko-KR" altLang="en-US" dirty="0" smtClean="0"/>
              <a:t>만으로만 만들어진 </a:t>
            </a:r>
            <a:r>
              <a:rPr lang="en-US" altLang="ko-KR" dirty="0" smtClean="0"/>
              <a:t>Style</a:t>
            </a:r>
            <a:r>
              <a:rPr lang="ko-KR" altLang="en-US" dirty="0" smtClean="0"/>
              <a:t>은 </a:t>
            </a:r>
            <a:r>
              <a:rPr lang="en-US" altLang="ko-KR" dirty="0"/>
              <a:t>F</a:t>
            </a:r>
            <a:r>
              <a:rPr lang="en-US" altLang="ko-KR" dirty="0" smtClean="0"/>
              <a:t>ine details </a:t>
            </a:r>
            <a:r>
              <a:rPr lang="ko-KR" altLang="en-US" dirty="0" smtClean="0"/>
              <a:t>를 살리지 못했다</a:t>
            </a:r>
            <a:r>
              <a:rPr lang="en-US" altLang="ko-KR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각 계층</a:t>
            </a:r>
            <a:r>
              <a:rPr lang="en-US" altLang="ko-KR" dirty="0"/>
              <a:t>(Coarse, Medium, </a:t>
            </a:r>
            <a:r>
              <a:rPr lang="en-US" altLang="ko-KR" dirty="0" smtClean="0"/>
              <a:t>Fine)</a:t>
            </a:r>
            <a:r>
              <a:rPr lang="ko-KR" altLang="en-US" dirty="0" smtClean="0"/>
              <a:t>마다 </a:t>
            </a:r>
            <a:r>
              <a:rPr lang="en-US" altLang="ko-KR" dirty="0" smtClean="0"/>
              <a:t>map2style network</a:t>
            </a:r>
            <a:r>
              <a:rPr lang="ko-KR" altLang="en-US" dirty="0" smtClean="0"/>
              <a:t>를 적용하였다</a:t>
            </a:r>
            <a:r>
              <a:rPr lang="en-US" altLang="ko-KR" dirty="0" smtClean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7431" y="4751842"/>
            <a:ext cx="3284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pSp</a:t>
            </a:r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 Architecture</a:t>
            </a:r>
            <a:endParaRPr lang="ko-KR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897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모서리가 둥근 직사각형 9"/>
          <p:cNvSpPr/>
          <p:nvPr/>
        </p:nvSpPr>
        <p:spPr>
          <a:xfrm>
            <a:off x="679030" y="1229290"/>
            <a:ext cx="10970726" cy="4367744"/>
          </a:xfrm>
          <a:prstGeom prst="roundRect">
            <a:avLst>
              <a:gd name="adj" fmla="val 495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16" name="제목 1"/>
          <p:cNvSpPr txBox="1">
            <a:spLocks/>
          </p:cNvSpPr>
          <p:nvPr/>
        </p:nvSpPr>
        <p:spPr>
          <a:xfrm>
            <a:off x="374737" y="348782"/>
            <a:ext cx="9730609" cy="57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700" b="1" dirty="0" smtClean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The </a:t>
            </a:r>
            <a:r>
              <a:rPr lang="en-US" altLang="ko-KR" sz="2700" b="1" dirty="0" err="1" smtClean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pSp</a:t>
            </a:r>
            <a:r>
              <a:rPr lang="en-US" altLang="ko-KR" sz="2700" b="1" dirty="0" smtClean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 Framework  </a:t>
            </a:r>
            <a:r>
              <a:rPr lang="en-US" altLang="ko-KR" sz="1800" b="1" dirty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L</a:t>
            </a:r>
            <a:r>
              <a:rPr lang="en-US" altLang="ko-KR" sz="1800" b="1" dirty="0" smtClean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oss </a:t>
            </a:r>
            <a:r>
              <a:rPr lang="en-US" altLang="ko-KR" sz="1800" b="1" dirty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F</a:t>
            </a:r>
            <a:r>
              <a:rPr lang="en-US" altLang="ko-KR" sz="1800" b="1" dirty="0" smtClean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unction</a:t>
            </a:r>
            <a:endParaRPr lang="ko-KR" altLang="en-US" sz="2700" b="1" dirty="0">
              <a:solidFill>
                <a:srgbClr val="C00000"/>
              </a:solidFill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590AF7-624B-48F1-B81A-46F26EDF8850}"/>
              </a:ext>
            </a:extLst>
          </p:cNvPr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>
            <a:solidFill>
              <a:srgbClr val="A61C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431" y="1666913"/>
            <a:ext cx="4183040" cy="62485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431" y="2732263"/>
            <a:ext cx="6561011" cy="58954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431" y="3758168"/>
            <a:ext cx="4646679" cy="61036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431" y="4774655"/>
            <a:ext cx="6561011" cy="6946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3431" y="1325946"/>
            <a:ext cx="2920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L2-Loss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431" y="2343484"/>
            <a:ext cx="2920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LPIPS-Loss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3431" y="3398564"/>
            <a:ext cx="2920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Regularization-Loss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3431" y="4435570"/>
            <a:ext cx="2920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ID-Loss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9686" y="5841306"/>
            <a:ext cx="10114692" cy="6354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91617" y="4658132"/>
            <a:ext cx="2430076" cy="64633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F : 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Perceptual feature extractor</a:t>
            </a:r>
          </a:p>
          <a:p>
            <a:r>
              <a:rPr lang="en-US" altLang="ko-KR" sz="12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E : 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  <a:p>
            <a:r>
              <a:rPr lang="en-US" altLang="ko-KR" sz="12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R : </a:t>
            </a:r>
            <a:r>
              <a:rPr lang="en-US" altLang="ko-KR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ArcFace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Network</a:t>
            </a:r>
            <a:endParaRPr lang="ko-KR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오른쪽 화살표 4"/>
          <p:cNvSpPr/>
          <p:nvPr/>
        </p:nvSpPr>
        <p:spPr>
          <a:xfrm>
            <a:off x="698053" y="6022801"/>
            <a:ext cx="352534" cy="239242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107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모서리가 둥근 직사각형 17"/>
          <p:cNvSpPr/>
          <p:nvPr/>
        </p:nvSpPr>
        <p:spPr>
          <a:xfrm>
            <a:off x="6253333" y="1229290"/>
            <a:ext cx="5510220" cy="4367744"/>
          </a:xfrm>
          <a:prstGeom prst="roundRect">
            <a:avLst>
              <a:gd name="adj" fmla="val 495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모서리가 둥근 직사각형 9"/>
          <p:cNvSpPr/>
          <p:nvPr/>
        </p:nvSpPr>
        <p:spPr>
          <a:xfrm>
            <a:off x="423652" y="1229290"/>
            <a:ext cx="5510220" cy="4367744"/>
          </a:xfrm>
          <a:prstGeom prst="roundRect">
            <a:avLst>
              <a:gd name="adj" fmla="val 495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16" name="제목 1"/>
          <p:cNvSpPr txBox="1">
            <a:spLocks/>
          </p:cNvSpPr>
          <p:nvPr/>
        </p:nvSpPr>
        <p:spPr>
          <a:xfrm>
            <a:off x="374737" y="348782"/>
            <a:ext cx="9730609" cy="57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700" b="1" dirty="0" smtClean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The </a:t>
            </a:r>
            <a:r>
              <a:rPr lang="en-US" altLang="ko-KR" sz="2700" b="1" dirty="0" err="1" smtClean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pSp</a:t>
            </a:r>
            <a:r>
              <a:rPr lang="en-US" altLang="ko-KR" sz="2700" b="1" dirty="0" smtClean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 Framework  </a:t>
            </a:r>
            <a:r>
              <a:rPr lang="en-US" altLang="ko-KR" sz="1800" b="1" dirty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L</a:t>
            </a:r>
            <a:r>
              <a:rPr lang="en-US" altLang="ko-KR" sz="1800" b="1" dirty="0" smtClean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oss </a:t>
            </a:r>
            <a:r>
              <a:rPr lang="en-US" altLang="ko-KR" sz="1800" b="1" dirty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F</a:t>
            </a:r>
            <a:r>
              <a:rPr lang="en-US" altLang="ko-KR" sz="1800" b="1" dirty="0" smtClean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unction</a:t>
            </a:r>
            <a:endParaRPr lang="ko-KR" altLang="en-US" sz="2700" b="1" dirty="0">
              <a:solidFill>
                <a:srgbClr val="C00000"/>
              </a:solidFill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590AF7-624B-48F1-B81A-46F26EDF8850}"/>
              </a:ext>
            </a:extLst>
          </p:cNvPr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>
            <a:solidFill>
              <a:srgbClr val="A61C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88" y="1802433"/>
            <a:ext cx="4263053" cy="55997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7032" y="1802433"/>
            <a:ext cx="5342823" cy="56571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8053" y="1368818"/>
            <a:ext cx="2920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Regularization-Loss</a:t>
            </a:r>
            <a:endParaRPr lang="ko-KR" altLang="en-US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6361494" y="1368818"/>
            <a:ext cx="2920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ID-Loss</a:t>
            </a:r>
            <a:endParaRPr lang="ko-KR" altLang="en-US" dirty="0" smtClean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9686" y="5841306"/>
            <a:ext cx="10114692" cy="635413"/>
          </a:xfrm>
          <a:prstGeom prst="rect">
            <a:avLst/>
          </a:prstGeom>
        </p:spPr>
      </p:pic>
      <p:sp>
        <p:nvSpPr>
          <p:cNvPr id="5" name="오른쪽 화살표 4"/>
          <p:cNvSpPr/>
          <p:nvPr/>
        </p:nvSpPr>
        <p:spPr>
          <a:xfrm>
            <a:off x="698053" y="6022801"/>
            <a:ext cx="352534" cy="239242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5731" y="3091112"/>
            <a:ext cx="3212832" cy="61615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2043" y="2736918"/>
            <a:ext cx="2892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Model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 smtClean="0"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0458" y="3789487"/>
            <a:ext cx="230964" cy="21521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641422" y="3758597"/>
            <a:ext cx="2699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/>
              <a:t>: mean of pre-trained w+ vector</a:t>
            </a:r>
            <a:endParaRPr lang="ko-KR" altLang="en-US" sz="1200" b="1" dirty="0" smtClean="0"/>
          </a:p>
        </p:txBody>
      </p:sp>
      <p:sp>
        <p:nvSpPr>
          <p:cNvPr id="23" name="TextBox 22"/>
          <p:cNvSpPr txBox="1"/>
          <p:nvPr/>
        </p:nvSpPr>
        <p:spPr>
          <a:xfrm>
            <a:off x="6545700" y="2736917"/>
            <a:ext cx="5044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 smtClean="0"/>
              <a:t>StyleGAN</a:t>
            </a:r>
            <a:r>
              <a:rPr lang="ko-KR" altLang="en-US" dirty="0" smtClean="0"/>
              <a:t>의 한계</a:t>
            </a:r>
            <a:r>
              <a:rPr lang="en-US" altLang="ko-KR" dirty="0" smtClean="0"/>
              <a:t> </a:t>
            </a:r>
          </a:p>
          <a:p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dirty="0" smtClean="0"/>
              <a:t>학습된 데이터의 분포를 따라갈 수 밖에 없다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2" name="TextBox 21"/>
          <p:cNvSpPr txBox="1"/>
          <p:nvPr/>
        </p:nvSpPr>
        <p:spPr>
          <a:xfrm>
            <a:off x="6545700" y="3521543"/>
            <a:ext cx="4420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Real Image</a:t>
            </a:r>
            <a:r>
              <a:rPr lang="ko-KR" altLang="en-US" dirty="0" smtClean="0"/>
              <a:t>에 강건한 모델</a:t>
            </a: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6637609" y="3803799"/>
            <a:ext cx="4985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- </a:t>
            </a:r>
            <a:r>
              <a:rPr lang="ko-KR" altLang="en-US" dirty="0" smtClean="0"/>
              <a:t>얼굴인식에 쓰이는 </a:t>
            </a:r>
            <a:r>
              <a:rPr lang="en-US" altLang="ko-KR" dirty="0" err="1" smtClean="0"/>
              <a:t>ArcFace</a:t>
            </a:r>
            <a:r>
              <a:rPr lang="en-US" altLang="ko-KR" dirty="0" smtClean="0"/>
              <a:t> Loss</a:t>
            </a:r>
            <a:r>
              <a:rPr lang="ko-KR" altLang="en-US" dirty="0" smtClean="0"/>
              <a:t>를 활용한다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738323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16" name="제목 1"/>
          <p:cNvSpPr txBox="1">
            <a:spLocks/>
          </p:cNvSpPr>
          <p:nvPr/>
        </p:nvSpPr>
        <p:spPr>
          <a:xfrm>
            <a:off x="374737" y="348782"/>
            <a:ext cx="9730609" cy="57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700" b="1" dirty="0" smtClean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The </a:t>
            </a:r>
            <a:r>
              <a:rPr lang="en-US" altLang="ko-KR" sz="2700" b="1" dirty="0" err="1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pSp</a:t>
            </a:r>
            <a:r>
              <a:rPr lang="en-US" altLang="ko-KR" sz="2700" b="1" dirty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 Framework</a:t>
            </a:r>
            <a:r>
              <a:rPr lang="en-US" altLang="ko-KR" sz="2700" b="1" dirty="0" smtClean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1800" b="1" dirty="0" smtClean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The Benefits of The </a:t>
            </a:r>
            <a:r>
              <a:rPr lang="en-US" altLang="ko-KR" sz="1800" b="1" dirty="0" err="1" smtClean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StyleGAN</a:t>
            </a:r>
            <a:r>
              <a:rPr lang="en-US" altLang="ko-KR" sz="1800" b="1" dirty="0" smtClean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 Domain</a:t>
            </a:r>
            <a:endParaRPr lang="ko-KR" altLang="en-US" sz="1800" b="1" dirty="0">
              <a:solidFill>
                <a:srgbClr val="C00000"/>
              </a:solidFill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590AF7-624B-48F1-B81A-46F26EDF8850}"/>
              </a:ext>
            </a:extLst>
          </p:cNvPr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>
            <a:solidFill>
              <a:srgbClr val="A61C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98368" y="1261033"/>
            <a:ext cx="104732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Pixel</a:t>
            </a:r>
            <a:r>
              <a:rPr lang="ko-KR" altLang="en-US" dirty="0" smtClean="0"/>
              <a:t>에 집중하는 </a:t>
            </a:r>
            <a:r>
              <a:rPr lang="en-US" altLang="ko-KR" dirty="0" smtClean="0"/>
              <a:t>local operation</a:t>
            </a:r>
            <a:r>
              <a:rPr lang="ko-KR" altLang="en-US" dirty="0" smtClean="0"/>
              <a:t>에서 벗어나 </a:t>
            </a:r>
            <a:r>
              <a:rPr lang="en-US" altLang="ko-KR" dirty="0" smtClean="0"/>
              <a:t>global operation</a:t>
            </a:r>
            <a:r>
              <a:rPr lang="ko-KR" altLang="en-US" dirty="0" smtClean="0"/>
              <a:t>이 가능해졌다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         Local bias limit</a:t>
            </a:r>
            <a:r>
              <a:rPr lang="ko-KR" altLang="en-US" dirty="0" smtClean="0"/>
              <a:t>으로부터 자유로워졌다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en-US" altLang="ko-KR" dirty="0" err="1" smtClean="0"/>
              <a:t>StyleGAN</a:t>
            </a:r>
            <a:r>
              <a:rPr lang="ko-KR" altLang="en-US" dirty="0" smtClean="0"/>
              <a:t>으로부터 </a:t>
            </a:r>
            <a:r>
              <a:rPr lang="en-US" altLang="ko-KR" dirty="0" smtClean="0"/>
              <a:t>Disentanglement</a:t>
            </a:r>
            <a:r>
              <a:rPr lang="ko-KR" altLang="en-US" dirty="0" smtClean="0"/>
              <a:t>를 학습</a:t>
            </a:r>
            <a:r>
              <a:rPr lang="en-US" altLang="ko-KR" dirty="0" smtClean="0"/>
              <a:t> </a:t>
            </a:r>
            <a:r>
              <a:rPr lang="ko-KR" altLang="en-US" dirty="0" smtClean="0"/>
              <a:t>하기 때문에 </a:t>
            </a:r>
            <a:r>
              <a:rPr lang="en-US" altLang="ko-KR" dirty="0" smtClean="0"/>
              <a:t>semantic attribute</a:t>
            </a:r>
            <a:r>
              <a:rPr lang="ko-KR" altLang="en-US" dirty="0" smtClean="0"/>
              <a:t>를 조정하기 용이함</a:t>
            </a:r>
            <a:endParaRPr lang="en-US" altLang="ko-KR" dirty="0" smtClean="0"/>
          </a:p>
          <a:p>
            <a:r>
              <a:rPr lang="en-US" altLang="ko-KR" dirty="0" smtClean="0"/>
              <a:t>         Multi-modal synthesis</a:t>
            </a:r>
            <a:r>
              <a:rPr lang="ko-KR" altLang="en-US" dirty="0" smtClean="0"/>
              <a:t>를 가능하게 만들었다</a:t>
            </a:r>
            <a:r>
              <a:rPr lang="en-US" altLang="ko-KR" dirty="0" smtClean="0"/>
              <a:t>. </a:t>
            </a:r>
          </a:p>
          <a:p>
            <a:endParaRPr lang="en-US" altLang="ko-KR" dirty="0"/>
          </a:p>
          <a:p>
            <a:endParaRPr lang="ko-KR" altLang="en-US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967" y="2966936"/>
            <a:ext cx="7018065" cy="357197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7" name="오른쪽 화살표 6"/>
          <p:cNvSpPr/>
          <p:nvPr/>
        </p:nvSpPr>
        <p:spPr>
          <a:xfrm>
            <a:off x="1407792" y="1661753"/>
            <a:ext cx="206385" cy="161986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오른쪽 화살표 9"/>
          <p:cNvSpPr/>
          <p:nvPr/>
        </p:nvSpPr>
        <p:spPr>
          <a:xfrm>
            <a:off x="1407792" y="2465392"/>
            <a:ext cx="206385" cy="161986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506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ite wall paint with black li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9748"/>
            <a:ext cx="12191999" cy="684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2766542" y="3011252"/>
            <a:ext cx="9730609" cy="5743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b="1" dirty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Applications and Experiments</a:t>
            </a:r>
            <a:endParaRPr lang="ko-KR" altLang="en-US" sz="3600" b="1" dirty="0">
              <a:latin typeface="Arial Black" panose="020B0A040201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776270" y="3585580"/>
            <a:ext cx="6727653" cy="61938"/>
          </a:xfrm>
          <a:prstGeom prst="rect">
            <a:avLst/>
          </a:prstGeom>
          <a:solidFill>
            <a:srgbClr val="A61C37"/>
          </a:solidFill>
          <a:ln>
            <a:solidFill>
              <a:srgbClr val="A61C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035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16" name="제목 1"/>
          <p:cNvSpPr txBox="1">
            <a:spLocks/>
          </p:cNvSpPr>
          <p:nvPr/>
        </p:nvSpPr>
        <p:spPr>
          <a:xfrm>
            <a:off x="374737" y="348782"/>
            <a:ext cx="9730609" cy="57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700" b="1" dirty="0" smtClean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Applications and Experiments </a:t>
            </a:r>
            <a:r>
              <a:rPr lang="en-US" altLang="ko-KR" sz="1800" b="1" dirty="0" err="1" smtClean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StyleGAN</a:t>
            </a:r>
            <a:r>
              <a:rPr lang="en-US" altLang="ko-KR" sz="1800" b="1" dirty="0" smtClean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 Inversion</a:t>
            </a:r>
            <a:endParaRPr lang="ko-KR" altLang="en-US" sz="2700" b="1" dirty="0">
              <a:solidFill>
                <a:srgbClr val="C00000"/>
              </a:solidFill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590AF7-624B-48F1-B81A-46F26EDF8850}"/>
              </a:ext>
            </a:extLst>
          </p:cNvPr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>
            <a:solidFill>
              <a:srgbClr val="A61C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15" y="1164006"/>
            <a:ext cx="10426746" cy="537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44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6" name="제목 1"/>
          <p:cNvSpPr txBox="1">
            <a:spLocks/>
          </p:cNvSpPr>
          <p:nvPr/>
        </p:nvSpPr>
        <p:spPr>
          <a:xfrm>
            <a:off x="374737" y="348782"/>
            <a:ext cx="9730609" cy="57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700" b="1" dirty="0" smtClean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Applications and Experiments </a:t>
            </a:r>
            <a:r>
              <a:rPr lang="en-US" altLang="ko-KR" sz="1800" b="1" dirty="0" err="1" smtClean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StyleGAN</a:t>
            </a:r>
            <a:r>
              <a:rPr lang="en-US" altLang="ko-KR" sz="1800" b="1" dirty="0" smtClean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 Inversion</a:t>
            </a:r>
            <a:endParaRPr lang="ko-KR" altLang="en-US" sz="2700" b="1" dirty="0">
              <a:solidFill>
                <a:srgbClr val="C00000"/>
              </a:solidFill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590AF7-624B-48F1-B81A-46F26EDF8850}"/>
              </a:ext>
            </a:extLst>
          </p:cNvPr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>
            <a:solidFill>
              <a:srgbClr val="A61C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78" y="1093981"/>
            <a:ext cx="4253045" cy="224092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236" y="1727340"/>
            <a:ext cx="5750821" cy="499413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1178" y="3340021"/>
            <a:ext cx="4253045" cy="33814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4236" y="1200183"/>
            <a:ext cx="3249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Ablation Study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050765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16" name="제목 1"/>
          <p:cNvSpPr txBox="1">
            <a:spLocks/>
          </p:cNvSpPr>
          <p:nvPr/>
        </p:nvSpPr>
        <p:spPr>
          <a:xfrm>
            <a:off x="374737" y="348782"/>
            <a:ext cx="9730609" cy="57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700" b="1" dirty="0" smtClean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Applications and Experiments </a:t>
            </a:r>
            <a:r>
              <a:rPr lang="en-US" altLang="ko-KR" sz="1800" b="1" dirty="0" smtClean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Face </a:t>
            </a:r>
            <a:r>
              <a:rPr lang="en-US" altLang="ko-KR" sz="1800" b="1" dirty="0" err="1" smtClean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Frontalization</a:t>
            </a:r>
            <a:endParaRPr lang="ko-KR" altLang="en-US" sz="2700" b="1" dirty="0">
              <a:solidFill>
                <a:srgbClr val="C00000"/>
              </a:solidFill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590AF7-624B-48F1-B81A-46F26EDF8850}"/>
              </a:ext>
            </a:extLst>
          </p:cNvPr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>
            <a:solidFill>
              <a:srgbClr val="A61C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40" y="1283898"/>
            <a:ext cx="5307047" cy="40328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9487" y="1283897"/>
            <a:ext cx="5312558" cy="405155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40" y="5316786"/>
            <a:ext cx="5307047" cy="305273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9487" y="5319453"/>
            <a:ext cx="5307047" cy="305273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1607" y="5622059"/>
            <a:ext cx="5235761" cy="34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154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16" name="제목 1"/>
          <p:cNvSpPr txBox="1">
            <a:spLocks/>
          </p:cNvSpPr>
          <p:nvPr/>
        </p:nvSpPr>
        <p:spPr>
          <a:xfrm>
            <a:off x="374737" y="348782"/>
            <a:ext cx="9730609" cy="57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700" b="1" dirty="0" smtClean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Applications and Experiments </a:t>
            </a:r>
            <a:r>
              <a:rPr lang="en-US" altLang="ko-KR" sz="1800" b="1" dirty="0" smtClean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Conditional Image Synthesis</a:t>
            </a:r>
            <a:endParaRPr lang="ko-KR" altLang="en-US" sz="2700" b="1" dirty="0">
              <a:solidFill>
                <a:srgbClr val="C00000"/>
              </a:solidFill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590AF7-624B-48F1-B81A-46F26EDF8850}"/>
              </a:ext>
            </a:extLst>
          </p:cNvPr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>
            <a:solidFill>
              <a:srgbClr val="A61C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88" y="1015273"/>
            <a:ext cx="5334579" cy="570620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9488" y="1012210"/>
            <a:ext cx="5966116" cy="534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165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16" name="제목 1"/>
          <p:cNvSpPr txBox="1">
            <a:spLocks/>
          </p:cNvSpPr>
          <p:nvPr/>
        </p:nvSpPr>
        <p:spPr>
          <a:xfrm>
            <a:off x="374737" y="348782"/>
            <a:ext cx="9730609" cy="57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700" b="1" dirty="0" smtClean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Extending to Other Applications  </a:t>
            </a:r>
            <a:r>
              <a:rPr lang="en-US" altLang="ko-KR" sz="1800" b="1" dirty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O</a:t>
            </a:r>
            <a:r>
              <a:rPr lang="en-US" altLang="ko-KR" sz="1800" b="1" dirty="0" smtClean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thers</a:t>
            </a:r>
            <a:endParaRPr lang="ko-KR" altLang="en-US" sz="1800" b="1" dirty="0">
              <a:solidFill>
                <a:srgbClr val="C00000"/>
              </a:solidFill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590AF7-624B-48F1-B81A-46F26EDF8850}"/>
              </a:ext>
            </a:extLst>
          </p:cNvPr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>
            <a:solidFill>
              <a:srgbClr val="A61C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85" y="1172934"/>
            <a:ext cx="10734563" cy="543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662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16" name="제목 1"/>
          <p:cNvSpPr txBox="1">
            <a:spLocks/>
          </p:cNvSpPr>
          <p:nvPr/>
        </p:nvSpPr>
        <p:spPr>
          <a:xfrm>
            <a:off x="374737" y="348782"/>
            <a:ext cx="9730609" cy="57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700" b="1" dirty="0" smtClean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Going Beyond the Facial Domain</a:t>
            </a:r>
            <a:endParaRPr lang="ko-KR" altLang="en-US" sz="2700" b="1" dirty="0">
              <a:solidFill>
                <a:srgbClr val="C00000"/>
              </a:solidFill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590AF7-624B-48F1-B81A-46F26EDF8850}"/>
              </a:ext>
            </a:extLst>
          </p:cNvPr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>
            <a:solidFill>
              <a:srgbClr val="A61C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40260" y="1488395"/>
            <a:ext cx="6893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 smtClean="0"/>
              <a:t>StyleGAN</a:t>
            </a:r>
            <a:r>
              <a:rPr lang="ko-KR" altLang="en-US" dirty="0" smtClean="0"/>
              <a:t>이 학습된 도메인이라면 모두 적용 가능하다</a:t>
            </a:r>
            <a:r>
              <a:rPr lang="en-US" altLang="ko-KR" dirty="0" smtClean="0"/>
              <a:t>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698" y="2337456"/>
            <a:ext cx="4860324" cy="394266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207" y="3555389"/>
            <a:ext cx="5772956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605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16" name="제목 1"/>
          <p:cNvSpPr txBox="1">
            <a:spLocks/>
          </p:cNvSpPr>
          <p:nvPr/>
        </p:nvSpPr>
        <p:spPr>
          <a:xfrm>
            <a:off x="374737" y="348782"/>
            <a:ext cx="9730609" cy="57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700" b="1" dirty="0" smtClean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Discussion  </a:t>
            </a:r>
            <a:r>
              <a:rPr lang="en-US" altLang="ko-KR" sz="1800" b="1" dirty="0" smtClean="0">
                <a:solidFill>
                  <a:srgbClr val="C00000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Limit</a:t>
            </a:r>
            <a:endParaRPr lang="ko-KR" altLang="en-US" sz="1800" b="1" dirty="0">
              <a:solidFill>
                <a:srgbClr val="C00000"/>
              </a:solidFill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590AF7-624B-48F1-B81A-46F26EDF8850}"/>
              </a:ext>
            </a:extLst>
          </p:cNvPr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>
            <a:solidFill>
              <a:srgbClr val="A61C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3783" y="2663276"/>
            <a:ext cx="7129267" cy="405819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68485" y="1243609"/>
            <a:ext cx="10558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ID-Loss</a:t>
            </a:r>
            <a:r>
              <a:rPr lang="ko-KR" altLang="en-US" dirty="0" smtClean="0"/>
              <a:t>를 통해 </a:t>
            </a:r>
            <a:r>
              <a:rPr lang="en-US" altLang="ko-KR" dirty="0" smtClean="0"/>
              <a:t>Identity</a:t>
            </a:r>
            <a:r>
              <a:rPr lang="ko-KR" altLang="en-US" dirty="0" smtClean="0"/>
              <a:t>개선이 있었지만 </a:t>
            </a:r>
            <a:endParaRPr lang="en-US" altLang="ko-KR" dirty="0" smtClean="0"/>
          </a:p>
          <a:p>
            <a:r>
              <a:rPr lang="ko-KR" altLang="en-US" dirty="0" smtClean="0"/>
              <a:t>결국 </a:t>
            </a:r>
            <a:r>
              <a:rPr lang="en-US" altLang="ko-KR" dirty="0" err="1"/>
              <a:t>StyleGAN</a:t>
            </a:r>
            <a:r>
              <a:rPr lang="ko-KR" altLang="en-US" dirty="0"/>
              <a:t>을 활용하기 때문에 학습되지 </a:t>
            </a:r>
            <a:r>
              <a:rPr lang="ko-KR" altLang="en-US" dirty="0" smtClean="0"/>
              <a:t>않은 </a:t>
            </a:r>
            <a:r>
              <a:rPr lang="en-US" altLang="ko-KR" dirty="0" smtClean="0"/>
              <a:t>feature</a:t>
            </a:r>
            <a:r>
              <a:rPr lang="ko-KR" altLang="en-US" dirty="0" smtClean="0"/>
              <a:t>를 만드는데 한계를 보였다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892053" y="1929803"/>
            <a:ext cx="5953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얼굴 이외의 배경에 취약</a:t>
            </a: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측면 </a:t>
            </a:r>
            <a:r>
              <a:rPr lang="ko-KR" altLang="en-US" dirty="0"/>
              <a:t>이미지에 </a:t>
            </a:r>
            <a:r>
              <a:rPr lang="ko-KR" altLang="en-US" dirty="0" smtClean="0"/>
              <a:t>취약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689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16" name="제목 1"/>
          <p:cNvSpPr txBox="1">
            <a:spLocks/>
          </p:cNvSpPr>
          <p:nvPr/>
        </p:nvSpPr>
        <p:spPr>
          <a:xfrm>
            <a:off x="374737" y="348782"/>
            <a:ext cx="9730609" cy="57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700" b="1" dirty="0" smtClean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Conclusion</a:t>
            </a:r>
            <a:endParaRPr lang="ko-KR" altLang="en-US" sz="2700" b="1" dirty="0">
              <a:solidFill>
                <a:srgbClr val="C00000"/>
              </a:solidFill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590AF7-624B-48F1-B81A-46F26EDF8850}"/>
              </a:ext>
            </a:extLst>
          </p:cNvPr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>
            <a:solidFill>
              <a:srgbClr val="A61C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97981" y="1813989"/>
            <a:ext cx="107960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smtClean="0"/>
              <a:t>Directly map a real image into the W+ latent space with no optimization required</a:t>
            </a:r>
          </a:p>
          <a:p>
            <a:endParaRPr lang="en-US" altLang="ko-KR" b="1" dirty="0" smtClean="0"/>
          </a:p>
          <a:p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smtClean="0"/>
              <a:t>Propose a generic framework for solving various image-to-image translation tasks</a:t>
            </a:r>
          </a:p>
          <a:p>
            <a:endParaRPr lang="en-US" altLang="ko-KR" b="1" dirty="0" smtClean="0"/>
          </a:p>
          <a:p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smtClean="0"/>
              <a:t>In contrast to the “invert first, edit later”, directly encode these translation tasks to </a:t>
            </a:r>
            <a:r>
              <a:rPr lang="en-US" altLang="ko-KR" b="1" dirty="0" err="1" smtClean="0"/>
              <a:t>StyleGAN</a:t>
            </a:r>
            <a:endParaRPr lang="en-US" altLang="ko-KR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197464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610-67CD-4BE2-A8CE-A86B9937DD03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374737" y="372161"/>
            <a:ext cx="9730609" cy="57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1" name="Picture 2" descr="white wall paint with black l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9748"/>
            <a:ext cx="12191999" cy="684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직사각형 11"/>
          <p:cNvSpPr/>
          <p:nvPr/>
        </p:nvSpPr>
        <p:spPr>
          <a:xfrm flipV="1">
            <a:off x="4614428" y="3575150"/>
            <a:ext cx="2921591" cy="45719"/>
          </a:xfrm>
          <a:prstGeom prst="rect">
            <a:avLst/>
          </a:prstGeom>
          <a:solidFill>
            <a:srgbClr val="A61C37"/>
          </a:solidFill>
          <a:ln>
            <a:solidFill>
              <a:srgbClr val="A61C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제목 1"/>
          <p:cNvSpPr txBox="1">
            <a:spLocks/>
          </p:cNvSpPr>
          <p:nvPr/>
        </p:nvSpPr>
        <p:spPr>
          <a:xfrm>
            <a:off x="5179590" y="2891186"/>
            <a:ext cx="3425444" cy="5743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 smtClean="0"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Q &amp; A</a:t>
            </a:r>
            <a:endParaRPr lang="ko-KR" altLang="en-US" b="1" dirty="0"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235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5737</TotalTime>
  <Words>751</Words>
  <Application>Microsoft Office PowerPoint</Application>
  <PresentationFormat>와이드스크린</PresentationFormat>
  <Paragraphs>194</Paragraphs>
  <Slides>26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1" baseType="lpstr">
      <vt:lpstr>나눔바른고딕</vt:lpstr>
      <vt:lpstr>맑은 고딕</vt:lpstr>
      <vt:lpstr>Arial</vt:lpstr>
      <vt:lpstr>Arial Black</vt:lpstr>
      <vt:lpstr>Office 테마</vt:lpstr>
      <vt:lpstr>Encoding in Style: a StyleGAN Encoder for Image-to-Image Translation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JCdata</dc:creator>
  <cp:lastModifiedBy>JCdata</cp:lastModifiedBy>
  <cp:revision>230</cp:revision>
  <dcterms:created xsi:type="dcterms:W3CDTF">2021-10-28T03:40:47Z</dcterms:created>
  <dcterms:modified xsi:type="dcterms:W3CDTF">2021-11-21T11:16:58Z</dcterms:modified>
</cp:coreProperties>
</file>